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We built an assistant that answers questions about millions of log lines for three different people: the engineer who fixes, the team lead who plans, the manager who decides. It runs on the company's own machine, and every number it says can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0:20–0:45. The client's problem in their words. Three people, three questions about the same logs. Today engineers grep, leads count in spreadsheets, and managers decide by gut. An AI model alone does not fix this: the logs do not fit in a prompt, and the model invents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0:45–1:00. That is the whole idea. The database does the searching and counting over every line. Our MCP server gives Claude 44 safe tools for it. Jev decides which messages are real faults. Claude only explains. Setup is two commands and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1:00–2:00 LIVE DEMO in Claude Code: /mcp__logs__worked_investigation, topic 'what deserves attention in November 2005', dataset bgl. Point out: the same problem, but each role gets different evidence: one occurrence and its neighbours, recurrence by team, a computed ranking. Not three lengths of the same answer. Backup: docs/investigation/report.html.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2:00–2:20. At the end Claude gives a link to the session report. Click any number to jump to the query that produced it; Verify runs it again. Facts, hypotheses and unknowns are separate. This is what lets a manager act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2:20–2:40. MCP is how Claude talks to our server. It offers four things: tools, prompts, resources and completions. On top of that, the server instructions explain how to investigate, and every session gets a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2:40–2:55. The tools are grouped by the question they answer. You never name a tool: you ask, and Claude picks one from its description. Each description says when to use it, when not to, what it returns and which tool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2:55–3:10. Prompts are slash commands: one per role, plus a three-role investigation and the whole-corpus counts the brief asks for. Resources attach context with @: ownership, the field guide, or the complete evidence of the session, beyond the 50-row tool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3:10–3:25. Connecting is one line. Loading works for our base corpus and for any log file. Access can be restricted per team by the database itself, not by the prompt. And every session can be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3:25–3:50. We tested it like a client would: 50 questions with known answers, and a judge that does not know which system wrote which answer. On the brief's data we win 13 to 2 and make fewer wrong claims. Honest limits: we are twice as slow, and on small extra datasets the simpler agent wins more manager questions. The dashboard shows every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3:50–4:10. What goes beyond the brief: your own log files with no code, a Verify button on every number, team access enforced by the database, a billion rows read in place, and an evaluation the client can re-run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4:10–4:30. In the company it fits three existing routines: the incident, the weekly review, the monthly planning. Measured: setup in about a minute, under a second of database time per answer. Limits we state openly: the logs hold no money or downtime, and an answer takes about 44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4:30–4:45. Nothing in the code is specific to one dataset: 10 different log types load without code changes. That makes it a product: a self-hosted log copilot for Mittelstand IT and production, with per-team access and 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4:45–5:00. Two commands and one sentence, and your logs answer back.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21D"/>
        </a:solidFill>
      </p:bgPr>
    </p:bg>
    <p:spTree>
      <p:nvGrpSpPr>
        <p:cNvPr id="1" name=""/>
        <p:cNvGrpSpPr/>
        <p:nvPr/>
      </p:nvGrpSpPr>
      <p:grpSpPr>
        <a:xfrm>
          <a:off x="0" y="0"/>
          <a:ext cx="0" cy="0"/>
          <a:chOff x="0" y="0"/>
          <a:chExt cx="0" cy="0"/>
        </a:xfrm>
      </p:grpSpPr>
      <p:sp>
        <p:nvSpPr>
          <p:cNvPr id="2" name="Text 0"/>
          <p:cNvSpPr/>
          <p:nvPr/>
        </p:nvSpPr>
        <p:spPr>
          <a:xfrm>
            <a:off x="5943600" y="4773168"/>
            <a:ext cx="2743200" cy="228600"/>
          </a:xfrm>
          <a:prstGeom prst="rect">
            <a:avLst/>
          </a:prstGeom>
          <a:noFill/>
          <a:ln/>
        </p:spPr>
        <p:txBody>
          <a:bodyPr wrap="square" lIns="0" tIns="0" rIns="0" bIns="0" rtlCol="0" anchor="ctr"/>
          <a:lstStyle/>
          <a:p>
            <a:pPr algn="r" indent="0" marL="0">
              <a:buNone/>
            </a:pPr>
            <a:r>
              <a:rPr lang="en-US" sz="900" dirty="0">
                <a:solidFill>
                  <a:srgbClr val="8B90A6"/>
                </a:solidFill>
                <a:latin typeface="Calibri" pitchFamily="34" charset="0"/>
                <a:ea typeface="Calibri" pitchFamily="34" charset="-122"/>
                <a:cs typeface="Calibri" pitchFamily="34" charset="-120"/>
              </a:rPr>
              <a:t>Making Sense of Logs   1</a:t>
            </a:r>
            <a:endParaRPr lang="en-US" sz="900" dirty="0"/>
          </a:p>
        </p:txBody>
      </p:sp>
      <p:sp>
        <p:nvSpPr>
          <p:cNvPr id="3" name="Shape 1"/>
          <p:cNvSpPr/>
          <p:nvPr/>
        </p:nvSpPr>
        <p:spPr>
          <a:xfrm>
            <a:off x="0" y="0"/>
            <a:ext cx="201168" cy="5143500"/>
          </a:xfrm>
          <a:prstGeom prst="rect">
            <a:avLst/>
          </a:prstGeom>
          <a:solidFill>
            <a:srgbClr val="7B4FD6"/>
          </a:solidFill>
          <a:ln/>
        </p:spPr>
      </p:sp>
      <p:sp>
        <p:nvSpPr>
          <p:cNvPr id="4" name="Text 2"/>
          <p:cNvSpPr/>
          <p:nvPr/>
        </p:nvSpPr>
        <p:spPr>
          <a:xfrm>
            <a:off x="731520" y="822960"/>
            <a:ext cx="7680960" cy="777240"/>
          </a:xfrm>
          <a:prstGeom prst="rect">
            <a:avLst/>
          </a:prstGeom>
          <a:noFill/>
          <a:ln/>
        </p:spPr>
        <p:txBody>
          <a:bodyPr wrap="square" lIns="0" tIns="0" rIns="0" bIns="0" rtlCol="0" anchor="ctr"/>
          <a:lstStyle/>
          <a:p>
            <a:pPr indent="0" marL="0">
              <a:buNone/>
            </a:pPr>
            <a:r>
              <a:rPr lang="en-US" sz="4200" b="1" dirty="0">
                <a:solidFill>
                  <a:srgbClr val="FFFFFF"/>
                </a:solidFill>
                <a:latin typeface="Trebuchet MS" pitchFamily="34" charset="0"/>
                <a:ea typeface="Trebuchet MS" pitchFamily="34" charset="-122"/>
                <a:cs typeface="Trebuchet MS" pitchFamily="34" charset="-120"/>
              </a:rPr>
              <a:t>Making Sense of Logs</a:t>
            </a:r>
            <a:endParaRPr lang="en-US" sz="4200" dirty="0"/>
          </a:p>
        </p:txBody>
      </p:sp>
      <p:sp>
        <p:nvSpPr>
          <p:cNvPr id="5" name="Text 3"/>
          <p:cNvSpPr/>
          <p:nvPr/>
        </p:nvSpPr>
        <p:spPr>
          <a:xfrm>
            <a:off x="731520" y="1691640"/>
            <a:ext cx="7589520" cy="1005840"/>
          </a:xfrm>
          <a:prstGeom prst="rect">
            <a:avLst/>
          </a:prstGeom>
          <a:noFill/>
          <a:ln/>
        </p:spPr>
        <p:txBody>
          <a:bodyPr wrap="square" lIns="0" tIns="0" rIns="0" bIns="0" rtlCol="0" anchor="ctr"/>
          <a:lstStyle/>
          <a:p>
            <a:pPr indent="0" marL="0">
              <a:buNone/>
            </a:pPr>
            <a:r>
              <a:rPr lang="en-US" sz="1700" dirty="0">
                <a:solidFill>
                  <a:srgbClr val="C9B8F5"/>
                </a:solidFill>
                <a:latin typeface="Calibri" pitchFamily="34" charset="0"/>
                <a:ea typeface="Calibri" pitchFamily="34" charset="-122"/>
                <a:cs typeface="Calibri" pitchFamily="34" charset="-120"/>
              </a:rPr>
              <a:t>Ask your logs a question in plain words and get an answer that fits your role: the engineer, the team lead and the manager each get what they need, and every number is checked against the query that produced it.</a:t>
            </a:r>
            <a:endParaRPr lang="en-US" sz="1700" dirty="0"/>
          </a:p>
        </p:txBody>
      </p:sp>
      <p:sp>
        <p:nvSpPr>
          <p:cNvPr id="6" name="Text 4"/>
          <p:cNvSpPr/>
          <p:nvPr/>
        </p:nvSpPr>
        <p:spPr>
          <a:xfrm>
            <a:off x="731520" y="2971800"/>
            <a:ext cx="2560320" cy="502920"/>
          </a:xfrm>
          <a:prstGeom prst="rect">
            <a:avLst/>
          </a:prstGeom>
          <a:noFill/>
          <a:ln/>
        </p:spPr>
        <p:txBody>
          <a:bodyPr wrap="square" lIns="0" tIns="0" rIns="0" bIns="0"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5 M</a:t>
            </a:r>
            <a:endParaRPr lang="en-US" sz="2600" dirty="0"/>
          </a:p>
        </p:txBody>
      </p:sp>
      <p:sp>
        <p:nvSpPr>
          <p:cNvPr id="7" name="Text 5"/>
          <p:cNvSpPr/>
          <p:nvPr/>
        </p:nvSpPr>
        <p:spPr>
          <a:xfrm>
            <a:off x="731520" y="3474720"/>
            <a:ext cx="2468880" cy="320040"/>
          </a:xfrm>
          <a:prstGeom prst="rect">
            <a:avLst/>
          </a:prstGeom>
          <a:noFill/>
          <a:ln/>
        </p:spPr>
        <p:txBody>
          <a:bodyPr wrap="square" lIns="0" tIns="0" rIns="0" bIns="0" rtlCol="0" anchor="ctr"/>
          <a:lstStyle/>
          <a:p>
            <a:pPr indent="0" marL="0">
              <a:buNone/>
            </a:pPr>
            <a:r>
              <a:rPr lang="en-US" sz="1200" dirty="0">
                <a:solidFill>
                  <a:srgbClr val="D5D8E5"/>
                </a:solidFill>
                <a:latin typeface="Calibri" pitchFamily="34" charset="0"/>
                <a:ea typeface="Calibri" pitchFamily="34" charset="-122"/>
                <a:cs typeface="Calibri" pitchFamily="34" charset="-120"/>
              </a:rPr>
              <a:t>log lines (BGL and OpenStack)</a:t>
            </a:r>
            <a:endParaRPr lang="en-US" sz="1200" dirty="0"/>
          </a:p>
        </p:txBody>
      </p:sp>
      <p:sp>
        <p:nvSpPr>
          <p:cNvPr id="8" name="Text 6"/>
          <p:cNvSpPr/>
          <p:nvPr/>
        </p:nvSpPr>
        <p:spPr>
          <a:xfrm>
            <a:off x="3383280" y="2971800"/>
            <a:ext cx="2560320" cy="502920"/>
          </a:xfrm>
          <a:prstGeom prst="rect">
            <a:avLst/>
          </a:prstGeom>
          <a:noFill/>
          <a:ln/>
        </p:spPr>
        <p:txBody>
          <a:bodyPr wrap="square" lIns="0" tIns="0" rIns="0" bIns="0"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62 / 62</a:t>
            </a:r>
            <a:endParaRPr lang="en-US" sz="2600" dirty="0"/>
          </a:p>
        </p:txBody>
      </p:sp>
      <p:sp>
        <p:nvSpPr>
          <p:cNvPr id="9" name="Text 7"/>
          <p:cNvSpPr/>
          <p:nvPr/>
        </p:nvSpPr>
        <p:spPr>
          <a:xfrm>
            <a:off x="3383280" y="3474720"/>
            <a:ext cx="2468880" cy="320040"/>
          </a:xfrm>
          <a:prstGeom prst="rect">
            <a:avLst/>
          </a:prstGeom>
          <a:noFill/>
          <a:ln/>
        </p:spPr>
        <p:txBody>
          <a:bodyPr wrap="square" lIns="0" tIns="0" rIns="0" bIns="0" rtlCol="0" anchor="ctr"/>
          <a:lstStyle/>
          <a:p>
            <a:pPr indent="0" marL="0">
              <a:buNone/>
            </a:pPr>
            <a:r>
              <a:rPr lang="en-US" sz="1200" dirty="0">
                <a:solidFill>
                  <a:srgbClr val="D5D8E5"/>
                </a:solidFill>
                <a:latin typeface="Calibri" pitchFamily="34" charset="0"/>
                <a:ea typeface="Calibri" pitchFamily="34" charset="-122"/>
                <a:cs typeface="Calibri" pitchFamily="34" charset="-120"/>
              </a:rPr>
              <a:t>numbers traced to a query</a:t>
            </a:r>
            <a:endParaRPr lang="en-US" sz="1200" dirty="0"/>
          </a:p>
        </p:txBody>
      </p:sp>
      <p:sp>
        <p:nvSpPr>
          <p:cNvPr id="10" name="Text 8"/>
          <p:cNvSpPr/>
          <p:nvPr/>
        </p:nvSpPr>
        <p:spPr>
          <a:xfrm>
            <a:off x="6035040" y="2971800"/>
            <a:ext cx="2560320" cy="502920"/>
          </a:xfrm>
          <a:prstGeom prst="rect">
            <a:avLst/>
          </a:prstGeom>
          <a:noFill/>
          <a:ln/>
        </p:spPr>
        <p:txBody>
          <a:bodyPr wrap="square" lIns="0" tIns="0" rIns="0" bIns="0"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2</a:t>
            </a:r>
            <a:endParaRPr lang="en-US" sz="2600" dirty="0"/>
          </a:p>
        </p:txBody>
      </p:sp>
      <p:sp>
        <p:nvSpPr>
          <p:cNvPr id="11" name="Text 9"/>
          <p:cNvSpPr/>
          <p:nvPr/>
        </p:nvSpPr>
        <p:spPr>
          <a:xfrm>
            <a:off x="6035040" y="3474720"/>
            <a:ext cx="2468880" cy="320040"/>
          </a:xfrm>
          <a:prstGeom prst="rect">
            <a:avLst/>
          </a:prstGeom>
          <a:noFill/>
          <a:ln/>
        </p:spPr>
        <p:txBody>
          <a:bodyPr wrap="square" lIns="0" tIns="0" rIns="0" bIns="0" rtlCol="0" anchor="ctr"/>
          <a:lstStyle/>
          <a:p>
            <a:pPr indent="0" marL="0">
              <a:buNone/>
            </a:pPr>
            <a:r>
              <a:rPr lang="en-US" sz="1200" dirty="0">
                <a:solidFill>
                  <a:srgbClr val="D5D8E5"/>
                </a:solidFill>
                <a:latin typeface="Calibri" pitchFamily="34" charset="0"/>
                <a:ea typeface="Calibri" pitchFamily="34" charset="-122"/>
                <a:cs typeface="Calibri" pitchFamily="34" charset="-120"/>
              </a:rPr>
              <a:t>commands to set up</a:t>
            </a:r>
            <a:endParaRPr lang="en-US" sz="1200" dirty="0"/>
          </a:p>
        </p:txBody>
      </p:sp>
      <p:sp>
        <p:nvSpPr>
          <p:cNvPr id="12" name="Text 10"/>
          <p:cNvSpPr/>
          <p:nvPr/>
        </p:nvSpPr>
        <p:spPr>
          <a:xfrm>
            <a:off x="731520" y="4297680"/>
            <a:ext cx="7315200" cy="274320"/>
          </a:xfrm>
          <a:prstGeom prst="rect">
            <a:avLst/>
          </a:prstGeom>
          <a:noFill/>
          <a:ln/>
        </p:spPr>
        <p:txBody>
          <a:bodyPr wrap="square" lIns="0" tIns="0" rIns="0" bIns="0" rtlCol="0" anchor="ctr"/>
          <a:lstStyle/>
          <a:p>
            <a:pPr indent="0" marL="0">
              <a:buNone/>
            </a:pPr>
            <a:r>
              <a:rPr lang="en-US" sz="1100" dirty="0">
                <a:solidFill>
                  <a:srgbClr val="8B90A6"/>
                </a:solidFill>
                <a:latin typeface="Calibri" pitchFamily="34" charset="0"/>
                <a:ea typeface="Calibri" pitchFamily="34" charset="-122"/>
                <a:cs typeface="Calibri" pitchFamily="34" charset="-120"/>
              </a:rPr>
              <a:t>Amirali &amp; Konark · SchubKI National AI Hackathon 2026 · SereneDB challenge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0" y="4773168"/>
            <a:ext cx="2743200" cy="228600"/>
          </a:xfrm>
          <a:prstGeom prst="rect">
            <a:avLst/>
          </a:prstGeom>
          <a:noFill/>
          <a:ln/>
        </p:spPr>
        <p:txBody>
          <a:bodyPr wrap="square" lIns="0" tIns="0" rIns="0" bIns="0" rtlCol="0" anchor="ctr"/>
          <a:lstStyle/>
          <a:p>
            <a:pPr algn="r" indent="0" marL="0">
              <a:buNone/>
            </a:pPr>
            <a:r>
              <a:rPr lang="en-US" sz="900" dirty="0">
                <a:solidFill>
                  <a:srgbClr val="6B7386"/>
                </a:solidFill>
                <a:latin typeface="Calibri" pitchFamily="34" charset="0"/>
                <a:ea typeface="Calibri" pitchFamily="34" charset="-122"/>
                <a:cs typeface="Calibri" pitchFamily="34" charset="-120"/>
              </a:rPr>
              <a:t>Making Sense of Logs   2</a:t>
            </a:r>
            <a:endParaRPr lang="en-US" sz="900" dirty="0"/>
          </a:p>
        </p:txBody>
      </p:sp>
      <p:sp>
        <p:nvSpPr>
          <p:cNvPr id="3" name="Text 1"/>
          <p:cNvSpPr/>
          <p:nvPr/>
        </p:nvSpPr>
        <p:spPr>
          <a:xfrm>
            <a:off x="457200" y="256032"/>
            <a:ext cx="8229600" cy="228600"/>
          </a:xfrm>
          <a:prstGeom prst="rect">
            <a:avLst/>
          </a:prstGeom>
          <a:noFill/>
          <a:ln/>
        </p:spPr>
        <p:txBody>
          <a:bodyPr wrap="square" lIns="0" tIns="0" rIns="0" bIns="0" rtlCol="0" anchor="ctr"/>
          <a:lstStyle/>
          <a:p>
            <a:pPr indent="0" marL="0">
              <a:buNone/>
            </a:pPr>
            <a:r>
              <a:rPr lang="en-US" sz="1000" b="1" spc="300" kern="0" dirty="0">
                <a:solidFill>
                  <a:srgbClr val="7B4FD6"/>
                </a:solidFill>
                <a:latin typeface="Calibri" pitchFamily="34" charset="0"/>
                <a:ea typeface="Calibri" pitchFamily="34" charset="-122"/>
                <a:cs typeface="Calibri" pitchFamily="34" charset="-120"/>
              </a:rPr>
              <a:t>THE PROBLEM</a:t>
            </a:r>
            <a:endParaRPr lang="en-US" sz="1000" dirty="0"/>
          </a:p>
        </p:txBody>
      </p:sp>
      <p:sp>
        <p:nvSpPr>
          <p:cNvPr id="4" name="Text 2"/>
          <p:cNvSpPr/>
          <p:nvPr/>
        </p:nvSpPr>
        <p:spPr>
          <a:xfrm>
            <a:off x="457200" y="47548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Trebuchet MS" pitchFamily="34" charset="0"/>
                <a:ea typeface="Trebuchet MS" pitchFamily="34" charset="-122"/>
                <a:cs typeface="Trebuchet MS" pitchFamily="34" charset="-120"/>
              </a:rPr>
              <a:t>Logs hold the answers, but nobody can read them</a:t>
            </a:r>
            <a:endParaRPr lang="en-US" sz="2800" dirty="0"/>
          </a:p>
        </p:txBody>
      </p:sp>
      <p:sp>
        <p:nvSpPr>
          <p:cNvPr id="5" name="Shape 3"/>
          <p:cNvSpPr/>
          <p:nvPr/>
        </p:nvSpPr>
        <p:spPr>
          <a:xfrm>
            <a:off x="457200" y="1280160"/>
            <a:ext cx="2606040" cy="2468880"/>
          </a:xfrm>
          <a:prstGeom prst="rect">
            <a:avLst/>
          </a:prstGeom>
          <a:solidFill>
            <a:srgbClr val="F0F2F5"/>
          </a:solidFill>
          <a:ln/>
        </p:spPr>
      </p:sp>
      <p:sp>
        <p:nvSpPr>
          <p:cNvPr id="6" name="Shape 4"/>
          <p:cNvSpPr/>
          <p:nvPr/>
        </p:nvSpPr>
        <p:spPr>
          <a:xfrm>
            <a:off x="685800" y="1481328"/>
            <a:ext cx="502920" cy="502920"/>
          </a:xfrm>
          <a:prstGeom prst="ellipse">
            <a:avLst/>
          </a:prstGeom>
          <a:solidFill>
            <a:srgbClr val="7B4FD6"/>
          </a:solidFill>
          <a:ln/>
        </p:spPr>
      </p:sp>
      <p:pic>
        <p:nvPicPr>
          <p:cNvPr id="7" name="Image 0" descr="preencoded.png">    </p:cNvPr>
          <p:cNvPicPr>
            <a:picLocks noChangeAspect="1"/>
          </p:cNvPicPr>
          <p:nvPr/>
        </p:nvPicPr>
        <p:blipFill>
          <a:blip r:embed="rId1"/>
          <a:stretch>
            <a:fillRect/>
          </a:stretch>
        </p:blipFill>
        <p:spPr>
          <a:xfrm>
            <a:off x="806501" y="1602029"/>
            <a:ext cx="261518" cy="261518"/>
          </a:xfrm>
          <a:prstGeom prst="rect">
            <a:avLst/>
          </a:prstGeom>
        </p:spPr>
      </p:pic>
      <p:sp>
        <p:nvSpPr>
          <p:cNvPr id="8" name="Text 5"/>
          <p:cNvSpPr/>
          <p:nvPr/>
        </p:nvSpPr>
        <p:spPr>
          <a:xfrm>
            <a:off x="1325880" y="1554480"/>
            <a:ext cx="1645920" cy="365760"/>
          </a:xfrm>
          <a:prstGeom prst="rect">
            <a:avLst/>
          </a:prstGeom>
          <a:noFill/>
          <a:ln/>
        </p:spPr>
        <p:txBody>
          <a:bodyPr wrap="square" lIns="0" tIns="0" rIns="0" bIns="0" rtlCol="0" anchor="ctr"/>
          <a:lstStyle/>
          <a:p>
            <a:pPr indent="0" marL="0">
              <a:buNone/>
            </a:pPr>
            <a:r>
              <a:rPr lang="en-US" sz="1700" b="1" dirty="0">
                <a:solidFill>
                  <a:srgbClr val="11121D"/>
                </a:solidFill>
                <a:latin typeface="Trebuchet MS" pitchFamily="34" charset="0"/>
                <a:ea typeface="Trebuchet MS" pitchFamily="34" charset="-122"/>
                <a:cs typeface="Trebuchet MS" pitchFamily="34" charset="-120"/>
              </a:rPr>
              <a:t>Engineer</a:t>
            </a:r>
            <a:endParaRPr lang="en-US" sz="1700" dirty="0"/>
          </a:p>
        </p:txBody>
      </p:sp>
      <p:sp>
        <p:nvSpPr>
          <p:cNvPr id="9" name="Text 6"/>
          <p:cNvSpPr/>
          <p:nvPr/>
        </p:nvSpPr>
        <p:spPr>
          <a:xfrm>
            <a:off x="685800" y="2148840"/>
            <a:ext cx="2194560" cy="548640"/>
          </a:xfrm>
          <a:prstGeom prst="rect">
            <a:avLst/>
          </a:prstGeom>
          <a:noFill/>
          <a:ln/>
        </p:spPr>
        <p:txBody>
          <a:bodyPr wrap="square" lIns="0" tIns="0" rIns="0" bIns="0" rtlCol="0" anchor="ctr"/>
          <a:lstStyle/>
          <a:p>
            <a:pPr indent="0" marL="0">
              <a:buNone/>
            </a:pPr>
            <a:r>
              <a:rPr lang="en-US" sz="1250" i="1" dirty="0">
                <a:solidFill>
                  <a:srgbClr val="3E318C"/>
                </a:solidFill>
                <a:latin typeface="Calibri" pitchFamily="34" charset="0"/>
                <a:ea typeface="Calibri" pitchFamily="34" charset="-122"/>
                <a:cs typeface="Calibri" pitchFamily="34" charset="-120"/>
              </a:rPr>
              <a:t>“What failed, and what happened just before?”</a:t>
            </a:r>
            <a:endParaRPr lang="en-US" sz="1250" dirty="0"/>
          </a:p>
        </p:txBody>
      </p:sp>
      <p:sp>
        <p:nvSpPr>
          <p:cNvPr id="10" name="Text 7"/>
          <p:cNvSpPr/>
          <p:nvPr/>
        </p:nvSpPr>
        <p:spPr>
          <a:xfrm>
            <a:off x="685800" y="2743200"/>
            <a:ext cx="2194560" cy="868680"/>
          </a:xfrm>
          <a:prstGeom prst="rect">
            <a:avLst/>
          </a:prstGeom>
          <a:noFill/>
          <a:ln/>
        </p:spPr>
        <p:txBody>
          <a:bodyPr wrap="square" lIns="0" tIns="0" rIns="0" bIns="0" rtlCol="0" anchor="t"/>
          <a:lstStyle/>
          <a:p>
            <a:pPr indent="0" marL="0">
              <a:buNone/>
            </a:pPr>
            <a:r>
              <a:rPr lang="en-US" sz="1200" dirty="0">
                <a:solidFill>
                  <a:srgbClr val="2A2C44"/>
                </a:solidFill>
                <a:latin typeface="Calibri" pitchFamily="34" charset="0"/>
                <a:ea typeface="Calibri" pitchFamily="34" charset="-122"/>
                <a:cs typeface="Calibri" pitchFamily="34" charset="-120"/>
              </a:rPr>
              <a:t>Hours of grep across millions of lines while the system is down.</a:t>
            </a:r>
            <a:endParaRPr lang="en-US" sz="1200" dirty="0"/>
          </a:p>
        </p:txBody>
      </p:sp>
      <p:sp>
        <p:nvSpPr>
          <p:cNvPr id="11" name="Shape 8"/>
          <p:cNvSpPr/>
          <p:nvPr/>
        </p:nvSpPr>
        <p:spPr>
          <a:xfrm>
            <a:off x="3246120" y="1280160"/>
            <a:ext cx="2606040" cy="2468880"/>
          </a:xfrm>
          <a:prstGeom prst="rect">
            <a:avLst/>
          </a:prstGeom>
          <a:solidFill>
            <a:srgbClr val="F0F2F5"/>
          </a:solidFill>
          <a:ln/>
        </p:spPr>
      </p:sp>
      <p:sp>
        <p:nvSpPr>
          <p:cNvPr id="12" name="Shape 9"/>
          <p:cNvSpPr/>
          <p:nvPr/>
        </p:nvSpPr>
        <p:spPr>
          <a:xfrm>
            <a:off x="3474720" y="1481328"/>
            <a:ext cx="502920" cy="502920"/>
          </a:xfrm>
          <a:prstGeom prst="ellipse">
            <a:avLst/>
          </a:prstGeom>
          <a:solidFill>
            <a:srgbClr val="7B4FD6"/>
          </a:solidFill>
          <a:ln/>
        </p:spPr>
      </p:sp>
      <p:pic>
        <p:nvPicPr>
          <p:cNvPr id="13" name="Image 1" descr="preencoded.png">    </p:cNvPr>
          <p:cNvPicPr>
            <a:picLocks noChangeAspect="1"/>
          </p:cNvPicPr>
          <p:nvPr/>
        </p:nvPicPr>
        <p:blipFill>
          <a:blip r:embed="rId2"/>
          <a:stretch>
            <a:fillRect/>
          </a:stretch>
        </p:blipFill>
        <p:spPr>
          <a:xfrm>
            <a:off x="3595421" y="1602029"/>
            <a:ext cx="261518" cy="261518"/>
          </a:xfrm>
          <a:prstGeom prst="rect">
            <a:avLst/>
          </a:prstGeom>
        </p:spPr>
      </p:pic>
      <p:sp>
        <p:nvSpPr>
          <p:cNvPr id="14" name="Text 10"/>
          <p:cNvSpPr/>
          <p:nvPr/>
        </p:nvSpPr>
        <p:spPr>
          <a:xfrm>
            <a:off x="4114800" y="1554480"/>
            <a:ext cx="1645920" cy="365760"/>
          </a:xfrm>
          <a:prstGeom prst="rect">
            <a:avLst/>
          </a:prstGeom>
          <a:noFill/>
          <a:ln/>
        </p:spPr>
        <p:txBody>
          <a:bodyPr wrap="square" lIns="0" tIns="0" rIns="0" bIns="0" rtlCol="0" anchor="ctr"/>
          <a:lstStyle/>
          <a:p>
            <a:pPr indent="0" marL="0">
              <a:buNone/>
            </a:pPr>
            <a:r>
              <a:rPr lang="en-US" sz="1700" b="1" dirty="0">
                <a:solidFill>
                  <a:srgbClr val="11121D"/>
                </a:solidFill>
                <a:latin typeface="Trebuchet MS" pitchFamily="34" charset="0"/>
                <a:ea typeface="Trebuchet MS" pitchFamily="34" charset="-122"/>
                <a:cs typeface="Trebuchet MS" pitchFamily="34" charset="-120"/>
              </a:rPr>
              <a:t>Team lead</a:t>
            </a:r>
            <a:endParaRPr lang="en-US" sz="1700" dirty="0"/>
          </a:p>
        </p:txBody>
      </p:sp>
      <p:sp>
        <p:nvSpPr>
          <p:cNvPr id="15" name="Text 11"/>
          <p:cNvSpPr/>
          <p:nvPr/>
        </p:nvSpPr>
        <p:spPr>
          <a:xfrm>
            <a:off x="3474720" y="2148840"/>
            <a:ext cx="2194560" cy="548640"/>
          </a:xfrm>
          <a:prstGeom prst="rect">
            <a:avLst/>
          </a:prstGeom>
          <a:noFill/>
          <a:ln/>
        </p:spPr>
        <p:txBody>
          <a:bodyPr wrap="square" lIns="0" tIns="0" rIns="0" bIns="0" rtlCol="0" anchor="ctr"/>
          <a:lstStyle/>
          <a:p>
            <a:pPr indent="0" marL="0">
              <a:buNone/>
            </a:pPr>
            <a:r>
              <a:rPr lang="en-US" sz="1250" i="1" dirty="0">
                <a:solidFill>
                  <a:srgbClr val="3E318C"/>
                </a:solidFill>
                <a:latin typeface="Calibri" pitchFamily="34" charset="0"/>
                <a:ea typeface="Calibri" pitchFamily="34" charset="-122"/>
                <a:cs typeface="Calibri" pitchFamily="34" charset="-120"/>
              </a:rPr>
              <a:t>“What keeps coming back, and whose is it?”</a:t>
            </a:r>
            <a:endParaRPr lang="en-US" sz="1250" dirty="0"/>
          </a:p>
        </p:txBody>
      </p:sp>
      <p:sp>
        <p:nvSpPr>
          <p:cNvPr id="16" name="Text 12"/>
          <p:cNvSpPr/>
          <p:nvPr/>
        </p:nvSpPr>
        <p:spPr>
          <a:xfrm>
            <a:off x="3474720" y="2743200"/>
            <a:ext cx="2194560" cy="868680"/>
          </a:xfrm>
          <a:prstGeom prst="rect">
            <a:avLst/>
          </a:prstGeom>
          <a:noFill/>
          <a:ln/>
        </p:spPr>
        <p:txBody>
          <a:bodyPr wrap="square" lIns="0" tIns="0" rIns="0" bIns="0" rtlCol="0" anchor="t"/>
          <a:lstStyle/>
          <a:p>
            <a:pPr indent="0" marL="0">
              <a:buNone/>
            </a:pPr>
            <a:r>
              <a:rPr lang="en-US" sz="1200" dirty="0">
                <a:solidFill>
                  <a:srgbClr val="2A2C44"/>
                </a:solidFill>
                <a:latin typeface="Calibri" pitchFamily="34" charset="0"/>
                <a:ea typeface="Calibri" pitchFamily="34" charset="-122"/>
                <a:cs typeface="Calibri" pitchFamily="34" charset="-120"/>
              </a:rPr>
              <a:t>Counts by hand in spreadsheets; one log storm looks like a thousand incidents.</a:t>
            </a:r>
            <a:endParaRPr lang="en-US" sz="1200" dirty="0"/>
          </a:p>
        </p:txBody>
      </p:sp>
      <p:sp>
        <p:nvSpPr>
          <p:cNvPr id="17" name="Shape 13"/>
          <p:cNvSpPr/>
          <p:nvPr/>
        </p:nvSpPr>
        <p:spPr>
          <a:xfrm>
            <a:off x="6035040" y="1280160"/>
            <a:ext cx="2606040" cy="2468880"/>
          </a:xfrm>
          <a:prstGeom prst="rect">
            <a:avLst/>
          </a:prstGeom>
          <a:solidFill>
            <a:srgbClr val="F0F2F5"/>
          </a:solidFill>
          <a:ln/>
        </p:spPr>
      </p:sp>
      <p:sp>
        <p:nvSpPr>
          <p:cNvPr id="18" name="Shape 14"/>
          <p:cNvSpPr/>
          <p:nvPr/>
        </p:nvSpPr>
        <p:spPr>
          <a:xfrm>
            <a:off x="6263640" y="1481328"/>
            <a:ext cx="502920" cy="502920"/>
          </a:xfrm>
          <a:prstGeom prst="ellipse">
            <a:avLst/>
          </a:prstGeom>
          <a:solidFill>
            <a:srgbClr val="7B4FD6"/>
          </a:solidFill>
          <a:ln/>
        </p:spPr>
      </p:sp>
      <p:pic>
        <p:nvPicPr>
          <p:cNvPr id="19" name="Image 2" descr="preencoded.png">    </p:cNvPr>
          <p:cNvPicPr>
            <a:picLocks noChangeAspect="1"/>
          </p:cNvPicPr>
          <p:nvPr/>
        </p:nvPicPr>
        <p:blipFill>
          <a:blip r:embed="rId3"/>
          <a:stretch>
            <a:fillRect/>
          </a:stretch>
        </p:blipFill>
        <p:spPr>
          <a:xfrm>
            <a:off x="6384341" y="1602029"/>
            <a:ext cx="261518" cy="261518"/>
          </a:xfrm>
          <a:prstGeom prst="rect">
            <a:avLst/>
          </a:prstGeom>
        </p:spPr>
      </p:pic>
      <p:sp>
        <p:nvSpPr>
          <p:cNvPr id="20" name="Text 15"/>
          <p:cNvSpPr/>
          <p:nvPr/>
        </p:nvSpPr>
        <p:spPr>
          <a:xfrm>
            <a:off x="6903720" y="1554480"/>
            <a:ext cx="1645920" cy="365760"/>
          </a:xfrm>
          <a:prstGeom prst="rect">
            <a:avLst/>
          </a:prstGeom>
          <a:noFill/>
          <a:ln/>
        </p:spPr>
        <p:txBody>
          <a:bodyPr wrap="square" lIns="0" tIns="0" rIns="0" bIns="0" rtlCol="0" anchor="ctr"/>
          <a:lstStyle/>
          <a:p>
            <a:pPr indent="0" marL="0">
              <a:buNone/>
            </a:pPr>
            <a:r>
              <a:rPr lang="en-US" sz="1700" b="1" dirty="0">
                <a:solidFill>
                  <a:srgbClr val="11121D"/>
                </a:solidFill>
                <a:latin typeface="Trebuchet MS" pitchFamily="34" charset="0"/>
                <a:ea typeface="Trebuchet MS" pitchFamily="34" charset="-122"/>
                <a:cs typeface="Trebuchet MS" pitchFamily="34" charset="-120"/>
              </a:rPr>
              <a:t>Manager</a:t>
            </a:r>
            <a:endParaRPr lang="en-US" sz="1700" dirty="0"/>
          </a:p>
        </p:txBody>
      </p:sp>
      <p:sp>
        <p:nvSpPr>
          <p:cNvPr id="21" name="Text 16"/>
          <p:cNvSpPr/>
          <p:nvPr/>
        </p:nvSpPr>
        <p:spPr>
          <a:xfrm>
            <a:off x="6263640" y="2148840"/>
            <a:ext cx="2194560" cy="548640"/>
          </a:xfrm>
          <a:prstGeom prst="rect">
            <a:avLst/>
          </a:prstGeom>
          <a:noFill/>
          <a:ln/>
        </p:spPr>
        <p:txBody>
          <a:bodyPr wrap="square" lIns="0" tIns="0" rIns="0" bIns="0" rtlCol="0" anchor="ctr"/>
          <a:lstStyle/>
          <a:p>
            <a:pPr indent="0" marL="0">
              <a:buNone/>
            </a:pPr>
            <a:r>
              <a:rPr lang="en-US" sz="1250" i="1" dirty="0">
                <a:solidFill>
                  <a:srgbClr val="3E318C"/>
                </a:solidFill>
                <a:latin typeface="Calibri" pitchFamily="34" charset="0"/>
                <a:ea typeface="Calibri" pitchFamily="34" charset="-122"/>
                <a:cs typeface="Calibri" pitchFamily="34" charset="-120"/>
              </a:rPr>
              <a:t>“What do we fix first?”</a:t>
            </a:r>
            <a:endParaRPr lang="en-US" sz="1250" dirty="0"/>
          </a:p>
        </p:txBody>
      </p:sp>
      <p:sp>
        <p:nvSpPr>
          <p:cNvPr id="22" name="Text 17"/>
          <p:cNvSpPr/>
          <p:nvPr/>
        </p:nvSpPr>
        <p:spPr>
          <a:xfrm>
            <a:off x="6263640" y="2743200"/>
            <a:ext cx="2194560" cy="868680"/>
          </a:xfrm>
          <a:prstGeom prst="rect">
            <a:avLst/>
          </a:prstGeom>
          <a:noFill/>
          <a:ln/>
        </p:spPr>
        <p:txBody>
          <a:bodyPr wrap="square" lIns="0" tIns="0" rIns="0" bIns="0" rtlCol="0" anchor="t"/>
          <a:lstStyle/>
          <a:p>
            <a:pPr indent="0" marL="0">
              <a:buNone/>
            </a:pPr>
            <a:r>
              <a:rPr lang="en-US" sz="1200" dirty="0">
                <a:solidFill>
                  <a:srgbClr val="2A2C44"/>
                </a:solidFill>
                <a:latin typeface="Calibri" pitchFamily="34" charset="0"/>
                <a:ea typeface="Calibri" pitchFamily="34" charset="-122"/>
                <a:cs typeface="Calibri" pitchFamily="34" charset="-120"/>
              </a:rPr>
              <a:t>Priorities set by whoever is loudest, not by measured frequency and spread.</a:t>
            </a:r>
            <a:endParaRPr lang="en-US" sz="1200" dirty="0"/>
          </a:p>
        </p:txBody>
      </p:sp>
      <p:sp>
        <p:nvSpPr>
          <p:cNvPr id="23" name="Text 18"/>
          <p:cNvSpPr/>
          <p:nvPr/>
        </p:nvSpPr>
        <p:spPr>
          <a:xfrm>
            <a:off x="457200" y="3977640"/>
            <a:ext cx="8229600" cy="548640"/>
          </a:xfrm>
          <a:prstGeom prst="rect">
            <a:avLst/>
          </a:prstGeom>
          <a:noFill/>
          <a:ln/>
        </p:spPr>
        <p:txBody>
          <a:bodyPr wrap="square" lIns="0" tIns="0" rIns="0" bIns="0" rtlCol="0" anchor="ctr"/>
          <a:lstStyle/>
          <a:p>
            <a:pPr indent="0" marL="0">
              <a:buNone/>
            </a:pPr>
            <a:r>
              <a:rPr lang="en-US" sz="1350" b="1" dirty="0">
                <a:solidFill>
                  <a:srgbClr val="11121D"/>
                </a:solidFill>
                <a:latin typeface="Calibri" pitchFamily="34" charset="0"/>
                <a:ea typeface="Calibri" pitchFamily="34" charset="-122"/>
                <a:cs typeface="Calibri" pitchFamily="34" charset="-120"/>
              </a:rPr>
              <a:t>An AI model alone cannot help: millions of lines do not fit in a prompt, and a model that guesses numbers is worse than no answer.</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0" y="4773168"/>
            <a:ext cx="2743200" cy="228600"/>
          </a:xfrm>
          <a:prstGeom prst="rect">
            <a:avLst/>
          </a:prstGeom>
          <a:noFill/>
          <a:ln/>
        </p:spPr>
        <p:txBody>
          <a:bodyPr wrap="square" lIns="0" tIns="0" rIns="0" bIns="0" rtlCol="0" anchor="ctr"/>
          <a:lstStyle/>
          <a:p>
            <a:pPr algn="r" indent="0" marL="0">
              <a:buNone/>
            </a:pPr>
            <a:r>
              <a:rPr lang="en-US" sz="900" dirty="0">
                <a:solidFill>
                  <a:srgbClr val="6B7386"/>
                </a:solidFill>
                <a:latin typeface="Calibri" pitchFamily="34" charset="0"/>
                <a:ea typeface="Calibri" pitchFamily="34" charset="-122"/>
                <a:cs typeface="Calibri" pitchFamily="34" charset="-120"/>
              </a:rPr>
              <a:t>Making Sense of Logs   3</a:t>
            </a:r>
            <a:endParaRPr lang="en-US" sz="900" dirty="0"/>
          </a:p>
        </p:txBody>
      </p:sp>
      <p:sp>
        <p:nvSpPr>
          <p:cNvPr id="3" name="Text 1"/>
          <p:cNvSpPr/>
          <p:nvPr/>
        </p:nvSpPr>
        <p:spPr>
          <a:xfrm>
            <a:off x="457200" y="256032"/>
            <a:ext cx="8229600" cy="228600"/>
          </a:xfrm>
          <a:prstGeom prst="rect">
            <a:avLst/>
          </a:prstGeom>
          <a:noFill/>
          <a:ln/>
        </p:spPr>
        <p:txBody>
          <a:bodyPr wrap="square" lIns="0" tIns="0" rIns="0" bIns="0" rtlCol="0" anchor="ctr"/>
          <a:lstStyle/>
          <a:p>
            <a:pPr indent="0" marL="0">
              <a:buNone/>
            </a:pPr>
            <a:r>
              <a:rPr lang="en-US" sz="1000" b="1" spc="300" kern="0" dirty="0">
                <a:solidFill>
                  <a:srgbClr val="7B4FD6"/>
                </a:solidFill>
                <a:latin typeface="Calibri" pitchFamily="34" charset="0"/>
                <a:ea typeface="Calibri" pitchFamily="34" charset="-122"/>
                <a:cs typeface="Calibri" pitchFamily="34" charset="-120"/>
              </a:rPr>
              <a:t>WHAT WE BUILT</a:t>
            </a:r>
            <a:endParaRPr lang="en-US" sz="1000" dirty="0"/>
          </a:p>
        </p:txBody>
      </p:sp>
      <p:sp>
        <p:nvSpPr>
          <p:cNvPr id="4" name="Text 2"/>
          <p:cNvSpPr/>
          <p:nvPr/>
        </p:nvSpPr>
        <p:spPr>
          <a:xfrm>
            <a:off x="457200" y="47548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Trebuchet MS" pitchFamily="34" charset="0"/>
                <a:ea typeface="Trebuchet MS" pitchFamily="34" charset="-122"/>
                <a:cs typeface="Trebuchet MS" pitchFamily="34" charset="-120"/>
              </a:rPr>
              <a:t>The database counts, the AI explains</a:t>
            </a:r>
            <a:endParaRPr lang="en-US" sz="2800" dirty="0"/>
          </a:p>
        </p:txBody>
      </p:sp>
      <p:sp>
        <p:nvSpPr>
          <p:cNvPr id="5" name="Shape 3"/>
          <p:cNvSpPr/>
          <p:nvPr/>
        </p:nvSpPr>
        <p:spPr>
          <a:xfrm>
            <a:off x="457200" y="1234440"/>
            <a:ext cx="5486400" cy="685800"/>
          </a:xfrm>
          <a:prstGeom prst="rect">
            <a:avLst/>
          </a:prstGeom>
          <a:solidFill>
            <a:srgbClr val="11121D"/>
          </a:solidFill>
          <a:ln/>
        </p:spPr>
      </p:sp>
      <p:pic>
        <p:nvPicPr>
          <p:cNvPr id="6" name="Image 0" descr="preencoded.png">    </p:cNvPr>
          <p:cNvPicPr>
            <a:picLocks noChangeAspect="1"/>
          </p:cNvPicPr>
          <p:nvPr/>
        </p:nvPicPr>
        <p:blipFill>
          <a:blip r:embed="rId1"/>
          <a:stretch>
            <a:fillRect/>
          </a:stretch>
        </p:blipFill>
        <p:spPr>
          <a:xfrm>
            <a:off x="640080" y="1417320"/>
            <a:ext cx="320040" cy="320040"/>
          </a:xfrm>
          <a:prstGeom prst="rect">
            <a:avLst/>
          </a:prstGeom>
        </p:spPr>
      </p:pic>
      <p:sp>
        <p:nvSpPr>
          <p:cNvPr id="7" name="Text 4"/>
          <p:cNvSpPr/>
          <p:nvPr/>
        </p:nvSpPr>
        <p:spPr>
          <a:xfrm>
            <a:off x="1143000" y="1289304"/>
            <a:ext cx="4663440" cy="274320"/>
          </a:xfrm>
          <a:prstGeom prst="rect">
            <a:avLst/>
          </a:prstGeom>
          <a:noFill/>
          <a:ln/>
        </p:spPr>
        <p:txBody>
          <a:bodyPr wrap="square" lIns="0" tIns="0" rIns="0" bIns="0"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Claude (or our own agent)</a:t>
            </a:r>
            <a:endParaRPr lang="en-US" sz="1400" dirty="0"/>
          </a:p>
        </p:txBody>
      </p:sp>
      <p:sp>
        <p:nvSpPr>
          <p:cNvPr id="8" name="Text 5"/>
          <p:cNvSpPr/>
          <p:nvPr/>
        </p:nvSpPr>
        <p:spPr>
          <a:xfrm>
            <a:off x="1143000" y="1572768"/>
            <a:ext cx="4754880" cy="301752"/>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Understands the question and picks the tools. Writes the answer for the role.</a:t>
            </a:r>
            <a:endParaRPr lang="en-US" sz="1100" dirty="0"/>
          </a:p>
        </p:txBody>
      </p:sp>
      <p:sp>
        <p:nvSpPr>
          <p:cNvPr id="9" name="Shape 6"/>
          <p:cNvSpPr/>
          <p:nvPr/>
        </p:nvSpPr>
        <p:spPr>
          <a:xfrm>
            <a:off x="457200" y="2057400"/>
            <a:ext cx="5486400" cy="685800"/>
          </a:xfrm>
          <a:prstGeom prst="rect">
            <a:avLst/>
          </a:prstGeom>
          <a:solidFill>
            <a:srgbClr val="7B4FD6"/>
          </a:solidFill>
          <a:ln/>
        </p:spPr>
      </p:sp>
      <p:pic>
        <p:nvPicPr>
          <p:cNvPr id="10" name="Image 1" descr="preencoded.png">    </p:cNvPr>
          <p:cNvPicPr>
            <a:picLocks noChangeAspect="1"/>
          </p:cNvPicPr>
          <p:nvPr/>
        </p:nvPicPr>
        <p:blipFill>
          <a:blip r:embed="rId2"/>
          <a:stretch>
            <a:fillRect/>
          </a:stretch>
        </p:blipFill>
        <p:spPr>
          <a:xfrm>
            <a:off x="640080" y="2240280"/>
            <a:ext cx="320040" cy="320040"/>
          </a:xfrm>
          <a:prstGeom prst="rect">
            <a:avLst/>
          </a:prstGeom>
        </p:spPr>
      </p:pic>
      <p:sp>
        <p:nvSpPr>
          <p:cNvPr id="11" name="Text 7"/>
          <p:cNvSpPr/>
          <p:nvPr/>
        </p:nvSpPr>
        <p:spPr>
          <a:xfrm>
            <a:off x="1143000" y="2112264"/>
            <a:ext cx="4663440" cy="274320"/>
          </a:xfrm>
          <a:prstGeom prst="rect">
            <a:avLst/>
          </a:prstGeom>
          <a:noFill/>
          <a:ln/>
        </p:spPr>
        <p:txBody>
          <a:bodyPr wrap="square" lIns="0" tIns="0" rIns="0" bIns="0"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Our MCP server</a:t>
            </a:r>
            <a:endParaRPr lang="en-US" sz="1400" dirty="0"/>
          </a:p>
        </p:txBody>
      </p:sp>
      <p:sp>
        <p:nvSpPr>
          <p:cNvPr id="12" name="Text 8"/>
          <p:cNvSpPr/>
          <p:nvPr/>
        </p:nvSpPr>
        <p:spPr>
          <a:xfrm>
            <a:off x="1143000" y="2395728"/>
            <a:ext cx="4754880" cy="301752"/>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44 tools, 5 prompts, 6 resources. Each tool is a fixed, safe query; the AI only fills in the blanks.</a:t>
            </a:r>
            <a:endParaRPr lang="en-US" sz="1100" dirty="0"/>
          </a:p>
        </p:txBody>
      </p:sp>
      <p:sp>
        <p:nvSpPr>
          <p:cNvPr id="13" name="Shape 9"/>
          <p:cNvSpPr/>
          <p:nvPr/>
        </p:nvSpPr>
        <p:spPr>
          <a:xfrm>
            <a:off x="457200" y="2880360"/>
            <a:ext cx="5486400" cy="685800"/>
          </a:xfrm>
          <a:prstGeom prst="rect">
            <a:avLst/>
          </a:prstGeom>
          <a:solidFill>
            <a:srgbClr val="3E318C"/>
          </a:solidFill>
          <a:ln/>
        </p:spPr>
      </p:sp>
      <p:pic>
        <p:nvPicPr>
          <p:cNvPr id="14" name="Image 2" descr="preencoded.png">    </p:cNvPr>
          <p:cNvPicPr>
            <a:picLocks noChangeAspect="1"/>
          </p:cNvPicPr>
          <p:nvPr/>
        </p:nvPicPr>
        <p:blipFill>
          <a:blip r:embed="rId3"/>
          <a:stretch>
            <a:fillRect/>
          </a:stretch>
        </p:blipFill>
        <p:spPr>
          <a:xfrm>
            <a:off x="640080" y="3063240"/>
            <a:ext cx="320040" cy="320040"/>
          </a:xfrm>
          <a:prstGeom prst="rect">
            <a:avLst/>
          </a:prstGeom>
        </p:spPr>
      </p:pic>
      <p:sp>
        <p:nvSpPr>
          <p:cNvPr id="15" name="Text 10"/>
          <p:cNvSpPr/>
          <p:nvPr/>
        </p:nvSpPr>
        <p:spPr>
          <a:xfrm>
            <a:off x="1143000" y="2935224"/>
            <a:ext cx="4663440" cy="274320"/>
          </a:xfrm>
          <a:prstGeom prst="rect">
            <a:avLst/>
          </a:prstGeom>
          <a:noFill/>
          <a:ln/>
        </p:spPr>
        <p:txBody>
          <a:bodyPr wrap="square" lIns="0" tIns="0" rIns="0" bIns="0"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SereneDB</a:t>
            </a:r>
            <a:endParaRPr lang="en-US" sz="1400" dirty="0"/>
          </a:p>
        </p:txBody>
      </p:sp>
      <p:sp>
        <p:nvSpPr>
          <p:cNvPr id="16" name="Text 11"/>
          <p:cNvSpPr/>
          <p:nvPr/>
        </p:nvSpPr>
        <p:spPr>
          <a:xfrm>
            <a:off x="1143000" y="3218688"/>
            <a:ext cx="4754880" cy="301752"/>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Searches and counts over every line: full-text index, aggregations, timelines, remote data.</a:t>
            </a:r>
            <a:endParaRPr lang="en-US" sz="1100" dirty="0"/>
          </a:p>
        </p:txBody>
      </p:sp>
      <p:sp>
        <p:nvSpPr>
          <p:cNvPr id="17" name="Shape 12"/>
          <p:cNvSpPr/>
          <p:nvPr/>
        </p:nvSpPr>
        <p:spPr>
          <a:xfrm>
            <a:off x="457200" y="3703320"/>
            <a:ext cx="5486400" cy="685800"/>
          </a:xfrm>
          <a:prstGeom prst="rect">
            <a:avLst/>
          </a:prstGeom>
          <a:solidFill>
            <a:srgbClr val="E9E3FB"/>
          </a:solidFill>
          <a:ln/>
        </p:spPr>
      </p:sp>
      <p:pic>
        <p:nvPicPr>
          <p:cNvPr id="18" name="Image 3" descr="preencoded.png">    </p:cNvPr>
          <p:cNvPicPr>
            <a:picLocks noChangeAspect="1"/>
          </p:cNvPicPr>
          <p:nvPr/>
        </p:nvPicPr>
        <p:blipFill>
          <a:blip r:embed="rId4"/>
          <a:stretch>
            <a:fillRect/>
          </a:stretch>
        </p:blipFill>
        <p:spPr>
          <a:xfrm>
            <a:off x="640080" y="3886200"/>
            <a:ext cx="320040" cy="320040"/>
          </a:xfrm>
          <a:prstGeom prst="rect">
            <a:avLst/>
          </a:prstGeom>
        </p:spPr>
      </p:pic>
      <p:sp>
        <p:nvSpPr>
          <p:cNvPr id="19" name="Text 13"/>
          <p:cNvSpPr/>
          <p:nvPr/>
        </p:nvSpPr>
        <p:spPr>
          <a:xfrm>
            <a:off x="1143000" y="3758184"/>
            <a:ext cx="4663440" cy="274320"/>
          </a:xfrm>
          <a:prstGeom prst="rect">
            <a:avLst/>
          </a:prstGeom>
          <a:noFill/>
          <a:ln/>
        </p:spPr>
        <p:txBody>
          <a:bodyPr wrap="square" lIns="0" tIns="0" rIns="0" bIns="0" rtlCol="0" anchor="ctr"/>
          <a:lstStyle/>
          <a:p>
            <a:pPr indent="0" marL="0">
              <a:buNone/>
            </a:pPr>
            <a:r>
              <a:rPr lang="en-US" sz="1400" b="1" dirty="0">
                <a:solidFill>
                  <a:srgbClr val="11121D"/>
                </a:solidFill>
                <a:latin typeface="Trebuchet MS" pitchFamily="34" charset="0"/>
                <a:ea typeface="Trebuchet MS" pitchFamily="34" charset="-122"/>
                <a:cs typeface="Trebuchet MS" pitchFamily="34" charset="-120"/>
              </a:rPr>
              <a:t>Jev</a:t>
            </a:r>
            <a:endParaRPr lang="en-US" sz="1400" dirty="0"/>
          </a:p>
        </p:txBody>
      </p:sp>
      <p:sp>
        <p:nvSpPr>
          <p:cNvPr id="20" name="Text 14"/>
          <p:cNvSpPr/>
          <p:nvPr/>
        </p:nvSpPr>
        <p:spPr>
          <a:xfrm>
            <a:off x="1143000" y="4041648"/>
            <a:ext cx="4754880" cy="301752"/>
          </a:xfrm>
          <a:prstGeom prst="rect">
            <a:avLst/>
          </a:prstGeom>
          <a:noFill/>
          <a:ln/>
        </p:spPr>
        <p:txBody>
          <a:bodyPr wrap="square" lIns="0" tIns="0" rIns="0" bIns="0" rtlCol="0" anchor="ctr"/>
          <a:lstStyle/>
          <a:p>
            <a:pPr indent="0" marL="0">
              <a:buNone/>
            </a:pPr>
            <a:r>
              <a:rPr lang="en-US" sz="1100" dirty="0">
                <a:solidFill>
                  <a:srgbClr val="11121D"/>
                </a:solidFill>
                <a:latin typeface="Calibri" pitchFamily="34" charset="0"/>
                <a:ea typeface="Calibri" pitchFamily="34" charset="-122"/>
                <a:cs typeface="Calibri" pitchFamily="34" charset="-120"/>
              </a:rPr>
              <a:t>Judges each kind of message once: a real fault, or routine noise?</a:t>
            </a:r>
            <a:endParaRPr lang="en-US" sz="1100" dirty="0"/>
          </a:p>
        </p:txBody>
      </p:sp>
      <p:sp>
        <p:nvSpPr>
          <p:cNvPr id="21" name="Shape 15"/>
          <p:cNvSpPr/>
          <p:nvPr/>
        </p:nvSpPr>
        <p:spPr>
          <a:xfrm>
            <a:off x="6217920" y="1234440"/>
            <a:ext cx="2468880" cy="3154680"/>
          </a:xfrm>
          <a:prstGeom prst="rect">
            <a:avLst/>
          </a:prstGeom>
          <a:solidFill>
            <a:srgbClr val="F0F2F5"/>
          </a:solidFill>
          <a:ln/>
        </p:spPr>
      </p:sp>
      <p:sp>
        <p:nvSpPr>
          <p:cNvPr id="22" name="Text 16"/>
          <p:cNvSpPr/>
          <p:nvPr/>
        </p:nvSpPr>
        <p:spPr>
          <a:xfrm>
            <a:off x="6400800" y="1371600"/>
            <a:ext cx="2194560" cy="320040"/>
          </a:xfrm>
          <a:prstGeom prst="rect">
            <a:avLst/>
          </a:prstGeom>
          <a:noFill/>
          <a:ln/>
        </p:spPr>
        <p:txBody>
          <a:bodyPr wrap="square" lIns="0" tIns="0" rIns="0" bIns="0" rtlCol="0" anchor="ctr"/>
          <a:lstStyle/>
          <a:p>
            <a:pPr indent="0" marL="0">
              <a:buNone/>
            </a:pPr>
            <a:r>
              <a:rPr lang="en-US" sz="1500" b="1" dirty="0">
                <a:solidFill>
                  <a:srgbClr val="11121D"/>
                </a:solidFill>
                <a:latin typeface="Trebuchet MS" pitchFamily="34" charset="0"/>
                <a:ea typeface="Trebuchet MS" pitchFamily="34" charset="-122"/>
                <a:cs typeface="Trebuchet MS" pitchFamily="34" charset="-120"/>
              </a:rPr>
              <a:t>Setup</a:t>
            </a:r>
            <a:endParaRPr lang="en-US" sz="1500" dirty="0"/>
          </a:p>
        </p:txBody>
      </p:sp>
      <p:sp>
        <p:nvSpPr>
          <p:cNvPr id="23" name="Text 17"/>
          <p:cNvSpPr/>
          <p:nvPr/>
        </p:nvSpPr>
        <p:spPr>
          <a:xfrm>
            <a:off x="6400800" y="1737360"/>
            <a:ext cx="2194560" cy="822960"/>
          </a:xfrm>
          <a:prstGeom prst="rect">
            <a:avLst/>
          </a:prstGeom>
          <a:noFill/>
          <a:ln/>
        </p:spPr>
        <p:txBody>
          <a:bodyPr wrap="square" lIns="0" tIns="0" rIns="0" bIns="0" rtlCol="0" anchor="ctr"/>
          <a:lstStyle/>
          <a:p>
            <a:pPr indent="0" marL="0">
              <a:buNone/>
            </a:pPr>
            <a:r>
              <a:rPr lang="en-US" sz="1100" dirty="0">
                <a:solidFill>
                  <a:srgbClr val="3E318C"/>
                </a:solidFill>
                <a:latin typeface="Consolas" pitchFamily="34" charset="0"/>
                <a:ea typeface="Consolas" pitchFamily="34" charset="-122"/>
                <a:cs typeface="Consolas" pitchFamily="34" charset="-120"/>
              </a:rPr>
              <a:t>docker compose up -d</a:t>
            </a:r>
            <a:endParaRPr lang="en-US" sz="1100" dirty="0"/>
          </a:p>
          <a:p>
            <a:pPr indent="0" marL="0">
              <a:buNone/>
            </a:pPr>
            <a:r>
              <a:rPr lang="en-US" sz="1100" dirty="0">
                <a:solidFill>
                  <a:srgbClr val="3E318C"/>
                </a:solidFill>
                <a:latin typeface="Consolas" pitchFamily="34" charset="0"/>
                <a:ea typeface="Consolas" pitchFamily="34" charset="-122"/>
                <a:cs typeface="Consolas" pitchFamily="34" charset="-120"/>
              </a:rPr>
              <a:t>claude</a:t>
            </a:r>
            <a:endParaRPr lang="en-US" sz="1100" dirty="0"/>
          </a:p>
          <a:p>
            <a:pPr indent="0" marL="0">
              <a:buNone/>
            </a:pPr>
            <a:r>
              <a:rPr lang="en-US" sz="1100" dirty="0">
                <a:solidFill>
                  <a:srgbClr val="3E318C"/>
                </a:solidFill>
                <a:latin typeface="Consolas" pitchFamily="34" charset="0"/>
                <a:ea typeface="Consolas" pitchFamily="34" charset="-122"/>
                <a:cs typeface="Consolas" pitchFamily="34" charset="-120"/>
              </a:rPr>
              <a:t>&gt; Load the base corpus</a:t>
            </a:r>
            <a:endParaRPr lang="en-US" sz="1100" dirty="0"/>
          </a:p>
        </p:txBody>
      </p:sp>
      <p:sp>
        <p:nvSpPr>
          <p:cNvPr id="24" name="Text 18"/>
          <p:cNvSpPr/>
          <p:nvPr/>
        </p:nvSpPr>
        <p:spPr>
          <a:xfrm>
            <a:off x="6400800" y="2697480"/>
            <a:ext cx="2194560" cy="160020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2A2C44"/>
                </a:solidFill>
                <a:latin typeface="Calibri" pitchFamily="34" charset="0"/>
                <a:ea typeface="Calibri" pitchFamily="34" charset="-122"/>
                <a:cs typeface="Calibri" pitchFamily="34" charset="-120"/>
              </a:rPr>
              <a:t>72 s from nothing to 5 M lines loaded (clean clone)</a:t>
            </a:r>
            <a:endParaRPr lang="en-US" sz="1100" dirty="0"/>
          </a:p>
          <a:p>
            <a:pPr marL="342900" indent="-342900">
              <a:spcAft>
                <a:spcPts val="500"/>
              </a:spcAft>
              <a:buSzPct val="100000"/>
              <a:buChar char="•"/>
            </a:pPr>
            <a:r>
              <a:rPr lang="en-US" sz="1100" dirty="0">
                <a:solidFill>
                  <a:srgbClr val="2A2C44"/>
                </a:solidFill>
                <a:latin typeface="Calibri" pitchFamily="34" charset="0"/>
                <a:ea typeface="Calibri" pitchFamily="34" charset="-122"/>
                <a:cs typeface="Calibri" pitchFamily="34" charset="-120"/>
              </a:rPr>
              <a:t>Any log file: format detected automatically</a:t>
            </a:r>
            <a:endParaRPr lang="en-US" sz="1100" dirty="0"/>
          </a:p>
          <a:p>
            <a:pPr marL="342900" indent="-342900">
              <a:spcAft>
                <a:spcPts val="500"/>
              </a:spcAft>
              <a:buSzPct val="100000"/>
              <a:buChar char="•"/>
            </a:pPr>
            <a:r>
              <a:rPr lang="en-US" sz="1100" dirty="0">
                <a:solidFill>
                  <a:srgbClr val="2A2C44"/>
                </a:solidFill>
                <a:latin typeface="Calibri" pitchFamily="34" charset="0"/>
                <a:ea typeface="Calibri" pitchFamily="34" charset="-122"/>
                <a:cs typeface="Calibri" pitchFamily="34" charset="-120"/>
              </a:rPr>
              <a:t>Runs locally: the logs stay on your machine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F2F5"/>
        </a:solidFill>
      </p:bgPr>
    </p:bg>
    <p:spTree>
      <p:nvGrpSpPr>
        <p:cNvPr id="1" name=""/>
        <p:cNvGrpSpPr/>
        <p:nvPr/>
      </p:nvGrpSpPr>
      <p:grpSpPr>
        <a:xfrm>
          <a:off x="0" y="0"/>
          <a:ext cx="0" cy="0"/>
          <a:chOff x="0" y="0"/>
          <a:chExt cx="0" cy="0"/>
        </a:xfrm>
      </p:grpSpPr>
      <p:sp>
        <p:nvSpPr>
          <p:cNvPr id="2" name="Text 0"/>
          <p:cNvSpPr/>
          <p:nvPr/>
        </p:nvSpPr>
        <p:spPr>
          <a:xfrm>
            <a:off x="5943600" y="4773168"/>
            <a:ext cx="2743200" cy="228600"/>
          </a:xfrm>
          <a:prstGeom prst="rect">
            <a:avLst/>
          </a:prstGeom>
          <a:noFill/>
          <a:ln/>
        </p:spPr>
        <p:txBody>
          <a:bodyPr wrap="square" lIns="0" tIns="0" rIns="0" bIns="0" rtlCol="0" anchor="ctr"/>
          <a:lstStyle/>
          <a:p>
            <a:pPr algn="r" indent="0" marL="0">
              <a:buNone/>
            </a:pPr>
            <a:r>
              <a:rPr lang="en-US" sz="900" dirty="0">
                <a:solidFill>
                  <a:srgbClr val="6B7386"/>
                </a:solidFill>
                <a:latin typeface="Calibri" pitchFamily="34" charset="0"/>
                <a:ea typeface="Calibri" pitchFamily="34" charset="-122"/>
                <a:cs typeface="Calibri" pitchFamily="34" charset="-120"/>
              </a:rPr>
              <a:t>Making Sense of Logs   4</a:t>
            </a:r>
            <a:endParaRPr lang="en-US" sz="900" dirty="0"/>
          </a:p>
        </p:txBody>
      </p:sp>
      <p:sp>
        <p:nvSpPr>
          <p:cNvPr id="3" name="Text 1"/>
          <p:cNvSpPr/>
          <p:nvPr/>
        </p:nvSpPr>
        <p:spPr>
          <a:xfrm>
            <a:off x="457200" y="256032"/>
            <a:ext cx="8229600" cy="228600"/>
          </a:xfrm>
          <a:prstGeom prst="rect">
            <a:avLst/>
          </a:prstGeom>
          <a:noFill/>
          <a:ln/>
        </p:spPr>
        <p:txBody>
          <a:bodyPr wrap="square" lIns="0" tIns="0" rIns="0" bIns="0" rtlCol="0" anchor="ctr"/>
          <a:lstStyle/>
          <a:p>
            <a:pPr indent="0" marL="0">
              <a:buNone/>
            </a:pPr>
            <a:r>
              <a:rPr lang="en-US" sz="1000" b="1" spc="300" kern="0" dirty="0">
                <a:solidFill>
                  <a:srgbClr val="7B4FD6"/>
                </a:solidFill>
                <a:latin typeface="Calibri" pitchFamily="34" charset="0"/>
                <a:ea typeface="Calibri" pitchFamily="34" charset="-122"/>
                <a:cs typeface="Calibri" pitchFamily="34" charset="-120"/>
              </a:rPr>
              <a:t>LIVE DEMO · BGL SUPERCOMPUTER, NOVEMBER 2005</a:t>
            </a:r>
            <a:endParaRPr lang="en-US" sz="1000" dirty="0"/>
          </a:p>
        </p:txBody>
      </p:sp>
      <p:sp>
        <p:nvSpPr>
          <p:cNvPr id="4" name="Text 2"/>
          <p:cNvSpPr/>
          <p:nvPr/>
        </p:nvSpPr>
        <p:spPr>
          <a:xfrm>
            <a:off x="457200" y="47548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Trebuchet MS" pitchFamily="34" charset="0"/>
                <a:ea typeface="Trebuchet MS" pitchFamily="34" charset="-122"/>
                <a:cs typeface="Trebuchet MS" pitchFamily="34" charset="-120"/>
              </a:rPr>
              <a:t>One problem, three answers</a:t>
            </a:r>
            <a:endParaRPr lang="en-US" sz="2800" dirty="0"/>
          </a:p>
        </p:txBody>
      </p:sp>
      <p:sp>
        <p:nvSpPr>
          <p:cNvPr id="5" name="Shape 3"/>
          <p:cNvSpPr/>
          <p:nvPr/>
        </p:nvSpPr>
        <p:spPr>
          <a:xfrm>
            <a:off x="457200" y="1234440"/>
            <a:ext cx="2606040" cy="3337560"/>
          </a:xfrm>
          <a:prstGeom prst="rect">
            <a:avLst/>
          </a:prstGeom>
          <a:solidFill>
            <a:srgbClr val="FFFFFF"/>
          </a:solidFill>
          <a:ln/>
        </p:spPr>
      </p:sp>
      <p:sp>
        <p:nvSpPr>
          <p:cNvPr id="6" name="Shape 4"/>
          <p:cNvSpPr/>
          <p:nvPr/>
        </p:nvSpPr>
        <p:spPr>
          <a:xfrm>
            <a:off x="457200" y="1234440"/>
            <a:ext cx="2606040" cy="73152"/>
          </a:xfrm>
          <a:prstGeom prst="rect">
            <a:avLst/>
          </a:prstGeom>
          <a:solidFill>
            <a:srgbClr val="7B4FD6"/>
          </a:solidFill>
          <a:ln/>
        </p:spPr>
      </p:sp>
      <p:sp>
        <p:nvSpPr>
          <p:cNvPr id="7" name="Text 5"/>
          <p:cNvSpPr/>
          <p:nvPr/>
        </p:nvSpPr>
        <p:spPr>
          <a:xfrm>
            <a:off x="621792" y="1389888"/>
            <a:ext cx="2286000" cy="320040"/>
          </a:xfrm>
          <a:prstGeom prst="rect">
            <a:avLst/>
          </a:prstGeom>
          <a:noFill/>
          <a:ln/>
        </p:spPr>
        <p:txBody>
          <a:bodyPr wrap="square" lIns="0" tIns="0" rIns="0" bIns="0" rtlCol="0" anchor="ctr"/>
          <a:lstStyle/>
          <a:p>
            <a:pPr indent="0" marL="0">
              <a:buNone/>
            </a:pPr>
            <a:r>
              <a:rPr lang="en-US" sz="1600" b="1" dirty="0">
                <a:solidFill>
                  <a:srgbClr val="11121D"/>
                </a:solidFill>
                <a:latin typeface="Trebuchet MS" pitchFamily="34" charset="0"/>
                <a:ea typeface="Trebuchet MS" pitchFamily="34" charset="-122"/>
                <a:cs typeface="Trebuchet MS" pitchFamily="34" charset="-120"/>
              </a:rPr>
              <a:t>Engineer</a:t>
            </a:r>
            <a:endParaRPr lang="en-US" sz="1600" dirty="0"/>
          </a:p>
        </p:txBody>
      </p:sp>
      <p:sp>
        <p:nvSpPr>
          <p:cNvPr id="8" name="Text 6"/>
          <p:cNvSpPr/>
          <p:nvPr/>
        </p:nvSpPr>
        <p:spPr>
          <a:xfrm>
            <a:off x="621792" y="1700784"/>
            <a:ext cx="2286000" cy="274320"/>
          </a:xfrm>
          <a:prstGeom prst="rect">
            <a:avLst/>
          </a:prstGeom>
          <a:noFill/>
          <a:ln/>
        </p:spPr>
        <p:txBody>
          <a:bodyPr wrap="square" lIns="0" tIns="0" rIns="0" bIns="0" rtlCol="0" anchor="ctr"/>
          <a:lstStyle/>
          <a:p>
            <a:pPr indent="0" marL="0">
              <a:buNone/>
            </a:pPr>
            <a:r>
              <a:rPr lang="en-US" sz="1100" i="1" dirty="0">
                <a:solidFill>
                  <a:srgbClr val="6B7386"/>
                </a:solidFill>
                <a:latin typeface="Calibri" pitchFamily="34" charset="0"/>
                <a:ea typeface="Calibri" pitchFamily="34" charset="-122"/>
                <a:cs typeface="Calibri" pitchFamily="34" charset="-120"/>
              </a:rPr>
              <a:t>What failed, before and after?</a:t>
            </a:r>
            <a:endParaRPr lang="en-US" sz="1100" dirty="0"/>
          </a:p>
        </p:txBody>
      </p:sp>
      <p:sp>
        <p:nvSpPr>
          <p:cNvPr id="9" name="Text 7"/>
          <p:cNvSpPr/>
          <p:nvPr/>
        </p:nvSpPr>
        <p:spPr>
          <a:xfrm>
            <a:off x="566928" y="2029968"/>
            <a:ext cx="2395728" cy="17830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A2C44"/>
                </a:solidFill>
                <a:latin typeface="Calibri" pitchFamily="34" charset="0"/>
                <a:ea typeface="Calibri" pitchFamily="34" charset="-122"/>
                <a:cs typeface="Calibri" pitchFamily="34" charset="-120"/>
              </a:rPr>
              <a:t>New fault “Link has been severed”: 12,996 lines on 1,024 nodes</a:t>
            </a:r>
            <a:endParaRPr lang="en-US" sz="1050" dirty="0"/>
          </a:p>
          <a:p>
            <a:pPr marL="342900" indent="-342900">
              <a:spcAft>
                <a:spcPts val="400"/>
              </a:spcAft>
              <a:buSzPct val="100000"/>
              <a:buChar char="•"/>
            </a:pPr>
            <a:r>
              <a:rPr lang="en-US" sz="1050" dirty="0">
                <a:solidFill>
                  <a:srgbClr val="2A2C44"/>
                </a:solidFill>
                <a:latin typeface="Calibri" pitchFamily="34" charset="0"/>
                <a:ea typeface="Calibri" pitchFamily="34" charset="-122"/>
                <a:cs typeface="Calibri" pitchFamily="34" charset="-120"/>
              </a:rPr>
              <a:t>First burst: 504 nodes in 4 min; 21 min earlier, 64 job launches failed</a:t>
            </a:r>
            <a:endParaRPr lang="en-US" sz="1050" dirty="0"/>
          </a:p>
          <a:p>
            <a:pPr marL="342900" indent="-342900">
              <a:spcAft>
                <a:spcPts val="400"/>
              </a:spcAft>
              <a:buSzPct val="100000"/>
              <a:buChar char="•"/>
            </a:pPr>
            <a:r>
              <a:rPr lang="en-US" sz="1050" dirty="0">
                <a:solidFill>
                  <a:srgbClr val="2A2C44"/>
                </a:solidFill>
                <a:latin typeface="Calibri" pitchFamily="34" charset="0"/>
                <a:ea typeface="Calibri" pitchFamily="34" charset="-122"/>
                <a:cs typeface="Calibri" pitchFamily="34" charset="-120"/>
              </a:rPr>
              <a:t>Every line points to one host: 172.16.96.116</a:t>
            </a:r>
            <a:endParaRPr lang="en-US" sz="1050" dirty="0"/>
          </a:p>
        </p:txBody>
      </p:sp>
      <p:sp>
        <p:nvSpPr>
          <p:cNvPr id="10" name="Text 8"/>
          <p:cNvSpPr/>
          <p:nvPr/>
        </p:nvSpPr>
        <p:spPr>
          <a:xfrm>
            <a:off x="621792" y="3886200"/>
            <a:ext cx="2286000" cy="594360"/>
          </a:xfrm>
          <a:prstGeom prst="rect">
            <a:avLst/>
          </a:prstGeom>
          <a:noFill/>
          <a:ln/>
        </p:spPr>
        <p:txBody>
          <a:bodyPr wrap="square" lIns="0" tIns="0" rIns="0" bIns="0" rtlCol="0" anchor="t"/>
          <a:lstStyle/>
          <a:p>
            <a:pPr indent="0" marL="0">
              <a:buNone/>
            </a:pPr>
            <a:r>
              <a:rPr lang="en-US" sz="1050" b="1" dirty="0">
                <a:solidFill>
                  <a:srgbClr val="3E318C"/>
                </a:solidFill>
                <a:latin typeface="Calibri" pitchFamily="34" charset="0"/>
                <a:ea typeface="Calibri" pitchFamily="34" charset="-122"/>
                <a:cs typeface="Calibri" pitchFamily="34" charset="-120"/>
              </a:rPr>
              <a:t>Next check: that host's log at 05:30–05:40</a:t>
            </a:r>
            <a:endParaRPr lang="en-US" sz="1050" dirty="0"/>
          </a:p>
        </p:txBody>
      </p:sp>
      <p:sp>
        <p:nvSpPr>
          <p:cNvPr id="11" name="Shape 9"/>
          <p:cNvSpPr/>
          <p:nvPr/>
        </p:nvSpPr>
        <p:spPr>
          <a:xfrm>
            <a:off x="3246120" y="1234440"/>
            <a:ext cx="2606040" cy="3337560"/>
          </a:xfrm>
          <a:prstGeom prst="rect">
            <a:avLst/>
          </a:prstGeom>
          <a:solidFill>
            <a:srgbClr val="FFFFFF"/>
          </a:solidFill>
          <a:ln/>
        </p:spPr>
      </p:sp>
      <p:sp>
        <p:nvSpPr>
          <p:cNvPr id="12" name="Shape 10"/>
          <p:cNvSpPr/>
          <p:nvPr/>
        </p:nvSpPr>
        <p:spPr>
          <a:xfrm>
            <a:off x="3246120" y="1234440"/>
            <a:ext cx="2606040" cy="73152"/>
          </a:xfrm>
          <a:prstGeom prst="rect">
            <a:avLst/>
          </a:prstGeom>
          <a:solidFill>
            <a:srgbClr val="7B4FD6"/>
          </a:solidFill>
          <a:ln/>
        </p:spPr>
      </p:sp>
      <p:sp>
        <p:nvSpPr>
          <p:cNvPr id="13" name="Text 11"/>
          <p:cNvSpPr/>
          <p:nvPr/>
        </p:nvSpPr>
        <p:spPr>
          <a:xfrm>
            <a:off x="3410712" y="1389888"/>
            <a:ext cx="2286000" cy="320040"/>
          </a:xfrm>
          <a:prstGeom prst="rect">
            <a:avLst/>
          </a:prstGeom>
          <a:noFill/>
          <a:ln/>
        </p:spPr>
        <p:txBody>
          <a:bodyPr wrap="square" lIns="0" tIns="0" rIns="0" bIns="0" rtlCol="0" anchor="ctr"/>
          <a:lstStyle/>
          <a:p>
            <a:pPr indent="0" marL="0">
              <a:buNone/>
            </a:pPr>
            <a:r>
              <a:rPr lang="en-US" sz="1600" b="1" dirty="0">
                <a:solidFill>
                  <a:srgbClr val="11121D"/>
                </a:solidFill>
                <a:latin typeface="Trebuchet MS" pitchFamily="34" charset="0"/>
                <a:ea typeface="Trebuchet MS" pitchFamily="34" charset="-122"/>
                <a:cs typeface="Trebuchet MS" pitchFamily="34" charset="-120"/>
              </a:rPr>
              <a:t>Team lead</a:t>
            </a:r>
            <a:endParaRPr lang="en-US" sz="1600" dirty="0"/>
          </a:p>
        </p:txBody>
      </p:sp>
      <p:sp>
        <p:nvSpPr>
          <p:cNvPr id="14" name="Text 12"/>
          <p:cNvSpPr/>
          <p:nvPr/>
        </p:nvSpPr>
        <p:spPr>
          <a:xfrm>
            <a:off x="3410712" y="1700784"/>
            <a:ext cx="2286000" cy="274320"/>
          </a:xfrm>
          <a:prstGeom prst="rect">
            <a:avLst/>
          </a:prstGeom>
          <a:noFill/>
          <a:ln/>
        </p:spPr>
        <p:txBody>
          <a:bodyPr wrap="square" lIns="0" tIns="0" rIns="0" bIns="0" rtlCol="0" anchor="ctr"/>
          <a:lstStyle/>
          <a:p>
            <a:pPr indent="0" marL="0">
              <a:buNone/>
            </a:pPr>
            <a:r>
              <a:rPr lang="en-US" sz="1100" i="1" dirty="0">
                <a:solidFill>
                  <a:srgbClr val="6B7386"/>
                </a:solidFill>
                <a:latin typeface="Calibri" pitchFamily="34" charset="0"/>
                <a:ea typeface="Calibri" pitchFamily="34" charset="-122"/>
                <a:cs typeface="Calibri" pitchFamily="34" charset="-120"/>
              </a:rPr>
              <a:t>What recurs, and whose is it?</a:t>
            </a:r>
            <a:endParaRPr lang="en-US" sz="1100" dirty="0"/>
          </a:p>
        </p:txBody>
      </p:sp>
      <p:sp>
        <p:nvSpPr>
          <p:cNvPr id="15" name="Text 13"/>
          <p:cNvSpPr/>
          <p:nvPr/>
        </p:nvSpPr>
        <p:spPr>
          <a:xfrm>
            <a:off x="3355848" y="2029968"/>
            <a:ext cx="2395728" cy="17830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A2C44"/>
                </a:solidFill>
                <a:latin typeface="Calibri" pitchFamily="34" charset="0"/>
                <a:ea typeface="Calibri" pitchFamily="34" charset="-122"/>
                <a:cs typeface="Calibri" pitchFamily="34" charset="-120"/>
              </a:rPr>
              <a:t>451 recurring problem bursts: node-platform 283, hpc-workloads 106</a:t>
            </a:r>
            <a:endParaRPr lang="en-US" sz="1050" dirty="0"/>
          </a:p>
          <a:p>
            <a:pPr marL="342900" indent="-342900">
              <a:spcAft>
                <a:spcPts val="400"/>
              </a:spcAft>
              <a:buSzPct val="100000"/>
              <a:buChar char="•"/>
            </a:pPr>
            <a:r>
              <a:rPr lang="en-US" sz="1050" dirty="0">
                <a:solidFill>
                  <a:srgbClr val="2A2C44"/>
                </a:solidFill>
                <a:latin typeface="Calibri" pitchFamily="34" charset="0"/>
                <a:ea typeface="Calibri" pitchFamily="34" charset="-122"/>
                <a:cs typeface="Calibri" pitchFamily="34" charset="-120"/>
              </a:rPr>
              <a:t>The new fault: 31 bursts; its owner is disputed between two teams</a:t>
            </a:r>
            <a:endParaRPr lang="en-US" sz="1050" dirty="0"/>
          </a:p>
          <a:p>
            <a:pPr marL="342900" indent="-342900">
              <a:spcAft>
                <a:spcPts val="400"/>
              </a:spcAft>
              <a:buSzPct val="100000"/>
              <a:buChar char="•"/>
            </a:pPr>
            <a:r>
              <a:rPr lang="en-US" sz="1050" dirty="0">
                <a:solidFill>
                  <a:srgbClr val="2A2C44"/>
                </a:solidFill>
                <a:latin typeface="Calibri" pitchFamily="34" charset="0"/>
                <a:ea typeface="Calibri" pitchFamily="34" charset="-122"/>
                <a:cs typeface="Calibri" pitchFamily="34" charset="-120"/>
              </a:rPr>
              <a:t>Weekly problem bursts 69.6 → 119.3: getting worse</a:t>
            </a:r>
            <a:endParaRPr lang="en-US" sz="1050" dirty="0"/>
          </a:p>
        </p:txBody>
      </p:sp>
      <p:sp>
        <p:nvSpPr>
          <p:cNvPr id="16" name="Text 14"/>
          <p:cNvSpPr/>
          <p:nvPr/>
        </p:nvSpPr>
        <p:spPr>
          <a:xfrm>
            <a:off x="3410712" y="3886200"/>
            <a:ext cx="2286000" cy="594360"/>
          </a:xfrm>
          <a:prstGeom prst="rect">
            <a:avLst/>
          </a:prstGeom>
          <a:noFill/>
          <a:ln/>
        </p:spPr>
        <p:txBody>
          <a:bodyPr wrap="square" lIns="0" tIns="0" rIns="0" bIns="0" rtlCol="0" anchor="t"/>
          <a:lstStyle/>
          <a:p>
            <a:pPr indent="0" marL="0">
              <a:buNone/>
            </a:pPr>
            <a:r>
              <a:rPr lang="en-US" sz="1050" b="1" dirty="0">
                <a:solidFill>
                  <a:srgbClr val="3E318C"/>
                </a:solidFill>
                <a:latin typeface="Calibri" pitchFamily="34" charset="0"/>
                <a:ea typeface="Calibri" pitchFamily="34" charset="-122"/>
                <a:cs typeface="Calibri" pitchFamily="34" charset="-120"/>
              </a:rPr>
              <a:t>Next step: both teams triage it together</a:t>
            </a:r>
            <a:endParaRPr lang="en-US" sz="1050" dirty="0"/>
          </a:p>
        </p:txBody>
      </p:sp>
      <p:sp>
        <p:nvSpPr>
          <p:cNvPr id="17" name="Shape 15"/>
          <p:cNvSpPr/>
          <p:nvPr/>
        </p:nvSpPr>
        <p:spPr>
          <a:xfrm>
            <a:off x="6035040" y="1234440"/>
            <a:ext cx="2606040" cy="3337560"/>
          </a:xfrm>
          <a:prstGeom prst="rect">
            <a:avLst/>
          </a:prstGeom>
          <a:solidFill>
            <a:srgbClr val="FFFFFF"/>
          </a:solidFill>
          <a:ln/>
        </p:spPr>
      </p:sp>
      <p:sp>
        <p:nvSpPr>
          <p:cNvPr id="18" name="Shape 16"/>
          <p:cNvSpPr/>
          <p:nvPr/>
        </p:nvSpPr>
        <p:spPr>
          <a:xfrm>
            <a:off x="6035040" y="1234440"/>
            <a:ext cx="2606040" cy="73152"/>
          </a:xfrm>
          <a:prstGeom prst="rect">
            <a:avLst/>
          </a:prstGeom>
          <a:solidFill>
            <a:srgbClr val="7B4FD6"/>
          </a:solidFill>
          <a:ln/>
        </p:spPr>
      </p:sp>
      <p:sp>
        <p:nvSpPr>
          <p:cNvPr id="19" name="Text 17"/>
          <p:cNvSpPr/>
          <p:nvPr/>
        </p:nvSpPr>
        <p:spPr>
          <a:xfrm>
            <a:off x="6199632" y="1389888"/>
            <a:ext cx="2286000" cy="320040"/>
          </a:xfrm>
          <a:prstGeom prst="rect">
            <a:avLst/>
          </a:prstGeom>
          <a:noFill/>
          <a:ln/>
        </p:spPr>
        <p:txBody>
          <a:bodyPr wrap="square" lIns="0" tIns="0" rIns="0" bIns="0" rtlCol="0" anchor="ctr"/>
          <a:lstStyle/>
          <a:p>
            <a:pPr indent="0" marL="0">
              <a:buNone/>
            </a:pPr>
            <a:r>
              <a:rPr lang="en-US" sz="1600" b="1" dirty="0">
                <a:solidFill>
                  <a:srgbClr val="11121D"/>
                </a:solidFill>
                <a:latin typeface="Trebuchet MS" pitchFamily="34" charset="0"/>
                <a:ea typeface="Trebuchet MS" pitchFamily="34" charset="-122"/>
                <a:cs typeface="Trebuchet MS" pitchFamily="34" charset="-120"/>
              </a:rPr>
              <a:t>Manager</a:t>
            </a:r>
            <a:endParaRPr lang="en-US" sz="1600" dirty="0"/>
          </a:p>
        </p:txBody>
      </p:sp>
      <p:sp>
        <p:nvSpPr>
          <p:cNvPr id="20" name="Text 18"/>
          <p:cNvSpPr/>
          <p:nvPr/>
        </p:nvSpPr>
        <p:spPr>
          <a:xfrm>
            <a:off x="6199632" y="1700784"/>
            <a:ext cx="2286000" cy="274320"/>
          </a:xfrm>
          <a:prstGeom prst="rect">
            <a:avLst/>
          </a:prstGeom>
          <a:noFill/>
          <a:ln/>
        </p:spPr>
        <p:txBody>
          <a:bodyPr wrap="square" lIns="0" tIns="0" rIns="0" bIns="0" rtlCol="0" anchor="ctr"/>
          <a:lstStyle/>
          <a:p>
            <a:pPr indent="0" marL="0">
              <a:buNone/>
            </a:pPr>
            <a:r>
              <a:rPr lang="en-US" sz="1100" i="1" dirty="0">
                <a:solidFill>
                  <a:srgbClr val="6B7386"/>
                </a:solidFill>
                <a:latin typeface="Calibri" pitchFamily="34" charset="0"/>
                <a:ea typeface="Calibri" pitchFamily="34" charset="-122"/>
                <a:cs typeface="Calibri" pitchFamily="34" charset="-120"/>
              </a:rPr>
              <a:t>What do we fix first?</a:t>
            </a:r>
            <a:endParaRPr lang="en-US" sz="1100" dirty="0"/>
          </a:p>
        </p:txBody>
      </p:sp>
      <p:sp>
        <p:nvSpPr>
          <p:cNvPr id="21" name="Text 19"/>
          <p:cNvSpPr/>
          <p:nvPr/>
        </p:nvSpPr>
        <p:spPr>
          <a:xfrm>
            <a:off x="6144768" y="2029968"/>
            <a:ext cx="2395728" cy="17830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A2C44"/>
                </a:solidFill>
                <a:latin typeface="Calibri" pitchFamily="34" charset="0"/>
                <a:ea typeface="Calibri" pitchFamily="34" charset="-122"/>
                <a:cs typeface="Calibri" pitchFamily="34" charset="-120"/>
              </a:rPr>
              <a:t>Computed rank 1: the new fault, score 97.8</a:t>
            </a:r>
            <a:endParaRPr lang="en-US" sz="1050" dirty="0"/>
          </a:p>
          <a:p>
            <a:pPr marL="342900" indent="-342900">
              <a:spcAft>
                <a:spcPts val="400"/>
              </a:spcAft>
              <a:buSzPct val="100000"/>
              <a:buChar char="•"/>
            </a:pPr>
            <a:r>
              <a:rPr lang="en-US" sz="1050" dirty="0">
                <a:solidFill>
                  <a:srgbClr val="2A2C44"/>
                </a:solidFill>
                <a:latin typeface="Calibri" pitchFamily="34" charset="0"/>
                <a:ea typeface="Calibri" pitchFamily="34" charset="-122"/>
                <a:cs typeface="Calibri" pitchFamily="34" charset="-120"/>
              </a:rPr>
              <a:t>2 and 3: two kernel faults (93.6 and 90.5)</a:t>
            </a:r>
            <a:endParaRPr lang="en-US" sz="1050" dirty="0"/>
          </a:p>
          <a:p>
            <a:pPr marL="342900" indent="-342900">
              <a:spcAft>
                <a:spcPts val="400"/>
              </a:spcAft>
              <a:buSzPct val="100000"/>
              <a:buChar char="•"/>
            </a:pPr>
            <a:r>
              <a:rPr lang="en-US" sz="1050" dirty="0">
                <a:solidFill>
                  <a:srgbClr val="2A2C44"/>
                </a:solidFill>
                <a:latin typeface="Calibri" pitchFamily="34" charset="0"/>
                <a:ea typeface="Calibri" pitchFamily="34" charset="-122"/>
                <a:cs typeface="Calibri" pitchFamily="34" charset="-120"/>
              </a:rPr>
              <a:t>hpc-workloads: 9 → 106 bursts vs the month before</a:t>
            </a:r>
            <a:endParaRPr lang="en-US" sz="1050" dirty="0"/>
          </a:p>
        </p:txBody>
      </p:sp>
      <p:sp>
        <p:nvSpPr>
          <p:cNvPr id="22" name="Text 20"/>
          <p:cNvSpPr/>
          <p:nvPr/>
        </p:nvSpPr>
        <p:spPr>
          <a:xfrm>
            <a:off x="6199632" y="3886200"/>
            <a:ext cx="2286000" cy="594360"/>
          </a:xfrm>
          <a:prstGeom prst="rect">
            <a:avLst/>
          </a:prstGeom>
          <a:noFill/>
          <a:ln/>
        </p:spPr>
        <p:txBody>
          <a:bodyPr wrap="square" lIns="0" tIns="0" rIns="0" bIns="0" rtlCol="0" anchor="t"/>
          <a:lstStyle/>
          <a:p>
            <a:pPr indent="0" marL="0">
              <a:buNone/>
            </a:pPr>
            <a:r>
              <a:rPr lang="en-US" sz="1050" b="1" dirty="0">
                <a:solidFill>
                  <a:srgbClr val="3E318C"/>
                </a:solidFill>
                <a:latin typeface="Calibri" pitchFamily="34" charset="0"/>
                <a:ea typeface="Calibri" pitchFamily="34" charset="-122"/>
                <a:cs typeface="Calibri" pitchFamily="34" charset="-120"/>
              </a:rPr>
              <a:t>Decision: name one owner now. Cost and downtime are not in the logs.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0" y="4773168"/>
            <a:ext cx="2743200" cy="228600"/>
          </a:xfrm>
          <a:prstGeom prst="rect">
            <a:avLst/>
          </a:prstGeom>
          <a:noFill/>
          <a:ln/>
        </p:spPr>
        <p:txBody>
          <a:bodyPr wrap="square" lIns="0" tIns="0" rIns="0" bIns="0" rtlCol="0" anchor="ctr"/>
          <a:lstStyle/>
          <a:p>
            <a:pPr algn="r" indent="0" marL="0">
              <a:buNone/>
            </a:pPr>
            <a:r>
              <a:rPr lang="en-US" sz="900" dirty="0">
                <a:solidFill>
                  <a:srgbClr val="6B7386"/>
                </a:solidFill>
                <a:latin typeface="Calibri" pitchFamily="34" charset="0"/>
                <a:ea typeface="Calibri" pitchFamily="34" charset="-122"/>
                <a:cs typeface="Calibri" pitchFamily="34" charset="-120"/>
              </a:rPr>
              <a:t>Making Sense of Logs   5</a:t>
            </a:r>
            <a:endParaRPr lang="en-US" sz="900" dirty="0"/>
          </a:p>
        </p:txBody>
      </p:sp>
      <p:sp>
        <p:nvSpPr>
          <p:cNvPr id="3" name="Text 1"/>
          <p:cNvSpPr/>
          <p:nvPr/>
        </p:nvSpPr>
        <p:spPr>
          <a:xfrm>
            <a:off x="457200" y="256032"/>
            <a:ext cx="8229600" cy="228600"/>
          </a:xfrm>
          <a:prstGeom prst="rect">
            <a:avLst/>
          </a:prstGeom>
          <a:noFill/>
          <a:ln/>
        </p:spPr>
        <p:txBody>
          <a:bodyPr wrap="square" lIns="0" tIns="0" rIns="0" bIns="0" rtlCol="0" anchor="ctr"/>
          <a:lstStyle/>
          <a:p>
            <a:pPr indent="0" marL="0">
              <a:buNone/>
            </a:pPr>
            <a:r>
              <a:rPr lang="en-US" sz="1000" b="1" spc="300" kern="0" dirty="0">
                <a:solidFill>
                  <a:srgbClr val="7B4FD6"/>
                </a:solidFill>
                <a:latin typeface="Calibri" pitchFamily="34" charset="0"/>
                <a:ea typeface="Calibri" pitchFamily="34" charset="-122"/>
                <a:cs typeface="Calibri" pitchFamily="34" charset="-120"/>
              </a:rPr>
              <a:t>TRUST</a:t>
            </a:r>
            <a:endParaRPr lang="en-US" sz="1000" dirty="0"/>
          </a:p>
        </p:txBody>
      </p:sp>
      <p:sp>
        <p:nvSpPr>
          <p:cNvPr id="4" name="Text 2"/>
          <p:cNvSpPr/>
          <p:nvPr/>
        </p:nvSpPr>
        <p:spPr>
          <a:xfrm>
            <a:off x="457200" y="47548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Trebuchet MS" pitchFamily="34" charset="0"/>
                <a:ea typeface="Trebuchet MS" pitchFamily="34" charset="-122"/>
                <a:cs typeface="Trebuchet MS" pitchFamily="34" charset="-120"/>
              </a:rPr>
              <a:t>Every number can be checked</a:t>
            </a:r>
            <a:endParaRPr lang="en-US" sz="2800" dirty="0"/>
          </a:p>
        </p:txBody>
      </p:sp>
      <p:pic>
        <p:nvPicPr>
          <p:cNvPr id="5" name="Image 0" descr="/Users/amirali.iranmanesh/grind/making-sense-of-logs-schubki-ai-hackathon/docs/slides/img/report.png">    </p:cNvPr>
          <p:cNvPicPr>
            <a:picLocks noChangeAspect="1"/>
          </p:cNvPicPr>
          <p:nvPr/>
        </p:nvPicPr>
        <p:blipFill>
          <a:blip r:embed="rId1"/>
          <a:srcRect l="0" r="0" t="0" b="0"/>
          <a:stretch/>
        </p:blipFill>
        <p:spPr>
          <a:xfrm>
            <a:off x="457200" y="1188720"/>
            <a:ext cx="4480560" cy="3383280"/>
          </a:xfrm>
          <a:prstGeom prst="rect">
            <a:avLst/>
          </a:prstGeom>
        </p:spPr>
      </p:pic>
      <p:sp>
        <p:nvSpPr>
          <p:cNvPr id="6" name="Text 3"/>
          <p:cNvSpPr/>
          <p:nvPr/>
        </p:nvSpPr>
        <p:spPr>
          <a:xfrm>
            <a:off x="5303520" y="1188720"/>
            <a:ext cx="3474720" cy="548640"/>
          </a:xfrm>
          <a:prstGeom prst="rect">
            <a:avLst/>
          </a:prstGeom>
          <a:noFill/>
          <a:ln/>
        </p:spPr>
        <p:txBody>
          <a:bodyPr wrap="square" lIns="0" tIns="0" rIns="0" bIns="0" rtlCol="0" anchor="ctr"/>
          <a:lstStyle/>
          <a:p>
            <a:pPr indent="0" marL="0">
              <a:buNone/>
            </a:pPr>
            <a:r>
              <a:rPr lang="en-US" sz="3400" b="1" dirty="0">
                <a:solidFill>
                  <a:srgbClr val="7B4FD6"/>
                </a:solidFill>
                <a:latin typeface="Trebuchet MS" pitchFamily="34" charset="0"/>
                <a:ea typeface="Trebuchet MS" pitchFamily="34" charset="-122"/>
                <a:cs typeface="Trebuchet MS" pitchFamily="34" charset="-120"/>
              </a:rPr>
              <a:t>62 / 62</a:t>
            </a:r>
            <a:endParaRPr lang="en-US" sz="3400" dirty="0"/>
          </a:p>
        </p:txBody>
      </p:sp>
      <p:sp>
        <p:nvSpPr>
          <p:cNvPr id="7" name="Text 4"/>
          <p:cNvSpPr/>
          <p:nvPr/>
        </p:nvSpPr>
        <p:spPr>
          <a:xfrm>
            <a:off x="5303520" y="1719072"/>
            <a:ext cx="3383280" cy="457200"/>
          </a:xfrm>
          <a:prstGeom prst="rect">
            <a:avLst/>
          </a:prstGeom>
          <a:noFill/>
          <a:ln/>
        </p:spPr>
        <p:txBody>
          <a:bodyPr wrap="square" lIns="0" tIns="0" rIns="0" bIns="0" rtlCol="0" anchor="t"/>
          <a:lstStyle/>
          <a:p>
            <a:pPr indent="0" marL="0">
              <a:buNone/>
            </a:pPr>
            <a:r>
              <a:rPr lang="en-US" sz="1250" dirty="0">
                <a:solidFill>
                  <a:srgbClr val="2A2C44"/>
                </a:solidFill>
                <a:latin typeface="Calibri" pitchFamily="34" charset="0"/>
                <a:ea typeface="Calibri" pitchFamily="34" charset="-122"/>
                <a:cs typeface="Calibri" pitchFamily="34" charset="-120"/>
              </a:rPr>
              <a:t>numbers in the answer found in a database result</a:t>
            </a:r>
            <a:endParaRPr lang="en-US" sz="1250" dirty="0"/>
          </a:p>
        </p:txBody>
      </p:sp>
      <p:sp>
        <p:nvSpPr>
          <p:cNvPr id="8" name="Text 5"/>
          <p:cNvSpPr/>
          <p:nvPr/>
        </p:nvSpPr>
        <p:spPr>
          <a:xfrm>
            <a:off x="5303520" y="2286000"/>
            <a:ext cx="3474720" cy="548640"/>
          </a:xfrm>
          <a:prstGeom prst="rect">
            <a:avLst/>
          </a:prstGeom>
          <a:noFill/>
          <a:ln/>
        </p:spPr>
        <p:txBody>
          <a:bodyPr wrap="square" lIns="0" tIns="0" rIns="0" bIns="0" rtlCol="0" anchor="ctr"/>
          <a:lstStyle/>
          <a:p>
            <a:pPr indent="0" marL="0">
              <a:buNone/>
            </a:pPr>
            <a:r>
              <a:rPr lang="en-US" sz="3400" b="1" dirty="0">
                <a:solidFill>
                  <a:srgbClr val="7B4FD6"/>
                </a:solidFill>
                <a:latin typeface="Trebuchet MS" pitchFamily="34" charset="0"/>
                <a:ea typeface="Trebuchet MS" pitchFamily="34" charset="-122"/>
                <a:cs typeface="Trebuchet MS" pitchFamily="34" charset="-120"/>
              </a:rPr>
              <a:t>17 / 17</a:t>
            </a:r>
            <a:endParaRPr lang="en-US" sz="3400" dirty="0"/>
          </a:p>
        </p:txBody>
      </p:sp>
      <p:sp>
        <p:nvSpPr>
          <p:cNvPr id="9" name="Text 6"/>
          <p:cNvSpPr/>
          <p:nvPr/>
        </p:nvSpPr>
        <p:spPr>
          <a:xfrm>
            <a:off x="5303520" y="2816352"/>
            <a:ext cx="3383280" cy="457200"/>
          </a:xfrm>
          <a:prstGeom prst="rect">
            <a:avLst/>
          </a:prstGeom>
          <a:noFill/>
          <a:ln/>
        </p:spPr>
        <p:txBody>
          <a:bodyPr wrap="square" lIns="0" tIns="0" rIns="0" bIns="0" rtlCol="0" anchor="t"/>
          <a:lstStyle/>
          <a:p>
            <a:pPr indent="0" marL="0">
              <a:buNone/>
            </a:pPr>
            <a:r>
              <a:rPr lang="en-US" sz="1250" dirty="0">
                <a:solidFill>
                  <a:srgbClr val="2A2C44"/>
                </a:solidFill>
                <a:latin typeface="Calibri" pitchFamily="34" charset="0"/>
                <a:ea typeface="Calibri" pitchFamily="34" charset="-122"/>
                <a:cs typeface="Calibri" pitchFamily="34" charset="-120"/>
              </a:rPr>
              <a:t>steps give the same result when re-run with read-only access</a:t>
            </a:r>
            <a:endParaRPr lang="en-US" sz="1250" dirty="0"/>
          </a:p>
        </p:txBody>
      </p:sp>
      <p:sp>
        <p:nvSpPr>
          <p:cNvPr id="10" name="Text 7"/>
          <p:cNvSpPr/>
          <p:nvPr/>
        </p:nvSpPr>
        <p:spPr>
          <a:xfrm>
            <a:off x="5303520" y="3383280"/>
            <a:ext cx="3474720" cy="548640"/>
          </a:xfrm>
          <a:prstGeom prst="rect">
            <a:avLst/>
          </a:prstGeom>
          <a:noFill/>
          <a:ln/>
        </p:spPr>
        <p:txBody>
          <a:bodyPr wrap="square" lIns="0" tIns="0" rIns="0" bIns="0" rtlCol="0" anchor="ctr"/>
          <a:lstStyle/>
          <a:p>
            <a:pPr indent="0" marL="0">
              <a:buNone/>
            </a:pPr>
            <a:r>
              <a:rPr lang="en-US" sz="3400" b="1" dirty="0">
                <a:solidFill>
                  <a:srgbClr val="7B4FD6"/>
                </a:solidFill>
                <a:latin typeface="Trebuchet MS" pitchFamily="34" charset="0"/>
                <a:ea typeface="Trebuchet MS" pitchFamily="34" charset="-122"/>
                <a:cs typeface="Trebuchet MS" pitchFamily="34" charset="-120"/>
              </a:rPr>
              <a:t>1.8 s</a:t>
            </a:r>
            <a:endParaRPr lang="en-US" sz="3400" dirty="0"/>
          </a:p>
        </p:txBody>
      </p:sp>
      <p:sp>
        <p:nvSpPr>
          <p:cNvPr id="11" name="Text 8"/>
          <p:cNvSpPr/>
          <p:nvPr/>
        </p:nvSpPr>
        <p:spPr>
          <a:xfrm>
            <a:off x="5303520" y="3913632"/>
            <a:ext cx="3383280" cy="457200"/>
          </a:xfrm>
          <a:prstGeom prst="rect">
            <a:avLst/>
          </a:prstGeom>
          <a:noFill/>
          <a:ln/>
        </p:spPr>
        <p:txBody>
          <a:bodyPr wrap="square" lIns="0" tIns="0" rIns="0" bIns="0" rtlCol="0" anchor="t"/>
          <a:lstStyle/>
          <a:p>
            <a:pPr indent="0" marL="0">
              <a:buNone/>
            </a:pPr>
            <a:r>
              <a:rPr lang="en-US" sz="1250" dirty="0">
                <a:solidFill>
                  <a:srgbClr val="2A2C44"/>
                </a:solidFill>
                <a:latin typeface="Calibri" pitchFamily="34" charset="0"/>
                <a:ea typeface="Calibri" pitchFamily="34" charset="-122"/>
                <a:cs typeface="Calibri" pitchFamily="34" charset="-120"/>
              </a:rPr>
              <a:t>of database time for 20 tool calls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21D"/>
        </a:solidFill>
      </p:bgPr>
    </p:bg>
    <p:spTree>
      <p:nvGrpSpPr>
        <p:cNvPr id="1" name=""/>
        <p:cNvGrpSpPr/>
        <p:nvPr/>
      </p:nvGrpSpPr>
      <p:grpSpPr>
        <a:xfrm>
          <a:off x="0" y="0"/>
          <a:ext cx="0" cy="0"/>
          <a:chOff x="0" y="0"/>
          <a:chExt cx="0" cy="0"/>
        </a:xfrm>
      </p:grpSpPr>
      <p:sp>
        <p:nvSpPr>
          <p:cNvPr id="2" name="Text 0"/>
          <p:cNvSpPr/>
          <p:nvPr/>
        </p:nvSpPr>
        <p:spPr>
          <a:xfrm>
            <a:off x="5943600" y="4773168"/>
            <a:ext cx="2743200" cy="228600"/>
          </a:xfrm>
          <a:prstGeom prst="rect">
            <a:avLst/>
          </a:prstGeom>
          <a:noFill/>
          <a:ln/>
        </p:spPr>
        <p:txBody>
          <a:bodyPr wrap="square" lIns="0" tIns="0" rIns="0" bIns="0" rtlCol="0" anchor="ctr"/>
          <a:lstStyle/>
          <a:p>
            <a:pPr algn="r" indent="0" marL="0">
              <a:buNone/>
            </a:pPr>
            <a:r>
              <a:rPr lang="en-US" sz="900" dirty="0">
                <a:solidFill>
                  <a:srgbClr val="8B90A6"/>
                </a:solidFill>
                <a:latin typeface="Calibri" pitchFamily="34" charset="0"/>
                <a:ea typeface="Calibri" pitchFamily="34" charset="-122"/>
                <a:cs typeface="Calibri" pitchFamily="34" charset="-120"/>
              </a:rPr>
              <a:t>Making Sense of Logs   6</a:t>
            </a:r>
            <a:endParaRPr lang="en-US" sz="900" dirty="0"/>
          </a:p>
        </p:txBody>
      </p:sp>
      <p:sp>
        <p:nvSpPr>
          <p:cNvPr id="3" name="Text 1"/>
          <p:cNvSpPr/>
          <p:nvPr/>
        </p:nvSpPr>
        <p:spPr>
          <a:xfrm>
            <a:off x="457200" y="256032"/>
            <a:ext cx="8229600" cy="228600"/>
          </a:xfrm>
          <a:prstGeom prst="rect">
            <a:avLst/>
          </a:prstGeom>
          <a:noFill/>
          <a:ln/>
        </p:spPr>
        <p:txBody>
          <a:bodyPr wrap="square" lIns="0" tIns="0" rIns="0" bIns="0" rtlCol="0" anchor="ctr"/>
          <a:lstStyle/>
          <a:p>
            <a:pPr indent="0" marL="0">
              <a:buNone/>
            </a:pPr>
            <a:r>
              <a:rPr lang="en-US" sz="1000" b="1" spc="300" kern="0" dirty="0">
                <a:solidFill>
                  <a:srgbClr val="C9B8F5"/>
                </a:solidFill>
                <a:latin typeface="Calibri" pitchFamily="34" charset="0"/>
                <a:ea typeface="Calibri" pitchFamily="34" charset="-122"/>
                <a:cs typeface="Calibri" pitchFamily="34" charset="-120"/>
              </a:rPr>
              <a:t>MCP · OVERVIEW</a:t>
            </a:r>
            <a:endParaRPr lang="en-US" sz="1000" dirty="0"/>
          </a:p>
        </p:txBody>
      </p:sp>
      <p:sp>
        <p:nvSpPr>
          <p:cNvPr id="4" name="Text 2"/>
          <p:cNvSpPr/>
          <p:nvPr/>
        </p:nvSpPr>
        <p:spPr>
          <a:xfrm>
            <a:off x="457200" y="475488"/>
            <a:ext cx="8229600" cy="594360"/>
          </a:xfrm>
          <a:prstGeom prst="rect">
            <a:avLst/>
          </a:prstGeom>
          <a:noFill/>
          <a:ln/>
        </p:spPr>
        <p:txBody>
          <a:bodyPr wrap="square" lIns="0" tIns="0" rIns="0" bIns="0"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The MCP server: four ways to use it</a:t>
            </a:r>
            <a:endParaRPr lang="en-US" sz="2800" dirty="0"/>
          </a:p>
        </p:txBody>
      </p:sp>
      <p:sp>
        <p:nvSpPr>
          <p:cNvPr id="5" name="Shape 3"/>
          <p:cNvSpPr/>
          <p:nvPr/>
        </p:nvSpPr>
        <p:spPr>
          <a:xfrm>
            <a:off x="457200" y="1280160"/>
            <a:ext cx="3977640" cy="1508760"/>
          </a:xfrm>
          <a:prstGeom prst="rect">
            <a:avLst/>
          </a:prstGeom>
          <a:solidFill>
            <a:srgbClr val="2A2C44"/>
          </a:solidFill>
          <a:ln/>
        </p:spPr>
      </p:sp>
      <p:sp>
        <p:nvSpPr>
          <p:cNvPr id="6" name="Shape 4"/>
          <p:cNvSpPr/>
          <p:nvPr/>
        </p:nvSpPr>
        <p:spPr>
          <a:xfrm>
            <a:off x="658368" y="1508760"/>
            <a:ext cx="502920" cy="502920"/>
          </a:xfrm>
          <a:prstGeom prst="ellipse">
            <a:avLst/>
          </a:prstGeom>
          <a:solidFill>
            <a:srgbClr val="7B4FD6"/>
          </a:solidFill>
          <a:ln/>
        </p:spPr>
      </p:sp>
      <p:pic>
        <p:nvPicPr>
          <p:cNvPr id="7" name="Image 0" descr="preencoded.png">    </p:cNvPr>
          <p:cNvPicPr>
            <a:picLocks noChangeAspect="1"/>
          </p:cNvPicPr>
          <p:nvPr/>
        </p:nvPicPr>
        <p:blipFill>
          <a:blip r:embed="rId1"/>
          <a:stretch>
            <a:fillRect/>
          </a:stretch>
        </p:blipFill>
        <p:spPr>
          <a:xfrm>
            <a:off x="779069" y="1629461"/>
            <a:ext cx="261518" cy="261518"/>
          </a:xfrm>
          <a:prstGeom prst="rect">
            <a:avLst/>
          </a:prstGeom>
        </p:spPr>
      </p:pic>
      <p:sp>
        <p:nvSpPr>
          <p:cNvPr id="8" name="Text 5"/>
          <p:cNvSpPr/>
          <p:nvPr/>
        </p:nvSpPr>
        <p:spPr>
          <a:xfrm>
            <a:off x="1325880" y="1463040"/>
            <a:ext cx="2926080" cy="347472"/>
          </a:xfrm>
          <a:prstGeom prst="rect">
            <a:avLst/>
          </a:prstGeom>
          <a:noFill/>
          <a:ln/>
        </p:spPr>
        <p:txBody>
          <a:bodyPr wrap="square" lIns="0" tIns="0" rIns="0" bIns="0" rtlCol="0" anchor="ctr"/>
          <a:lstStyle/>
          <a:p>
            <a:pPr indent="0" marL="0">
              <a:buNone/>
            </a:pPr>
            <a:r>
              <a:rPr lang="en-US" sz="1700" b="1" dirty="0">
                <a:solidFill>
                  <a:srgbClr val="FFFFFF"/>
                </a:solidFill>
                <a:latin typeface="Trebuchet MS" pitchFamily="34" charset="0"/>
                <a:ea typeface="Trebuchet MS" pitchFamily="34" charset="-122"/>
                <a:cs typeface="Trebuchet MS" pitchFamily="34" charset="-120"/>
              </a:rPr>
              <a:t>44 tools</a:t>
            </a:r>
            <a:endParaRPr lang="en-US" sz="1700" dirty="0"/>
          </a:p>
        </p:txBody>
      </p:sp>
      <p:sp>
        <p:nvSpPr>
          <p:cNvPr id="9" name="Text 6"/>
          <p:cNvSpPr/>
          <p:nvPr/>
        </p:nvSpPr>
        <p:spPr>
          <a:xfrm>
            <a:off x="1325880" y="1828800"/>
            <a:ext cx="2971800" cy="566928"/>
          </a:xfrm>
          <a:prstGeom prst="rect">
            <a:avLst/>
          </a:prstGeom>
          <a:noFill/>
          <a:ln/>
        </p:spPr>
        <p:txBody>
          <a:bodyPr wrap="square" lIns="0" tIns="0" rIns="0" bIns="0" rtlCol="0" anchor="t"/>
          <a:lstStyle/>
          <a:p>
            <a:pPr indent="0" marL="0">
              <a:buNone/>
            </a:pPr>
            <a:r>
              <a:rPr lang="en-US" sz="1100" dirty="0">
                <a:solidFill>
                  <a:srgbClr val="D5D8E5"/>
                </a:solidFill>
                <a:latin typeface="Calibri" pitchFamily="34" charset="0"/>
                <a:ea typeface="Calibri" pitchFamily="34" charset="-122"/>
                <a:cs typeface="Calibri" pitchFamily="34" charset="-120"/>
              </a:rPr>
              <a:t>Search, count, timelines, patterns, priorities, ownership, setup. Claude picks them from their descriptions.</a:t>
            </a:r>
            <a:endParaRPr lang="en-US" sz="1100" dirty="0"/>
          </a:p>
        </p:txBody>
      </p:sp>
      <p:sp>
        <p:nvSpPr>
          <p:cNvPr id="10" name="Text 7"/>
          <p:cNvSpPr/>
          <p:nvPr/>
        </p:nvSpPr>
        <p:spPr>
          <a:xfrm>
            <a:off x="1325880" y="2395728"/>
            <a:ext cx="2971800" cy="274320"/>
          </a:xfrm>
          <a:prstGeom prst="rect">
            <a:avLst/>
          </a:prstGeom>
          <a:noFill/>
          <a:ln/>
        </p:spPr>
        <p:txBody>
          <a:bodyPr wrap="square" lIns="0" tIns="0" rIns="0" bIns="0" rtlCol="0" anchor="ctr"/>
          <a:lstStyle/>
          <a:p>
            <a:pPr indent="0" marL="0">
              <a:buNone/>
            </a:pPr>
            <a:r>
              <a:rPr lang="en-US" sz="1050" dirty="0">
                <a:solidFill>
                  <a:srgbClr val="C9B8F5"/>
                </a:solidFill>
                <a:latin typeface="Consolas" pitchFamily="34" charset="0"/>
                <a:ea typeface="Consolas" pitchFamily="34" charset="-122"/>
                <a:cs typeface="Consolas" pitchFamily="34" charset="-120"/>
              </a:rPr>
              <a:t>Just ask in plain words</a:t>
            </a:r>
            <a:endParaRPr lang="en-US" sz="1050" dirty="0"/>
          </a:p>
        </p:txBody>
      </p:sp>
      <p:sp>
        <p:nvSpPr>
          <p:cNvPr id="11" name="Shape 8"/>
          <p:cNvSpPr/>
          <p:nvPr/>
        </p:nvSpPr>
        <p:spPr>
          <a:xfrm>
            <a:off x="4663440" y="1280160"/>
            <a:ext cx="3977640" cy="1508760"/>
          </a:xfrm>
          <a:prstGeom prst="rect">
            <a:avLst/>
          </a:prstGeom>
          <a:solidFill>
            <a:srgbClr val="2A2C44"/>
          </a:solidFill>
          <a:ln/>
        </p:spPr>
      </p:sp>
      <p:sp>
        <p:nvSpPr>
          <p:cNvPr id="12" name="Shape 9"/>
          <p:cNvSpPr/>
          <p:nvPr/>
        </p:nvSpPr>
        <p:spPr>
          <a:xfrm>
            <a:off x="4864608" y="1508760"/>
            <a:ext cx="502920" cy="502920"/>
          </a:xfrm>
          <a:prstGeom prst="ellipse">
            <a:avLst/>
          </a:prstGeom>
          <a:solidFill>
            <a:srgbClr val="7B4FD6"/>
          </a:solidFill>
          <a:ln/>
        </p:spPr>
      </p:sp>
      <p:pic>
        <p:nvPicPr>
          <p:cNvPr id="13" name="Image 1" descr="preencoded.png">    </p:cNvPr>
          <p:cNvPicPr>
            <a:picLocks noChangeAspect="1"/>
          </p:cNvPicPr>
          <p:nvPr/>
        </p:nvPicPr>
        <p:blipFill>
          <a:blip r:embed="rId2"/>
          <a:stretch>
            <a:fillRect/>
          </a:stretch>
        </p:blipFill>
        <p:spPr>
          <a:xfrm>
            <a:off x="4985309" y="1629461"/>
            <a:ext cx="261518" cy="261518"/>
          </a:xfrm>
          <a:prstGeom prst="rect">
            <a:avLst/>
          </a:prstGeom>
        </p:spPr>
      </p:pic>
      <p:sp>
        <p:nvSpPr>
          <p:cNvPr id="14" name="Text 10"/>
          <p:cNvSpPr/>
          <p:nvPr/>
        </p:nvSpPr>
        <p:spPr>
          <a:xfrm>
            <a:off x="5532120" y="1463040"/>
            <a:ext cx="2926080" cy="347472"/>
          </a:xfrm>
          <a:prstGeom prst="rect">
            <a:avLst/>
          </a:prstGeom>
          <a:noFill/>
          <a:ln/>
        </p:spPr>
        <p:txBody>
          <a:bodyPr wrap="square" lIns="0" tIns="0" rIns="0" bIns="0" rtlCol="0" anchor="ctr"/>
          <a:lstStyle/>
          <a:p>
            <a:pPr indent="0" marL="0">
              <a:buNone/>
            </a:pPr>
            <a:r>
              <a:rPr lang="en-US" sz="1700" b="1" dirty="0">
                <a:solidFill>
                  <a:srgbClr val="FFFFFF"/>
                </a:solidFill>
                <a:latin typeface="Trebuchet MS" pitchFamily="34" charset="0"/>
                <a:ea typeface="Trebuchet MS" pitchFamily="34" charset="-122"/>
                <a:cs typeface="Trebuchet MS" pitchFamily="34" charset="-120"/>
              </a:rPr>
              <a:t>5 prompts</a:t>
            </a:r>
            <a:endParaRPr lang="en-US" sz="1700" dirty="0"/>
          </a:p>
        </p:txBody>
      </p:sp>
      <p:sp>
        <p:nvSpPr>
          <p:cNvPr id="15" name="Text 11"/>
          <p:cNvSpPr/>
          <p:nvPr/>
        </p:nvSpPr>
        <p:spPr>
          <a:xfrm>
            <a:off x="5532120" y="1828800"/>
            <a:ext cx="2971800" cy="566928"/>
          </a:xfrm>
          <a:prstGeom prst="rect">
            <a:avLst/>
          </a:prstGeom>
          <a:noFill/>
          <a:ln/>
        </p:spPr>
        <p:txBody>
          <a:bodyPr wrap="square" lIns="0" tIns="0" rIns="0" bIns="0" rtlCol="0" anchor="t"/>
          <a:lstStyle/>
          <a:p>
            <a:pPr indent="0" marL="0">
              <a:buNone/>
            </a:pPr>
            <a:r>
              <a:rPr lang="en-US" sz="1100" dirty="0">
                <a:solidFill>
                  <a:srgbClr val="D5D8E5"/>
                </a:solidFill>
                <a:latin typeface="Calibri" pitchFamily="34" charset="0"/>
                <a:ea typeface="Calibri" pitchFamily="34" charset="-122"/>
                <a:cs typeface="Calibri" pitchFamily="34" charset="-120"/>
              </a:rPr>
              <a:t>Ready-made playbooks: one per role, a three-role investigation, whole-corpus counts.</a:t>
            </a:r>
            <a:endParaRPr lang="en-US" sz="1100" dirty="0"/>
          </a:p>
        </p:txBody>
      </p:sp>
      <p:sp>
        <p:nvSpPr>
          <p:cNvPr id="16" name="Text 12"/>
          <p:cNvSpPr/>
          <p:nvPr/>
        </p:nvSpPr>
        <p:spPr>
          <a:xfrm>
            <a:off x="5532120" y="2395728"/>
            <a:ext cx="2971800" cy="274320"/>
          </a:xfrm>
          <a:prstGeom prst="rect">
            <a:avLst/>
          </a:prstGeom>
          <a:noFill/>
          <a:ln/>
        </p:spPr>
        <p:txBody>
          <a:bodyPr wrap="square" lIns="0" tIns="0" rIns="0" bIns="0" rtlCol="0" anchor="ctr"/>
          <a:lstStyle/>
          <a:p>
            <a:pPr indent="0" marL="0">
              <a:buNone/>
            </a:pPr>
            <a:r>
              <a:rPr lang="en-US" sz="1050" dirty="0">
                <a:solidFill>
                  <a:srgbClr val="C9B8F5"/>
                </a:solidFill>
                <a:latin typeface="Consolas" pitchFamily="34" charset="0"/>
                <a:ea typeface="Consolas" pitchFamily="34" charset="-122"/>
                <a:cs typeface="Consolas" pitchFamily="34" charset="-120"/>
              </a:rPr>
              <a:t>/mcp__logs__set_priorities</a:t>
            </a:r>
            <a:endParaRPr lang="en-US" sz="1050" dirty="0"/>
          </a:p>
        </p:txBody>
      </p:sp>
      <p:sp>
        <p:nvSpPr>
          <p:cNvPr id="17" name="Shape 13"/>
          <p:cNvSpPr/>
          <p:nvPr/>
        </p:nvSpPr>
        <p:spPr>
          <a:xfrm>
            <a:off x="457200" y="2971800"/>
            <a:ext cx="3977640" cy="1508760"/>
          </a:xfrm>
          <a:prstGeom prst="rect">
            <a:avLst/>
          </a:prstGeom>
          <a:solidFill>
            <a:srgbClr val="2A2C44"/>
          </a:solidFill>
          <a:ln/>
        </p:spPr>
      </p:sp>
      <p:sp>
        <p:nvSpPr>
          <p:cNvPr id="18" name="Shape 14"/>
          <p:cNvSpPr/>
          <p:nvPr/>
        </p:nvSpPr>
        <p:spPr>
          <a:xfrm>
            <a:off x="658368" y="3200400"/>
            <a:ext cx="502920" cy="502920"/>
          </a:xfrm>
          <a:prstGeom prst="ellipse">
            <a:avLst/>
          </a:prstGeom>
          <a:solidFill>
            <a:srgbClr val="7B4FD6"/>
          </a:solidFill>
          <a:ln/>
        </p:spPr>
      </p:sp>
      <p:pic>
        <p:nvPicPr>
          <p:cNvPr id="19" name="Image 2" descr="preencoded.png">    </p:cNvPr>
          <p:cNvPicPr>
            <a:picLocks noChangeAspect="1"/>
          </p:cNvPicPr>
          <p:nvPr/>
        </p:nvPicPr>
        <p:blipFill>
          <a:blip r:embed="rId3"/>
          <a:stretch>
            <a:fillRect/>
          </a:stretch>
        </p:blipFill>
        <p:spPr>
          <a:xfrm>
            <a:off x="779069" y="3321101"/>
            <a:ext cx="261518" cy="261518"/>
          </a:xfrm>
          <a:prstGeom prst="rect">
            <a:avLst/>
          </a:prstGeom>
        </p:spPr>
      </p:pic>
      <p:sp>
        <p:nvSpPr>
          <p:cNvPr id="20" name="Text 15"/>
          <p:cNvSpPr/>
          <p:nvPr/>
        </p:nvSpPr>
        <p:spPr>
          <a:xfrm>
            <a:off x="1325880" y="3154680"/>
            <a:ext cx="2926080" cy="347472"/>
          </a:xfrm>
          <a:prstGeom prst="rect">
            <a:avLst/>
          </a:prstGeom>
          <a:noFill/>
          <a:ln/>
        </p:spPr>
        <p:txBody>
          <a:bodyPr wrap="square" lIns="0" tIns="0" rIns="0" bIns="0" rtlCol="0" anchor="ctr"/>
          <a:lstStyle/>
          <a:p>
            <a:pPr indent="0" marL="0">
              <a:buNone/>
            </a:pPr>
            <a:r>
              <a:rPr lang="en-US" sz="1700" b="1" dirty="0">
                <a:solidFill>
                  <a:srgbClr val="FFFFFF"/>
                </a:solidFill>
                <a:latin typeface="Trebuchet MS" pitchFamily="34" charset="0"/>
                <a:ea typeface="Trebuchet MS" pitchFamily="34" charset="-122"/>
                <a:cs typeface="Trebuchet MS" pitchFamily="34" charset="-120"/>
              </a:rPr>
              <a:t>6 resources</a:t>
            </a:r>
            <a:endParaRPr lang="en-US" sz="1700" dirty="0"/>
          </a:p>
        </p:txBody>
      </p:sp>
      <p:sp>
        <p:nvSpPr>
          <p:cNvPr id="21" name="Text 16"/>
          <p:cNvSpPr/>
          <p:nvPr/>
        </p:nvSpPr>
        <p:spPr>
          <a:xfrm>
            <a:off x="1325880" y="3520440"/>
            <a:ext cx="2971800" cy="566928"/>
          </a:xfrm>
          <a:prstGeom prst="rect">
            <a:avLst/>
          </a:prstGeom>
          <a:noFill/>
          <a:ln/>
        </p:spPr>
        <p:txBody>
          <a:bodyPr wrap="square" lIns="0" tIns="0" rIns="0" bIns="0" rtlCol="0" anchor="t"/>
          <a:lstStyle/>
          <a:p>
            <a:pPr indent="0" marL="0">
              <a:buNone/>
            </a:pPr>
            <a:r>
              <a:rPr lang="en-US" sz="1100" dirty="0">
                <a:solidFill>
                  <a:srgbClr val="D5D8E5"/>
                </a:solidFill>
                <a:latin typeface="Calibri" pitchFamily="34" charset="0"/>
                <a:ea typeface="Calibri" pitchFamily="34" charset="-122"/>
                <a:cs typeface="Calibri" pitchFamily="34" charset="-120"/>
              </a:rPr>
              <a:t>Read-only context: datasets, glossary, field guide, ownership, the session's evidence.</a:t>
            </a:r>
            <a:endParaRPr lang="en-US" sz="1100" dirty="0"/>
          </a:p>
        </p:txBody>
      </p:sp>
      <p:sp>
        <p:nvSpPr>
          <p:cNvPr id="22" name="Text 17"/>
          <p:cNvSpPr/>
          <p:nvPr/>
        </p:nvSpPr>
        <p:spPr>
          <a:xfrm>
            <a:off x="1325880" y="4087368"/>
            <a:ext cx="2971800" cy="274320"/>
          </a:xfrm>
          <a:prstGeom prst="rect">
            <a:avLst/>
          </a:prstGeom>
          <a:noFill/>
          <a:ln/>
        </p:spPr>
        <p:txBody>
          <a:bodyPr wrap="square" lIns="0" tIns="0" rIns="0" bIns="0" rtlCol="0" anchor="ctr"/>
          <a:lstStyle/>
          <a:p>
            <a:pPr indent="0" marL="0">
              <a:buNone/>
            </a:pPr>
            <a:r>
              <a:rPr lang="en-US" sz="1050" dirty="0">
                <a:solidFill>
                  <a:srgbClr val="C9B8F5"/>
                </a:solidFill>
                <a:latin typeface="Consolas" pitchFamily="34" charset="0"/>
                <a:ea typeface="Consolas" pitchFamily="34" charset="-122"/>
                <a:cs typeface="Consolas" pitchFamily="34" charset="-120"/>
              </a:rPr>
              <a:t>@logs:logs://ownership/bgl</a:t>
            </a:r>
            <a:endParaRPr lang="en-US" sz="1050" dirty="0"/>
          </a:p>
        </p:txBody>
      </p:sp>
      <p:sp>
        <p:nvSpPr>
          <p:cNvPr id="23" name="Shape 18"/>
          <p:cNvSpPr/>
          <p:nvPr/>
        </p:nvSpPr>
        <p:spPr>
          <a:xfrm>
            <a:off x="4663440" y="2971800"/>
            <a:ext cx="3977640" cy="1508760"/>
          </a:xfrm>
          <a:prstGeom prst="rect">
            <a:avLst/>
          </a:prstGeom>
          <a:solidFill>
            <a:srgbClr val="2A2C44"/>
          </a:solidFill>
          <a:ln/>
        </p:spPr>
      </p:sp>
      <p:sp>
        <p:nvSpPr>
          <p:cNvPr id="24" name="Shape 19"/>
          <p:cNvSpPr/>
          <p:nvPr/>
        </p:nvSpPr>
        <p:spPr>
          <a:xfrm>
            <a:off x="4864608" y="3200400"/>
            <a:ext cx="502920" cy="502920"/>
          </a:xfrm>
          <a:prstGeom prst="ellipse">
            <a:avLst/>
          </a:prstGeom>
          <a:solidFill>
            <a:srgbClr val="7B4FD6"/>
          </a:solidFill>
          <a:ln/>
        </p:spPr>
      </p:sp>
      <p:pic>
        <p:nvPicPr>
          <p:cNvPr id="25" name="Image 3" descr="preencoded.png">    </p:cNvPr>
          <p:cNvPicPr>
            <a:picLocks noChangeAspect="1"/>
          </p:cNvPicPr>
          <p:nvPr/>
        </p:nvPicPr>
        <p:blipFill>
          <a:blip r:embed="rId4"/>
          <a:stretch>
            <a:fillRect/>
          </a:stretch>
        </p:blipFill>
        <p:spPr>
          <a:xfrm>
            <a:off x="4985309" y="3321101"/>
            <a:ext cx="261518" cy="261518"/>
          </a:xfrm>
          <a:prstGeom prst="rect">
            <a:avLst/>
          </a:prstGeom>
        </p:spPr>
      </p:pic>
      <p:sp>
        <p:nvSpPr>
          <p:cNvPr id="26" name="Text 20"/>
          <p:cNvSpPr/>
          <p:nvPr/>
        </p:nvSpPr>
        <p:spPr>
          <a:xfrm>
            <a:off x="5532120" y="3154680"/>
            <a:ext cx="2926080" cy="347472"/>
          </a:xfrm>
          <a:prstGeom prst="rect">
            <a:avLst/>
          </a:prstGeom>
          <a:noFill/>
          <a:ln/>
        </p:spPr>
        <p:txBody>
          <a:bodyPr wrap="square" lIns="0" tIns="0" rIns="0" bIns="0" rtlCol="0" anchor="ctr"/>
          <a:lstStyle/>
          <a:p>
            <a:pPr indent="0" marL="0">
              <a:buNone/>
            </a:pPr>
            <a:r>
              <a:rPr lang="en-US" sz="1700" b="1" dirty="0">
                <a:solidFill>
                  <a:srgbClr val="FFFFFF"/>
                </a:solidFill>
                <a:latin typeface="Trebuchet MS" pitchFamily="34" charset="0"/>
                <a:ea typeface="Trebuchet MS" pitchFamily="34" charset="-122"/>
                <a:cs typeface="Trebuchet MS" pitchFamily="34" charset="-120"/>
              </a:rPr>
              <a:t>Completions</a:t>
            </a:r>
            <a:endParaRPr lang="en-US" sz="1700" dirty="0"/>
          </a:p>
        </p:txBody>
      </p:sp>
      <p:sp>
        <p:nvSpPr>
          <p:cNvPr id="27" name="Text 21"/>
          <p:cNvSpPr/>
          <p:nvPr/>
        </p:nvSpPr>
        <p:spPr>
          <a:xfrm>
            <a:off x="5532120" y="3520440"/>
            <a:ext cx="2971800" cy="566928"/>
          </a:xfrm>
          <a:prstGeom prst="rect">
            <a:avLst/>
          </a:prstGeom>
          <a:noFill/>
          <a:ln/>
        </p:spPr>
        <p:txBody>
          <a:bodyPr wrap="square" lIns="0" tIns="0" rIns="0" bIns="0" rtlCol="0" anchor="t"/>
          <a:lstStyle/>
          <a:p>
            <a:pPr indent="0" marL="0">
              <a:buNone/>
            </a:pPr>
            <a:r>
              <a:rPr lang="en-US" sz="1100" dirty="0">
                <a:solidFill>
                  <a:srgbClr val="D5D8E5"/>
                </a:solidFill>
                <a:latin typeface="Calibri" pitchFamily="34" charset="0"/>
                <a:ea typeface="Calibri" pitchFamily="34" charset="-122"/>
                <a:cs typeface="Calibri" pitchFamily="34" charset="-120"/>
              </a:rPr>
              <a:t>Prompt arguments complete with real values from the data: datasets, components, teams.</a:t>
            </a:r>
            <a:endParaRPr lang="en-US" sz="1100" dirty="0"/>
          </a:p>
        </p:txBody>
      </p:sp>
      <p:sp>
        <p:nvSpPr>
          <p:cNvPr id="28" name="Text 22"/>
          <p:cNvSpPr/>
          <p:nvPr/>
        </p:nvSpPr>
        <p:spPr>
          <a:xfrm>
            <a:off x="5532120" y="4087368"/>
            <a:ext cx="2971800" cy="274320"/>
          </a:xfrm>
          <a:prstGeom prst="rect">
            <a:avLst/>
          </a:prstGeom>
          <a:noFill/>
          <a:ln/>
        </p:spPr>
        <p:txBody>
          <a:bodyPr wrap="square" lIns="0" tIns="0" rIns="0" bIns="0" rtlCol="0" anchor="ctr"/>
          <a:lstStyle/>
          <a:p>
            <a:pPr indent="0" marL="0">
              <a:buNone/>
            </a:pPr>
            <a:r>
              <a:rPr lang="en-US" sz="1050" dirty="0">
                <a:solidFill>
                  <a:srgbClr val="C9B8F5"/>
                </a:solidFill>
                <a:latin typeface="Consolas" pitchFamily="34" charset="0"/>
                <a:ea typeface="Consolas" pitchFamily="34" charset="-122"/>
                <a:cs typeface="Consolas" pitchFamily="34" charset="-120"/>
              </a:rPr>
              <a:t>Tab in a prompt argument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0" y="4773168"/>
            <a:ext cx="2743200" cy="228600"/>
          </a:xfrm>
          <a:prstGeom prst="rect">
            <a:avLst/>
          </a:prstGeom>
          <a:noFill/>
          <a:ln/>
        </p:spPr>
        <p:txBody>
          <a:bodyPr wrap="square" lIns="0" tIns="0" rIns="0" bIns="0" rtlCol="0" anchor="ctr"/>
          <a:lstStyle/>
          <a:p>
            <a:pPr algn="r" indent="0" marL="0">
              <a:buNone/>
            </a:pPr>
            <a:r>
              <a:rPr lang="en-US" sz="900" dirty="0">
                <a:solidFill>
                  <a:srgbClr val="6B7386"/>
                </a:solidFill>
                <a:latin typeface="Calibri" pitchFamily="34" charset="0"/>
                <a:ea typeface="Calibri" pitchFamily="34" charset="-122"/>
                <a:cs typeface="Calibri" pitchFamily="34" charset="-120"/>
              </a:rPr>
              <a:t>Making Sense of Logs   7</a:t>
            </a:r>
            <a:endParaRPr lang="en-US" sz="900" dirty="0"/>
          </a:p>
        </p:txBody>
      </p:sp>
      <p:sp>
        <p:nvSpPr>
          <p:cNvPr id="3" name="Text 1"/>
          <p:cNvSpPr/>
          <p:nvPr/>
        </p:nvSpPr>
        <p:spPr>
          <a:xfrm>
            <a:off x="457200" y="256032"/>
            <a:ext cx="8229600" cy="228600"/>
          </a:xfrm>
          <a:prstGeom prst="rect">
            <a:avLst/>
          </a:prstGeom>
          <a:noFill/>
          <a:ln/>
        </p:spPr>
        <p:txBody>
          <a:bodyPr wrap="square" lIns="0" tIns="0" rIns="0" bIns="0" rtlCol="0" anchor="ctr"/>
          <a:lstStyle/>
          <a:p>
            <a:pPr indent="0" marL="0">
              <a:buNone/>
            </a:pPr>
            <a:r>
              <a:rPr lang="en-US" sz="1000" b="1" spc="300" kern="0" dirty="0">
                <a:solidFill>
                  <a:srgbClr val="7B4FD6"/>
                </a:solidFill>
                <a:latin typeface="Calibri" pitchFamily="34" charset="0"/>
                <a:ea typeface="Calibri" pitchFamily="34" charset="-122"/>
                <a:cs typeface="Calibri" pitchFamily="34" charset="-120"/>
              </a:rPr>
              <a:t>MCP · TOOLS</a:t>
            </a:r>
            <a:endParaRPr lang="en-US" sz="1000" dirty="0"/>
          </a:p>
        </p:txBody>
      </p:sp>
      <p:sp>
        <p:nvSpPr>
          <p:cNvPr id="4" name="Text 2"/>
          <p:cNvSpPr/>
          <p:nvPr/>
        </p:nvSpPr>
        <p:spPr>
          <a:xfrm>
            <a:off x="457200" y="47548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Trebuchet MS" pitchFamily="34" charset="0"/>
                <a:ea typeface="Trebuchet MS" pitchFamily="34" charset="-122"/>
                <a:cs typeface="Trebuchet MS" pitchFamily="34" charset="-120"/>
              </a:rPr>
              <a:t>44 tools, grouped by the question they answer</a:t>
            </a:r>
            <a:endParaRPr lang="en-US" sz="2800" dirty="0"/>
          </a:p>
        </p:txBody>
      </p:sp>
      <p:sp>
        <p:nvSpPr>
          <p:cNvPr id="5" name="Shape 3"/>
          <p:cNvSpPr/>
          <p:nvPr/>
        </p:nvSpPr>
        <p:spPr>
          <a:xfrm>
            <a:off x="457200" y="1188720"/>
            <a:ext cx="1143000" cy="402336"/>
          </a:xfrm>
          <a:prstGeom prst="rect">
            <a:avLst/>
          </a:prstGeom>
          <a:solidFill>
            <a:srgbClr val="7B4FD6"/>
          </a:solidFill>
          <a:ln/>
        </p:spPr>
      </p:sp>
      <p:sp>
        <p:nvSpPr>
          <p:cNvPr id="6" name="Text 4"/>
          <p:cNvSpPr/>
          <p:nvPr/>
        </p:nvSpPr>
        <p:spPr>
          <a:xfrm>
            <a:off x="457200" y="1188720"/>
            <a:ext cx="1143000"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Set up</a:t>
            </a:r>
            <a:endParaRPr lang="en-US" sz="1200" dirty="0"/>
          </a:p>
        </p:txBody>
      </p:sp>
      <p:sp>
        <p:nvSpPr>
          <p:cNvPr id="7" name="Text 5"/>
          <p:cNvSpPr/>
          <p:nvPr/>
        </p:nvSpPr>
        <p:spPr>
          <a:xfrm>
            <a:off x="1737360" y="1188720"/>
            <a:ext cx="4480560" cy="402336"/>
          </a:xfrm>
          <a:prstGeom prst="rect">
            <a:avLst/>
          </a:prstGeom>
          <a:noFill/>
          <a:ln/>
        </p:spPr>
        <p:txBody>
          <a:bodyPr wrap="square" lIns="0" tIns="0" rIns="0" bIns="0" rtlCol="0" anchor="ctr"/>
          <a:lstStyle/>
          <a:p>
            <a:pPr indent="0" marL="0">
              <a:buNone/>
            </a:pPr>
            <a:r>
              <a:rPr lang="en-US" sz="1050" dirty="0">
                <a:solidFill>
                  <a:srgbClr val="2A2C44"/>
                </a:solidFill>
                <a:latin typeface="Consolas" pitchFamily="34" charset="0"/>
                <a:ea typeface="Consolas" pitchFamily="34" charset="-122"/>
                <a:cs typeface="Consolas" pitchFamily="34" charset="-120"/>
              </a:rPr>
              <a:t>setup_status · load_logs · use_dataset · remove_dataset</a:t>
            </a:r>
            <a:endParaRPr lang="en-US" sz="1050" dirty="0"/>
          </a:p>
        </p:txBody>
      </p:sp>
      <p:sp>
        <p:nvSpPr>
          <p:cNvPr id="8" name="Text 6"/>
          <p:cNvSpPr/>
          <p:nvPr/>
        </p:nvSpPr>
        <p:spPr>
          <a:xfrm>
            <a:off x="6309360" y="1188720"/>
            <a:ext cx="2377440" cy="402336"/>
          </a:xfrm>
          <a:prstGeom prst="rect">
            <a:avLst/>
          </a:prstGeom>
          <a:noFill/>
          <a:ln/>
        </p:spPr>
        <p:txBody>
          <a:bodyPr wrap="square" lIns="0" tIns="0" rIns="0" bIns="0" rtlCol="0" anchor="ctr"/>
          <a:lstStyle/>
          <a:p>
            <a:pPr indent="0" marL="0">
              <a:buNone/>
            </a:pPr>
            <a:r>
              <a:rPr lang="en-US" sz="1050" i="1" dirty="0">
                <a:solidFill>
                  <a:srgbClr val="6B7386"/>
                </a:solidFill>
                <a:latin typeface="Calibri" pitchFamily="34" charset="0"/>
                <a:ea typeface="Calibri" pitchFamily="34" charset="-122"/>
                <a:cs typeface="Calibri" pitchFamily="34" charset="-120"/>
              </a:rPr>
              <a:t>“Load my log file ~/app.log”</a:t>
            </a:r>
            <a:endParaRPr lang="en-US" sz="1050" dirty="0"/>
          </a:p>
        </p:txBody>
      </p:sp>
      <p:sp>
        <p:nvSpPr>
          <p:cNvPr id="9" name="Shape 7"/>
          <p:cNvSpPr/>
          <p:nvPr/>
        </p:nvSpPr>
        <p:spPr>
          <a:xfrm>
            <a:off x="457200" y="1664208"/>
            <a:ext cx="1143000" cy="402336"/>
          </a:xfrm>
          <a:prstGeom prst="rect">
            <a:avLst/>
          </a:prstGeom>
          <a:solidFill>
            <a:srgbClr val="3E318C"/>
          </a:solidFill>
          <a:ln/>
        </p:spPr>
      </p:sp>
      <p:sp>
        <p:nvSpPr>
          <p:cNvPr id="10" name="Text 8"/>
          <p:cNvSpPr/>
          <p:nvPr/>
        </p:nvSpPr>
        <p:spPr>
          <a:xfrm>
            <a:off x="457200" y="1664208"/>
            <a:ext cx="1143000"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Find</a:t>
            </a:r>
            <a:endParaRPr lang="en-US" sz="1200" dirty="0"/>
          </a:p>
        </p:txBody>
      </p:sp>
      <p:sp>
        <p:nvSpPr>
          <p:cNvPr id="11" name="Text 9"/>
          <p:cNvSpPr/>
          <p:nvPr/>
        </p:nvSpPr>
        <p:spPr>
          <a:xfrm>
            <a:off x="1737360" y="1664208"/>
            <a:ext cx="4480560" cy="402336"/>
          </a:xfrm>
          <a:prstGeom prst="rect">
            <a:avLst/>
          </a:prstGeom>
          <a:noFill/>
          <a:ln/>
        </p:spPr>
        <p:txBody>
          <a:bodyPr wrap="square" lIns="0" tIns="0" rIns="0" bIns="0" rtlCol="0" anchor="ctr"/>
          <a:lstStyle/>
          <a:p>
            <a:pPr indent="0" marL="0">
              <a:buNone/>
            </a:pPr>
            <a:r>
              <a:rPr lang="en-US" sz="1050" dirty="0">
                <a:solidFill>
                  <a:srgbClr val="2A2C44"/>
                </a:solidFill>
                <a:latin typeface="Consolas" pitchFamily="34" charset="0"/>
                <a:ea typeface="Consolas" pitchFamily="34" charset="-122"/>
                <a:cs typeface="Consolas" pitchFamily="34" charset="-120"/>
              </a:rPr>
              <a:t>search_logs (9 match modes) · get_context · find_patterns · suggest_terms</a:t>
            </a:r>
            <a:endParaRPr lang="en-US" sz="1050" dirty="0"/>
          </a:p>
        </p:txBody>
      </p:sp>
      <p:sp>
        <p:nvSpPr>
          <p:cNvPr id="12" name="Text 10"/>
          <p:cNvSpPr/>
          <p:nvPr/>
        </p:nvSpPr>
        <p:spPr>
          <a:xfrm>
            <a:off x="6309360" y="1664208"/>
            <a:ext cx="2377440" cy="402336"/>
          </a:xfrm>
          <a:prstGeom prst="rect">
            <a:avLst/>
          </a:prstGeom>
          <a:noFill/>
          <a:ln/>
        </p:spPr>
        <p:txBody>
          <a:bodyPr wrap="square" lIns="0" tIns="0" rIns="0" bIns="0" rtlCol="0" anchor="ctr"/>
          <a:lstStyle/>
          <a:p>
            <a:pPr indent="0" marL="0">
              <a:buNone/>
            </a:pPr>
            <a:r>
              <a:rPr lang="en-US" sz="1050" i="1" dirty="0">
                <a:solidFill>
                  <a:srgbClr val="6B7386"/>
                </a:solidFill>
                <a:latin typeface="Calibri" pitchFamily="34" charset="0"/>
                <a:ea typeface="Calibri" pitchFamily="34" charset="-122"/>
                <a:cs typeface="Calibri" pitchFamily="34" charset="-120"/>
              </a:rPr>
              <a:t>“What failed on node R43 at 13:56?”</a:t>
            </a:r>
            <a:endParaRPr lang="en-US" sz="1050" dirty="0"/>
          </a:p>
        </p:txBody>
      </p:sp>
      <p:sp>
        <p:nvSpPr>
          <p:cNvPr id="13" name="Shape 11"/>
          <p:cNvSpPr/>
          <p:nvPr/>
        </p:nvSpPr>
        <p:spPr>
          <a:xfrm>
            <a:off x="457200" y="2139696"/>
            <a:ext cx="1143000" cy="402336"/>
          </a:xfrm>
          <a:prstGeom prst="rect">
            <a:avLst/>
          </a:prstGeom>
          <a:solidFill>
            <a:srgbClr val="7B4FD6"/>
          </a:solidFill>
          <a:ln/>
        </p:spPr>
      </p:sp>
      <p:sp>
        <p:nvSpPr>
          <p:cNvPr id="14" name="Text 12"/>
          <p:cNvSpPr/>
          <p:nvPr/>
        </p:nvSpPr>
        <p:spPr>
          <a:xfrm>
            <a:off x="457200" y="2139696"/>
            <a:ext cx="1143000"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Count</a:t>
            </a:r>
            <a:endParaRPr lang="en-US" sz="1200" dirty="0"/>
          </a:p>
        </p:txBody>
      </p:sp>
      <p:sp>
        <p:nvSpPr>
          <p:cNvPr id="15" name="Text 13"/>
          <p:cNvSpPr/>
          <p:nvPr/>
        </p:nvSpPr>
        <p:spPr>
          <a:xfrm>
            <a:off x="1737360" y="2139696"/>
            <a:ext cx="4480560" cy="402336"/>
          </a:xfrm>
          <a:prstGeom prst="rect">
            <a:avLst/>
          </a:prstGeom>
          <a:noFill/>
          <a:ln/>
        </p:spPr>
        <p:txBody>
          <a:bodyPr wrap="square" lIns="0" tIns="0" rIns="0" bIns="0" rtlCol="0" anchor="ctr"/>
          <a:lstStyle/>
          <a:p>
            <a:pPr indent="0" marL="0">
              <a:buNone/>
            </a:pPr>
            <a:r>
              <a:rPr lang="en-US" sz="1050" dirty="0">
                <a:solidFill>
                  <a:srgbClr val="2A2C44"/>
                </a:solidFill>
                <a:latin typeface="Consolas" pitchFamily="34" charset="0"/>
                <a:ea typeface="Consolas" pitchFamily="34" charset="-122"/>
                <a:cs typeface="Consolas" pitchFamily="34" charset="-120"/>
              </a:rPr>
              <a:t>count_by · trend · facet · rollup · heatmap · rate_vs_baseline</a:t>
            </a:r>
            <a:endParaRPr lang="en-US" sz="1050" dirty="0"/>
          </a:p>
        </p:txBody>
      </p:sp>
      <p:sp>
        <p:nvSpPr>
          <p:cNvPr id="16" name="Text 14"/>
          <p:cNvSpPr/>
          <p:nvPr/>
        </p:nvSpPr>
        <p:spPr>
          <a:xfrm>
            <a:off x="6309360" y="2139696"/>
            <a:ext cx="2377440" cy="402336"/>
          </a:xfrm>
          <a:prstGeom prst="rect">
            <a:avLst/>
          </a:prstGeom>
          <a:noFill/>
          <a:ln/>
        </p:spPr>
        <p:txBody>
          <a:bodyPr wrap="square" lIns="0" tIns="0" rIns="0" bIns="0" rtlCol="0" anchor="ctr"/>
          <a:lstStyle/>
          <a:p>
            <a:pPr indent="0" marL="0">
              <a:buNone/>
            </a:pPr>
            <a:r>
              <a:rPr lang="en-US" sz="1050" i="1" dirty="0">
                <a:solidFill>
                  <a:srgbClr val="6B7386"/>
                </a:solidFill>
                <a:latin typeface="Calibri" pitchFamily="34" charset="0"/>
                <a:ea typeface="Calibri" pitchFamily="34" charset="-122"/>
                <a:cs typeface="Calibri" pitchFamily="34" charset="-120"/>
              </a:rPr>
              <a:t>“Errors per team, week over week?”</a:t>
            </a:r>
            <a:endParaRPr lang="en-US" sz="1050" dirty="0"/>
          </a:p>
        </p:txBody>
      </p:sp>
      <p:sp>
        <p:nvSpPr>
          <p:cNvPr id="17" name="Shape 15"/>
          <p:cNvSpPr/>
          <p:nvPr/>
        </p:nvSpPr>
        <p:spPr>
          <a:xfrm>
            <a:off x="457200" y="2615184"/>
            <a:ext cx="1143000" cy="402336"/>
          </a:xfrm>
          <a:prstGeom prst="rect">
            <a:avLst/>
          </a:prstGeom>
          <a:solidFill>
            <a:srgbClr val="3E318C"/>
          </a:solidFill>
          <a:ln/>
        </p:spPr>
      </p:sp>
      <p:sp>
        <p:nvSpPr>
          <p:cNvPr id="18" name="Text 16"/>
          <p:cNvSpPr/>
          <p:nvPr/>
        </p:nvSpPr>
        <p:spPr>
          <a:xfrm>
            <a:off x="457200" y="2615184"/>
            <a:ext cx="1143000"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Recurring</a:t>
            </a:r>
            <a:endParaRPr lang="en-US" sz="1200" dirty="0"/>
          </a:p>
        </p:txBody>
      </p:sp>
      <p:sp>
        <p:nvSpPr>
          <p:cNvPr id="19" name="Text 17"/>
          <p:cNvSpPr/>
          <p:nvPr/>
        </p:nvSpPr>
        <p:spPr>
          <a:xfrm>
            <a:off x="1737360" y="2615184"/>
            <a:ext cx="4480560" cy="402336"/>
          </a:xfrm>
          <a:prstGeom prst="rect">
            <a:avLst/>
          </a:prstGeom>
          <a:noFill/>
          <a:ln/>
        </p:spPr>
        <p:txBody>
          <a:bodyPr wrap="square" lIns="0" tIns="0" rIns="0" bIns="0" rtlCol="0" anchor="ctr"/>
          <a:lstStyle/>
          <a:p>
            <a:pPr indent="0" marL="0">
              <a:buNone/>
            </a:pPr>
            <a:r>
              <a:rPr lang="en-US" sz="1050" dirty="0">
                <a:solidFill>
                  <a:srgbClr val="2A2C44"/>
                </a:solidFill>
                <a:latin typeface="Consolas" pitchFamily="34" charset="0"/>
                <a:ea typeface="Consolas" pitchFamily="34" charset="-122"/>
                <a:cs typeface="Consolas" pitchFamily="34" charset="-120"/>
              </a:rPr>
              <a:t>top_patterns · pattern_history · whats_new · spread · periodicity</a:t>
            </a:r>
            <a:endParaRPr lang="en-US" sz="1050" dirty="0"/>
          </a:p>
        </p:txBody>
      </p:sp>
      <p:sp>
        <p:nvSpPr>
          <p:cNvPr id="20" name="Text 18"/>
          <p:cNvSpPr/>
          <p:nvPr/>
        </p:nvSpPr>
        <p:spPr>
          <a:xfrm>
            <a:off x="6309360" y="2615184"/>
            <a:ext cx="2377440" cy="402336"/>
          </a:xfrm>
          <a:prstGeom prst="rect">
            <a:avLst/>
          </a:prstGeom>
          <a:noFill/>
          <a:ln/>
        </p:spPr>
        <p:txBody>
          <a:bodyPr wrap="square" lIns="0" tIns="0" rIns="0" bIns="0" rtlCol="0" anchor="ctr"/>
          <a:lstStyle/>
          <a:p>
            <a:pPr indent="0" marL="0">
              <a:buNone/>
            </a:pPr>
            <a:r>
              <a:rPr lang="en-US" sz="1050" i="1" dirty="0">
                <a:solidFill>
                  <a:srgbClr val="6B7386"/>
                </a:solidFill>
                <a:latin typeface="Calibri" pitchFamily="34" charset="0"/>
                <a:ea typeface="Calibri" pitchFamily="34" charset="-122"/>
                <a:cs typeface="Calibri" pitchFamily="34" charset="-120"/>
              </a:rPr>
              <a:t>“What keeps coming back?”</a:t>
            </a:r>
            <a:endParaRPr lang="en-US" sz="1050" dirty="0"/>
          </a:p>
        </p:txBody>
      </p:sp>
      <p:sp>
        <p:nvSpPr>
          <p:cNvPr id="21" name="Shape 19"/>
          <p:cNvSpPr/>
          <p:nvPr/>
        </p:nvSpPr>
        <p:spPr>
          <a:xfrm>
            <a:off x="457200" y="3090672"/>
            <a:ext cx="1143000" cy="402336"/>
          </a:xfrm>
          <a:prstGeom prst="rect">
            <a:avLst/>
          </a:prstGeom>
          <a:solidFill>
            <a:srgbClr val="7B4FD6"/>
          </a:solidFill>
          <a:ln/>
        </p:spPr>
      </p:sp>
      <p:sp>
        <p:nvSpPr>
          <p:cNvPr id="22" name="Text 20"/>
          <p:cNvSpPr/>
          <p:nvPr/>
        </p:nvSpPr>
        <p:spPr>
          <a:xfrm>
            <a:off x="457200" y="3090672"/>
            <a:ext cx="1143000"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Explain</a:t>
            </a:r>
            <a:endParaRPr lang="en-US" sz="1200" dirty="0"/>
          </a:p>
        </p:txBody>
      </p:sp>
      <p:sp>
        <p:nvSpPr>
          <p:cNvPr id="23" name="Text 21"/>
          <p:cNvSpPr/>
          <p:nvPr/>
        </p:nvSpPr>
        <p:spPr>
          <a:xfrm>
            <a:off x="1737360" y="3090672"/>
            <a:ext cx="4480560" cy="402336"/>
          </a:xfrm>
          <a:prstGeom prst="rect">
            <a:avLst/>
          </a:prstGeom>
          <a:noFill/>
          <a:ln/>
        </p:spPr>
        <p:txBody>
          <a:bodyPr wrap="square" lIns="0" tIns="0" rIns="0" bIns="0" rtlCol="0" anchor="ctr"/>
          <a:lstStyle/>
          <a:p>
            <a:pPr indent="0" marL="0">
              <a:buNone/>
            </a:pPr>
            <a:r>
              <a:rPr lang="en-US" sz="1050" dirty="0">
                <a:solidFill>
                  <a:srgbClr val="2A2C44"/>
                </a:solidFill>
                <a:latin typeface="Consolas" pitchFamily="34" charset="0"/>
                <a:ea typeface="Consolas" pitchFamily="34" charset="-122"/>
                <a:cs typeface="Consolas" pitchFamily="34" charset="-120"/>
              </a:rPr>
              <a:t>burst_timeline · precursors · co_occurrence · request_timeline · value_outliers</a:t>
            </a:r>
            <a:endParaRPr lang="en-US" sz="1050" dirty="0"/>
          </a:p>
        </p:txBody>
      </p:sp>
      <p:sp>
        <p:nvSpPr>
          <p:cNvPr id="24" name="Text 22"/>
          <p:cNvSpPr/>
          <p:nvPr/>
        </p:nvSpPr>
        <p:spPr>
          <a:xfrm>
            <a:off x="6309360" y="3090672"/>
            <a:ext cx="2377440" cy="402336"/>
          </a:xfrm>
          <a:prstGeom prst="rect">
            <a:avLst/>
          </a:prstGeom>
          <a:noFill/>
          <a:ln/>
        </p:spPr>
        <p:txBody>
          <a:bodyPr wrap="square" lIns="0" tIns="0" rIns="0" bIns="0" rtlCol="0" anchor="ctr"/>
          <a:lstStyle/>
          <a:p>
            <a:pPr indent="0" marL="0">
              <a:buNone/>
            </a:pPr>
            <a:r>
              <a:rPr lang="en-US" sz="1050" i="1" dirty="0">
                <a:solidFill>
                  <a:srgbClr val="6B7386"/>
                </a:solidFill>
                <a:latin typeface="Calibri" pitchFamily="34" charset="0"/>
                <a:ea typeface="Calibri" pitchFamily="34" charset="-122"/>
                <a:cs typeface="Calibri" pitchFamily="34" charset="-120"/>
              </a:rPr>
              <a:t>“What happens just before it?”</a:t>
            </a:r>
            <a:endParaRPr lang="en-US" sz="1050" dirty="0"/>
          </a:p>
        </p:txBody>
      </p:sp>
      <p:sp>
        <p:nvSpPr>
          <p:cNvPr id="25" name="Shape 23"/>
          <p:cNvSpPr/>
          <p:nvPr/>
        </p:nvSpPr>
        <p:spPr>
          <a:xfrm>
            <a:off x="457200" y="3566160"/>
            <a:ext cx="1143000" cy="402336"/>
          </a:xfrm>
          <a:prstGeom prst="rect">
            <a:avLst/>
          </a:prstGeom>
          <a:solidFill>
            <a:srgbClr val="3E318C"/>
          </a:solidFill>
          <a:ln/>
        </p:spPr>
      </p:sp>
      <p:sp>
        <p:nvSpPr>
          <p:cNvPr id="26" name="Text 24"/>
          <p:cNvSpPr/>
          <p:nvPr/>
        </p:nvSpPr>
        <p:spPr>
          <a:xfrm>
            <a:off x="457200" y="3566160"/>
            <a:ext cx="1143000"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Decide</a:t>
            </a:r>
            <a:endParaRPr lang="en-US" sz="1200" dirty="0"/>
          </a:p>
        </p:txBody>
      </p:sp>
      <p:sp>
        <p:nvSpPr>
          <p:cNvPr id="27" name="Text 25"/>
          <p:cNvSpPr/>
          <p:nvPr/>
        </p:nvSpPr>
        <p:spPr>
          <a:xfrm>
            <a:off x="1737360" y="3566160"/>
            <a:ext cx="4480560" cy="402336"/>
          </a:xfrm>
          <a:prstGeom prst="rect">
            <a:avLst/>
          </a:prstGeom>
          <a:noFill/>
          <a:ln/>
        </p:spPr>
        <p:txBody>
          <a:bodyPr wrap="square" lIns="0" tIns="0" rIns="0" bIns="0" rtlCol="0" anchor="ctr"/>
          <a:lstStyle/>
          <a:p>
            <a:pPr indent="0" marL="0">
              <a:buNone/>
            </a:pPr>
            <a:r>
              <a:rPr lang="en-US" sz="1050" dirty="0">
                <a:solidFill>
                  <a:srgbClr val="2A2C44"/>
                </a:solidFill>
                <a:latin typeface="Consolas" pitchFamily="34" charset="0"/>
                <a:ea typeface="Consolas" pitchFamily="34" charset="-122"/>
                <a:cs typeface="Consolas" pitchFamily="34" charset="-120"/>
              </a:rPr>
              <a:t>priority_table · reliability_trend · team_risk · owner_of · ownership_gaps</a:t>
            </a:r>
            <a:endParaRPr lang="en-US" sz="1050" dirty="0"/>
          </a:p>
        </p:txBody>
      </p:sp>
      <p:sp>
        <p:nvSpPr>
          <p:cNvPr id="28" name="Text 26"/>
          <p:cNvSpPr/>
          <p:nvPr/>
        </p:nvSpPr>
        <p:spPr>
          <a:xfrm>
            <a:off x="6309360" y="3566160"/>
            <a:ext cx="2377440" cy="402336"/>
          </a:xfrm>
          <a:prstGeom prst="rect">
            <a:avLst/>
          </a:prstGeom>
          <a:noFill/>
          <a:ln/>
        </p:spPr>
        <p:txBody>
          <a:bodyPr wrap="square" lIns="0" tIns="0" rIns="0" bIns="0" rtlCol="0" anchor="ctr"/>
          <a:lstStyle/>
          <a:p>
            <a:pPr indent="0" marL="0">
              <a:buNone/>
            </a:pPr>
            <a:r>
              <a:rPr lang="en-US" sz="1050" i="1" dirty="0">
                <a:solidFill>
                  <a:srgbClr val="6B7386"/>
                </a:solidFill>
                <a:latin typeface="Calibri" pitchFamily="34" charset="0"/>
                <a:ea typeface="Calibri" pitchFamily="34" charset="-122"/>
                <a:cs typeface="Calibri" pitchFamily="34" charset="-120"/>
              </a:rPr>
              <a:t>“What do we fix first, and who owns it?”</a:t>
            </a:r>
            <a:endParaRPr lang="en-US" sz="1050" dirty="0"/>
          </a:p>
        </p:txBody>
      </p:sp>
      <p:sp>
        <p:nvSpPr>
          <p:cNvPr id="29" name="Shape 27"/>
          <p:cNvSpPr/>
          <p:nvPr/>
        </p:nvSpPr>
        <p:spPr>
          <a:xfrm>
            <a:off x="457200" y="4041648"/>
            <a:ext cx="1143000" cy="402336"/>
          </a:xfrm>
          <a:prstGeom prst="rect">
            <a:avLst/>
          </a:prstGeom>
          <a:solidFill>
            <a:srgbClr val="7B4FD6"/>
          </a:solidFill>
          <a:ln/>
        </p:spPr>
      </p:sp>
      <p:sp>
        <p:nvSpPr>
          <p:cNvPr id="30" name="Text 28"/>
          <p:cNvSpPr/>
          <p:nvPr/>
        </p:nvSpPr>
        <p:spPr>
          <a:xfrm>
            <a:off x="457200" y="4041648"/>
            <a:ext cx="1143000"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Scale</a:t>
            </a:r>
            <a:endParaRPr lang="en-US" sz="1200" dirty="0"/>
          </a:p>
        </p:txBody>
      </p:sp>
      <p:sp>
        <p:nvSpPr>
          <p:cNvPr id="31" name="Text 29"/>
          <p:cNvSpPr/>
          <p:nvPr/>
        </p:nvSpPr>
        <p:spPr>
          <a:xfrm>
            <a:off x="1737360" y="4041648"/>
            <a:ext cx="4480560" cy="402336"/>
          </a:xfrm>
          <a:prstGeom prst="rect">
            <a:avLst/>
          </a:prstGeom>
          <a:noFill/>
          <a:ln/>
        </p:spPr>
        <p:txBody>
          <a:bodyPr wrap="square" lIns="0" tIns="0" rIns="0" bIns="0" rtlCol="0" anchor="ctr"/>
          <a:lstStyle/>
          <a:p>
            <a:pPr indent="0" marL="0">
              <a:buNone/>
            </a:pPr>
            <a:r>
              <a:rPr lang="en-US" sz="1050" dirty="0">
                <a:solidFill>
                  <a:srgbClr val="2A2C44"/>
                </a:solidFill>
                <a:latin typeface="Consolas" pitchFamily="34" charset="0"/>
                <a:ea typeface="Consolas" pitchFamily="34" charset="-122"/>
                <a:cs typeface="Consolas" pitchFamily="34" charset="-120"/>
              </a:rPr>
              <a:t>create_focus_index · index_stats · explain_tool · session_report</a:t>
            </a:r>
            <a:endParaRPr lang="en-US" sz="1050" dirty="0"/>
          </a:p>
        </p:txBody>
      </p:sp>
      <p:sp>
        <p:nvSpPr>
          <p:cNvPr id="32" name="Text 30"/>
          <p:cNvSpPr/>
          <p:nvPr/>
        </p:nvSpPr>
        <p:spPr>
          <a:xfrm>
            <a:off x="6309360" y="4041648"/>
            <a:ext cx="2377440" cy="402336"/>
          </a:xfrm>
          <a:prstGeom prst="rect">
            <a:avLst/>
          </a:prstGeom>
          <a:noFill/>
          <a:ln/>
        </p:spPr>
        <p:txBody>
          <a:bodyPr wrap="square" lIns="0" tIns="0" rIns="0" bIns="0" rtlCol="0" anchor="ctr"/>
          <a:lstStyle/>
          <a:p>
            <a:pPr indent="0" marL="0">
              <a:buNone/>
            </a:pPr>
            <a:r>
              <a:rPr lang="en-US" sz="1050" i="1" dirty="0">
                <a:solidFill>
                  <a:srgbClr val="6B7386"/>
                </a:solidFill>
                <a:latin typeface="Calibri" pitchFamily="34" charset="0"/>
                <a:ea typeface="Calibri" pitchFamily="34" charset="-122"/>
                <a:cs typeface="Calibri" pitchFamily="34" charset="-120"/>
              </a:rPr>
              <a:t>“Index this week for a deep dive”</a:t>
            </a:r>
            <a:endParaRPr lang="en-US" sz="1050" dirty="0"/>
          </a:p>
        </p:txBody>
      </p:sp>
      <p:sp>
        <p:nvSpPr>
          <p:cNvPr id="33" name="Text 31"/>
          <p:cNvSpPr/>
          <p:nvPr/>
        </p:nvSpPr>
        <p:spPr>
          <a:xfrm>
            <a:off x="457200" y="4572000"/>
            <a:ext cx="5486400" cy="274320"/>
          </a:xfrm>
          <a:prstGeom prst="rect">
            <a:avLst/>
          </a:prstGeom>
          <a:noFill/>
          <a:ln/>
        </p:spPr>
        <p:txBody>
          <a:bodyPr wrap="square" lIns="0" tIns="0" rIns="0" bIns="0" rtlCol="0" anchor="ctr"/>
          <a:lstStyle/>
          <a:p>
            <a:pPr indent="0" marL="0">
              <a:buNone/>
            </a:pPr>
            <a:r>
              <a:rPr lang="en-US" sz="1050" b="1" dirty="0">
                <a:solidFill>
                  <a:srgbClr val="11121D"/>
                </a:solidFill>
                <a:latin typeface="Calibri" pitchFamily="34" charset="0"/>
                <a:ea typeface="Calibri" pitchFamily="34" charset="-122"/>
                <a:cs typeface="Calibri" pitchFamily="34" charset="-120"/>
              </a:rPr>
              <a:t>Every result returns its SQL, filters, scope, the exact total, and whether it was cut to 50 rows. Full reference: docs/TOOLS.md</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0" y="4773168"/>
            <a:ext cx="2743200" cy="228600"/>
          </a:xfrm>
          <a:prstGeom prst="rect">
            <a:avLst/>
          </a:prstGeom>
          <a:noFill/>
          <a:ln/>
        </p:spPr>
        <p:txBody>
          <a:bodyPr wrap="square" lIns="0" tIns="0" rIns="0" bIns="0" rtlCol="0" anchor="ctr"/>
          <a:lstStyle/>
          <a:p>
            <a:pPr algn="r" indent="0" marL="0">
              <a:buNone/>
            </a:pPr>
            <a:r>
              <a:rPr lang="en-US" sz="900" dirty="0">
                <a:solidFill>
                  <a:srgbClr val="6B7386"/>
                </a:solidFill>
                <a:latin typeface="Calibri" pitchFamily="34" charset="0"/>
                <a:ea typeface="Calibri" pitchFamily="34" charset="-122"/>
                <a:cs typeface="Calibri" pitchFamily="34" charset="-120"/>
              </a:rPr>
              <a:t>Making Sense of Logs   8</a:t>
            </a:r>
            <a:endParaRPr lang="en-US" sz="900" dirty="0"/>
          </a:p>
        </p:txBody>
      </p:sp>
      <p:sp>
        <p:nvSpPr>
          <p:cNvPr id="3" name="Text 1"/>
          <p:cNvSpPr/>
          <p:nvPr/>
        </p:nvSpPr>
        <p:spPr>
          <a:xfrm>
            <a:off x="457200" y="256032"/>
            <a:ext cx="8229600" cy="228600"/>
          </a:xfrm>
          <a:prstGeom prst="rect">
            <a:avLst/>
          </a:prstGeom>
          <a:noFill/>
          <a:ln/>
        </p:spPr>
        <p:txBody>
          <a:bodyPr wrap="square" lIns="0" tIns="0" rIns="0" bIns="0" rtlCol="0" anchor="ctr"/>
          <a:lstStyle/>
          <a:p>
            <a:pPr indent="0" marL="0">
              <a:buNone/>
            </a:pPr>
            <a:r>
              <a:rPr lang="en-US" sz="1000" b="1" spc="300" kern="0" dirty="0">
                <a:solidFill>
                  <a:srgbClr val="7B4FD6"/>
                </a:solidFill>
                <a:latin typeface="Calibri" pitchFamily="34" charset="0"/>
                <a:ea typeface="Calibri" pitchFamily="34" charset="-122"/>
                <a:cs typeface="Calibri" pitchFamily="34" charset="-120"/>
              </a:rPr>
              <a:t>MCP · HOW TO USE</a:t>
            </a:r>
            <a:endParaRPr lang="en-US" sz="1000" dirty="0"/>
          </a:p>
        </p:txBody>
      </p:sp>
      <p:sp>
        <p:nvSpPr>
          <p:cNvPr id="4" name="Text 2"/>
          <p:cNvSpPr/>
          <p:nvPr/>
        </p:nvSpPr>
        <p:spPr>
          <a:xfrm>
            <a:off x="457200" y="47548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Trebuchet MS" pitchFamily="34" charset="0"/>
                <a:ea typeface="Trebuchet MS" pitchFamily="34" charset="-122"/>
                <a:cs typeface="Trebuchet MS" pitchFamily="34" charset="-120"/>
              </a:rPr>
              <a:t>Prompts, resources, completions</a:t>
            </a:r>
            <a:endParaRPr lang="en-US" sz="2800" dirty="0"/>
          </a:p>
        </p:txBody>
      </p:sp>
      <p:sp>
        <p:nvSpPr>
          <p:cNvPr id="5" name="Text 3"/>
          <p:cNvSpPr/>
          <p:nvPr/>
        </p:nvSpPr>
        <p:spPr>
          <a:xfrm>
            <a:off x="457200" y="1188720"/>
            <a:ext cx="4023360" cy="320040"/>
          </a:xfrm>
          <a:prstGeom prst="rect">
            <a:avLst/>
          </a:prstGeom>
          <a:noFill/>
          <a:ln/>
        </p:spPr>
        <p:txBody>
          <a:bodyPr wrap="square" lIns="0" tIns="0" rIns="0" bIns="0" rtlCol="0" anchor="ctr"/>
          <a:lstStyle/>
          <a:p>
            <a:pPr indent="0" marL="0">
              <a:buNone/>
            </a:pPr>
            <a:r>
              <a:rPr lang="en-US" sz="1400" b="1" dirty="0">
                <a:solidFill>
                  <a:srgbClr val="11121D"/>
                </a:solidFill>
                <a:latin typeface="Trebuchet MS" pitchFamily="34" charset="0"/>
                <a:ea typeface="Trebuchet MS" pitchFamily="34" charset="-122"/>
                <a:cs typeface="Trebuchet MS" pitchFamily="34" charset="-120"/>
              </a:rPr>
              <a:t>Prompts: type / and pick one</a:t>
            </a:r>
            <a:endParaRPr lang="en-US" sz="1400" dirty="0"/>
          </a:p>
        </p:txBody>
      </p:sp>
      <p:sp>
        <p:nvSpPr>
          <p:cNvPr id="6" name="Text 4"/>
          <p:cNvSpPr/>
          <p:nvPr/>
        </p:nvSpPr>
        <p:spPr>
          <a:xfrm>
            <a:off x="457200" y="1572768"/>
            <a:ext cx="4023360" cy="228600"/>
          </a:xfrm>
          <a:prstGeom prst="rect">
            <a:avLst/>
          </a:prstGeom>
          <a:noFill/>
          <a:ln/>
        </p:spPr>
        <p:txBody>
          <a:bodyPr wrap="square" lIns="0" tIns="0" rIns="0" bIns="0" rtlCol="0" anchor="ctr"/>
          <a:lstStyle/>
          <a:p>
            <a:pPr indent="0" marL="0">
              <a:buNone/>
            </a:pPr>
            <a:r>
              <a:rPr lang="en-US" sz="1050" dirty="0">
                <a:solidFill>
                  <a:srgbClr val="3E318C"/>
                </a:solidFill>
                <a:latin typeface="Consolas" pitchFamily="34" charset="0"/>
                <a:ea typeface="Consolas" pitchFamily="34" charset="-122"/>
                <a:cs typeface="Consolas" pitchFamily="34" charset="-120"/>
              </a:rPr>
              <a:t>/mcp__logs__investigate_failure</a:t>
            </a:r>
            <a:endParaRPr lang="en-US" sz="1050" dirty="0"/>
          </a:p>
        </p:txBody>
      </p:sp>
      <p:sp>
        <p:nvSpPr>
          <p:cNvPr id="7" name="Text 5"/>
          <p:cNvSpPr/>
          <p:nvPr/>
        </p:nvSpPr>
        <p:spPr>
          <a:xfrm>
            <a:off x="457200" y="1783080"/>
            <a:ext cx="4023360" cy="201168"/>
          </a:xfrm>
          <a:prstGeom prst="rect">
            <a:avLst/>
          </a:prstGeom>
          <a:noFill/>
          <a:ln/>
        </p:spPr>
        <p:txBody>
          <a:bodyPr wrap="square" lIns="0" tIns="0" rIns="0" bIns="0" rtlCol="0" anchor="ctr"/>
          <a:lstStyle/>
          <a:p>
            <a:pPr indent="0" marL="0">
              <a:buNone/>
            </a:pPr>
            <a:r>
              <a:rPr lang="en-US" sz="1050" dirty="0">
                <a:solidFill>
                  <a:srgbClr val="6B7386"/>
                </a:solidFill>
                <a:latin typeface="Calibri" pitchFamily="34" charset="0"/>
                <a:ea typeface="Calibri" pitchFamily="34" charset="-122"/>
                <a:cs typeface="Calibri" pitchFamily="34" charset="-120"/>
              </a:rPr>
              <a:t>engineer playbook</a:t>
            </a:r>
            <a:endParaRPr lang="en-US" sz="1050" dirty="0"/>
          </a:p>
        </p:txBody>
      </p:sp>
      <p:sp>
        <p:nvSpPr>
          <p:cNvPr id="8" name="Text 6"/>
          <p:cNvSpPr/>
          <p:nvPr/>
        </p:nvSpPr>
        <p:spPr>
          <a:xfrm>
            <a:off x="457200" y="2029968"/>
            <a:ext cx="4023360" cy="228600"/>
          </a:xfrm>
          <a:prstGeom prst="rect">
            <a:avLst/>
          </a:prstGeom>
          <a:noFill/>
          <a:ln/>
        </p:spPr>
        <p:txBody>
          <a:bodyPr wrap="square" lIns="0" tIns="0" rIns="0" bIns="0" rtlCol="0" anchor="ctr"/>
          <a:lstStyle/>
          <a:p>
            <a:pPr indent="0" marL="0">
              <a:buNone/>
            </a:pPr>
            <a:r>
              <a:rPr lang="en-US" sz="1050" dirty="0">
                <a:solidFill>
                  <a:srgbClr val="3E318C"/>
                </a:solidFill>
                <a:latin typeface="Consolas" pitchFamily="34" charset="0"/>
                <a:ea typeface="Consolas" pitchFamily="34" charset="-122"/>
                <a:cs typeface="Consolas" pitchFamily="34" charset="-120"/>
              </a:rPr>
              <a:t>/mcp__logs__review_recurring_problems</a:t>
            </a:r>
            <a:endParaRPr lang="en-US" sz="1050" dirty="0"/>
          </a:p>
        </p:txBody>
      </p:sp>
      <p:sp>
        <p:nvSpPr>
          <p:cNvPr id="9" name="Text 7"/>
          <p:cNvSpPr/>
          <p:nvPr/>
        </p:nvSpPr>
        <p:spPr>
          <a:xfrm>
            <a:off x="457200" y="2240280"/>
            <a:ext cx="4023360" cy="201168"/>
          </a:xfrm>
          <a:prstGeom prst="rect">
            <a:avLst/>
          </a:prstGeom>
          <a:noFill/>
          <a:ln/>
        </p:spPr>
        <p:txBody>
          <a:bodyPr wrap="square" lIns="0" tIns="0" rIns="0" bIns="0" rtlCol="0" anchor="ctr"/>
          <a:lstStyle/>
          <a:p>
            <a:pPr indent="0" marL="0">
              <a:buNone/>
            </a:pPr>
            <a:r>
              <a:rPr lang="en-US" sz="1050" dirty="0">
                <a:solidFill>
                  <a:srgbClr val="6B7386"/>
                </a:solidFill>
                <a:latin typeface="Calibri" pitchFamily="34" charset="0"/>
                <a:ea typeface="Calibri" pitchFamily="34" charset="-122"/>
                <a:cs typeface="Calibri" pitchFamily="34" charset="-120"/>
              </a:rPr>
              <a:t>team-lead playbook</a:t>
            </a:r>
            <a:endParaRPr lang="en-US" sz="1050" dirty="0"/>
          </a:p>
        </p:txBody>
      </p:sp>
      <p:sp>
        <p:nvSpPr>
          <p:cNvPr id="10" name="Text 8"/>
          <p:cNvSpPr/>
          <p:nvPr/>
        </p:nvSpPr>
        <p:spPr>
          <a:xfrm>
            <a:off x="457200" y="2487168"/>
            <a:ext cx="4023360" cy="228600"/>
          </a:xfrm>
          <a:prstGeom prst="rect">
            <a:avLst/>
          </a:prstGeom>
          <a:noFill/>
          <a:ln/>
        </p:spPr>
        <p:txBody>
          <a:bodyPr wrap="square" lIns="0" tIns="0" rIns="0" bIns="0" rtlCol="0" anchor="ctr"/>
          <a:lstStyle/>
          <a:p>
            <a:pPr indent="0" marL="0">
              <a:buNone/>
            </a:pPr>
            <a:r>
              <a:rPr lang="en-US" sz="1050" dirty="0">
                <a:solidFill>
                  <a:srgbClr val="3E318C"/>
                </a:solidFill>
                <a:latin typeface="Consolas" pitchFamily="34" charset="0"/>
                <a:ea typeface="Consolas" pitchFamily="34" charset="-122"/>
                <a:cs typeface="Consolas" pitchFamily="34" charset="-120"/>
              </a:rPr>
              <a:t>/mcp__logs__set_priorities</a:t>
            </a:r>
            <a:endParaRPr lang="en-US" sz="1050" dirty="0"/>
          </a:p>
        </p:txBody>
      </p:sp>
      <p:sp>
        <p:nvSpPr>
          <p:cNvPr id="11" name="Text 9"/>
          <p:cNvSpPr/>
          <p:nvPr/>
        </p:nvSpPr>
        <p:spPr>
          <a:xfrm>
            <a:off x="457200" y="2697480"/>
            <a:ext cx="4023360" cy="201168"/>
          </a:xfrm>
          <a:prstGeom prst="rect">
            <a:avLst/>
          </a:prstGeom>
          <a:noFill/>
          <a:ln/>
        </p:spPr>
        <p:txBody>
          <a:bodyPr wrap="square" lIns="0" tIns="0" rIns="0" bIns="0" rtlCol="0" anchor="ctr"/>
          <a:lstStyle/>
          <a:p>
            <a:pPr indent="0" marL="0">
              <a:buNone/>
            </a:pPr>
            <a:r>
              <a:rPr lang="en-US" sz="1050" dirty="0">
                <a:solidFill>
                  <a:srgbClr val="6B7386"/>
                </a:solidFill>
                <a:latin typeface="Calibri" pitchFamily="34" charset="0"/>
                <a:ea typeface="Calibri" pitchFamily="34" charset="-122"/>
                <a:cs typeface="Calibri" pitchFamily="34" charset="-120"/>
              </a:rPr>
              <a:t>manager playbook</a:t>
            </a:r>
            <a:endParaRPr lang="en-US" sz="1050" dirty="0"/>
          </a:p>
        </p:txBody>
      </p:sp>
      <p:sp>
        <p:nvSpPr>
          <p:cNvPr id="12" name="Text 10"/>
          <p:cNvSpPr/>
          <p:nvPr/>
        </p:nvSpPr>
        <p:spPr>
          <a:xfrm>
            <a:off x="457200" y="2944368"/>
            <a:ext cx="4023360" cy="228600"/>
          </a:xfrm>
          <a:prstGeom prst="rect">
            <a:avLst/>
          </a:prstGeom>
          <a:noFill/>
          <a:ln/>
        </p:spPr>
        <p:txBody>
          <a:bodyPr wrap="square" lIns="0" tIns="0" rIns="0" bIns="0" rtlCol="0" anchor="ctr"/>
          <a:lstStyle/>
          <a:p>
            <a:pPr indent="0" marL="0">
              <a:buNone/>
            </a:pPr>
            <a:r>
              <a:rPr lang="en-US" sz="1050" dirty="0">
                <a:solidFill>
                  <a:srgbClr val="3E318C"/>
                </a:solidFill>
                <a:latin typeface="Consolas" pitchFamily="34" charset="0"/>
                <a:ea typeface="Consolas" pitchFamily="34" charset="-122"/>
                <a:cs typeface="Consolas" pitchFamily="34" charset="-120"/>
              </a:rPr>
              <a:t>/mcp__logs__worked_investigation</a:t>
            </a:r>
            <a:endParaRPr lang="en-US" sz="1050" dirty="0"/>
          </a:p>
        </p:txBody>
      </p:sp>
      <p:sp>
        <p:nvSpPr>
          <p:cNvPr id="13" name="Text 11"/>
          <p:cNvSpPr/>
          <p:nvPr/>
        </p:nvSpPr>
        <p:spPr>
          <a:xfrm>
            <a:off x="457200" y="3154680"/>
            <a:ext cx="4023360" cy="201168"/>
          </a:xfrm>
          <a:prstGeom prst="rect">
            <a:avLst/>
          </a:prstGeom>
          <a:noFill/>
          <a:ln/>
        </p:spPr>
        <p:txBody>
          <a:bodyPr wrap="square" lIns="0" tIns="0" rIns="0" bIns="0" rtlCol="0" anchor="ctr"/>
          <a:lstStyle/>
          <a:p>
            <a:pPr indent="0" marL="0">
              <a:buNone/>
            </a:pPr>
            <a:r>
              <a:rPr lang="en-US" sz="1050" dirty="0">
                <a:solidFill>
                  <a:srgbClr val="6B7386"/>
                </a:solidFill>
                <a:latin typeface="Calibri" pitchFamily="34" charset="0"/>
                <a:ea typeface="Calibri" pitchFamily="34" charset="-122"/>
                <a:cs typeface="Calibri" pitchFamily="34" charset="-120"/>
              </a:rPr>
              <a:t>one topic, all three roles</a:t>
            </a:r>
            <a:endParaRPr lang="en-US" sz="1050" dirty="0"/>
          </a:p>
        </p:txBody>
      </p:sp>
      <p:sp>
        <p:nvSpPr>
          <p:cNvPr id="14" name="Text 12"/>
          <p:cNvSpPr/>
          <p:nvPr/>
        </p:nvSpPr>
        <p:spPr>
          <a:xfrm>
            <a:off x="457200" y="3401568"/>
            <a:ext cx="4023360" cy="228600"/>
          </a:xfrm>
          <a:prstGeom prst="rect">
            <a:avLst/>
          </a:prstGeom>
          <a:noFill/>
          <a:ln/>
        </p:spPr>
        <p:txBody>
          <a:bodyPr wrap="square" lIns="0" tIns="0" rIns="0" bIns="0" rtlCol="0" anchor="ctr"/>
          <a:lstStyle/>
          <a:p>
            <a:pPr indent="0" marL="0">
              <a:buNone/>
            </a:pPr>
            <a:r>
              <a:rPr lang="en-US" sz="1050" dirty="0">
                <a:solidFill>
                  <a:srgbClr val="3E318C"/>
                </a:solidFill>
                <a:latin typeface="Consolas" pitchFamily="34" charset="0"/>
                <a:ea typeface="Consolas" pitchFamily="34" charset="-122"/>
                <a:cs typeface="Consolas" pitchFamily="34" charset="-120"/>
              </a:rPr>
              <a:t>/mcp__logs__whole_corpus_counts</a:t>
            </a:r>
            <a:endParaRPr lang="en-US" sz="1050" dirty="0"/>
          </a:p>
        </p:txBody>
      </p:sp>
      <p:sp>
        <p:nvSpPr>
          <p:cNvPr id="15" name="Text 13"/>
          <p:cNvSpPr/>
          <p:nvPr/>
        </p:nvSpPr>
        <p:spPr>
          <a:xfrm>
            <a:off x="457200" y="3611880"/>
            <a:ext cx="4023360" cy="201168"/>
          </a:xfrm>
          <a:prstGeom prst="rect">
            <a:avLst/>
          </a:prstGeom>
          <a:noFill/>
          <a:ln/>
        </p:spPr>
        <p:txBody>
          <a:bodyPr wrap="square" lIns="0" tIns="0" rIns="0" bIns="0" rtlCol="0" anchor="ctr"/>
          <a:lstStyle/>
          <a:p>
            <a:pPr indent="0" marL="0">
              <a:buNone/>
            </a:pPr>
            <a:r>
              <a:rPr lang="en-US" sz="1050" dirty="0">
                <a:solidFill>
                  <a:srgbClr val="6B7386"/>
                </a:solidFill>
                <a:latin typeface="Calibri" pitchFamily="34" charset="0"/>
                <a:ea typeface="Calibri" pitchFamily="34" charset="-122"/>
                <a:cs typeface="Calibri" pitchFamily="34" charset="-120"/>
              </a:rPr>
              <a:t>counts over every dataset</a:t>
            </a:r>
            <a:endParaRPr lang="en-US" sz="1050" dirty="0"/>
          </a:p>
        </p:txBody>
      </p:sp>
      <p:sp>
        <p:nvSpPr>
          <p:cNvPr id="16" name="Text 14"/>
          <p:cNvSpPr/>
          <p:nvPr/>
        </p:nvSpPr>
        <p:spPr>
          <a:xfrm>
            <a:off x="4754880" y="1188720"/>
            <a:ext cx="3931920" cy="320040"/>
          </a:xfrm>
          <a:prstGeom prst="rect">
            <a:avLst/>
          </a:prstGeom>
          <a:noFill/>
          <a:ln/>
        </p:spPr>
        <p:txBody>
          <a:bodyPr wrap="square" lIns="0" tIns="0" rIns="0" bIns="0" rtlCol="0" anchor="ctr"/>
          <a:lstStyle/>
          <a:p>
            <a:pPr indent="0" marL="0">
              <a:buNone/>
            </a:pPr>
            <a:r>
              <a:rPr lang="en-US" sz="1400" b="1" dirty="0">
                <a:solidFill>
                  <a:srgbClr val="11121D"/>
                </a:solidFill>
                <a:latin typeface="Trebuchet MS" pitchFamily="34" charset="0"/>
                <a:ea typeface="Trebuchet MS" pitchFamily="34" charset="-122"/>
                <a:cs typeface="Trebuchet MS" pitchFamily="34" charset="-120"/>
              </a:rPr>
              <a:t>Resources: type @ to attach</a:t>
            </a:r>
            <a:endParaRPr lang="en-US" sz="1400" dirty="0"/>
          </a:p>
        </p:txBody>
      </p:sp>
      <p:sp>
        <p:nvSpPr>
          <p:cNvPr id="17" name="Text 15"/>
          <p:cNvSpPr/>
          <p:nvPr/>
        </p:nvSpPr>
        <p:spPr>
          <a:xfrm>
            <a:off x="4754880" y="1572768"/>
            <a:ext cx="2331720" cy="329184"/>
          </a:xfrm>
          <a:prstGeom prst="rect">
            <a:avLst/>
          </a:prstGeom>
          <a:noFill/>
          <a:ln/>
        </p:spPr>
        <p:txBody>
          <a:bodyPr wrap="square" lIns="0" tIns="0" rIns="0" bIns="0" rtlCol="0" anchor="ctr"/>
          <a:lstStyle/>
          <a:p>
            <a:pPr indent="0" marL="0">
              <a:buNone/>
            </a:pPr>
            <a:r>
              <a:rPr lang="en-US" sz="1050" dirty="0">
                <a:solidFill>
                  <a:srgbClr val="3E318C"/>
                </a:solidFill>
                <a:latin typeface="Consolas" pitchFamily="34" charset="0"/>
                <a:ea typeface="Consolas" pitchFamily="34" charset="-122"/>
                <a:cs typeface="Consolas" pitchFamily="34" charset="-120"/>
              </a:rPr>
              <a:t>logs://datasets</a:t>
            </a:r>
            <a:endParaRPr lang="en-US" sz="1050" dirty="0"/>
          </a:p>
        </p:txBody>
      </p:sp>
      <p:sp>
        <p:nvSpPr>
          <p:cNvPr id="18" name="Text 16"/>
          <p:cNvSpPr/>
          <p:nvPr/>
        </p:nvSpPr>
        <p:spPr>
          <a:xfrm>
            <a:off x="7086600" y="1572768"/>
            <a:ext cx="1645920" cy="329184"/>
          </a:xfrm>
          <a:prstGeom prst="rect">
            <a:avLst/>
          </a:prstGeom>
          <a:noFill/>
          <a:ln/>
        </p:spPr>
        <p:txBody>
          <a:bodyPr wrap="square" lIns="0" tIns="0" rIns="0" bIns="0" rtlCol="0" anchor="ctr"/>
          <a:lstStyle/>
          <a:p>
            <a:pPr indent="0" marL="0">
              <a:buNone/>
            </a:pPr>
            <a:r>
              <a:rPr lang="en-US" sz="1050" dirty="0">
                <a:solidFill>
                  <a:srgbClr val="6B7386"/>
                </a:solidFill>
                <a:latin typeface="Calibri" pitchFamily="34" charset="0"/>
                <a:ea typeface="Calibri" pitchFamily="34" charset="-122"/>
                <a:cs typeface="Calibri" pitchFamily="34" charset="-120"/>
              </a:rPr>
              <a:t>what is loaded</a:t>
            </a:r>
            <a:endParaRPr lang="en-US" sz="1050" dirty="0"/>
          </a:p>
        </p:txBody>
      </p:sp>
      <p:sp>
        <p:nvSpPr>
          <p:cNvPr id="19" name="Text 17"/>
          <p:cNvSpPr/>
          <p:nvPr/>
        </p:nvSpPr>
        <p:spPr>
          <a:xfrm>
            <a:off x="4754880" y="1956816"/>
            <a:ext cx="2331720" cy="329184"/>
          </a:xfrm>
          <a:prstGeom prst="rect">
            <a:avLst/>
          </a:prstGeom>
          <a:noFill/>
          <a:ln/>
        </p:spPr>
        <p:txBody>
          <a:bodyPr wrap="square" lIns="0" tIns="0" rIns="0" bIns="0" rtlCol="0" anchor="ctr"/>
          <a:lstStyle/>
          <a:p>
            <a:pPr indent="0" marL="0">
              <a:buNone/>
            </a:pPr>
            <a:r>
              <a:rPr lang="en-US" sz="1050" dirty="0">
                <a:solidFill>
                  <a:srgbClr val="3E318C"/>
                </a:solidFill>
                <a:latin typeface="Consolas" pitchFamily="34" charset="0"/>
                <a:ea typeface="Consolas" pitchFamily="34" charset="-122"/>
                <a:cs typeface="Consolas" pitchFamily="34" charset="-120"/>
              </a:rPr>
              <a:t>logs://glossary</a:t>
            </a:r>
            <a:endParaRPr lang="en-US" sz="1050" dirty="0"/>
          </a:p>
        </p:txBody>
      </p:sp>
      <p:sp>
        <p:nvSpPr>
          <p:cNvPr id="20" name="Text 18"/>
          <p:cNvSpPr/>
          <p:nvPr/>
        </p:nvSpPr>
        <p:spPr>
          <a:xfrm>
            <a:off x="7086600" y="1956816"/>
            <a:ext cx="1645920" cy="329184"/>
          </a:xfrm>
          <a:prstGeom prst="rect">
            <a:avLst/>
          </a:prstGeom>
          <a:noFill/>
          <a:ln/>
        </p:spPr>
        <p:txBody>
          <a:bodyPr wrap="square" lIns="0" tIns="0" rIns="0" bIns="0" rtlCol="0" anchor="ctr"/>
          <a:lstStyle/>
          <a:p>
            <a:pPr indent="0" marL="0">
              <a:buNone/>
            </a:pPr>
            <a:r>
              <a:rPr lang="en-US" sz="1050" dirty="0">
                <a:solidFill>
                  <a:srgbClr val="6B7386"/>
                </a:solidFill>
                <a:latin typeface="Calibri" pitchFamily="34" charset="0"/>
                <a:ea typeface="Calibri" pitchFamily="34" charset="-122"/>
                <a:cs typeface="Calibri" pitchFamily="34" charset="-120"/>
              </a:rPr>
              <a:t>line, pattern, burst, the rules</a:t>
            </a:r>
            <a:endParaRPr lang="en-US" sz="1050" dirty="0"/>
          </a:p>
        </p:txBody>
      </p:sp>
      <p:sp>
        <p:nvSpPr>
          <p:cNvPr id="21" name="Text 19"/>
          <p:cNvSpPr/>
          <p:nvPr/>
        </p:nvSpPr>
        <p:spPr>
          <a:xfrm>
            <a:off x="4754880" y="2340864"/>
            <a:ext cx="2331720" cy="329184"/>
          </a:xfrm>
          <a:prstGeom prst="rect">
            <a:avLst/>
          </a:prstGeom>
          <a:noFill/>
          <a:ln/>
        </p:spPr>
        <p:txBody>
          <a:bodyPr wrap="square" lIns="0" tIns="0" rIns="0" bIns="0" rtlCol="0" anchor="ctr"/>
          <a:lstStyle/>
          <a:p>
            <a:pPr indent="0" marL="0">
              <a:buNone/>
            </a:pPr>
            <a:r>
              <a:rPr lang="en-US" sz="1050" dirty="0">
                <a:solidFill>
                  <a:srgbClr val="3E318C"/>
                </a:solidFill>
                <a:latin typeface="Consolas" pitchFamily="34" charset="0"/>
                <a:ea typeface="Consolas" pitchFamily="34" charset="-122"/>
                <a:cs typeface="Consolas" pitchFamily="34" charset="-120"/>
              </a:rPr>
              <a:t>logs://field-guide/{dataset}</a:t>
            </a:r>
            <a:endParaRPr lang="en-US" sz="1050" dirty="0"/>
          </a:p>
        </p:txBody>
      </p:sp>
      <p:sp>
        <p:nvSpPr>
          <p:cNvPr id="22" name="Text 20"/>
          <p:cNvSpPr/>
          <p:nvPr/>
        </p:nvSpPr>
        <p:spPr>
          <a:xfrm>
            <a:off x="7086600" y="2340864"/>
            <a:ext cx="1645920" cy="329184"/>
          </a:xfrm>
          <a:prstGeom prst="rect">
            <a:avLst/>
          </a:prstGeom>
          <a:noFill/>
          <a:ln/>
        </p:spPr>
        <p:txBody>
          <a:bodyPr wrap="square" lIns="0" tIns="0" rIns="0" bIns="0" rtlCol="0" anchor="ctr"/>
          <a:lstStyle/>
          <a:p>
            <a:pPr indent="0" marL="0">
              <a:buNone/>
            </a:pPr>
            <a:r>
              <a:rPr lang="en-US" sz="1050" dirty="0">
                <a:solidFill>
                  <a:srgbClr val="6B7386"/>
                </a:solidFill>
                <a:latin typeface="Calibri" pitchFamily="34" charset="0"/>
                <a:ea typeface="Calibri" pitchFamily="34" charset="-122"/>
                <a:cs typeface="Calibri" pitchFamily="34" charset="-120"/>
              </a:rPr>
              <a:t>what each field means</a:t>
            </a:r>
            <a:endParaRPr lang="en-US" sz="1050" dirty="0"/>
          </a:p>
        </p:txBody>
      </p:sp>
      <p:sp>
        <p:nvSpPr>
          <p:cNvPr id="23" name="Text 21"/>
          <p:cNvSpPr/>
          <p:nvPr/>
        </p:nvSpPr>
        <p:spPr>
          <a:xfrm>
            <a:off x="4754880" y="2724912"/>
            <a:ext cx="2331720" cy="329184"/>
          </a:xfrm>
          <a:prstGeom prst="rect">
            <a:avLst/>
          </a:prstGeom>
          <a:noFill/>
          <a:ln/>
        </p:spPr>
        <p:txBody>
          <a:bodyPr wrap="square" lIns="0" tIns="0" rIns="0" bIns="0" rtlCol="0" anchor="ctr"/>
          <a:lstStyle/>
          <a:p>
            <a:pPr indent="0" marL="0">
              <a:buNone/>
            </a:pPr>
            <a:r>
              <a:rPr lang="en-US" sz="1050" dirty="0">
                <a:solidFill>
                  <a:srgbClr val="3E318C"/>
                </a:solidFill>
                <a:latin typeface="Consolas" pitchFamily="34" charset="0"/>
                <a:ea typeface="Consolas" pitchFamily="34" charset="-122"/>
                <a:cs typeface="Consolas" pitchFamily="34" charset="-120"/>
              </a:rPr>
              <a:t>logs://ownership/{dataset}</a:t>
            </a:r>
            <a:endParaRPr lang="en-US" sz="1050" dirty="0"/>
          </a:p>
        </p:txBody>
      </p:sp>
      <p:sp>
        <p:nvSpPr>
          <p:cNvPr id="24" name="Text 22"/>
          <p:cNvSpPr/>
          <p:nvPr/>
        </p:nvSpPr>
        <p:spPr>
          <a:xfrm>
            <a:off x="7086600" y="2724912"/>
            <a:ext cx="1645920" cy="329184"/>
          </a:xfrm>
          <a:prstGeom prst="rect">
            <a:avLst/>
          </a:prstGeom>
          <a:noFill/>
          <a:ln/>
        </p:spPr>
        <p:txBody>
          <a:bodyPr wrap="square" lIns="0" tIns="0" rIns="0" bIns="0" rtlCol="0" anchor="ctr"/>
          <a:lstStyle/>
          <a:p>
            <a:pPr indent="0" marL="0">
              <a:buNone/>
            </a:pPr>
            <a:r>
              <a:rPr lang="en-US" sz="1050" dirty="0">
                <a:solidFill>
                  <a:srgbClr val="6B7386"/>
                </a:solidFill>
                <a:latin typeface="Calibri" pitchFamily="34" charset="0"/>
                <a:ea typeface="Calibri" pitchFamily="34" charset="-122"/>
                <a:cs typeface="Calibri" pitchFamily="34" charset="-120"/>
              </a:rPr>
              <a:t>component → team, with confidence</a:t>
            </a:r>
            <a:endParaRPr lang="en-US" sz="1050" dirty="0"/>
          </a:p>
        </p:txBody>
      </p:sp>
      <p:sp>
        <p:nvSpPr>
          <p:cNvPr id="25" name="Text 23"/>
          <p:cNvSpPr/>
          <p:nvPr/>
        </p:nvSpPr>
        <p:spPr>
          <a:xfrm>
            <a:off x="4754880" y="3108960"/>
            <a:ext cx="2331720" cy="329184"/>
          </a:xfrm>
          <a:prstGeom prst="rect">
            <a:avLst/>
          </a:prstGeom>
          <a:noFill/>
          <a:ln/>
        </p:spPr>
        <p:txBody>
          <a:bodyPr wrap="square" lIns="0" tIns="0" rIns="0" bIns="0" rtlCol="0" anchor="ctr"/>
          <a:lstStyle/>
          <a:p>
            <a:pPr indent="0" marL="0">
              <a:buNone/>
            </a:pPr>
            <a:r>
              <a:rPr lang="en-US" sz="1050" dirty="0">
                <a:solidFill>
                  <a:srgbClr val="3E318C"/>
                </a:solidFill>
                <a:latin typeface="Consolas" pitchFamily="34" charset="0"/>
                <a:ea typeface="Consolas" pitchFamily="34" charset="-122"/>
                <a:cs typeface="Consolas" pitchFamily="34" charset="-120"/>
              </a:rPr>
              <a:t>logs://session/latest</a:t>
            </a:r>
            <a:endParaRPr lang="en-US" sz="1050" dirty="0"/>
          </a:p>
        </p:txBody>
      </p:sp>
      <p:sp>
        <p:nvSpPr>
          <p:cNvPr id="26" name="Text 24"/>
          <p:cNvSpPr/>
          <p:nvPr/>
        </p:nvSpPr>
        <p:spPr>
          <a:xfrm>
            <a:off x="7086600" y="3108960"/>
            <a:ext cx="1645920" cy="329184"/>
          </a:xfrm>
          <a:prstGeom prst="rect">
            <a:avLst/>
          </a:prstGeom>
          <a:noFill/>
          <a:ln/>
        </p:spPr>
        <p:txBody>
          <a:bodyPr wrap="square" lIns="0" tIns="0" rIns="0" bIns="0" rtlCol="0" anchor="ctr"/>
          <a:lstStyle/>
          <a:p>
            <a:pPr indent="0" marL="0">
              <a:buNone/>
            </a:pPr>
            <a:r>
              <a:rPr lang="en-US" sz="1050" dirty="0">
                <a:solidFill>
                  <a:srgbClr val="6B7386"/>
                </a:solidFill>
                <a:latin typeface="Calibri" pitchFamily="34" charset="0"/>
                <a:ea typeface="Calibri" pitchFamily="34" charset="-122"/>
                <a:cs typeface="Calibri" pitchFamily="34" charset="-120"/>
              </a:rPr>
              <a:t>every query of this session</a:t>
            </a:r>
            <a:endParaRPr lang="en-US" sz="1050" dirty="0"/>
          </a:p>
        </p:txBody>
      </p:sp>
      <p:sp>
        <p:nvSpPr>
          <p:cNvPr id="27" name="Text 25"/>
          <p:cNvSpPr/>
          <p:nvPr/>
        </p:nvSpPr>
        <p:spPr>
          <a:xfrm>
            <a:off x="4754880" y="3493008"/>
            <a:ext cx="2331720" cy="329184"/>
          </a:xfrm>
          <a:prstGeom prst="rect">
            <a:avLst/>
          </a:prstGeom>
          <a:noFill/>
          <a:ln/>
        </p:spPr>
        <p:txBody>
          <a:bodyPr wrap="square" lIns="0" tIns="0" rIns="0" bIns="0" rtlCol="0" anchor="ctr"/>
          <a:lstStyle/>
          <a:p>
            <a:pPr indent="0" marL="0">
              <a:buNone/>
            </a:pPr>
            <a:r>
              <a:rPr lang="en-US" sz="1050" dirty="0">
                <a:solidFill>
                  <a:srgbClr val="3E318C"/>
                </a:solidFill>
                <a:latin typeface="Consolas" pitchFamily="34" charset="0"/>
                <a:ea typeface="Consolas" pitchFamily="34" charset="-122"/>
                <a:cs typeface="Consolas" pitchFamily="34" charset="-120"/>
              </a:rPr>
              <a:t>logs://session/{id}/step/{n}</a:t>
            </a:r>
            <a:endParaRPr lang="en-US" sz="1050" dirty="0"/>
          </a:p>
        </p:txBody>
      </p:sp>
      <p:sp>
        <p:nvSpPr>
          <p:cNvPr id="28" name="Text 26"/>
          <p:cNvSpPr/>
          <p:nvPr/>
        </p:nvSpPr>
        <p:spPr>
          <a:xfrm>
            <a:off x="7086600" y="3493008"/>
            <a:ext cx="1645920" cy="329184"/>
          </a:xfrm>
          <a:prstGeom prst="rect">
            <a:avLst/>
          </a:prstGeom>
          <a:noFill/>
          <a:ln/>
        </p:spPr>
        <p:txBody>
          <a:bodyPr wrap="square" lIns="0" tIns="0" rIns="0" bIns="0" rtlCol="0" anchor="ctr"/>
          <a:lstStyle/>
          <a:p>
            <a:pPr indent="0" marL="0">
              <a:buNone/>
            </a:pPr>
            <a:r>
              <a:rPr lang="en-US" sz="1050" dirty="0">
                <a:solidFill>
                  <a:srgbClr val="6B7386"/>
                </a:solidFill>
                <a:latin typeface="Calibri" pitchFamily="34" charset="0"/>
                <a:ea typeface="Calibri" pitchFamily="34" charset="-122"/>
                <a:cs typeface="Calibri" pitchFamily="34" charset="-120"/>
              </a:rPr>
              <a:t>one step in full</a:t>
            </a:r>
            <a:endParaRPr lang="en-US" sz="1050" dirty="0"/>
          </a:p>
        </p:txBody>
      </p:sp>
      <p:sp>
        <p:nvSpPr>
          <p:cNvPr id="29" name="Shape 27"/>
          <p:cNvSpPr/>
          <p:nvPr/>
        </p:nvSpPr>
        <p:spPr>
          <a:xfrm>
            <a:off x="4754880" y="3977640"/>
            <a:ext cx="3931920" cy="594360"/>
          </a:xfrm>
          <a:prstGeom prst="rect">
            <a:avLst/>
          </a:prstGeom>
          <a:solidFill>
            <a:srgbClr val="E9E3FB"/>
          </a:solidFill>
          <a:ln/>
        </p:spPr>
      </p:sp>
      <p:sp>
        <p:nvSpPr>
          <p:cNvPr id="30" name="Text 28"/>
          <p:cNvSpPr/>
          <p:nvPr/>
        </p:nvSpPr>
        <p:spPr>
          <a:xfrm>
            <a:off x="4892040" y="4005072"/>
            <a:ext cx="3703320" cy="548640"/>
          </a:xfrm>
          <a:prstGeom prst="rect">
            <a:avLst/>
          </a:prstGeom>
          <a:noFill/>
          <a:ln/>
        </p:spPr>
        <p:txBody>
          <a:bodyPr wrap="square" lIns="0" tIns="0" rIns="0" bIns="0" rtlCol="0" anchor="ctr"/>
          <a:lstStyle/>
          <a:p>
            <a:pPr indent="0" marL="0">
              <a:buNone/>
            </a:pPr>
            <a:r>
              <a:rPr lang="en-US" sz="1100" dirty="0">
                <a:solidFill>
                  <a:srgbClr val="11121D"/>
                </a:solidFill>
                <a:latin typeface="Calibri" pitchFamily="34" charset="0"/>
                <a:ea typeface="Calibri" pitchFamily="34" charset="-122"/>
                <a:cs typeface="Calibri" pitchFamily="34" charset="-120"/>
              </a:rPr>
              <a:t>Completions: prompt arguments suggest real datasets, components, teams and levels as you type.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F2F5"/>
        </a:solidFill>
      </p:bgPr>
    </p:bg>
    <p:spTree>
      <p:nvGrpSpPr>
        <p:cNvPr id="1" name=""/>
        <p:cNvGrpSpPr/>
        <p:nvPr/>
      </p:nvGrpSpPr>
      <p:grpSpPr>
        <a:xfrm>
          <a:off x="0" y="0"/>
          <a:ext cx="0" cy="0"/>
          <a:chOff x="0" y="0"/>
          <a:chExt cx="0" cy="0"/>
        </a:xfrm>
      </p:grpSpPr>
      <p:sp>
        <p:nvSpPr>
          <p:cNvPr id="2" name="Text 0"/>
          <p:cNvSpPr/>
          <p:nvPr/>
        </p:nvSpPr>
        <p:spPr>
          <a:xfrm>
            <a:off x="5943600" y="4773168"/>
            <a:ext cx="2743200" cy="228600"/>
          </a:xfrm>
          <a:prstGeom prst="rect">
            <a:avLst/>
          </a:prstGeom>
          <a:noFill/>
          <a:ln/>
        </p:spPr>
        <p:txBody>
          <a:bodyPr wrap="square" lIns="0" tIns="0" rIns="0" bIns="0" rtlCol="0" anchor="ctr"/>
          <a:lstStyle/>
          <a:p>
            <a:pPr algn="r" indent="0" marL="0">
              <a:buNone/>
            </a:pPr>
            <a:r>
              <a:rPr lang="en-US" sz="900" dirty="0">
                <a:solidFill>
                  <a:srgbClr val="6B7386"/>
                </a:solidFill>
                <a:latin typeface="Calibri" pitchFamily="34" charset="0"/>
                <a:ea typeface="Calibri" pitchFamily="34" charset="-122"/>
                <a:cs typeface="Calibri" pitchFamily="34" charset="-120"/>
              </a:rPr>
              <a:t>Making Sense of Logs   9</a:t>
            </a:r>
            <a:endParaRPr lang="en-US" sz="900" dirty="0"/>
          </a:p>
        </p:txBody>
      </p:sp>
      <p:sp>
        <p:nvSpPr>
          <p:cNvPr id="3" name="Text 1"/>
          <p:cNvSpPr/>
          <p:nvPr/>
        </p:nvSpPr>
        <p:spPr>
          <a:xfrm>
            <a:off x="457200" y="256032"/>
            <a:ext cx="8229600" cy="228600"/>
          </a:xfrm>
          <a:prstGeom prst="rect">
            <a:avLst/>
          </a:prstGeom>
          <a:noFill/>
          <a:ln/>
        </p:spPr>
        <p:txBody>
          <a:bodyPr wrap="square" lIns="0" tIns="0" rIns="0" bIns="0" rtlCol="0" anchor="ctr"/>
          <a:lstStyle/>
          <a:p>
            <a:pPr indent="0" marL="0">
              <a:buNone/>
            </a:pPr>
            <a:r>
              <a:rPr lang="en-US" sz="1000" b="1" spc="300" kern="0" dirty="0">
                <a:solidFill>
                  <a:srgbClr val="7B4FD6"/>
                </a:solidFill>
                <a:latin typeface="Calibri" pitchFamily="34" charset="0"/>
                <a:ea typeface="Calibri" pitchFamily="34" charset="-122"/>
                <a:cs typeface="Calibri" pitchFamily="34" charset="-120"/>
              </a:rPr>
              <a:t>MCP · SETUP AND CONTROL</a:t>
            </a:r>
            <a:endParaRPr lang="en-US" sz="1000" dirty="0"/>
          </a:p>
        </p:txBody>
      </p:sp>
      <p:sp>
        <p:nvSpPr>
          <p:cNvPr id="4" name="Text 2"/>
          <p:cNvSpPr/>
          <p:nvPr/>
        </p:nvSpPr>
        <p:spPr>
          <a:xfrm>
            <a:off x="457200" y="47548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Trebuchet MS" pitchFamily="34" charset="0"/>
                <a:ea typeface="Trebuchet MS" pitchFamily="34" charset="-122"/>
                <a:cs typeface="Trebuchet MS" pitchFamily="34" charset="-120"/>
              </a:rPr>
              <a:t>Connect, load, restrict, verify</a:t>
            </a:r>
            <a:endParaRPr lang="en-US" sz="2800" dirty="0"/>
          </a:p>
        </p:txBody>
      </p:sp>
      <p:sp>
        <p:nvSpPr>
          <p:cNvPr id="5" name="Shape 3"/>
          <p:cNvSpPr/>
          <p:nvPr/>
        </p:nvSpPr>
        <p:spPr>
          <a:xfrm>
            <a:off x="457200" y="1280160"/>
            <a:ext cx="548640" cy="548640"/>
          </a:xfrm>
          <a:prstGeom prst="ellipse">
            <a:avLst/>
          </a:prstGeom>
          <a:solidFill>
            <a:srgbClr val="7B4FD6"/>
          </a:solidFill>
          <a:ln/>
        </p:spPr>
      </p:sp>
      <p:pic>
        <p:nvPicPr>
          <p:cNvPr id="6" name="Image 0" descr="preencoded.png">    </p:cNvPr>
          <p:cNvPicPr>
            <a:picLocks noChangeAspect="1"/>
          </p:cNvPicPr>
          <p:nvPr/>
        </p:nvPicPr>
        <p:blipFill>
          <a:blip r:embed="rId1"/>
          <a:stretch>
            <a:fillRect/>
          </a:stretch>
        </p:blipFill>
        <p:spPr>
          <a:xfrm>
            <a:off x="588874" y="1411834"/>
            <a:ext cx="285293" cy="285293"/>
          </a:xfrm>
          <a:prstGeom prst="rect">
            <a:avLst/>
          </a:prstGeom>
        </p:spPr>
      </p:pic>
      <p:sp>
        <p:nvSpPr>
          <p:cNvPr id="7" name="Text 4"/>
          <p:cNvSpPr/>
          <p:nvPr/>
        </p:nvSpPr>
        <p:spPr>
          <a:xfrm>
            <a:off x="1188720" y="1207008"/>
            <a:ext cx="1463040" cy="685800"/>
          </a:xfrm>
          <a:prstGeom prst="rect">
            <a:avLst/>
          </a:prstGeom>
          <a:noFill/>
          <a:ln/>
        </p:spPr>
        <p:txBody>
          <a:bodyPr wrap="square" lIns="0" tIns="0" rIns="0" bIns="0" rtlCol="0" anchor="ctr"/>
          <a:lstStyle/>
          <a:p>
            <a:pPr indent="0" marL="0">
              <a:buNone/>
            </a:pPr>
            <a:r>
              <a:rPr lang="en-US" sz="1600" b="1" dirty="0">
                <a:solidFill>
                  <a:srgbClr val="11121D"/>
                </a:solidFill>
                <a:latin typeface="Trebuchet MS" pitchFamily="34" charset="0"/>
                <a:ea typeface="Trebuchet MS" pitchFamily="34" charset="-122"/>
                <a:cs typeface="Trebuchet MS" pitchFamily="34" charset="-120"/>
              </a:rPr>
              <a:t>Connect</a:t>
            </a:r>
            <a:endParaRPr lang="en-US" sz="1600" dirty="0"/>
          </a:p>
        </p:txBody>
      </p:sp>
      <p:sp>
        <p:nvSpPr>
          <p:cNvPr id="8" name="Text 5"/>
          <p:cNvSpPr/>
          <p:nvPr/>
        </p:nvSpPr>
        <p:spPr>
          <a:xfrm>
            <a:off x="2651760" y="1207008"/>
            <a:ext cx="6035040" cy="685800"/>
          </a:xfrm>
          <a:prstGeom prst="rect">
            <a:avLst/>
          </a:prstGeom>
          <a:noFill/>
          <a:ln/>
        </p:spPr>
        <p:txBody>
          <a:bodyPr wrap="square" lIns="0" tIns="0" rIns="0" bIns="0" rtlCol="0" anchor="ctr"/>
          <a:lstStyle/>
          <a:p>
            <a:pPr indent="0" marL="0">
              <a:buNone/>
            </a:pPr>
            <a:r>
              <a:rPr lang="en-US" sz="1200" dirty="0">
                <a:solidFill>
                  <a:srgbClr val="2A2C44"/>
                </a:solidFill>
                <a:latin typeface="Calibri" pitchFamily="34" charset="0"/>
                <a:ea typeface="Calibri" pitchFamily="34" charset="-122"/>
                <a:cs typeface="Calibri" pitchFamily="34" charset="-120"/>
              </a:rPr>
              <a:t>In the repo: claude (reads .mcp.json). Anywhere: claude mcp add -s user logs -- uv run … python mcp_server/server.py</a:t>
            </a:r>
            <a:endParaRPr lang="en-US" sz="1200" dirty="0"/>
          </a:p>
        </p:txBody>
      </p:sp>
      <p:sp>
        <p:nvSpPr>
          <p:cNvPr id="9" name="Shape 6"/>
          <p:cNvSpPr/>
          <p:nvPr/>
        </p:nvSpPr>
        <p:spPr>
          <a:xfrm>
            <a:off x="457200" y="2121408"/>
            <a:ext cx="548640" cy="548640"/>
          </a:xfrm>
          <a:prstGeom prst="ellipse">
            <a:avLst/>
          </a:prstGeom>
          <a:solidFill>
            <a:srgbClr val="7B4FD6"/>
          </a:solidFill>
          <a:ln/>
        </p:spPr>
      </p:sp>
      <p:pic>
        <p:nvPicPr>
          <p:cNvPr id="10" name="Image 1" descr="preencoded.png">    </p:cNvPr>
          <p:cNvPicPr>
            <a:picLocks noChangeAspect="1"/>
          </p:cNvPicPr>
          <p:nvPr/>
        </p:nvPicPr>
        <p:blipFill>
          <a:blip r:embed="rId2"/>
          <a:stretch>
            <a:fillRect/>
          </a:stretch>
        </p:blipFill>
        <p:spPr>
          <a:xfrm>
            <a:off x="588874" y="2253082"/>
            <a:ext cx="285293" cy="285293"/>
          </a:xfrm>
          <a:prstGeom prst="rect">
            <a:avLst/>
          </a:prstGeom>
        </p:spPr>
      </p:pic>
      <p:sp>
        <p:nvSpPr>
          <p:cNvPr id="11" name="Text 7"/>
          <p:cNvSpPr/>
          <p:nvPr/>
        </p:nvSpPr>
        <p:spPr>
          <a:xfrm>
            <a:off x="1188720" y="2048256"/>
            <a:ext cx="1463040" cy="685800"/>
          </a:xfrm>
          <a:prstGeom prst="rect">
            <a:avLst/>
          </a:prstGeom>
          <a:noFill/>
          <a:ln/>
        </p:spPr>
        <p:txBody>
          <a:bodyPr wrap="square" lIns="0" tIns="0" rIns="0" bIns="0" rtlCol="0" anchor="ctr"/>
          <a:lstStyle/>
          <a:p>
            <a:pPr indent="0" marL="0">
              <a:buNone/>
            </a:pPr>
            <a:r>
              <a:rPr lang="en-US" sz="1600" b="1" dirty="0">
                <a:solidFill>
                  <a:srgbClr val="11121D"/>
                </a:solidFill>
                <a:latin typeface="Trebuchet MS" pitchFamily="34" charset="0"/>
                <a:ea typeface="Trebuchet MS" pitchFamily="34" charset="-122"/>
                <a:cs typeface="Trebuchet MS" pitchFamily="34" charset="-120"/>
              </a:rPr>
              <a:t>Load</a:t>
            </a:r>
            <a:endParaRPr lang="en-US" sz="1600" dirty="0"/>
          </a:p>
        </p:txBody>
      </p:sp>
      <p:sp>
        <p:nvSpPr>
          <p:cNvPr id="12" name="Text 8"/>
          <p:cNvSpPr/>
          <p:nvPr/>
        </p:nvSpPr>
        <p:spPr>
          <a:xfrm>
            <a:off x="2651760" y="2048256"/>
            <a:ext cx="6035040" cy="685800"/>
          </a:xfrm>
          <a:prstGeom prst="rect">
            <a:avLst/>
          </a:prstGeom>
          <a:noFill/>
          <a:ln/>
        </p:spPr>
        <p:txBody>
          <a:bodyPr wrap="square" lIns="0" tIns="0" rIns="0" bIns="0" rtlCol="0" anchor="ctr"/>
          <a:lstStyle/>
          <a:p>
            <a:pPr indent="0" marL="0">
              <a:buNone/>
            </a:pPr>
            <a:r>
              <a:rPr lang="en-US" sz="1200" dirty="0">
                <a:solidFill>
                  <a:srgbClr val="2A2C44"/>
                </a:solidFill>
                <a:latin typeface="Calibri" pitchFamily="34" charset="0"/>
                <a:ea typeface="Calibri" pitchFamily="34" charset="-122"/>
                <a:cs typeface="Calibri" pitchFamily="34" charset="-120"/>
              </a:rPr>
              <a:t>load_logs('base') = BGL + OpenStack from Zenodo (72 s). load_logs('~/app.log'): format detected from 76 known formats, refused below 95 %.</a:t>
            </a:r>
            <a:endParaRPr lang="en-US" sz="1200" dirty="0"/>
          </a:p>
        </p:txBody>
      </p:sp>
      <p:sp>
        <p:nvSpPr>
          <p:cNvPr id="13" name="Shape 9"/>
          <p:cNvSpPr/>
          <p:nvPr/>
        </p:nvSpPr>
        <p:spPr>
          <a:xfrm>
            <a:off x="457200" y="2962656"/>
            <a:ext cx="548640" cy="548640"/>
          </a:xfrm>
          <a:prstGeom prst="ellipse">
            <a:avLst/>
          </a:prstGeom>
          <a:solidFill>
            <a:srgbClr val="7B4FD6"/>
          </a:solidFill>
          <a:ln/>
        </p:spPr>
      </p:sp>
      <p:pic>
        <p:nvPicPr>
          <p:cNvPr id="14" name="Image 2" descr="preencoded.png">    </p:cNvPr>
          <p:cNvPicPr>
            <a:picLocks noChangeAspect="1"/>
          </p:cNvPicPr>
          <p:nvPr/>
        </p:nvPicPr>
        <p:blipFill>
          <a:blip r:embed="rId3"/>
          <a:stretch>
            <a:fillRect/>
          </a:stretch>
        </p:blipFill>
        <p:spPr>
          <a:xfrm>
            <a:off x="588874" y="3094330"/>
            <a:ext cx="285293" cy="285293"/>
          </a:xfrm>
          <a:prstGeom prst="rect">
            <a:avLst/>
          </a:prstGeom>
        </p:spPr>
      </p:pic>
      <p:sp>
        <p:nvSpPr>
          <p:cNvPr id="15" name="Text 10"/>
          <p:cNvSpPr/>
          <p:nvPr/>
        </p:nvSpPr>
        <p:spPr>
          <a:xfrm>
            <a:off x="1188720" y="2889504"/>
            <a:ext cx="1463040" cy="685800"/>
          </a:xfrm>
          <a:prstGeom prst="rect">
            <a:avLst/>
          </a:prstGeom>
          <a:noFill/>
          <a:ln/>
        </p:spPr>
        <p:txBody>
          <a:bodyPr wrap="square" lIns="0" tIns="0" rIns="0" bIns="0" rtlCol="0" anchor="ctr"/>
          <a:lstStyle/>
          <a:p>
            <a:pPr indent="0" marL="0">
              <a:buNone/>
            </a:pPr>
            <a:r>
              <a:rPr lang="en-US" sz="1600" b="1" dirty="0">
                <a:solidFill>
                  <a:srgbClr val="11121D"/>
                </a:solidFill>
                <a:latin typeface="Trebuchet MS" pitchFamily="34" charset="0"/>
                <a:ea typeface="Trebuchet MS" pitchFamily="34" charset="-122"/>
                <a:cs typeface="Trebuchet MS" pitchFamily="34" charset="-120"/>
              </a:rPr>
              <a:t>Restrict</a:t>
            </a:r>
            <a:endParaRPr lang="en-US" sz="1600" dirty="0"/>
          </a:p>
        </p:txBody>
      </p:sp>
      <p:sp>
        <p:nvSpPr>
          <p:cNvPr id="16" name="Text 11"/>
          <p:cNvSpPr/>
          <p:nvPr/>
        </p:nvSpPr>
        <p:spPr>
          <a:xfrm>
            <a:off x="2651760" y="2889504"/>
            <a:ext cx="6035040" cy="685800"/>
          </a:xfrm>
          <a:prstGeom prst="rect">
            <a:avLst/>
          </a:prstGeom>
          <a:noFill/>
          <a:ln/>
        </p:spPr>
        <p:txBody>
          <a:bodyPr wrap="square" lIns="0" tIns="0" rIns="0" bIns="0" rtlCol="0" anchor="ctr"/>
          <a:lstStyle/>
          <a:p>
            <a:pPr indent="0" marL="0">
              <a:buNone/>
            </a:pPr>
            <a:r>
              <a:rPr lang="en-US" sz="1200" dirty="0">
                <a:solidFill>
                  <a:srgbClr val="2A2C44"/>
                </a:solidFill>
                <a:latin typeface="Calibri" pitchFamily="34" charset="0"/>
                <a:ea typeface="Calibri" pitchFamily="34" charset="-122"/>
                <a:cs typeface="Calibri" pitchFamily="34" charset="-120"/>
              </a:rPr>
              <a:t>LOGS_DB_ROLE=team_&lt;team&gt;: the database itself shows a team only its own components. logs_manager is read-only.</a:t>
            </a:r>
            <a:endParaRPr lang="en-US" sz="1200" dirty="0"/>
          </a:p>
        </p:txBody>
      </p:sp>
      <p:sp>
        <p:nvSpPr>
          <p:cNvPr id="17" name="Shape 12"/>
          <p:cNvSpPr/>
          <p:nvPr/>
        </p:nvSpPr>
        <p:spPr>
          <a:xfrm>
            <a:off x="457200" y="3803904"/>
            <a:ext cx="548640" cy="548640"/>
          </a:xfrm>
          <a:prstGeom prst="ellipse">
            <a:avLst/>
          </a:prstGeom>
          <a:solidFill>
            <a:srgbClr val="7B4FD6"/>
          </a:solidFill>
          <a:ln/>
        </p:spPr>
      </p:sp>
      <p:pic>
        <p:nvPicPr>
          <p:cNvPr id="18" name="Image 3" descr="preencoded.png">    </p:cNvPr>
          <p:cNvPicPr>
            <a:picLocks noChangeAspect="1"/>
          </p:cNvPicPr>
          <p:nvPr/>
        </p:nvPicPr>
        <p:blipFill>
          <a:blip r:embed="rId4"/>
          <a:stretch>
            <a:fillRect/>
          </a:stretch>
        </p:blipFill>
        <p:spPr>
          <a:xfrm>
            <a:off x="588874" y="3935578"/>
            <a:ext cx="285293" cy="285293"/>
          </a:xfrm>
          <a:prstGeom prst="rect">
            <a:avLst/>
          </a:prstGeom>
        </p:spPr>
      </p:pic>
      <p:sp>
        <p:nvSpPr>
          <p:cNvPr id="19" name="Text 13"/>
          <p:cNvSpPr/>
          <p:nvPr/>
        </p:nvSpPr>
        <p:spPr>
          <a:xfrm>
            <a:off x="1188720" y="3730752"/>
            <a:ext cx="1463040" cy="685800"/>
          </a:xfrm>
          <a:prstGeom prst="rect">
            <a:avLst/>
          </a:prstGeom>
          <a:noFill/>
          <a:ln/>
        </p:spPr>
        <p:txBody>
          <a:bodyPr wrap="square" lIns="0" tIns="0" rIns="0" bIns="0" rtlCol="0" anchor="ctr"/>
          <a:lstStyle/>
          <a:p>
            <a:pPr indent="0" marL="0">
              <a:buNone/>
            </a:pPr>
            <a:r>
              <a:rPr lang="en-US" sz="1600" b="1" dirty="0">
                <a:solidFill>
                  <a:srgbClr val="11121D"/>
                </a:solidFill>
                <a:latin typeface="Trebuchet MS" pitchFamily="34" charset="0"/>
                <a:ea typeface="Trebuchet MS" pitchFamily="34" charset="-122"/>
                <a:cs typeface="Trebuchet MS" pitchFamily="34" charset="-120"/>
              </a:rPr>
              <a:t>Verify</a:t>
            </a:r>
            <a:endParaRPr lang="en-US" sz="1600" dirty="0"/>
          </a:p>
        </p:txBody>
      </p:sp>
      <p:sp>
        <p:nvSpPr>
          <p:cNvPr id="20" name="Text 14"/>
          <p:cNvSpPr/>
          <p:nvPr/>
        </p:nvSpPr>
        <p:spPr>
          <a:xfrm>
            <a:off x="2651760" y="3730752"/>
            <a:ext cx="6035040" cy="685800"/>
          </a:xfrm>
          <a:prstGeom prst="rect">
            <a:avLst/>
          </a:prstGeom>
          <a:noFill/>
          <a:ln/>
        </p:spPr>
        <p:txBody>
          <a:bodyPr wrap="square" lIns="0" tIns="0" rIns="0" bIns="0" rtlCol="0" anchor="ctr"/>
          <a:lstStyle/>
          <a:p>
            <a:pPr indent="0" marL="0">
              <a:buNone/>
            </a:pPr>
            <a:r>
              <a:rPr lang="en-US" sz="1200" dirty="0">
                <a:solidFill>
                  <a:srgbClr val="2A2C44"/>
                </a:solidFill>
                <a:latin typeface="Calibri" pitchFamily="34" charset="0"/>
                <a:ea typeface="Calibri" pitchFamily="34" charset="-122"/>
                <a:cs typeface="Calibri" pitchFamily="34" charset="-120"/>
              </a:rPr>
              <a:t>session_report → a local page: the answer, each number linked to its query, and Verify re-runs each step read-only.</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0" y="4773168"/>
            <a:ext cx="2743200" cy="228600"/>
          </a:xfrm>
          <a:prstGeom prst="rect">
            <a:avLst/>
          </a:prstGeom>
          <a:noFill/>
          <a:ln/>
        </p:spPr>
        <p:txBody>
          <a:bodyPr wrap="square" lIns="0" tIns="0" rIns="0" bIns="0" rtlCol="0" anchor="ctr"/>
          <a:lstStyle/>
          <a:p>
            <a:pPr algn="r" indent="0" marL="0">
              <a:buNone/>
            </a:pPr>
            <a:r>
              <a:rPr lang="en-US" sz="900" dirty="0">
                <a:solidFill>
                  <a:srgbClr val="6B7386"/>
                </a:solidFill>
                <a:latin typeface="Calibri" pitchFamily="34" charset="0"/>
                <a:ea typeface="Calibri" pitchFamily="34" charset="-122"/>
                <a:cs typeface="Calibri" pitchFamily="34" charset="-120"/>
              </a:rPr>
              <a:t>Making Sense of Logs   10</a:t>
            </a:r>
            <a:endParaRPr lang="en-US" sz="900" dirty="0"/>
          </a:p>
        </p:txBody>
      </p:sp>
      <p:sp>
        <p:nvSpPr>
          <p:cNvPr id="3" name="Text 1"/>
          <p:cNvSpPr/>
          <p:nvPr/>
        </p:nvSpPr>
        <p:spPr>
          <a:xfrm>
            <a:off x="457200" y="256032"/>
            <a:ext cx="8229600" cy="228600"/>
          </a:xfrm>
          <a:prstGeom prst="rect">
            <a:avLst/>
          </a:prstGeom>
          <a:noFill/>
          <a:ln/>
        </p:spPr>
        <p:txBody>
          <a:bodyPr wrap="square" lIns="0" tIns="0" rIns="0" bIns="0" rtlCol="0" anchor="ctr"/>
          <a:lstStyle/>
          <a:p>
            <a:pPr indent="0" marL="0">
              <a:buNone/>
            </a:pPr>
            <a:r>
              <a:rPr lang="en-US" sz="1000" b="1" spc="300" kern="0" dirty="0">
                <a:solidFill>
                  <a:srgbClr val="7B4FD6"/>
                </a:solidFill>
                <a:latin typeface="Calibri" pitchFamily="34" charset="0"/>
                <a:ea typeface="Calibri" pitchFamily="34" charset="-122"/>
                <a:cs typeface="Calibri" pitchFamily="34" charset="-120"/>
              </a:rPr>
              <a:t>RESULTS</a:t>
            </a:r>
            <a:endParaRPr lang="en-US" sz="1000" dirty="0"/>
          </a:p>
        </p:txBody>
      </p:sp>
      <p:sp>
        <p:nvSpPr>
          <p:cNvPr id="4" name="Text 2"/>
          <p:cNvSpPr/>
          <p:nvPr/>
        </p:nvSpPr>
        <p:spPr>
          <a:xfrm>
            <a:off x="457200" y="47548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Trebuchet MS" pitchFamily="34" charset="0"/>
                <a:ea typeface="Trebuchet MS" pitchFamily="34" charset="-122"/>
                <a:cs typeface="Trebuchet MS" pitchFamily="34" charset="-120"/>
              </a:rPr>
              <a:t>Measured, not claimed: 50 questions, blind judge</a:t>
            </a:r>
            <a:endParaRPr lang="en-US" sz="2800" dirty="0"/>
          </a:p>
        </p:txBody>
      </p:sp>
      <p:pic>
        <p:nvPicPr>
          <p:cNvPr id="5" name="Image 0" descr="/Users/amirali.iranmanesh/grind/making-sense-of-logs-schubki-ai-hackathon/docs/slides/img/dashboard.png">    </p:cNvPr>
          <p:cNvPicPr>
            <a:picLocks noChangeAspect="1"/>
          </p:cNvPicPr>
          <p:nvPr/>
        </p:nvPicPr>
        <p:blipFill>
          <a:blip r:embed="rId1"/>
          <a:srcRect l="0" r="0" t="0" b="0"/>
          <a:stretch/>
        </p:blipFill>
        <p:spPr>
          <a:xfrm>
            <a:off x="457200" y="1188720"/>
            <a:ext cx="4572000" cy="3383280"/>
          </a:xfrm>
          <a:prstGeom prst="rect">
            <a:avLst/>
          </a:prstGeom>
        </p:spPr>
      </p:pic>
      <p:sp>
        <p:nvSpPr>
          <p:cNvPr id="6" name="Text 3"/>
          <p:cNvSpPr/>
          <p:nvPr/>
        </p:nvSpPr>
        <p:spPr>
          <a:xfrm>
            <a:off x="5303520" y="1188720"/>
            <a:ext cx="3383280" cy="411480"/>
          </a:xfrm>
          <a:prstGeom prst="rect">
            <a:avLst/>
          </a:prstGeom>
          <a:noFill/>
          <a:ln/>
        </p:spPr>
        <p:txBody>
          <a:bodyPr wrap="square" lIns="0" tIns="0" rIns="0" bIns="0" rtlCol="0" anchor="ctr"/>
          <a:lstStyle/>
          <a:p>
            <a:pPr indent="0" marL="0">
              <a:buNone/>
            </a:pPr>
            <a:r>
              <a:rPr lang="en-US" sz="2200" b="1" dirty="0">
                <a:solidFill>
                  <a:srgbClr val="11121D"/>
                </a:solidFill>
                <a:latin typeface="Trebuchet MS" pitchFamily="34" charset="0"/>
                <a:ea typeface="Trebuchet MS" pitchFamily="34" charset="-122"/>
                <a:cs typeface="Trebuchet MS" pitchFamily="34" charset="-120"/>
              </a:rPr>
              <a:t>13 – 2</a:t>
            </a:r>
            <a:endParaRPr lang="en-US" sz="2200" dirty="0"/>
          </a:p>
        </p:txBody>
      </p:sp>
      <p:sp>
        <p:nvSpPr>
          <p:cNvPr id="7" name="Text 4"/>
          <p:cNvSpPr/>
          <p:nvPr/>
        </p:nvSpPr>
        <p:spPr>
          <a:xfrm>
            <a:off x="5303520" y="1581912"/>
            <a:ext cx="3383280" cy="384048"/>
          </a:xfrm>
          <a:prstGeom prst="rect">
            <a:avLst/>
          </a:prstGeom>
          <a:noFill/>
          <a:ln/>
        </p:spPr>
        <p:txBody>
          <a:bodyPr wrap="square" lIns="0" tIns="0" rIns="0" bIns="0" rtlCol="0" anchor="t"/>
          <a:lstStyle/>
          <a:p>
            <a:pPr indent="0" marL="0">
              <a:buNone/>
            </a:pPr>
            <a:r>
              <a:rPr lang="en-US" sz="1100" dirty="0">
                <a:solidFill>
                  <a:srgbClr val="6B7386"/>
                </a:solidFill>
                <a:latin typeface="Calibri" pitchFamily="34" charset="0"/>
                <a:ea typeface="Calibri" pitchFamily="34" charset="-122"/>
                <a:cs typeface="Calibri" pitchFamily="34" charset="-120"/>
              </a:rPr>
              <a:t>wins vs the reference design on the brief's data (BGL + OpenStack)</a:t>
            </a:r>
            <a:endParaRPr lang="en-US" sz="1100" dirty="0"/>
          </a:p>
        </p:txBody>
      </p:sp>
      <p:sp>
        <p:nvSpPr>
          <p:cNvPr id="8" name="Text 5"/>
          <p:cNvSpPr/>
          <p:nvPr/>
        </p:nvSpPr>
        <p:spPr>
          <a:xfrm>
            <a:off x="5303520" y="2039112"/>
            <a:ext cx="3383280" cy="411480"/>
          </a:xfrm>
          <a:prstGeom prst="rect">
            <a:avLst/>
          </a:prstGeom>
          <a:noFill/>
          <a:ln/>
        </p:spPr>
        <p:txBody>
          <a:bodyPr wrap="square" lIns="0" tIns="0" rIns="0" bIns="0" rtlCol="0" anchor="ctr"/>
          <a:lstStyle/>
          <a:p>
            <a:pPr indent="0" marL="0">
              <a:buNone/>
            </a:pPr>
            <a:r>
              <a:rPr lang="en-US" sz="2200" b="1" dirty="0">
                <a:solidFill>
                  <a:srgbClr val="11121D"/>
                </a:solidFill>
                <a:latin typeface="Trebuchet MS" pitchFamily="34" charset="0"/>
                <a:ea typeface="Trebuchet MS" pitchFamily="34" charset="-122"/>
                <a:cs typeface="Trebuchet MS" pitchFamily="34" charset="-120"/>
              </a:rPr>
              <a:t>53 vs 69</a:t>
            </a:r>
            <a:endParaRPr lang="en-US" sz="2200" dirty="0"/>
          </a:p>
        </p:txBody>
      </p:sp>
      <p:sp>
        <p:nvSpPr>
          <p:cNvPr id="9" name="Text 6"/>
          <p:cNvSpPr/>
          <p:nvPr/>
        </p:nvSpPr>
        <p:spPr>
          <a:xfrm>
            <a:off x="5303520" y="2432304"/>
            <a:ext cx="3383280" cy="384048"/>
          </a:xfrm>
          <a:prstGeom prst="rect">
            <a:avLst/>
          </a:prstGeom>
          <a:noFill/>
          <a:ln/>
        </p:spPr>
        <p:txBody>
          <a:bodyPr wrap="square" lIns="0" tIns="0" rIns="0" bIns="0" rtlCol="0" anchor="t"/>
          <a:lstStyle/>
          <a:p>
            <a:pPr indent="0" marL="0">
              <a:buNone/>
            </a:pPr>
            <a:r>
              <a:rPr lang="en-US" sz="1100" dirty="0">
                <a:solidFill>
                  <a:srgbClr val="6B7386"/>
                </a:solidFill>
                <a:latin typeface="Calibri" pitchFamily="34" charset="0"/>
                <a:ea typeface="Calibri" pitchFamily="34" charset="-122"/>
                <a:cs typeface="Calibri" pitchFamily="34" charset="-120"/>
              </a:rPr>
              <a:t>wrong claims over 50 answers</a:t>
            </a:r>
            <a:endParaRPr lang="en-US" sz="1100" dirty="0"/>
          </a:p>
        </p:txBody>
      </p:sp>
      <p:sp>
        <p:nvSpPr>
          <p:cNvPr id="10" name="Text 7"/>
          <p:cNvSpPr/>
          <p:nvPr/>
        </p:nvSpPr>
        <p:spPr>
          <a:xfrm>
            <a:off x="5303520" y="2889504"/>
            <a:ext cx="3383280" cy="411480"/>
          </a:xfrm>
          <a:prstGeom prst="rect">
            <a:avLst/>
          </a:prstGeom>
          <a:noFill/>
          <a:ln/>
        </p:spPr>
        <p:txBody>
          <a:bodyPr wrap="square" lIns="0" tIns="0" rIns="0" bIns="0" rtlCol="0" anchor="ctr"/>
          <a:lstStyle/>
          <a:p>
            <a:pPr indent="0" marL="0">
              <a:buNone/>
            </a:pPr>
            <a:r>
              <a:rPr lang="en-US" sz="2200" b="1" dirty="0">
                <a:solidFill>
                  <a:srgbClr val="11121D"/>
                </a:solidFill>
                <a:latin typeface="Trebuchet MS" pitchFamily="34" charset="0"/>
                <a:ea typeface="Trebuchet MS" pitchFamily="34" charset="-122"/>
                <a:cs typeface="Trebuchet MS" pitchFamily="34" charset="-120"/>
              </a:rPr>
              <a:t>1/10 → 5/10</a:t>
            </a:r>
            <a:endParaRPr lang="en-US" sz="2200" dirty="0"/>
          </a:p>
        </p:txBody>
      </p:sp>
      <p:sp>
        <p:nvSpPr>
          <p:cNvPr id="11" name="Text 8"/>
          <p:cNvSpPr/>
          <p:nvPr/>
        </p:nvSpPr>
        <p:spPr>
          <a:xfrm>
            <a:off x="5303520" y="3282696"/>
            <a:ext cx="3383280" cy="384048"/>
          </a:xfrm>
          <a:prstGeom prst="rect">
            <a:avLst/>
          </a:prstGeom>
          <a:noFill/>
          <a:ln/>
        </p:spPr>
        <p:txBody>
          <a:bodyPr wrap="square" lIns="0" tIns="0" rIns="0" bIns="0" rtlCol="0" anchor="t"/>
          <a:lstStyle/>
          <a:p>
            <a:pPr indent="0" marL="0">
              <a:buNone/>
            </a:pPr>
            <a:r>
              <a:rPr lang="en-US" sz="1100" dirty="0">
                <a:solidFill>
                  <a:srgbClr val="6B7386"/>
                </a:solidFill>
                <a:latin typeface="Calibri" pitchFamily="34" charset="0"/>
                <a:ea typeface="Calibri" pitchFamily="34" charset="-122"/>
                <a:cs typeface="Calibri" pitchFamily="34" charset="-120"/>
              </a:rPr>
              <a:t>real alerts in the top 10 once Jev judged the messages</a:t>
            </a:r>
            <a:endParaRPr lang="en-US" sz="1100" dirty="0"/>
          </a:p>
        </p:txBody>
      </p:sp>
      <p:sp>
        <p:nvSpPr>
          <p:cNvPr id="12" name="Text 9"/>
          <p:cNvSpPr/>
          <p:nvPr/>
        </p:nvSpPr>
        <p:spPr>
          <a:xfrm>
            <a:off x="5303520" y="3739896"/>
            <a:ext cx="3383280" cy="411480"/>
          </a:xfrm>
          <a:prstGeom prst="rect">
            <a:avLst/>
          </a:prstGeom>
          <a:noFill/>
          <a:ln/>
        </p:spPr>
        <p:txBody>
          <a:bodyPr wrap="square" lIns="0" tIns="0" rIns="0" bIns="0" rtlCol="0" anchor="ctr"/>
          <a:lstStyle/>
          <a:p>
            <a:pPr indent="0" marL="0">
              <a:buNone/>
            </a:pPr>
            <a:r>
              <a:rPr lang="en-US" sz="2200" b="1" dirty="0">
                <a:solidFill>
                  <a:srgbClr val="EB6834"/>
                </a:solidFill>
                <a:latin typeface="Trebuchet MS" pitchFamily="34" charset="0"/>
                <a:ea typeface="Trebuchet MS" pitchFamily="34" charset="-122"/>
                <a:cs typeface="Trebuchet MS" pitchFamily="34" charset="-120"/>
              </a:rPr>
              <a:t>44 s vs 22 s</a:t>
            </a:r>
            <a:endParaRPr lang="en-US" sz="2200" dirty="0"/>
          </a:p>
        </p:txBody>
      </p:sp>
      <p:sp>
        <p:nvSpPr>
          <p:cNvPr id="13" name="Text 10"/>
          <p:cNvSpPr/>
          <p:nvPr/>
        </p:nvSpPr>
        <p:spPr>
          <a:xfrm>
            <a:off x="5303520" y="4133088"/>
            <a:ext cx="3383280" cy="384048"/>
          </a:xfrm>
          <a:prstGeom prst="rect">
            <a:avLst/>
          </a:prstGeom>
          <a:noFill/>
          <a:ln/>
        </p:spPr>
        <p:txBody>
          <a:bodyPr wrap="square" lIns="0" tIns="0" rIns="0" bIns="0" rtlCol="0" anchor="t"/>
          <a:lstStyle/>
          <a:p>
            <a:pPr indent="0" marL="0">
              <a:buNone/>
            </a:pPr>
            <a:r>
              <a:rPr lang="en-US" sz="1100" dirty="0">
                <a:solidFill>
                  <a:srgbClr val="6B7386"/>
                </a:solidFill>
                <a:latin typeface="Calibri" pitchFamily="34" charset="0"/>
                <a:ea typeface="Calibri" pitchFamily="34" charset="-122"/>
                <a:cs typeface="Calibri" pitchFamily="34" charset="-120"/>
              </a:rPr>
              <a:t>our cost: slower, almost all of it AI time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21D"/>
        </a:solidFill>
      </p:bgPr>
    </p:bg>
    <p:spTree>
      <p:nvGrpSpPr>
        <p:cNvPr id="1" name=""/>
        <p:cNvGrpSpPr/>
        <p:nvPr/>
      </p:nvGrpSpPr>
      <p:grpSpPr>
        <a:xfrm>
          <a:off x="0" y="0"/>
          <a:ext cx="0" cy="0"/>
          <a:chOff x="0" y="0"/>
          <a:chExt cx="0" cy="0"/>
        </a:xfrm>
      </p:grpSpPr>
      <p:sp>
        <p:nvSpPr>
          <p:cNvPr id="2" name="Text 0"/>
          <p:cNvSpPr/>
          <p:nvPr/>
        </p:nvSpPr>
        <p:spPr>
          <a:xfrm>
            <a:off x="5943600" y="4773168"/>
            <a:ext cx="2743200" cy="228600"/>
          </a:xfrm>
          <a:prstGeom prst="rect">
            <a:avLst/>
          </a:prstGeom>
          <a:noFill/>
          <a:ln/>
        </p:spPr>
        <p:txBody>
          <a:bodyPr wrap="square" lIns="0" tIns="0" rIns="0" bIns="0" rtlCol="0" anchor="ctr"/>
          <a:lstStyle/>
          <a:p>
            <a:pPr algn="r" indent="0" marL="0">
              <a:buNone/>
            </a:pPr>
            <a:r>
              <a:rPr lang="en-US" sz="900" dirty="0">
                <a:solidFill>
                  <a:srgbClr val="8B90A6"/>
                </a:solidFill>
                <a:latin typeface="Calibri" pitchFamily="34" charset="0"/>
                <a:ea typeface="Calibri" pitchFamily="34" charset="-122"/>
                <a:cs typeface="Calibri" pitchFamily="34" charset="-120"/>
              </a:rPr>
              <a:t>Making Sense of Logs   11</a:t>
            </a:r>
            <a:endParaRPr lang="en-US" sz="900" dirty="0"/>
          </a:p>
        </p:txBody>
      </p:sp>
      <p:sp>
        <p:nvSpPr>
          <p:cNvPr id="3" name="Text 1"/>
          <p:cNvSpPr/>
          <p:nvPr/>
        </p:nvSpPr>
        <p:spPr>
          <a:xfrm>
            <a:off x="457200" y="256032"/>
            <a:ext cx="8229600" cy="228600"/>
          </a:xfrm>
          <a:prstGeom prst="rect">
            <a:avLst/>
          </a:prstGeom>
          <a:noFill/>
          <a:ln/>
        </p:spPr>
        <p:txBody>
          <a:bodyPr wrap="square" lIns="0" tIns="0" rIns="0" bIns="0" rtlCol="0" anchor="ctr"/>
          <a:lstStyle/>
          <a:p>
            <a:pPr indent="0" marL="0">
              <a:buNone/>
            </a:pPr>
            <a:r>
              <a:rPr lang="en-US" sz="1000" b="1" spc="300" kern="0" dirty="0">
                <a:solidFill>
                  <a:srgbClr val="C9B8F5"/>
                </a:solidFill>
                <a:latin typeface="Calibri" pitchFamily="34" charset="0"/>
                <a:ea typeface="Calibri" pitchFamily="34" charset="-122"/>
                <a:cs typeface="Calibri" pitchFamily="34" charset="-120"/>
              </a:rPr>
              <a:t>WOW</a:t>
            </a:r>
            <a:endParaRPr lang="en-US" sz="1000" dirty="0"/>
          </a:p>
        </p:txBody>
      </p:sp>
      <p:sp>
        <p:nvSpPr>
          <p:cNvPr id="4" name="Text 2"/>
          <p:cNvSpPr/>
          <p:nvPr/>
        </p:nvSpPr>
        <p:spPr>
          <a:xfrm>
            <a:off x="457200" y="475488"/>
            <a:ext cx="8229600" cy="594360"/>
          </a:xfrm>
          <a:prstGeom prst="rect">
            <a:avLst/>
          </a:prstGeom>
          <a:noFill/>
          <a:ln/>
        </p:spPr>
        <p:txBody>
          <a:bodyPr wrap="square" lIns="0" tIns="0" rIns="0" bIns="0"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Beyond what the brief asked for</a:t>
            </a:r>
            <a:endParaRPr lang="en-US" sz="2800" dirty="0"/>
          </a:p>
        </p:txBody>
      </p:sp>
      <p:sp>
        <p:nvSpPr>
          <p:cNvPr id="5" name="Shape 3"/>
          <p:cNvSpPr/>
          <p:nvPr/>
        </p:nvSpPr>
        <p:spPr>
          <a:xfrm>
            <a:off x="457200" y="1280160"/>
            <a:ext cx="2606040" cy="1463040"/>
          </a:xfrm>
          <a:prstGeom prst="rect">
            <a:avLst/>
          </a:prstGeom>
          <a:solidFill>
            <a:srgbClr val="2A2C44"/>
          </a:solidFill>
          <a:ln/>
        </p:spPr>
      </p:sp>
      <p:sp>
        <p:nvSpPr>
          <p:cNvPr id="6" name="Shape 4"/>
          <p:cNvSpPr/>
          <p:nvPr/>
        </p:nvSpPr>
        <p:spPr>
          <a:xfrm>
            <a:off x="640080" y="1463040"/>
            <a:ext cx="457200" cy="457200"/>
          </a:xfrm>
          <a:prstGeom prst="ellipse">
            <a:avLst/>
          </a:prstGeom>
          <a:solidFill>
            <a:srgbClr val="7B4FD6"/>
          </a:solidFill>
          <a:ln/>
        </p:spPr>
      </p:sp>
      <p:pic>
        <p:nvPicPr>
          <p:cNvPr id="7" name="Image 0" descr="preencoded.png">    </p:cNvPr>
          <p:cNvPicPr>
            <a:picLocks noChangeAspect="1"/>
          </p:cNvPicPr>
          <p:nvPr/>
        </p:nvPicPr>
        <p:blipFill>
          <a:blip r:embed="rId1"/>
          <a:stretch>
            <a:fillRect/>
          </a:stretch>
        </p:blipFill>
        <p:spPr>
          <a:xfrm>
            <a:off x="749808" y="1572768"/>
            <a:ext cx="237744" cy="237744"/>
          </a:xfrm>
          <a:prstGeom prst="rect">
            <a:avLst/>
          </a:prstGeom>
        </p:spPr>
      </p:pic>
      <p:sp>
        <p:nvSpPr>
          <p:cNvPr id="8" name="Text 5"/>
          <p:cNvSpPr/>
          <p:nvPr/>
        </p:nvSpPr>
        <p:spPr>
          <a:xfrm>
            <a:off x="640080" y="2011680"/>
            <a:ext cx="2286000" cy="274320"/>
          </a:xfrm>
          <a:prstGeom prst="rect">
            <a:avLst/>
          </a:prstGeom>
          <a:noFill/>
          <a:ln/>
        </p:spPr>
        <p:txBody>
          <a:bodyPr wrap="square" lIns="0" tIns="0" rIns="0" bIns="0" rtlCol="0" anchor="ctr"/>
          <a:lstStyle/>
          <a:p>
            <a:pPr indent="0" marL="0">
              <a:buNone/>
            </a:pPr>
            <a:r>
              <a:rPr lang="en-US" sz="1300" b="1" dirty="0">
                <a:solidFill>
                  <a:srgbClr val="FFFFFF"/>
                </a:solidFill>
                <a:latin typeface="Trebuchet MS" pitchFamily="34" charset="0"/>
                <a:ea typeface="Trebuchet MS" pitchFamily="34" charset="-122"/>
                <a:cs typeface="Trebuchet MS" pitchFamily="34" charset="-120"/>
              </a:rPr>
              <a:t>Bring your own logs</a:t>
            </a:r>
            <a:endParaRPr lang="en-US" sz="1300" dirty="0"/>
          </a:p>
        </p:txBody>
      </p:sp>
      <p:sp>
        <p:nvSpPr>
          <p:cNvPr id="9" name="Text 6"/>
          <p:cNvSpPr/>
          <p:nvPr/>
        </p:nvSpPr>
        <p:spPr>
          <a:xfrm>
            <a:off x="640080" y="2286000"/>
            <a:ext cx="2286000" cy="411480"/>
          </a:xfrm>
          <a:prstGeom prst="rect">
            <a:avLst/>
          </a:prstGeom>
          <a:noFill/>
          <a:ln/>
        </p:spPr>
        <p:txBody>
          <a:bodyPr wrap="square" lIns="0" tIns="0" rIns="0" bIns="0" rtlCol="0" anchor="t"/>
          <a:lstStyle/>
          <a:p>
            <a:pPr indent="0" marL="0">
              <a:buNone/>
            </a:pPr>
            <a:r>
              <a:rPr lang="en-US" sz="1050" dirty="0">
                <a:solidFill>
                  <a:srgbClr val="D5D8E5"/>
                </a:solidFill>
                <a:latin typeface="Calibri" pitchFamily="34" charset="0"/>
                <a:ea typeface="Calibri" pitchFamily="34" charset="-122"/>
                <a:cs typeface="Calibri" pitchFamily="34" charset="-120"/>
              </a:rPr>
              <a:t>Any file, format detected, loaded in seconds (21 k lines: 1.6 s)</a:t>
            </a:r>
            <a:endParaRPr lang="en-US" sz="1050" dirty="0"/>
          </a:p>
        </p:txBody>
      </p:sp>
      <p:sp>
        <p:nvSpPr>
          <p:cNvPr id="10" name="Shape 7"/>
          <p:cNvSpPr/>
          <p:nvPr/>
        </p:nvSpPr>
        <p:spPr>
          <a:xfrm>
            <a:off x="3246120" y="1280160"/>
            <a:ext cx="2606040" cy="1463040"/>
          </a:xfrm>
          <a:prstGeom prst="rect">
            <a:avLst/>
          </a:prstGeom>
          <a:solidFill>
            <a:srgbClr val="2A2C44"/>
          </a:solidFill>
          <a:ln/>
        </p:spPr>
      </p:sp>
      <p:sp>
        <p:nvSpPr>
          <p:cNvPr id="11" name="Shape 8"/>
          <p:cNvSpPr/>
          <p:nvPr/>
        </p:nvSpPr>
        <p:spPr>
          <a:xfrm>
            <a:off x="3429000" y="1463040"/>
            <a:ext cx="457200" cy="457200"/>
          </a:xfrm>
          <a:prstGeom prst="ellipse">
            <a:avLst/>
          </a:prstGeom>
          <a:solidFill>
            <a:srgbClr val="7B4FD6"/>
          </a:solidFill>
          <a:ln/>
        </p:spPr>
      </p:sp>
      <p:pic>
        <p:nvPicPr>
          <p:cNvPr id="12" name="Image 1" descr="preencoded.png">    </p:cNvPr>
          <p:cNvPicPr>
            <a:picLocks noChangeAspect="1"/>
          </p:cNvPicPr>
          <p:nvPr/>
        </p:nvPicPr>
        <p:blipFill>
          <a:blip r:embed="rId2"/>
          <a:stretch>
            <a:fillRect/>
          </a:stretch>
        </p:blipFill>
        <p:spPr>
          <a:xfrm>
            <a:off x="3538728" y="1572768"/>
            <a:ext cx="237744" cy="237744"/>
          </a:xfrm>
          <a:prstGeom prst="rect">
            <a:avLst/>
          </a:prstGeom>
        </p:spPr>
      </p:pic>
      <p:sp>
        <p:nvSpPr>
          <p:cNvPr id="13" name="Text 9"/>
          <p:cNvSpPr/>
          <p:nvPr/>
        </p:nvSpPr>
        <p:spPr>
          <a:xfrm>
            <a:off x="3429000" y="2011680"/>
            <a:ext cx="2286000" cy="274320"/>
          </a:xfrm>
          <a:prstGeom prst="rect">
            <a:avLst/>
          </a:prstGeom>
          <a:noFill/>
          <a:ln/>
        </p:spPr>
        <p:txBody>
          <a:bodyPr wrap="square" lIns="0" tIns="0" rIns="0" bIns="0" rtlCol="0" anchor="ctr"/>
          <a:lstStyle/>
          <a:p>
            <a:pPr indent="0" marL="0">
              <a:buNone/>
            </a:pPr>
            <a:r>
              <a:rPr lang="en-US" sz="1300" b="1" dirty="0">
                <a:solidFill>
                  <a:srgbClr val="FFFFFF"/>
                </a:solidFill>
                <a:latin typeface="Trebuchet MS" pitchFamily="34" charset="0"/>
                <a:ea typeface="Trebuchet MS" pitchFamily="34" charset="-122"/>
                <a:cs typeface="Trebuchet MS" pitchFamily="34" charset="-120"/>
              </a:rPr>
              <a:t>Verify button</a:t>
            </a:r>
            <a:endParaRPr lang="en-US" sz="1300" dirty="0"/>
          </a:p>
        </p:txBody>
      </p:sp>
      <p:sp>
        <p:nvSpPr>
          <p:cNvPr id="14" name="Text 10"/>
          <p:cNvSpPr/>
          <p:nvPr/>
        </p:nvSpPr>
        <p:spPr>
          <a:xfrm>
            <a:off x="3429000" y="2286000"/>
            <a:ext cx="2286000" cy="411480"/>
          </a:xfrm>
          <a:prstGeom prst="rect">
            <a:avLst/>
          </a:prstGeom>
          <a:noFill/>
          <a:ln/>
        </p:spPr>
        <p:txBody>
          <a:bodyPr wrap="square" lIns="0" tIns="0" rIns="0" bIns="0" rtlCol="0" anchor="t"/>
          <a:lstStyle/>
          <a:p>
            <a:pPr indent="0" marL="0">
              <a:buNone/>
            </a:pPr>
            <a:r>
              <a:rPr lang="en-US" sz="1050" dirty="0">
                <a:solidFill>
                  <a:srgbClr val="D5D8E5"/>
                </a:solidFill>
                <a:latin typeface="Calibri" pitchFamily="34" charset="0"/>
                <a:ea typeface="Calibri" pitchFamily="34" charset="-122"/>
                <a:cs typeface="Calibri" pitchFamily="34" charset="-120"/>
              </a:rPr>
              <a:t>Re-runs the query behind every number</a:t>
            </a:r>
            <a:endParaRPr lang="en-US" sz="1050" dirty="0"/>
          </a:p>
        </p:txBody>
      </p:sp>
      <p:sp>
        <p:nvSpPr>
          <p:cNvPr id="15" name="Shape 11"/>
          <p:cNvSpPr/>
          <p:nvPr/>
        </p:nvSpPr>
        <p:spPr>
          <a:xfrm>
            <a:off x="6035040" y="1280160"/>
            <a:ext cx="2606040" cy="1463040"/>
          </a:xfrm>
          <a:prstGeom prst="rect">
            <a:avLst/>
          </a:prstGeom>
          <a:solidFill>
            <a:srgbClr val="2A2C44"/>
          </a:solidFill>
          <a:ln/>
        </p:spPr>
      </p:sp>
      <p:sp>
        <p:nvSpPr>
          <p:cNvPr id="16" name="Shape 12"/>
          <p:cNvSpPr/>
          <p:nvPr/>
        </p:nvSpPr>
        <p:spPr>
          <a:xfrm>
            <a:off x="6217920" y="1463040"/>
            <a:ext cx="457200" cy="457200"/>
          </a:xfrm>
          <a:prstGeom prst="ellipse">
            <a:avLst/>
          </a:prstGeom>
          <a:solidFill>
            <a:srgbClr val="7B4FD6"/>
          </a:solidFill>
          <a:ln/>
        </p:spPr>
      </p:sp>
      <p:pic>
        <p:nvPicPr>
          <p:cNvPr id="17" name="Image 2" descr="preencoded.png">    </p:cNvPr>
          <p:cNvPicPr>
            <a:picLocks noChangeAspect="1"/>
          </p:cNvPicPr>
          <p:nvPr/>
        </p:nvPicPr>
        <p:blipFill>
          <a:blip r:embed="rId3"/>
          <a:stretch>
            <a:fillRect/>
          </a:stretch>
        </p:blipFill>
        <p:spPr>
          <a:xfrm>
            <a:off x="6327648" y="1572768"/>
            <a:ext cx="237744" cy="237744"/>
          </a:xfrm>
          <a:prstGeom prst="rect">
            <a:avLst/>
          </a:prstGeom>
        </p:spPr>
      </p:pic>
      <p:sp>
        <p:nvSpPr>
          <p:cNvPr id="18" name="Text 13"/>
          <p:cNvSpPr/>
          <p:nvPr/>
        </p:nvSpPr>
        <p:spPr>
          <a:xfrm>
            <a:off x="6217920" y="2011680"/>
            <a:ext cx="2286000" cy="274320"/>
          </a:xfrm>
          <a:prstGeom prst="rect">
            <a:avLst/>
          </a:prstGeom>
          <a:noFill/>
          <a:ln/>
        </p:spPr>
        <p:txBody>
          <a:bodyPr wrap="square" lIns="0" tIns="0" rIns="0" bIns="0" rtlCol="0" anchor="ctr"/>
          <a:lstStyle/>
          <a:p>
            <a:pPr indent="0" marL="0">
              <a:buNone/>
            </a:pPr>
            <a:r>
              <a:rPr lang="en-US" sz="1300" b="1" dirty="0">
                <a:solidFill>
                  <a:srgbClr val="FFFFFF"/>
                </a:solidFill>
                <a:latin typeface="Trebuchet MS" pitchFamily="34" charset="0"/>
                <a:ea typeface="Trebuchet MS" pitchFamily="34" charset="-122"/>
                <a:cs typeface="Trebuchet MS" pitchFamily="34" charset="-120"/>
              </a:rPr>
              <a:t>AI judgments, computed once</a:t>
            </a:r>
            <a:endParaRPr lang="en-US" sz="1300" dirty="0"/>
          </a:p>
        </p:txBody>
      </p:sp>
      <p:sp>
        <p:nvSpPr>
          <p:cNvPr id="19" name="Text 14"/>
          <p:cNvSpPr/>
          <p:nvPr/>
        </p:nvSpPr>
        <p:spPr>
          <a:xfrm>
            <a:off x="6217920" y="2286000"/>
            <a:ext cx="2286000" cy="411480"/>
          </a:xfrm>
          <a:prstGeom prst="rect">
            <a:avLst/>
          </a:prstGeom>
          <a:noFill/>
          <a:ln/>
        </p:spPr>
        <p:txBody>
          <a:bodyPr wrap="square" lIns="0" tIns="0" rIns="0" bIns="0" rtlCol="0" anchor="t"/>
          <a:lstStyle/>
          <a:p>
            <a:pPr indent="0" marL="0">
              <a:buNone/>
            </a:pPr>
            <a:r>
              <a:rPr lang="en-US" sz="1050" dirty="0">
                <a:solidFill>
                  <a:srgbClr val="D5D8E5"/>
                </a:solidFill>
                <a:latin typeface="Calibri" pitchFamily="34" charset="0"/>
                <a:ea typeface="Calibri" pitchFamily="34" charset="-122"/>
                <a:cs typeface="Calibri" pitchFamily="34" charset="-120"/>
              </a:rPr>
              <a:t>Jev labels each kind of message; nothing re-reads raw lines</a:t>
            </a:r>
            <a:endParaRPr lang="en-US" sz="1050" dirty="0"/>
          </a:p>
        </p:txBody>
      </p:sp>
      <p:sp>
        <p:nvSpPr>
          <p:cNvPr id="20" name="Shape 15"/>
          <p:cNvSpPr/>
          <p:nvPr/>
        </p:nvSpPr>
        <p:spPr>
          <a:xfrm>
            <a:off x="457200" y="2926080"/>
            <a:ext cx="2606040" cy="1463040"/>
          </a:xfrm>
          <a:prstGeom prst="rect">
            <a:avLst/>
          </a:prstGeom>
          <a:solidFill>
            <a:srgbClr val="2A2C44"/>
          </a:solidFill>
          <a:ln/>
        </p:spPr>
      </p:sp>
      <p:sp>
        <p:nvSpPr>
          <p:cNvPr id="21" name="Shape 16"/>
          <p:cNvSpPr/>
          <p:nvPr/>
        </p:nvSpPr>
        <p:spPr>
          <a:xfrm>
            <a:off x="640080" y="3108960"/>
            <a:ext cx="457200" cy="457200"/>
          </a:xfrm>
          <a:prstGeom prst="ellipse">
            <a:avLst/>
          </a:prstGeom>
          <a:solidFill>
            <a:srgbClr val="7B4FD6"/>
          </a:solidFill>
          <a:ln/>
        </p:spPr>
      </p:sp>
      <p:pic>
        <p:nvPicPr>
          <p:cNvPr id="22" name="Image 3" descr="preencoded.png">    </p:cNvPr>
          <p:cNvPicPr>
            <a:picLocks noChangeAspect="1"/>
          </p:cNvPicPr>
          <p:nvPr/>
        </p:nvPicPr>
        <p:blipFill>
          <a:blip r:embed="rId4"/>
          <a:stretch>
            <a:fillRect/>
          </a:stretch>
        </p:blipFill>
        <p:spPr>
          <a:xfrm>
            <a:off x="749808" y="3218688"/>
            <a:ext cx="237744" cy="237744"/>
          </a:xfrm>
          <a:prstGeom prst="rect">
            <a:avLst/>
          </a:prstGeom>
        </p:spPr>
      </p:pic>
      <p:sp>
        <p:nvSpPr>
          <p:cNvPr id="23" name="Text 17"/>
          <p:cNvSpPr/>
          <p:nvPr/>
        </p:nvSpPr>
        <p:spPr>
          <a:xfrm>
            <a:off x="640080" y="3657600"/>
            <a:ext cx="2286000" cy="274320"/>
          </a:xfrm>
          <a:prstGeom prst="rect">
            <a:avLst/>
          </a:prstGeom>
          <a:noFill/>
          <a:ln/>
        </p:spPr>
        <p:txBody>
          <a:bodyPr wrap="square" lIns="0" tIns="0" rIns="0" bIns="0" rtlCol="0" anchor="ctr"/>
          <a:lstStyle/>
          <a:p>
            <a:pPr indent="0" marL="0">
              <a:buNone/>
            </a:pPr>
            <a:r>
              <a:rPr lang="en-US" sz="1300" b="1" dirty="0">
                <a:solidFill>
                  <a:srgbClr val="FFFFFF"/>
                </a:solidFill>
                <a:latin typeface="Trebuchet MS" pitchFamily="34" charset="0"/>
                <a:ea typeface="Trebuchet MS" pitchFamily="34" charset="-122"/>
                <a:cs typeface="Trebuchet MS" pitchFamily="34" charset="-120"/>
              </a:rPr>
              <a:t>1 billion remote rows</a:t>
            </a:r>
            <a:endParaRPr lang="en-US" sz="1300" dirty="0"/>
          </a:p>
        </p:txBody>
      </p:sp>
      <p:sp>
        <p:nvSpPr>
          <p:cNvPr id="24" name="Text 18"/>
          <p:cNvSpPr/>
          <p:nvPr/>
        </p:nvSpPr>
        <p:spPr>
          <a:xfrm>
            <a:off x="640080" y="3931920"/>
            <a:ext cx="2286000" cy="411480"/>
          </a:xfrm>
          <a:prstGeom prst="rect">
            <a:avLst/>
          </a:prstGeom>
          <a:noFill/>
          <a:ln/>
        </p:spPr>
        <p:txBody>
          <a:bodyPr wrap="square" lIns="0" tIns="0" rIns="0" bIns="0" rtlCol="0" anchor="t"/>
          <a:lstStyle/>
          <a:p>
            <a:pPr indent="0" marL="0">
              <a:buNone/>
            </a:pPr>
            <a:r>
              <a:rPr lang="en-US" sz="1050" dirty="0">
                <a:solidFill>
                  <a:srgbClr val="D5D8E5"/>
                </a:solidFill>
                <a:latin typeface="Calibri" pitchFamily="34" charset="0"/>
                <a:ea typeface="Calibri" pitchFamily="34" charset="-122"/>
                <a:cs typeface="Calibri" pitchFamily="34" charset="-120"/>
              </a:rPr>
              <a:t>Queried in place on S3, no download</a:t>
            </a:r>
            <a:endParaRPr lang="en-US" sz="1050" dirty="0"/>
          </a:p>
        </p:txBody>
      </p:sp>
      <p:sp>
        <p:nvSpPr>
          <p:cNvPr id="25" name="Shape 19"/>
          <p:cNvSpPr/>
          <p:nvPr/>
        </p:nvSpPr>
        <p:spPr>
          <a:xfrm>
            <a:off x="3246120" y="2926080"/>
            <a:ext cx="2606040" cy="1463040"/>
          </a:xfrm>
          <a:prstGeom prst="rect">
            <a:avLst/>
          </a:prstGeom>
          <a:solidFill>
            <a:srgbClr val="2A2C44"/>
          </a:solidFill>
          <a:ln/>
        </p:spPr>
      </p:sp>
      <p:sp>
        <p:nvSpPr>
          <p:cNvPr id="26" name="Shape 20"/>
          <p:cNvSpPr/>
          <p:nvPr/>
        </p:nvSpPr>
        <p:spPr>
          <a:xfrm>
            <a:off x="3429000" y="3108960"/>
            <a:ext cx="457200" cy="457200"/>
          </a:xfrm>
          <a:prstGeom prst="ellipse">
            <a:avLst/>
          </a:prstGeom>
          <a:solidFill>
            <a:srgbClr val="7B4FD6"/>
          </a:solidFill>
          <a:ln/>
        </p:spPr>
      </p:sp>
      <p:pic>
        <p:nvPicPr>
          <p:cNvPr id="27" name="Image 4" descr="preencoded.png">    </p:cNvPr>
          <p:cNvPicPr>
            <a:picLocks noChangeAspect="1"/>
          </p:cNvPicPr>
          <p:nvPr/>
        </p:nvPicPr>
        <p:blipFill>
          <a:blip r:embed="rId5"/>
          <a:stretch>
            <a:fillRect/>
          </a:stretch>
        </p:blipFill>
        <p:spPr>
          <a:xfrm>
            <a:off x="3538728" y="3218688"/>
            <a:ext cx="237744" cy="237744"/>
          </a:xfrm>
          <a:prstGeom prst="rect">
            <a:avLst/>
          </a:prstGeom>
        </p:spPr>
      </p:pic>
      <p:sp>
        <p:nvSpPr>
          <p:cNvPr id="28" name="Text 21"/>
          <p:cNvSpPr/>
          <p:nvPr/>
        </p:nvSpPr>
        <p:spPr>
          <a:xfrm>
            <a:off x="3429000" y="3657600"/>
            <a:ext cx="2286000" cy="274320"/>
          </a:xfrm>
          <a:prstGeom prst="rect">
            <a:avLst/>
          </a:prstGeom>
          <a:noFill/>
          <a:ln/>
        </p:spPr>
        <p:txBody>
          <a:bodyPr wrap="square" lIns="0" tIns="0" rIns="0" bIns="0" rtlCol="0" anchor="ctr"/>
          <a:lstStyle/>
          <a:p>
            <a:pPr indent="0" marL="0">
              <a:buNone/>
            </a:pPr>
            <a:r>
              <a:rPr lang="en-US" sz="1300" b="1" dirty="0">
                <a:solidFill>
                  <a:srgbClr val="FFFFFF"/>
                </a:solidFill>
                <a:latin typeface="Trebuchet MS" pitchFamily="34" charset="0"/>
                <a:ea typeface="Trebuchet MS" pitchFamily="34" charset="-122"/>
                <a:cs typeface="Trebuchet MS" pitchFamily="34" charset="-120"/>
              </a:rPr>
              <a:t>Per-team access</a:t>
            </a:r>
            <a:endParaRPr lang="en-US" sz="1300" dirty="0"/>
          </a:p>
        </p:txBody>
      </p:sp>
      <p:sp>
        <p:nvSpPr>
          <p:cNvPr id="29" name="Text 22"/>
          <p:cNvSpPr/>
          <p:nvPr/>
        </p:nvSpPr>
        <p:spPr>
          <a:xfrm>
            <a:off x="3429000" y="3931920"/>
            <a:ext cx="2286000" cy="411480"/>
          </a:xfrm>
          <a:prstGeom prst="rect">
            <a:avLst/>
          </a:prstGeom>
          <a:noFill/>
          <a:ln/>
        </p:spPr>
        <p:txBody>
          <a:bodyPr wrap="square" lIns="0" tIns="0" rIns="0" bIns="0" rtlCol="0" anchor="t"/>
          <a:lstStyle/>
          <a:p>
            <a:pPr indent="0" marL="0">
              <a:buNone/>
            </a:pPr>
            <a:r>
              <a:rPr lang="en-US" sz="1050" dirty="0">
                <a:solidFill>
                  <a:srgbClr val="D5D8E5"/>
                </a:solidFill>
                <a:latin typeface="Calibri" pitchFamily="34" charset="0"/>
                <a:ea typeface="Calibri" pitchFamily="34" charset="-122"/>
                <a:cs typeface="Calibri" pitchFamily="34" charset="-120"/>
              </a:rPr>
              <a:t>Enforced by the database, not the prompt</a:t>
            </a:r>
            <a:endParaRPr lang="en-US" sz="1050" dirty="0"/>
          </a:p>
        </p:txBody>
      </p:sp>
      <p:sp>
        <p:nvSpPr>
          <p:cNvPr id="30" name="Shape 23"/>
          <p:cNvSpPr/>
          <p:nvPr/>
        </p:nvSpPr>
        <p:spPr>
          <a:xfrm>
            <a:off x="6035040" y="2926080"/>
            <a:ext cx="2606040" cy="1463040"/>
          </a:xfrm>
          <a:prstGeom prst="rect">
            <a:avLst/>
          </a:prstGeom>
          <a:solidFill>
            <a:srgbClr val="2A2C44"/>
          </a:solidFill>
          <a:ln/>
        </p:spPr>
      </p:sp>
      <p:sp>
        <p:nvSpPr>
          <p:cNvPr id="31" name="Shape 24"/>
          <p:cNvSpPr/>
          <p:nvPr/>
        </p:nvSpPr>
        <p:spPr>
          <a:xfrm>
            <a:off x="6217920" y="3108960"/>
            <a:ext cx="457200" cy="457200"/>
          </a:xfrm>
          <a:prstGeom prst="ellipse">
            <a:avLst/>
          </a:prstGeom>
          <a:solidFill>
            <a:srgbClr val="7B4FD6"/>
          </a:solidFill>
          <a:ln/>
        </p:spPr>
      </p:sp>
      <p:pic>
        <p:nvPicPr>
          <p:cNvPr id="32" name="Image 5" descr="preencoded.png">    </p:cNvPr>
          <p:cNvPicPr>
            <a:picLocks noChangeAspect="1"/>
          </p:cNvPicPr>
          <p:nvPr/>
        </p:nvPicPr>
        <p:blipFill>
          <a:blip r:embed="rId6"/>
          <a:stretch>
            <a:fillRect/>
          </a:stretch>
        </p:blipFill>
        <p:spPr>
          <a:xfrm>
            <a:off x="6327648" y="3218688"/>
            <a:ext cx="237744" cy="237744"/>
          </a:xfrm>
          <a:prstGeom prst="rect">
            <a:avLst/>
          </a:prstGeom>
        </p:spPr>
      </p:pic>
      <p:sp>
        <p:nvSpPr>
          <p:cNvPr id="33" name="Text 25"/>
          <p:cNvSpPr/>
          <p:nvPr/>
        </p:nvSpPr>
        <p:spPr>
          <a:xfrm>
            <a:off x="6217920" y="3657600"/>
            <a:ext cx="2286000" cy="274320"/>
          </a:xfrm>
          <a:prstGeom prst="rect">
            <a:avLst/>
          </a:prstGeom>
          <a:noFill/>
          <a:ln/>
        </p:spPr>
        <p:txBody>
          <a:bodyPr wrap="square" lIns="0" tIns="0" rIns="0" bIns="0" rtlCol="0" anchor="ctr"/>
          <a:lstStyle/>
          <a:p>
            <a:pPr indent="0" marL="0">
              <a:buNone/>
            </a:pPr>
            <a:r>
              <a:rPr lang="en-US" sz="1300" b="1" dirty="0">
                <a:solidFill>
                  <a:srgbClr val="FFFFFF"/>
                </a:solidFill>
                <a:latin typeface="Trebuchet MS" pitchFamily="34" charset="0"/>
                <a:ea typeface="Trebuchet MS" pitchFamily="34" charset="-122"/>
                <a:cs typeface="Trebuchet MS" pitchFamily="34" charset="-120"/>
              </a:rPr>
              <a:t>Our own blind eval</a:t>
            </a:r>
            <a:endParaRPr lang="en-US" sz="1300" dirty="0"/>
          </a:p>
        </p:txBody>
      </p:sp>
      <p:sp>
        <p:nvSpPr>
          <p:cNvPr id="34" name="Text 26"/>
          <p:cNvSpPr/>
          <p:nvPr/>
        </p:nvSpPr>
        <p:spPr>
          <a:xfrm>
            <a:off x="6217920" y="3931920"/>
            <a:ext cx="2286000" cy="411480"/>
          </a:xfrm>
          <a:prstGeom prst="rect">
            <a:avLst/>
          </a:prstGeom>
          <a:noFill/>
          <a:ln/>
        </p:spPr>
        <p:txBody>
          <a:bodyPr wrap="square" lIns="0" tIns="0" rIns="0" bIns="0" rtlCol="0" anchor="t"/>
          <a:lstStyle/>
          <a:p>
            <a:pPr indent="0" marL="0">
              <a:buNone/>
            </a:pPr>
            <a:r>
              <a:rPr lang="en-US" sz="1050" dirty="0">
                <a:solidFill>
                  <a:srgbClr val="D5D8E5"/>
                </a:solidFill>
                <a:latin typeface="Calibri" pitchFamily="34" charset="0"/>
                <a:ea typeface="Calibri" pitchFamily="34" charset="-122"/>
                <a:cs typeface="Calibri" pitchFamily="34" charset="-120"/>
              </a:rPr>
              <a:t>50 answer keys, built from raw SQL and labels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0" y="4773168"/>
            <a:ext cx="2743200" cy="228600"/>
          </a:xfrm>
          <a:prstGeom prst="rect">
            <a:avLst/>
          </a:prstGeom>
          <a:noFill/>
          <a:ln/>
        </p:spPr>
        <p:txBody>
          <a:bodyPr wrap="square" lIns="0" tIns="0" rIns="0" bIns="0" rtlCol="0" anchor="ctr"/>
          <a:lstStyle/>
          <a:p>
            <a:pPr algn="r" indent="0" marL="0">
              <a:buNone/>
            </a:pPr>
            <a:r>
              <a:rPr lang="en-US" sz="900" dirty="0">
                <a:solidFill>
                  <a:srgbClr val="6B7386"/>
                </a:solidFill>
                <a:latin typeface="Calibri" pitchFamily="34" charset="0"/>
                <a:ea typeface="Calibri" pitchFamily="34" charset="-122"/>
                <a:cs typeface="Calibri" pitchFamily="34" charset="-120"/>
              </a:rPr>
              <a:t>Making Sense of Logs   12</a:t>
            </a:r>
            <a:endParaRPr lang="en-US" sz="900" dirty="0"/>
          </a:p>
        </p:txBody>
      </p:sp>
      <p:sp>
        <p:nvSpPr>
          <p:cNvPr id="3" name="Text 1"/>
          <p:cNvSpPr/>
          <p:nvPr/>
        </p:nvSpPr>
        <p:spPr>
          <a:xfrm>
            <a:off x="457200" y="256032"/>
            <a:ext cx="8229600" cy="228600"/>
          </a:xfrm>
          <a:prstGeom prst="rect">
            <a:avLst/>
          </a:prstGeom>
          <a:noFill/>
          <a:ln/>
        </p:spPr>
        <p:txBody>
          <a:bodyPr wrap="square" lIns="0" tIns="0" rIns="0" bIns="0" rtlCol="0" anchor="ctr"/>
          <a:lstStyle/>
          <a:p>
            <a:pPr indent="0" marL="0">
              <a:buNone/>
            </a:pPr>
            <a:r>
              <a:rPr lang="en-US" sz="1000" b="1" spc="300" kern="0" dirty="0">
                <a:solidFill>
                  <a:srgbClr val="7B4FD6"/>
                </a:solidFill>
                <a:latin typeface="Calibri" pitchFamily="34" charset="0"/>
                <a:ea typeface="Calibri" pitchFamily="34" charset="-122"/>
                <a:cs typeface="Calibri" pitchFamily="34" charset="-120"/>
              </a:rPr>
              <a:t>BUSINESS SENSE</a:t>
            </a:r>
            <a:endParaRPr lang="en-US" sz="1000" dirty="0"/>
          </a:p>
        </p:txBody>
      </p:sp>
      <p:sp>
        <p:nvSpPr>
          <p:cNvPr id="4" name="Text 2"/>
          <p:cNvSpPr/>
          <p:nvPr/>
        </p:nvSpPr>
        <p:spPr>
          <a:xfrm>
            <a:off x="457200" y="47548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Trebuchet MS" pitchFamily="34" charset="0"/>
                <a:ea typeface="Trebuchet MS" pitchFamily="34" charset="-122"/>
                <a:cs typeface="Trebuchet MS" pitchFamily="34" charset="-120"/>
              </a:rPr>
              <a:t>Where it fits in a company</a:t>
            </a:r>
            <a:endParaRPr lang="en-US" sz="2800" dirty="0"/>
          </a:p>
        </p:txBody>
      </p:sp>
      <p:sp>
        <p:nvSpPr>
          <p:cNvPr id="5" name="Shape 3"/>
          <p:cNvSpPr/>
          <p:nvPr/>
        </p:nvSpPr>
        <p:spPr>
          <a:xfrm>
            <a:off x="457200" y="1234440"/>
            <a:ext cx="2606040" cy="1325880"/>
          </a:xfrm>
          <a:prstGeom prst="rect">
            <a:avLst/>
          </a:prstGeom>
          <a:solidFill>
            <a:srgbClr val="E9E3FB"/>
          </a:solidFill>
          <a:ln/>
        </p:spPr>
      </p:sp>
      <p:sp>
        <p:nvSpPr>
          <p:cNvPr id="6" name="Text 4"/>
          <p:cNvSpPr/>
          <p:nvPr/>
        </p:nvSpPr>
        <p:spPr>
          <a:xfrm>
            <a:off x="640080" y="1325880"/>
            <a:ext cx="2286000" cy="320040"/>
          </a:xfrm>
          <a:prstGeom prst="rect">
            <a:avLst/>
          </a:prstGeom>
          <a:noFill/>
          <a:ln/>
        </p:spPr>
        <p:txBody>
          <a:bodyPr wrap="square" lIns="0" tIns="0" rIns="0" bIns="0" rtlCol="0" anchor="ctr"/>
          <a:lstStyle/>
          <a:p>
            <a:pPr indent="0" marL="0">
              <a:buNone/>
            </a:pPr>
            <a:r>
              <a:rPr lang="en-US" sz="1500" b="1" dirty="0">
                <a:solidFill>
                  <a:srgbClr val="3E318C"/>
                </a:solidFill>
                <a:latin typeface="Trebuchet MS" pitchFamily="34" charset="0"/>
                <a:ea typeface="Trebuchet MS" pitchFamily="34" charset="-122"/>
                <a:cs typeface="Trebuchet MS" pitchFamily="34" charset="-120"/>
              </a:rPr>
              <a:t>On-call</a:t>
            </a:r>
            <a:endParaRPr lang="en-US" sz="1500" dirty="0"/>
          </a:p>
        </p:txBody>
      </p:sp>
      <p:sp>
        <p:nvSpPr>
          <p:cNvPr id="7" name="Text 5"/>
          <p:cNvSpPr/>
          <p:nvPr/>
        </p:nvSpPr>
        <p:spPr>
          <a:xfrm>
            <a:off x="640080" y="1691640"/>
            <a:ext cx="2286000" cy="365760"/>
          </a:xfrm>
          <a:prstGeom prst="rect">
            <a:avLst/>
          </a:prstGeom>
          <a:noFill/>
          <a:ln/>
        </p:spPr>
        <p:txBody>
          <a:bodyPr wrap="square" lIns="0" tIns="0" rIns="0" bIns="0" rtlCol="0" anchor="ctr"/>
          <a:lstStyle/>
          <a:p>
            <a:pPr indent="0" marL="0">
              <a:buNone/>
            </a:pPr>
            <a:r>
              <a:rPr lang="en-US" sz="1150" dirty="0">
                <a:solidFill>
                  <a:srgbClr val="11121D"/>
                </a:solidFill>
                <a:latin typeface="Calibri" pitchFamily="34" charset="0"/>
                <a:ea typeface="Calibri" pitchFamily="34" charset="-122"/>
                <a:cs typeface="Calibri" pitchFamily="34" charset="-120"/>
              </a:rPr>
              <a:t>Engineer asks during an incident</a:t>
            </a:r>
            <a:endParaRPr lang="en-US" sz="1150" dirty="0"/>
          </a:p>
        </p:txBody>
      </p:sp>
      <p:sp>
        <p:nvSpPr>
          <p:cNvPr id="8" name="Text 6"/>
          <p:cNvSpPr/>
          <p:nvPr/>
        </p:nvSpPr>
        <p:spPr>
          <a:xfrm>
            <a:off x="640080" y="2057400"/>
            <a:ext cx="2286000" cy="411480"/>
          </a:xfrm>
          <a:prstGeom prst="rect">
            <a:avLst/>
          </a:prstGeom>
          <a:noFill/>
          <a:ln/>
        </p:spPr>
        <p:txBody>
          <a:bodyPr wrap="square" lIns="0" tIns="0" rIns="0" bIns="0" rtlCol="0" anchor="ctr"/>
          <a:lstStyle/>
          <a:p>
            <a:pPr indent="0" marL="0">
              <a:buNone/>
            </a:pPr>
            <a:r>
              <a:rPr lang="en-US" sz="1100" i="1" dirty="0">
                <a:solidFill>
                  <a:srgbClr val="2A2C44"/>
                </a:solidFill>
                <a:latin typeface="Calibri" pitchFamily="34" charset="0"/>
                <a:ea typeface="Calibri" pitchFamily="34" charset="-122"/>
                <a:cs typeface="Calibri" pitchFamily="34" charset="-120"/>
              </a:rPr>
              <a:t>an answer in ~44 s instead of a manual search</a:t>
            </a:r>
            <a:endParaRPr lang="en-US" sz="1100" dirty="0"/>
          </a:p>
        </p:txBody>
      </p:sp>
      <p:sp>
        <p:nvSpPr>
          <p:cNvPr id="9" name="Shape 7"/>
          <p:cNvSpPr/>
          <p:nvPr/>
        </p:nvSpPr>
        <p:spPr>
          <a:xfrm>
            <a:off x="3246120" y="1234440"/>
            <a:ext cx="2606040" cy="1325880"/>
          </a:xfrm>
          <a:prstGeom prst="rect">
            <a:avLst/>
          </a:prstGeom>
          <a:solidFill>
            <a:srgbClr val="E9E3FB"/>
          </a:solidFill>
          <a:ln/>
        </p:spPr>
      </p:sp>
      <p:sp>
        <p:nvSpPr>
          <p:cNvPr id="10" name="Text 8"/>
          <p:cNvSpPr/>
          <p:nvPr/>
        </p:nvSpPr>
        <p:spPr>
          <a:xfrm>
            <a:off x="3429000" y="1325880"/>
            <a:ext cx="2286000" cy="320040"/>
          </a:xfrm>
          <a:prstGeom prst="rect">
            <a:avLst/>
          </a:prstGeom>
          <a:noFill/>
          <a:ln/>
        </p:spPr>
        <p:txBody>
          <a:bodyPr wrap="square" lIns="0" tIns="0" rIns="0" bIns="0" rtlCol="0" anchor="ctr"/>
          <a:lstStyle/>
          <a:p>
            <a:pPr indent="0" marL="0">
              <a:buNone/>
            </a:pPr>
            <a:r>
              <a:rPr lang="en-US" sz="1500" b="1" dirty="0">
                <a:solidFill>
                  <a:srgbClr val="3E318C"/>
                </a:solidFill>
                <a:latin typeface="Trebuchet MS" pitchFamily="34" charset="0"/>
                <a:ea typeface="Trebuchet MS" pitchFamily="34" charset="-122"/>
                <a:cs typeface="Trebuchet MS" pitchFamily="34" charset="-120"/>
              </a:rPr>
              <a:t>Weekly review</a:t>
            </a:r>
            <a:endParaRPr lang="en-US" sz="1500" dirty="0"/>
          </a:p>
        </p:txBody>
      </p:sp>
      <p:sp>
        <p:nvSpPr>
          <p:cNvPr id="11" name="Text 9"/>
          <p:cNvSpPr/>
          <p:nvPr/>
        </p:nvSpPr>
        <p:spPr>
          <a:xfrm>
            <a:off x="3429000" y="1691640"/>
            <a:ext cx="2286000" cy="365760"/>
          </a:xfrm>
          <a:prstGeom prst="rect">
            <a:avLst/>
          </a:prstGeom>
          <a:noFill/>
          <a:ln/>
        </p:spPr>
        <p:txBody>
          <a:bodyPr wrap="square" lIns="0" tIns="0" rIns="0" bIns="0" rtlCol="0" anchor="ctr"/>
          <a:lstStyle/>
          <a:p>
            <a:pPr indent="0" marL="0">
              <a:buNone/>
            </a:pPr>
            <a:r>
              <a:rPr lang="en-US" sz="1150" dirty="0">
                <a:solidFill>
                  <a:srgbClr val="11121D"/>
                </a:solidFill>
                <a:latin typeface="Calibri" pitchFamily="34" charset="0"/>
                <a:ea typeface="Calibri" pitchFamily="34" charset="-122"/>
                <a:cs typeface="Calibri" pitchFamily="34" charset="-120"/>
              </a:rPr>
              <a:t>Lead opens the recurring problems</a:t>
            </a:r>
            <a:endParaRPr lang="en-US" sz="1150" dirty="0"/>
          </a:p>
        </p:txBody>
      </p:sp>
      <p:sp>
        <p:nvSpPr>
          <p:cNvPr id="12" name="Text 10"/>
          <p:cNvSpPr/>
          <p:nvPr/>
        </p:nvSpPr>
        <p:spPr>
          <a:xfrm>
            <a:off x="3429000" y="2057400"/>
            <a:ext cx="2286000" cy="411480"/>
          </a:xfrm>
          <a:prstGeom prst="rect">
            <a:avLst/>
          </a:prstGeom>
          <a:noFill/>
          <a:ln/>
        </p:spPr>
        <p:txBody>
          <a:bodyPr wrap="square" lIns="0" tIns="0" rIns="0" bIns="0" rtlCol="0" anchor="ctr"/>
          <a:lstStyle/>
          <a:p>
            <a:pPr indent="0" marL="0">
              <a:buNone/>
            </a:pPr>
            <a:r>
              <a:rPr lang="en-US" sz="1100" i="1" dirty="0">
                <a:solidFill>
                  <a:srgbClr val="2A2C44"/>
                </a:solidFill>
                <a:latin typeface="Calibri" pitchFamily="34" charset="0"/>
                <a:ea typeface="Calibri" pitchFamily="34" charset="-122"/>
                <a:cs typeface="Calibri" pitchFamily="34" charset="-120"/>
              </a:rPr>
              <a:t>counts by team, ready for the meeting</a:t>
            </a:r>
            <a:endParaRPr lang="en-US" sz="1100" dirty="0"/>
          </a:p>
        </p:txBody>
      </p:sp>
      <p:sp>
        <p:nvSpPr>
          <p:cNvPr id="13" name="Shape 11"/>
          <p:cNvSpPr/>
          <p:nvPr/>
        </p:nvSpPr>
        <p:spPr>
          <a:xfrm>
            <a:off x="6035040" y="1234440"/>
            <a:ext cx="2606040" cy="1325880"/>
          </a:xfrm>
          <a:prstGeom prst="rect">
            <a:avLst/>
          </a:prstGeom>
          <a:solidFill>
            <a:srgbClr val="E9E3FB"/>
          </a:solidFill>
          <a:ln/>
        </p:spPr>
      </p:sp>
      <p:sp>
        <p:nvSpPr>
          <p:cNvPr id="14" name="Text 12"/>
          <p:cNvSpPr/>
          <p:nvPr/>
        </p:nvSpPr>
        <p:spPr>
          <a:xfrm>
            <a:off x="6217920" y="1325880"/>
            <a:ext cx="2286000" cy="320040"/>
          </a:xfrm>
          <a:prstGeom prst="rect">
            <a:avLst/>
          </a:prstGeom>
          <a:noFill/>
          <a:ln/>
        </p:spPr>
        <p:txBody>
          <a:bodyPr wrap="square" lIns="0" tIns="0" rIns="0" bIns="0" rtlCol="0" anchor="ctr"/>
          <a:lstStyle/>
          <a:p>
            <a:pPr indent="0" marL="0">
              <a:buNone/>
            </a:pPr>
            <a:r>
              <a:rPr lang="en-US" sz="1500" b="1" dirty="0">
                <a:solidFill>
                  <a:srgbClr val="3E318C"/>
                </a:solidFill>
                <a:latin typeface="Trebuchet MS" pitchFamily="34" charset="0"/>
                <a:ea typeface="Trebuchet MS" pitchFamily="34" charset="-122"/>
                <a:cs typeface="Trebuchet MS" pitchFamily="34" charset="-120"/>
              </a:rPr>
              <a:t>Monthly planning</a:t>
            </a:r>
            <a:endParaRPr lang="en-US" sz="1500" dirty="0"/>
          </a:p>
        </p:txBody>
      </p:sp>
      <p:sp>
        <p:nvSpPr>
          <p:cNvPr id="15" name="Text 13"/>
          <p:cNvSpPr/>
          <p:nvPr/>
        </p:nvSpPr>
        <p:spPr>
          <a:xfrm>
            <a:off x="6217920" y="1691640"/>
            <a:ext cx="2286000" cy="365760"/>
          </a:xfrm>
          <a:prstGeom prst="rect">
            <a:avLst/>
          </a:prstGeom>
          <a:noFill/>
          <a:ln/>
        </p:spPr>
        <p:txBody>
          <a:bodyPr wrap="square" lIns="0" tIns="0" rIns="0" bIns="0" rtlCol="0" anchor="ctr"/>
          <a:lstStyle/>
          <a:p>
            <a:pPr indent="0" marL="0">
              <a:buNone/>
            </a:pPr>
            <a:r>
              <a:rPr lang="en-US" sz="1150" dirty="0">
                <a:solidFill>
                  <a:srgbClr val="11121D"/>
                </a:solidFill>
                <a:latin typeface="Calibri" pitchFamily="34" charset="0"/>
                <a:ea typeface="Calibri" pitchFamily="34" charset="-122"/>
                <a:cs typeface="Calibri" pitchFamily="34" charset="-120"/>
              </a:rPr>
              <a:t>Manager gets the computed ranking</a:t>
            </a:r>
            <a:endParaRPr lang="en-US" sz="1150" dirty="0"/>
          </a:p>
        </p:txBody>
      </p:sp>
      <p:sp>
        <p:nvSpPr>
          <p:cNvPr id="16" name="Text 14"/>
          <p:cNvSpPr/>
          <p:nvPr/>
        </p:nvSpPr>
        <p:spPr>
          <a:xfrm>
            <a:off x="6217920" y="2057400"/>
            <a:ext cx="2286000" cy="411480"/>
          </a:xfrm>
          <a:prstGeom prst="rect">
            <a:avLst/>
          </a:prstGeom>
          <a:noFill/>
          <a:ln/>
        </p:spPr>
        <p:txBody>
          <a:bodyPr wrap="square" lIns="0" tIns="0" rIns="0" bIns="0" rtlCol="0" anchor="ctr"/>
          <a:lstStyle/>
          <a:p>
            <a:pPr indent="0" marL="0">
              <a:buNone/>
            </a:pPr>
            <a:r>
              <a:rPr lang="en-US" sz="1100" i="1" dirty="0">
                <a:solidFill>
                  <a:srgbClr val="2A2C44"/>
                </a:solidFill>
                <a:latin typeface="Calibri" pitchFamily="34" charset="0"/>
                <a:ea typeface="Calibri" pitchFamily="34" charset="-122"/>
                <a:cs typeface="Calibri" pitchFamily="34" charset="-120"/>
              </a:rPr>
              <a:t>a decision backed by measured frequency</a:t>
            </a:r>
            <a:endParaRPr lang="en-US" sz="1100" dirty="0"/>
          </a:p>
        </p:txBody>
      </p:sp>
      <p:sp>
        <p:nvSpPr>
          <p:cNvPr id="17" name="Text 15"/>
          <p:cNvSpPr/>
          <p:nvPr/>
        </p:nvSpPr>
        <p:spPr>
          <a:xfrm>
            <a:off x="457200" y="2743200"/>
            <a:ext cx="4023360" cy="292608"/>
          </a:xfrm>
          <a:prstGeom prst="rect">
            <a:avLst/>
          </a:prstGeom>
          <a:noFill/>
          <a:ln/>
        </p:spPr>
        <p:txBody>
          <a:bodyPr wrap="square" lIns="0" tIns="0" rIns="0" bIns="0" rtlCol="0" anchor="ctr"/>
          <a:lstStyle/>
          <a:p>
            <a:pPr indent="0" marL="0">
              <a:buNone/>
            </a:pPr>
            <a:r>
              <a:rPr lang="en-US" sz="1350" b="1" dirty="0">
                <a:solidFill>
                  <a:srgbClr val="11121D"/>
                </a:solidFill>
                <a:latin typeface="Trebuchet MS" pitchFamily="34" charset="0"/>
                <a:ea typeface="Trebuchet MS" pitchFamily="34" charset="-122"/>
                <a:cs typeface="Trebuchet MS" pitchFamily="34" charset="-120"/>
              </a:rPr>
              <a:t>What it saves (measured)</a:t>
            </a:r>
            <a:endParaRPr lang="en-US" sz="1350" dirty="0"/>
          </a:p>
        </p:txBody>
      </p:sp>
      <p:sp>
        <p:nvSpPr>
          <p:cNvPr id="18" name="Text 16"/>
          <p:cNvSpPr/>
          <p:nvPr/>
        </p:nvSpPr>
        <p:spPr>
          <a:xfrm>
            <a:off x="457200" y="3063240"/>
            <a:ext cx="4023360" cy="137160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2A2C44"/>
                </a:solidFill>
                <a:latin typeface="Calibri" pitchFamily="34" charset="0"/>
                <a:ea typeface="Calibri" pitchFamily="34" charset="-122"/>
                <a:cs typeface="Calibri" pitchFamily="34" charset="-120"/>
              </a:rPr>
              <a:t>Setup: 72 s to 5 M lines; a new log file in seconds</a:t>
            </a:r>
            <a:endParaRPr lang="en-US" sz="1150" dirty="0"/>
          </a:p>
          <a:p>
            <a:pPr marL="342900" indent="-342900">
              <a:spcAft>
                <a:spcPts val="400"/>
              </a:spcAft>
              <a:buSzPct val="100000"/>
              <a:buChar char="•"/>
            </a:pPr>
            <a:r>
              <a:rPr lang="en-US" sz="1150" dirty="0">
                <a:solidFill>
                  <a:srgbClr val="2A2C44"/>
                </a:solidFill>
                <a:latin typeface="Calibri" pitchFamily="34" charset="0"/>
                <a:ea typeface="Calibri" pitchFamily="34" charset="-122"/>
                <a:cs typeface="Calibri" pitchFamily="34" charset="-120"/>
              </a:rPr>
              <a:t>Database time per answer: under 1 s</a:t>
            </a:r>
            <a:endParaRPr lang="en-US" sz="1150" dirty="0"/>
          </a:p>
          <a:p>
            <a:pPr marL="342900" indent="-342900">
              <a:spcAft>
                <a:spcPts val="400"/>
              </a:spcAft>
              <a:buSzPct val="100000"/>
              <a:buChar char="•"/>
            </a:pPr>
            <a:r>
              <a:rPr lang="en-US" sz="1150" dirty="0">
                <a:solidFill>
                  <a:srgbClr val="2A2C44"/>
                </a:solidFill>
                <a:latin typeface="Calibri" pitchFamily="34" charset="0"/>
                <a:ea typeface="Calibri" pitchFamily="34" charset="-122"/>
                <a:cs typeface="Calibri" pitchFamily="34" charset="-120"/>
              </a:rPr>
              <a:t>Logs stay in the company; only tool results reach the AI</a:t>
            </a:r>
            <a:endParaRPr lang="en-US" sz="1150" dirty="0"/>
          </a:p>
        </p:txBody>
      </p:sp>
      <p:sp>
        <p:nvSpPr>
          <p:cNvPr id="19" name="Text 17"/>
          <p:cNvSpPr/>
          <p:nvPr/>
        </p:nvSpPr>
        <p:spPr>
          <a:xfrm>
            <a:off x="4754880" y="2743200"/>
            <a:ext cx="3931920" cy="292608"/>
          </a:xfrm>
          <a:prstGeom prst="rect">
            <a:avLst/>
          </a:prstGeom>
          <a:noFill/>
          <a:ln/>
        </p:spPr>
        <p:txBody>
          <a:bodyPr wrap="square" lIns="0" tIns="0" rIns="0" bIns="0" rtlCol="0" anchor="ctr"/>
          <a:lstStyle/>
          <a:p>
            <a:pPr indent="0" marL="0">
              <a:buNone/>
            </a:pPr>
            <a:r>
              <a:rPr lang="en-US" sz="1350" b="1" dirty="0">
                <a:solidFill>
                  <a:srgbClr val="11121D"/>
                </a:solidFill>
                <a:latin typeface="Trebuchet MS" pitchFamily="34" charset="0"/>
                <a:ea typeface="Trebuchet MS" pitchFamily="34" charset="-122"/>
                <a:cs typeface="Trebuchet MS" pitchFamily="34" charset="-120"/>
              </a:rPr>
              <a:t>Risks and limits (stated)</a:t>
            </a:r>
            <a:endParaRPr lang="en-US" sz="1350" dirty="0"/>
          </a:p>
        </p:txBody>
      </p:sp>
      <p:sp>
        <p:nvSpPr>
          <p:cNvPr id="20" name="Text 18"/>
          <p:cNvSpPr/>
          <p:nvPr/>
        </p:nvSpPr>
        <p:spPr>
          <a:xfrm>
            <a:off x="4754880" y="3063240"/>
            <a:ext cx="3931920" cy="137160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2A2C44"/>
                </a:solidFill>
                <a:latin typeface="Calibri" pitchFamily="34" charset="0"/>
                <a:ea typeface="Calibri" pitchFamily="34" charset="-122"/>
                <a:cs typeface="Calibri" pitchFamily="34" charset="-120"/>
              </a:rPr>
              <a:t>Logs hold no cost or downtime: we never invent them</a:t>
            </a:r>
            <a:endParaRPr lang="en-US" sz="1150" dirty="0"/>
          </a:p>
          <a:p>
            <a:pPr marL="342900" indent="-342900">
              <a:spcAft>
                <a:spcPts val="400"/>
              </a:spcAft>
              <a:buSzPct val="100000"/>
              <a:buChar char="•"/>
            </a:pPr>
            <a:r>
              <a:rPr lang="en-US" sz="1150" dirty="0">
                <a:solidFill>
                  <a:srgbClr val="2A2C44"/>
                </a:solidFill>
                <a:latin typeface="Calibri" pitchFamily="34" charset="0"/>
                <a:ea typeface="Calibri" pitchFamily="34" charset="-122"/>
                <a:cs typeface="Calibri" pitchFamily="34" charset="-120"/>
              </a:rPr>
              <a:t>~44 s per answer: AI time, not database time</a:t>
            </a:r>
            <a:endParaRPr lang="en-US" sz="1150" dirty="0"/>
          </a:p>
          <a:p>
            <a:pPr marL="342900" indent="-342900">
              <a:spcAft>
                <a:spcPts val="400"/>
              </a:spcAft>
              <a:buSzPct val="100000"/>
              <a:buChar char="•"/>
            </a:pPr>
            <a:r>
              <a:rPr lang="en-US" sz="1150" dirty="0">
                <a:solidFill>
                  <a:srgbClr val="2A2C44"/>
                </a:solidFill>
                <a:latin typeface="Calibri" pitchFamily="34" charset="0"/>
                <a:ea typeface="Calibri" pitchFamily="34" charset="-122"/>
                <a:cs typeface="Calibri" pitchFamily="34" charset="-120"/>
              </a:rPr>
              <a:t>New formats without a Jev key fall back to log levels</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1121D"/>
        </a:solidFill>
      </p:bgPr>
    </p:bg>
    <p:spTree>
      <p:nvGrpSpPr>
        <p:cNvPr id="1" name=""/>
        <p:cNvGrpSpPr/>
        <p:nvPr/>
      </p:nvGrpSpPr>
      <p:grpSpPr>
        <a:xfrm>
          <a:off x="0" y="0"/>
          <a:ext cx="0" cy="0"/>
          <a:chOff x="0" y="0"/>
          <a:chExt cx="0" cy="0"/>
        </a:xfrm>
      </p:grpSpPr>
      <p:sp>
        <p:nvSpPr>
          <p:cNvPr id="2" name="Text 0"/>
          <p:cNvSpPr/>
          <p:nvPr/>
        </p:nvSpPr>
        <p:spPr>
          <a:xfrm>
            <a:off x="5943600" y="4773168"/>
            <a:ext cx="2743200" cy="228600"/>
          </a:xfrm>
          <a:prstGeom prst="rect">
            <a:avLst/>
          </a:prstGeom>
          <a:noFill/>
          <a:ln/>
        </p:spPr>
        <p:txBody>
          <a:bodyPr wrap="square" lIns="0" tIns="0" rIns="0" bIns="0" rtlCol="0" anchor="ctr"/>
          <a:lstStyle/>
          <a:p>
            <a:pPr algn="r" indent="0" marL="0">
              <a:buNone/>
            </a:pPr>
            <a:r>
              <a:rPr lang="en-US" sz="900" dirty="0">
                <a:solidFill>
                  <a:srgbClr val="8B90A6"/>
                </a:solidFill>
                <a:latin typeface="Calibri" pitchFamily="34" charset="0"/>
                <a:ea typeface="Calibri" pitchFamily="34" charset="-122"/>
                <a:cs typeface="Calibri" pitchFamily="34" charset="-120"/>
              </a:rPr>
              <a:t>Making Sense of Logs   13</a:t>
            </a:r>
            <a:endParaRPr lang="en-US" sz="900" dirty="0"/>
          </a:p>
        </p:txBody>
      </p:sp>
      <p:sp>
        <p:nvSpPr>
          <p:cNvPr id="3" name="Text 1"/>
          <p:cNvSpPr/>
          <p:nvPr/>
        </p:nvSpPr>
        <p:spPr>
          <a:xfrm>
            <a:off x="457200" y="256032"/>
            <a:ext cx="8229600" cy="228600"/>
          </a:xfrm>
          <a:prstGeom prst="rect">
            <a:avLst/>
          </a:prstGeom>
          <a:noFill/>
          <a:ln/>
        </p:spPr>
        <p:txBody>
          <a:bodyPr wrap="square" lIns="0" tIns="0" rIns="0" bIns="0" rtlCol="0" anchor="ctr"/>
          <a:lstStyle/>
          <a:p>
            <a:pPr indent="0" marL="0">
              <a:buNone/>
            </a:pPr>
            <a:r>
              <a:rPr lang="en-US" sz="1000" b="1" spc="300" kern="0" dirty="0">
                <a:solidFill>
                  <a:srgbClr val="C9B8F5"/>
                </a:solidFill>
                <a:latin typeface="Calibri" pitchFamily="34" charset="0"/>
                <a:ea typeface="Calibri" pitchFamily="34" charset="-122"/>
                <a:cs typeface="Calibri" pitchFamily="34" charset="-120"/>
              </a:rPr>
              <a:t>SCALABILITY</a:t>
            </a:r>
            <a:endParaRPr lang="en-US" sz="1000" dirty="0"/>
          </a:p>
        </p:txBody>
      </p:sp>
      <p:sp>
        <p:nvSpPr>
          <p:cNvPr id="4" name="Text 2"/>
          <p:cNvSpPr/>
          <p:nvPr/>
        </p:nvSpPr>
        <p:spPr>
          <a:xfrm>
            <a:off x="457200" y="475488"/>
            <a:ext cx="8229600" cy="594360"/>
          </a:xfrm>
          <a:prstGeom prst="rect">
            <a:avLst/>
          </a:prstGeom>
          <a:noFill/>
          <a:ln/>
        </p:spPr>
        <p:txBody>
          <a:bodyPr wrap="square" lIns="0" tIns="0" rIns="0" bIns="0"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Where it goes next</a:t>
            </a:r>
            <a:endParaRPr lang="en-US" sz="2800" dirty="0"/>
          </a:p>
        </p:txBody>
      </p:sp>
      <p:sp>
        <p:nvSpPr>
          <p:cNvPr id="5" name="Shape 3"/>
          <p:cNvSpPr/>
          <p:nvPr/>
        </p:nvSpPr>
        <p:spPr>
          <a:xfrm>
            <a:off x="457200" y="1371600"/>
            <a:ext cx="640080" cy="640080"/>
          </a:xfrm>
          <a:prstGeom prst="ellipse">
            <a:avLst/>
          </a:prstGeom>
          <a:solidFill>
            <a:srgbClr val="7B4FD6"/>
          </a:solidFill>
          <a:ln/>
        </p:spPr>
      </p:sp>
      <p:pic>
        <p:nvPicPr>
          <p:cNvPr id="6" name="Image 0" descr="preencoded.png">    </p:cNvPr>
          <p:cNvPicPr>
            <a:picLocks noChangeAspect="1"/>
          </p:cNvPicPr>
          <p:nvPr/>
        </p:nvPicPr>
        <p:blipFill>
          <a:blip r:embed="rId1"/>
          <a:stretch>
            <a:fillRect/>
          </a:stretch>
        </p:blipFill>
        <p:spPr>
          <a:xfrm>
            <a:off x="610819" y="1525219"/>
            <a:ext cx="332842" cy="332842"/>
          </a:xfrm>
          <a:prstGeom prst="rect">
            <a:avLst/>
          </a:prstGeom>
        </p:spPr>
      </p:pic>
      <p:sp>
        <p:nvSpPr>
          <p:cNvPr id="7" name="Text 4"/>
          <p:cNvSpPr/>
          <p:nvPr/>
        </p:nvSpPr>
        <p:spPr>
          <a:xfrm>
            <a:off x="457200" y="2148840"/>
            <a:ext cx="2560320" cy="365760"/>
          </a:xfrm>
          <a:prstGeom prst="rect">
            <a:avLst/>
          </a:prstGeom>
          <a:noFill/>
          <a:ln/>
        </p:spPr>
        <p:txBody>
          <a:bodyPr wrap="square" lIns="0" tIns="0" rIns="0" bIns="0" rtlCol="0" anchor="ctr"/>
          <a:lstStyle/>
          <a:p>
            <a:pPr indent="0" marL="0">
              <a:buNone/>
            </a:pPr>
            <a:r>
              <a:rPr lang="en-US" sz="1700" b="1" dirty="0">
                <a:solidFill>
                  <a:srgbClr val="FFFFFF"/>
                </a:solidFill>
                <a:latin typeface="Trebuchet MS" pitchFamily="34" charset="0"/>
                <a:ea typeface="Trebuchet MS" pitchFamily="34" charset="-122"/>
                <a:cs typeface="Trebuchet MS" pitchFamily="34" charset="-120"/>
              </a:rPr>
              <a:t>Mittelstand</a:t>
            </a:r>
            <a:endParaRPr lang="en-US" sz="1700" dirty="0"/>
          </a:p>
        </p:txBody>
      </p:sp>
      <p:sp>
        <p:nvSpPr>
          <p:cNvPr id="8" name="Text 5"/>
          <p:cNvSpPr/>
          <p:nvPr/>
        </p:nvSpPr>
        <p:spPr>
          <a:xfrm>
            <a:off x="457200" y="2560320"/>
            <a:ext cx="2560320" cy="1005840"/>
          </a:xfrm>
          <a:prstGeom prst="rect">
            <a:avLst/>
          </a:prstGeom>
          <a:noFill/>
          <a:ln/>
        </p:spPr>
        <p:txBody>
          <a:bodyPr wrap="square" lIns="0" tIns="0" rIns="0" bIns="0" rtlCol="0" anchor="t"/>
          <a:lstStyle/>
          <a:p>
            <a:pPr indent="0" marL="0">
              <a:buNone/>
            </a:pPr>
            <a:r>
              <a:rPr lang="en-US" sz="1200" dirty="0">
                <a:solidFill>
                  <a:srgbClr val="D5D8E5"/>
                </a:solidFill>
                <a:latin typeface="Calibri" pitchFamily="34" charset="0"/>
                <a:ea typeface="Calibri" pitchFamily="34" charset="-122"/>
                <a:cs typeface="Calibri" pitchFamily="34" charset="-120"/>
              </a:rPr>
              <a:t>Machine and production logs, IT operations, managed service providers: same tools, their files.</a:t>
            </a:r>
            <a:endParaRPr lang="en-US" sz="1200" dirty="0"/>
          </a:p>
        </p:txBody>
      </p:sp>
      <p:sp>
        <p:nvSpPr>
          <p:cNvPr id="9" name="Shape 6"/>
          <p:cNvSpPr/>
          <p:nvPr/>
        </p:nvSpPr>
        <p:spPr>
          <a:xfrm>
            <a:off x="3246120" y="1371600"/>
            <a:ext cx="640080" cy="640080"/>
          </a:xfrm>
          <a:prstGeom prst="ellipse">
            <a:avLst/>
          </a:prstGeom>
          <a:solidFill>
            <a:srgbClr val="7B4FD6"/>
          </a:solidFill>
          <a:ln/>
        </p:spPr>
      </p:sp>
      <p:pic>
        <p:nvPicPr>
          <p:cNvPr id="10" name="Image 1" descr="preencoded.png">    </p:cNvPr>
          <p:cNvPicPr>
            <a:picLocks noChangeAspect="1"/>
          </p:cNvPicPr>
          <p:nvPr/>
        </p:nvPicPr>
        <p:blipFill>
          <a:blip r:embed="rId2"/>
          <a:stretch>
            <a:fillRect/>
          </a:stretch>
        </p:blipFill>
        <p:spPr>
          <a:xfrm>
            <a:off x="3399739" y="1525219"/>
            <a:ext cx="332842" cy="332842"/>
          </a:xfrm>
          <a:prstGeom prst="rect">
            <a:avLst/>
          </a:prstGeom>
        </p:spPr>
      </p:pic>
      <p:sp>
        <p:nvSpPr>
          <p:cNvPr id="11" name="Text 7"/>
          <p:cNvSpPr/>
          <p:nvPr/>
        </p:nvSpPr>
        <p:spPr>
          <a:xfrm>
            <a:off x="3246120" y="2148840"/>
            <a:ext cx="2560320" cy="365760"/>
          </a:xfrm>
          <a:prstGeom prst="rect">
            <a:avLst/>
          </a:prstGeom>
          <a:noFill/>
          <a:ln/>
        </p:spPr>
        <p:txBody>
          <a:bodyPr wrap="square" lIns="0" tIns="0" rIns="0" bIns="0" rtlCol="0" anchor="ctr"/>
          <a:lstStyle/>
          <a:p>
            <a:pPr indent="0" marL="0">
              <a:buNone/>
            </a:pPr>
            <a:r>
              <a:rPr lang="en-US" sz="1700" b="1" dirty="0">
                <a:solidFill>
                  <a:srgbClr val="FFFFFF"/>
                </a:solidFill>
                <a:latin typeface="Trebuchet MS" pitchFamily="34" charset="0"/>
                <a:ea typeface="Trebuchet MS" pitchFamily="34" charset="-122"/>
                <a:cs typeface="Trebuchet MS" pitchFamily="34" charset="-120"/>
              </a:rPr>
              <a:t>Other industries</a:t>
            </a:r>
            <a:endParaRPr lang="en-US" sz="1700" dirty="0"/>
          </a:p>
        </p:txBody>
      </p:sp>
      <p:sp>
        <p:nvSpPr>
          <p:cNvPr id="12" name="Text 8"/>
          <p:cNvSpPr/>
          <p:nvPr/>
        </p:nvSpPr>
        <p:spPr>
          <a:xfrm>
            <a:off x="3246120" y="2560320"/>
            <a:ext cx="2560320" cy="1005840"/>
          </a:xfrm>
          <a:prstGeom prst="rect">
            <a:avLst/>
          </a:prstGeom>
          <a:noFill/>
          <a:ln/>
        </p:spPr>
        <p:txBody>
          <a:bodyPr wrap="square" lIns="0" tIns="0" rIns="0" bIns="0" rtlCol="0" anchor="t"/>
          <a:lstStyle/>
          <a:p>
            <a:pPr indent="0" marL="0">
              <a:buNone/>
            </a:pPr>
            <a:r>
              <a:rPr lang="en-US" sz="1200" dirty="0">
                <a:solidFill>
                  <a:srgbClr val="D5D8E5"/>
                </a:solidFill>
                <a:latin typeface="Calibri" pitchFamily="34" charset="0"/>
                <a:ea typeface="Calibri" pitchFamily="34" charset="-122"/>
                <a:cs typeface="Calibri" pitchFamily="34" charset="-120"/>
              </a:rPr>
              <a:t>Any system that writes logs: cloud, telecom, devices, security (SSH attacks are already in our eval).</a:t>
            </a:r>
            <a:endParaRPr lang="en-US" sz="1200" dirty="0"/>
          </a:p>
        </p:txBody>
      </p:sp>
      <p:sp>
        <p:nvSpPr>
          <p:cNvPr id="13" name="Shape 9"/>
          <p:cNvSpPr/>
          <p:nvPr/>
        </p:nvSpPr>
        <p:spPr>
          <a:xfrm>
            <a:off x="6035040" y="1371600"/>
            <a:ext cx="640080" cy="640080"/>
          </a:xfrm>
          <a:prstGeom prst="ellipse">
            <a:avLst/>
          </a:prstGeom>
          <a:solidFill>
            <a:srgbClr val="7B4FD6"/>
          </a:solidFill>
          <a:ln/>
        </p:spPr>
      </p:sp>
      <p:pic>
        <p:nvPicPr>
          <p:cNvPr id="14" name="Image 2" descr="preencoded.png">    </p:cNvPr>
          <p:cNvPicPr>
            <a:picLocks noChangeAspect="1"/>
          </p:cNvPicPr>
          <p:nvPr/>
        </p:nvPicPr>
        <p:blipFill>
          <a:blip r:embed="rId3"/>
          <a:stretch>
            <a:fillRect/>
          </a:stretch>
        </p:blipFill>
        <p:spPr>
          <a:xfrm>
            <a:off x="6188659" y="1525219"/>
            <a:ext cx="332842" cy="332842"/>
          </a:xfrm>
          <a:prstGeom prst="rect">
            <a:avLst/>
          </a:prstGeom>
        </p:spPr>
      </p:pic>
      <p:sp>
        <p:nvSpPr>
          <p:cNvPr id="15" name="Text 10"/>
          <p:cNvSpPr/>
          <p:nvPr/>
        </p:nvSpPr>
        <p:spPr>
          <a:xfrm>
            <a:off x="6035040" y="2148840"/>
            <a:ext cx="2560320" cy="365760"/>
          </a:xfrm>
          <a:prstGeom prst="rect">
            <a:avLst/>
          </a:prstGeom>
          <a:noFill/>
          <a:ln/>
        </p:spPr>
        <p:txBody>
          <a:bodyPr wrap="square" lIns="0" tIns="0" rIns="0" bIns="0" rtlCol="0" anchor="ctr"/>
          <a:lstStyle/>
          <a:p>
            <a:pPr indent="0" marL="0">
              <a:buNone/>
            </a:pPr>
            <a:r>
              <a:rPr lang="en-US" sz="1700" b="1" dirty="0">
                <a:solidFill>
                  <a:srgbClr val="FFFFFF"/>
                </a:solidFill>
                <a:latin typeface="Trebuchet MS" pitchFamily="34" charset="0"/>
                <a:ea typeface="Trebuchet MS" pitchFamily="34" charset="-122"/>
                <a:cs typeface="Trebuchet MS" pitchFamily="34" charset="-120"/>
              </a:rPr>
              <a:t>A product</a:t>
            </a:r>
            <a:endParaRPr lang="en-US" sz="1700" dirty="0"/>
          </a:p>
        </p:txBody>
      </p:sp>
      <p:sp>
        <p:nvSpPr>
          <p:cNvPr id="16" name="Text 11"/>
          <p:cNvSpPr/>
          <p:nvPr/>
        </p:nvSpPr>
        <p:spPr>
          <a:xfrm>
            <a:off x="6035040" y="2560320"/>
            <a:ext cx="2560320" cy="1005840"/>
          </a:xfrm>
          <a:prstGeom prst="rect">
            <a:avLst/>
          </a:prstGeom>
          <a:noFill/>
          <a:ln/>
        </p:spPr>
        <p:txBody>
          <a:bodyPr wrap="square" lIns="0" tIns="0" rIns="0" bIns="0" rtlCol="0" anchor="t"/>
          <a:lstStyle/>
          <a:p>
            <a:pPr indent="0" marL="0">
              <a:buNone/>
            </a:pPr>
            <a:r>
              <a:rPr lang="en-US" sz="1200" dirty="0">
                <a:solidFill>
                  <a:srgbClr val="D5D8E5"/>
                </a:solidFill>
                <a:latin typeface="Calibri" pitchFamily="34" charset="0"/>
                <a:ea typeface="Calibri" pitchFamily="34" charset="-122"/>
                <a:cs typeface="Calibri" pitchFamily="34" charset="-120"/>
              </a:rPr>
              <a:t>A self-hosted log copilot: MCP server + SereneDB in one container, per-team access, alerts from saved searches.</a:t>
            </a:r>
            <a:endParaRPr lang="en-US" sz="1200" dirty="0"/>
          </a:p>
        </p:txBody>
      </p:sp>
      <p:sp>
        <p:nvSpPr>
          <p:cNvPr id="17" name="Text 12"/>
          <p:cNvSpPr/>
          <p:nvPr/>
        </p:nvSpPr>
        <p:spPr>
          <a:xfrm>
            <a:off x="457200" y="3931920"/>
            <a:ext cx="8229600" cy="365760"/>
          </a:xfrm>
          <a:prstGeom prst="rect">
            <a:avLst/>
          </a:prstGeom>
          <a:noFill/>
          <a:ln/>
        </p:spPr>
        <p:txBody>
          <a:bodyPr wrap="square" lIns="0" tIns="0" rIns="0" bIns="0" rtlCol="0" anchor="ctr"/>
          <a:lstStyle/>
          <a:p>
            <a:pPr indent="0" marL="0">
              <a:buNone/>
            </a:pPr>
            <a:r>
              <a:rPr lang="en-US" sz="1300" b="1" dirty="0">
                <a:solidFill>
                  <a:srgbClr val="C9B8F5"/>
                </a:solidFill>
                <a:latin typeface="Calibri" pitchFamily="34" charset="0"/>
                <a:ea typeface="Calibri" pitchFamily="34" charset="-122"/>
                <a:cs typeface="Calibri" pitchFamily="34" charset="-120"/>
              </a:rPr>
              <a:t>Already shown: 10 Loghub datasets from 7 kinds of systems load with no code change.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1121D"/>
        </a:solidFill>
      </p:bgPr>
    </p:bg>
    <p:spTree>
      <p:nvGrpSpPr>
        <p:cNvPr id="1" name=""/>
        <p:cNvGrpSpPr/>
        <p:nvPr/>
      </p:nvGrpSpPr>
      <p:grpSpPr>
        <a:xfrm>
          <a:off x="0" y="0"/>
          <a:ext cx="0" cy="0"/>
          <a:chOff x="0" y="0"/>
          <a:chExt cx="0" cy="0"/>
        </a:xfrm>
      </p:grpSpPr>
      <p:sp>
        <p:nvSpPr>
          <p:cNvPr id="2" name="Text 0"/>
          <p:cNvSpPr/>
          <p:nvPr/>
        </p:nvSpPr>
        <p:spPr>
          <a:xfrm>
            <a:off x="5943600" y="4773168"/>
            <a:ext cx="2743200" cy="228600"/>
          </a:xfrm>
          <a:prstGeom prst="rect">
            <a:avLst/>
          </a:prstGeom>
          <a:noFill/>
          <a:ln/>
        </p:spPr>
        <p:txBody>
          <a:bodyPr wrap="square" lIns="0" tIns="0" rIns="0" bIns="0" rtlCol="0" anchor="ctr"/>
          <a:lstStyle/>
          <a:p>
            <a:pPr algn="r" indent="0" marL="0">
              <a:buNone/>
            </a:pPr>
            <a:r>
              <a:rPr lang="en-US" sz="900" dirty="0">
                <a:solidFill>
                  <a:srgbClr val="8B90A6"/>
                </a:solidFill>
                <a:latin typeface="Calibri" pitchFamily="34" charset="0"/>
                <a:ea typeface="Calibri" pitchFamily="34" charset="-122"/>
                <a:cs typeface="Calibri" pitchFamily="34" charset="-120"/>
              </a:rPr>
              <a:t>Making Sense of Logs   14</a:t>
            </a:r>
            <a:endParaRPr lang="en-US" sz="900" dirty="0"/>
          </a:p>
        </p:txBody>
      </p:sp>
      <p:sp>
        <p:nvSpPr>
          <p:cNvPr id="3" name="Shape 1"/>
          <p:cNvSpPr/>
          <p:nvPr/>
        </p:nvSpPr>
        <p:spPr>
          <a:xfrm>
            <a:off x="0" y="0"/>
            <a:ext cx="201168" cy="5143500"/>
          </a:xfrm>
          <a:prstGeom prst="rect">
            <a:avLst/>
          </a:prstGeom>
          <a:solidFill>
            <a:srgbClr val="7B4FD6"/>
          </a:solidFill>
          <a:ln/>
        </p:spPr>
      </p:sp>
      <p:sp>
        <p:nvSpPr>
          <p:cNvPr id="4" name="Text 2"/>
          <p:cNvSpPr/>
          <p:nvPr/>
        </p:nvSpPr>
        <p:spPr>
          <a:xfrm>
            <a:off x="731520" y="548640"/>
            <a:ext cx="7315200" cy="640080"/>
          </a:xfrm>
          <a:prstGeom prst="rect">
            <a:avLst/>
          </a:prstGeom>
          <a:noFill/>
          <a:ln/>
        </p:spPr>
        <p:txBody>
          <a:bodyPr wrap="square" lIns="0" tIns="0" rIns="0" bIns="0" rtlCol="0" anchor="ctr"/>
          <a:lstStyle/>
          <a:p>
            <a:pPr indent="0" marL="0">
              <a:buNone/>
            </a:pPr>
            <a:r>
              <a:rPr lang="en-US" sz="3200" b="1" dirty="0">
                <a:solidFill>
                  <a:srgbClr val="FFFFFF"/>
                </a:solidFill>
                <a:latin typeface="Trebuchet MS" pitchFamily="34" charset="0"/>
                <a:ea typeface="Trebuchet MS" pitchFamily="34" charset="-122"/>
                <a:cs typeface="Trebuchet MS" pitchFamily="34" charset="-120"/>
              </a:rPr>
              <a:t>Try it in two commands</a:t>
            </a:r>
            <a:endParaRPr lang="en-US" sz="3200" dirty="0"/>
          </a:p>
        </p:txBody>
      </p:sp>
      <p:sp>
        <p:nvSpPr>
          <p:cNvPr id="5" name="Text 3"/>
          <p:cNvSpPr/>
          <p:nvPr/>
        </p:nvSpPr>
        <p:spPr>
          <a:xfrm>
            <a:off x="731520" y="1371600"/>
            <a:ext cx="7680960" cy="1005840"/>
          </a:xfrm>
          <a:prstGeom prst="rect">
            <a:avLst/>
          </a:prstGeom>
          <a:noFill/>
          <a:ln/>
        </p:spPr>
        <p:txBody>
          <a:bodyPr wrap="square" lIns="0" tIns="0" rIns="0" bIns="0" rtlCol="0" anchor="ctr"/>
          <a:lstStyle/>
          <a:p>
            <a:pPr indent="0" marL="0">
              <a:buNone/>
            </a:pPr>
            <a:r>
              <a:rPr lang="en-US" sz="1500" dirty="0">
                <a:solidFill>
                  <a:srgbClr val="C9B8F5"/>
                </a:solidFill>
                <a:latin typeface="Consolas" pitchFamily="34" charset="0"/>
                <a:ea typeface="Consolas" pitchFamily="34" charset="-122"/>
                <a:cs typeface="Consolas" pitchFamily="34" charset="-120"/>
              </a:rPr>
              <a:t>docker compose up -d</a:t>
            </a:r>
            <a:endParaRPr lang="en-US" sz="1500" dirty="0"/>
          </a:p>
          <a:p>
            <a:pPr indent="0" marL="0">
              <a:buNone/>
            </a:pPr>
            <a:r>
              <a:rPr lang="en-US" sz="1500" dirty="0">
                <a:solidFill>
                  <a:srgbClr val="C9B8F5"/>
                </a:solidFill>
                <a:latin typeface="Consolas" pitchFamily="34" charset="0"/>
                <a:ea typeface="Consolas" pitchFamily="34" charset="-122"/>
                <a:cs typeface="Consolas" pitchFamily="34" charset="-120"/>
              </a:rPr>
              <a:t>claude          # in the repo, approve the logs server</a:t>
            </a:r>
            <a:endParaRPr lang="en-US" sz="1500" dirty="0"/>
          </a:p>
          <a:p>
            <a:pPr indent="0" marL="0">
              <a:buNone/>
            </a:pPr>
            <a:r>
              <a:rPr lang="en-US" sz="1500" dirty="0">
                <a:solidFill>
                  <a:srgbClr val="C9B8F5"/>
                </a:solidFill>
                <a:latin typeface="Consolas" pitchFamily="34" charset="0"/>
                <a:ea typeface="Consolas" pitchFamily="34" charset="-122"/>
                <a:cs typeface="Consolas" pitchFamily="34" charset="-120"/>
              </a:rPr>
              <a:t>&gt; Load the base corpus</a:t>
            </a:r>
            <a:endParaRPr lang="en-US" sz="1500" dirty="0"/>
          </a:p>
        </p:txBody>
      </p:sp>
      <p:sp>
        <p:nvSpPr>
          <p:cNvPr id="6" name="Text 4"/>
          <p:cNvSpPr/>
          <p:nvPr/>
        </p:nvSpPr>
        <p:spPr>
          <a:xfrm>
            <a:off x="731520" y="2697480"/>
            <a:ext cx="7680960" cy="1097280"/>
          </a:xfrm>
          <a:prstGeom prst="rect">
            <a:avLst/>
          </a:prstGeom>
          <a:noFill/>
          <a:ln/>
        </p:spPr>
        <p:txBody>
          <a:bodyPr wrap="square" lIns="0" tIns="0" rIns="0" bIns="0" rtlCol="0" anchor="ctr"/>
          <a:lstStyle/>
          <a:p>
            <a:pPr marL="342900" indent="-342900">
              <a:spcAft>
                <a:spcPts val="600"/>
              </a:spcAft>
              <a:buSzPct val="100000"/>
              <a:buChar char="•"/>
            </a:pPr>
            <a:r>
              <a:rPr lang="en-US" sz="1400" dirty="0">
                <a:solidFill>
                  <a:srgbClr val="D5D8E5"/>
                </a:solidFill>
                <a:latin typeface="Calibri" pitchFamily="34" charset="0"/>
                <a:ea typeface="Calibri" pitchFamily="34" charset="-122"/>
                <a:cs typeface="Calibri" pitchFamily="34" charset="-120"/>
              </a:rPr>
              <a:t>docs/INVESTIGATION.md: the worked investigation and its evidence page</a:t>
            </a:r>
            <a:endParaRPr lang="en-US" sz="1400" dirty="0"/>
          </a:p>
          <a:p>
            <a:pPr marL="342900" indent="-342900">
              <a:spcAft>
                <a:spcPts val="600"/>
              </a:spcAft>
              <a:buSzPct val="100000"/>
              <a:buChar char="•"/>
            </a:pPr>
            <a:r>
              <a:rPr lang="en-US" sz="1400" dirty="0">
                <a:solidFill>
                  <a:srgbClr val="D5D8E5"/>
                </a:solidFill>
                <a:latin typeface="Calibri" pitchFamily="34" charset="0"/>
                <a:ea typeface="Calibri" pitchFamily="34" charset="-122"/>
                <a:cs typeface="Calibri" pitchFamily="34" charset="-120"/>
              </a:rPr>
              <a:t>docs/dashboard.html: the evaluation, every answer, how to re-run it</a:t>
            </a:r>
            <a:endParaRPr lang="en-US" sz="1400" dirty="0"/>
          </a:p>
          <a:p>
            <a:pPr marL="342900" indent="-342900">
              <a:spcAft>
                <a:spcPts val="600"/>
              </a:spcAft>
              <a:buSzPct val="100000"/>
              <a:buChar char="•"/>
            </a:pPr>
            <a:r>
              <a:rPr lang="en-US" sz="1400" dirty="0">
                <a:solidFill>
                  <a:srgbClr val="D5D8E5"/>
                </a:solidFill>
                <a:latin typeface="Calibri" pitchFamily="34" charset="0"/>
                <a:ea typeface="Calibri" pitchFamily="34" charset="-122"/>
                <a:cs typeface="Calibri" pitchFamily="34" charset="-120"/>
              </a:rPr>
              <a:t>docs/TOOLS.md: every tool, prompt and resource</a:t>
            </a:r>
            <a:endParaRPr lang="en-US" sz="1400" dirty="0"/>
          </a:p>
        </p:txBody>
      </p:sp>
      <p:sp>
        <p:nvSpPr>
          <p:cNvPr id="7" name="Text 5"/>
          <p:cNvSpPr/>
          <p:nvPr/>
        </p:nvSpPr>
        <p:spPr>
          <a:xfrm>
            <a:off x="731520" y="4297680"/>
            <a:ext cx="7680960" cy="320040"/>
          </a:xfrm>
          <a:prstGeom prst="rect">
            <a:avLst/>
          </a:prstGeom>
          <a:noFill/>
          <a:ln/>
        </p:spPr>
        <p:txBody>
          <a:bodyPr wrap="square" lIns="0" tIns="0" rIns="0" bIns="0" rtlCol="0" anchor="ctr"/>
          <a:lstStyle/>
          <a:p>
            <a:pPr indent="0" marL="0">
              <a:buNone/>
            </a:pPr>
            <a:r>
              <a:rPr lang="en-US" sz="1200" dirty="0">
                <a:solidFill>
                  <a:srgbClr val="8B90A6"/>
                </a:solidFill>
                <a:latin typeface="Calibri" pitchFamily="34" charset="0"/>
                <a:ea typeface="Calibri" pitchFamily="34" charset="-122"/>
                <a:cs typeface="Calibri" pitchFamily="34" charset="-120"/>
              </a:rPr>
              <a:t>github.com/aircode610/making-sense-of-logs-schubki-ai-hackathon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Making Sense of Logs</dc:title>
  <dc:subject>PptxGenJS Presentation</dc:subject>
  <dc:creator>Amirali &amp; Konark</dc:creator>
  <cp:lastModifiedBy>Amirali &amp; Konark</cp:lastModifiedBy>
  <cp:revision>1</cp:revision>
  <dcterms:created xsi:type="dcterms:W3CDTF">2026-10-18T17:52:39Z</dcterms:created>
  <dcterms:modified xsi:type="dcterms:W3CDTF">2026-10-18T17:52:39Z</dcterms:modified>
</cp:coreProperties>
</file>
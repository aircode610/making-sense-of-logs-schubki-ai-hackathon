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c:v>
                </c:pt>
              </c:strCache>
            </c:strRef>
          </c:tx>
          <c:spPr>
            <a:solidFill>
              <a:srgbClr val="6A4BD8"/>
            </a:solidFill>
            <a:effectLst/>
          </c:spPr>
          <c:invertIfNegative val="0"/>
          <c:dLbls>
            <c:numFmt formatCode="0 &quot;s&quot;" sourceLinked="0"/>
            <c:txPr>
              <a:bodyPr/>
              <a:lstStyle/>
              <a:p>
                <a:pPr>
                  <a:defRPr b="0" i="0" strike="noStrike" sz="1400" u="none">
                    <a:solidFill>
                      <a:srgbClr val="11121D"/>
                    </a:solidFill>
                    <a:latin typeface="Arial"/>
                  </a:defRPr>
                </a:pPr>
              </a:p>
            </c:txPr>
            <c:showLegendKey val="0"/>
            <c:showVal val="1"/>
            <c:showCatName val="0"/>
            <c:showSerName val="0"/>
            <c:showPercent val="0"/>
            <c:showBubbleSize val="0"/>
            <c:showLeaderLines val="0"/>
          </c:dLbls>
          <c:cat>
            <c:multiLvlStrRef>
              <c:f>Sheet1!$A$2:$A$3</c:f>
              <c:multiLvlStrCache>
                <c:ptCount val="2"/>
                <c:lvl>
                  <c:pt idx="0">
                    <c:v>Claude Code + our MCP</c:v>
                  </c:pt>
                  <c:pt idx="1">
                    <c:v>Plain Claude Code</c:v>
                  </c:pt>
                </c:lvl>
              </c:multiLvlStrCache>
            </c:multiLvlStrRef>
          </c:cat>
          <c:val>
            <c:numRef>
              <c:f>Sheet1!$B$2:$B$3</c:f>
              <c:numCache>
                <c:formatCode>General</c:formatCode>
                <c:ptCount val="2"/>
                <c:pt idx="0">
                  <c:v>14.3</c:v>
                </c:pt>
                <c:pt idx="1">
                  <c:v>86</c:v>
                </c:pt>
              </c:numCache>
            </c:numRef>
          </c:val>
        </c:ser>
        <c:dLbls>
          <c:numFmt formatCode="0 &quot;s&quot;" sourceLinked="0"/>
          <c:txPr>
            <a:bodyPr/>
            <a:lstStyle/>
            <a:p>
              <a:pPr>
                <a:defRPr b="0" i="0" strike="noStrike" sz="1400" u="none">
                  <a:solidFill>
                    <a:srgbClr val="11121D"/>
                  </a:solidFill>
                  <a:latin typeface="Arial"/>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150" b="0" i="0" u="none" strike="noStrike">
                <a:solidFill>
                  <a:srgbClr val="3A3F55"/>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 1 · Title
"We built an assistant that answers questions about millions of log lines, for the engineer, the team lead and the manager. An answer takes 14 seconds, costs about 5 cents, and every number in it can be checked."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0:15 · 2 · Problem
"Three people ask about the same logs. BGL alone is 4.7 million lines: no prompt fits that. It has 855 thousand FATAL lines, but they are only 36 thousand bursts of real recurrences, so counting lines misleads. And if you just let Claude grep the raw files, it takes 86 seconds per answer and gets things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0:35 · 3 · Pipeline
"Our answer is a pipeline in five steps. The database does the counting, the AI only explains. Load, judge, ask, answer, verify. Setup is four commands."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 · 4 · Load
"Step one. Say 'Load the base corpus'. SereneDB downloads BGL and OpenStack, detects the format from 76 known ones, parses everything with SQL into typed columns, groups lines into kinds of message and builds one full-text index. 72 seconds for 5 million lines. Your own log file: under 2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 5 · Judge
"Step two is where it gets cheap. Jev, a small typed-judgment model, runs inside SereneDB and asks each kind of message once: is it a real fault or a routine dump? an attack? whose is it? 1,126 kinds of message in 20 seconds for 2 cents, stored. Having an LLM read BGL instead is about 177 million tokens: roughly 89 dollars on Haiku, 354 on Sonnet, 708 on Opus, and again for every question. And it works: real alerts in the manager's top 10 go from 1 to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1:45 · 6 · Ask
"Step three. Claude asks focused questions through our MCP server: 44 tools, each a fixed, safe SQL query. A full-text count over 4.7 million lines takes 7 milliseconds; group-bys come straight from the index. A whole 20-step investigation spends 1.8 seconds in the database."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2:05 · 7 · Answer → switch to Claude Code
Live: run /mcp__logs__worked_investigation (topic: what deserves attention in November 2005, dataset bgl). "One problem, three answers. The engineer gets 12,996 lines on 1,024 nodes, all pointing to one host, and the check to run. The team lead gets 31 recurrences and an owner disputed between two teams. The manager gets rank 1 of 133 and a decision. Different evidence, not different lengths."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2:50 · 8 · Verify → show the report
Open the link Claude gives. Click a number: it jumps to its step. Click Verify. "Every number traces to the query that produced it: 62 of 62. Re-running every step gives the same result. The Jev tab shows every question Jev is asked and what each answer means."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3:15 · 9 · Price &amp; performance
"The main point. Same Claude Code, same model, 50 questions. With our server: 14 seconds per answer instead of 86, six times faster. It costs about one cent more, 4.9 instead of 3.8, but makes half the wrong claims per dollar. Under one second of each answer is the database; the rest is the AI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3:40 · 10 · Results
"Measured against frozen answer keys with a blind judge: we win 30 to 15, and 18 to 4 on the brief's data, with 116 wrong claims instead of 186. Where we still lose: engineer questions on small logs, where grep can read every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4:00 · 11 · Features
"Each feature fixes a way answers go wrong. Bursts instead of lines. Jev's judgments. Exact totals in SQL, never rounded by the model. An ownership table, so every problem has a team. A computed priority. And facts are always separated from hypotheses."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4:25 · 12 · Beyond the brief
"Beyond the brief: your own log files with no code, a billion remote rows queried in place, access per team enforced by the database, 11 million lines loaded in 47 seconds, our own blind evaluation, and it is fully reproducible: run with --fresh and Jev judges everything live with the same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4:45 · 13 · Scale
"Nothing is specific to one dataset: ten log types load with no code change. That makes it a product: a self-hosted log copilot for the Mittelstand and beyond."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4:55 · 14 · Try it
"Four commands, about two minutes from a fresh install to answers.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slideLayout" Target="../slideLayouts/slideLayout1.xml"/><Relationship Id="rId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image" Target="../media/image-3-10.png"/><Relationship Id="rId11" Type="http://schemas.openxmlformats.org/officeDocument/2006/relationships/image" Target="../media/image-3-11.png"/><Relationship Id="rId12" Type="http://schemas.openxmlformats.org/officeDocument/2006/relationships/slideLayout" Target="../slideLayouts/slideLayout1.xml"/><Relationship Id="rId1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9-1.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image" Target="../media/image-11-10.png"/><Relationship Id="rId11" Type="http://schemas.openxmlformats.org/officeDocument/2006/relationships/image" Target="../media/image-11-11.png"/><Relationship Id="rId12" Type="http://schemas.openxmlformats.org/officeDocument/2006/relationships/image" Target="../media/image-11-12.png"/><Relationship Id="rId13" Type="http://schemas.openxmlformats.org/officeDocument/2006/relationships/image" Target="../media/image-11-13.png"/><Relationship Id="rId14" Type="http://schemas.openxmlformats.org/officeDocument/2006/relationships/slideLayout" Target="../slideLayouts/slideLayout1.xml"/><Relationship Id="rId1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image" Target="../media/image-12-9.png"/><Relationship Id="rId10" Type="http://schemas.openxmlformats.org/officeDocument/2006/relationships/image" Target="../media/image-12-10.png"/><Relationship Id="rId11" Type="http://schemas.openxmlformats.org/officeDocument/2006/relationships/image" Target="../media/image-12-11.png"/><Relationship Id="rId12" Type="http://schemas.openxmlformats.org/officeDocument/2006/relationships/image" Target="../media/image-12-12.png"/><Relationship Id="rId13" Type="http://schemas.openxmlformats.org/officeDocument/2006/relationships/image" Target="../media/image-12-13.png"/><Relationship Id="rId14" Type="http://schemas.openxmlformats.org/officeDocument/2006/relationships/slideLayout" Target="../slideLayouts/slideLayout1.xml"/><Relationship Id="rId1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image" Target="../media/image-13-8.png"/><Relationship Id="rId9" Type="http://schemas.openxmlformats.org/officeDocument/2006/relationships/slideLayout" Target="../slideLayouts/slideLayout1.xml"/><Relationship Id="rId10"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577840" y="457200"/>
            <a:ext cx="3108960" cy="4206240"/>
          </a:xfrm>
          <a:prstGeom prst="rect">
            <a:avLst/>
          </a:prstGeom>
        </p:spPr>
      </p:pic>
      <p:sp>
        <p:nvSpPr>
          <p:cNvPr id="3" name="Text 0"/>
          <p:cNvSpPr/>
          <p:nvPr/>
        </p:nvSpPr>
        <p:spPr>
          <a:xfrm>
            <a:off x="5897880" y="868680"/>
            <a:ext cx="2560320" cy="594360"/>
          </a:xfrm>
          <a:prstGeom prst="rect">
            <a:avLst/>
          </a:prstGeom>
          <a:noFill/>
          <a:ln/>
        </p:spPr>
        <p:txBody>
          <a:bodyPr wrap="square" lIns="0" tIns="0" rIns="0" bIns="0" rtlCol="0" anchor="ctr"/>
          <a:lstStyle/>
          <a:p>
            <a:pPr indent="0" marL="0">
              <a:buNone/>
            </a:pPr>
            <a:r>
              <a:rPr lang="en-US" sz="3600" b="1" dirty="0">
                <a:solidFill>
                  <a:srgbClr val="FFFFFF"/>
                </a:solidFill>
                <a:latin typeface="Avenir Next" pitchFamily="34" charset="0"/>
                <a:ea typeface="Avenir Next" pitchFamily="34" charset="-122"/>
                <a:cs typeface="Avenir Next" pitchFamily="34" charset="-120"/>
              </a:rPr>
              <a:t>14 s</a:t>
            </a:r>
            <a:endParaRPr lang="en-US" sz="3600" dirty="0"/>
          </a:p>
        </p:txBody>
      </p:sp>
      <p:sp>
        <p:nvSpPr>
          <p:cNvPr id="4" name="Text 1"/>
          <p:cNvSpPr/>
          <p:nvPr/>
        </p:nvSpPr>
        <p:spPr>
          <a:xfrm>
            <a:off x="5897880" y="1444752"/>
            <a:ext cx="2560320" cy="320040"/>
          </a:xfrm>
          <a:prstGeom prst="rect">
            <a:avLst/>
          </a:prstGeom>
          <a:noFill/>
          <a:ln/>
        </p:spPr>
        <p:txBody>
          <a:bodyPr wrap="square" lIns="0" tIns="0" rIns="0" bIns="0" rtlCol="0" anchor="ctr"/>
          <a:lstStyle/>
          <a:p>
            <a:pPr indent="0" marL="0">
              <a:buNone/>
            </a:pPr>
            <a:r>
              <a:rPr lang="en-US" sz="1300" dirty="0">
                <a:solidFill>
                  <a:srgbClr val="EDE7FF"/>
                </a:solidFill>
                <a:latin typeface="Avenir Next" pitchFamily="34" charset="0"/>
                <a:ea typeface="Avenir Next" pitchFamily="34" charset="-122"/>
                <a:cs typeface="Avenir Next" pitchFamily="34" charset="-120"/>
              </a:rPr>
              <a:t>per answer</a:t>
            </a:r>
            <a:endParaRPr lang="en-US" sz="1300" dirty="0"/>
          </a:p>
        </p:txBody>
      </p:sp>
      <p:sp>
        <p:nvSpPr>
          <p:cNvPr id="5" name="Text 2"/>
          <p:cNvSpPr/>
          <p:nvPr/>
        </p:nvSpPr>
        <p:spPr>
          <a:xfrm>
            <a:off x="5897880" y="2103120"/>
            <a:ext cx="2560320" cy="594360"/>
          </a:xfrm>
          <a:prstGeom prst="rect">
            <a:avLst/>
          </a:prstGeom>
          <a:noFill/>
          <a:ln/>
        </p:spPr>
        <p:txBody>
          <a:bodyPr wrap="square" lIns="0" tIns="0" rIns="0" bIns="0" rtlCol="0" anchor="ctr"/>
          <a:lstStyle/>
          <a:p>
            <a:pPr indent="0" marL="0">
              <a:buNone/>
            </a:pPr>
            <a:r>
              <a:rPr lang="en-US" sz="3600" b="1" dirty="0">
                <a:solidFill>
                  <a:srgbClr val="FFFFFF"/>
                </a:solidFill>
                <a:latin typeface="Avenir Next" pitchFamily="34" charset="0"/>
                <a:ea typeface="Avenir Next" pitchFamily="34" charset="-122"/>
                <a:cs typeface="Avenir Next" pitchFamily="34" charset="-120"/>
              </a:rPr>
              <a:t>≈ 5 ¢</a:t>
            </a:r>
            <a:endParaRPr lang="en-US" sz="3600" dirty="0"/>
          </a:p>
        </p:txBody>
      </p:sp>
      <p:sp>
        <p:nvSpPr>
          <p:cNvPr id="6" name="Text 3"/>
          <p:cNvSpPr/>
          <p:nvPr/>
        </p:nvSpPr>
        <p:spPr>
          <a:xfrm>
            <a:off x="5897880" y="2679192"/>
            <a:ext cx="2560320" cy="320040"/>
          </a:xfrm>
          <a:prstGeom prst="rect">
            <a:avLst/>
          </a:prstGeom>
          <a:noFill/>
          <a:ln/>
        </p:spPr>
        <p:txBody>
          <a:bodyPr wrap="square" lIns="0" tIns="0" rIns="0" bIns="0" rtlCol="0" anchor="ctr"/>
          <a:lstStyle/>
          <a:p>
            <a:pPr indent="0" marL="0">
              <a:buNone/>
            </a:pPr>
            <a:r>
              <a:rPr lang="en-US" sz="1300" dirty="0">
                <a:solidFill>
                  <a:srgbClr val="EDE7FF"/>
                </a:solidFill>
                <a:latin typeface="Avenir Next" pitchFamily="34" charset="0"/>
                <a:ea typeface="Avenir Next" pitchFamily="34" charset="-122"/>
                <a:cs typeface="Avenir Next" pitchFamily="34" charset="-120"/>
              </a:rPr>
              <a:t>per answer</a:t>
            </a:r>
            <a:endParaRPr lang="en-US" sz="1300" dirty="0"/>
          </a:p>
        </p:txBody>
      </p:sp>
      <p:sp>
        <p:nvSpPr>
          <p:cNvPr id="7" name="Text 4"/>
          <p:cNvSpPr/>
          <p:nvPr/>
        </p:nvSpPr>
        <p:spPr>
          <a:xfrm>
            <a:off x="5897880" y="3337560"/>
            <a:ext cx="2560320" cy="594360"/>
          </a:xfrm>
          <a:prstGeom prst="rect">
            <a:avLst/>
          </a:prstGeom>
          <a:noFill/>
          <a:ln/>
        </p:spPr>
        <p:txBody>
          <a:bodyPr wrap="square" lIns="0" tIns="0" rIns="0" bIns="0" rtlCol="0" anchor="ctr"/>
          <a:lstStyle/>
          <a:p>
            <a:pPr indent="0" marL="0">
              <a:buNone/>
            </a:pPr>
            <a:r>
              <a:rPr lang="en-US" sz="3600" b="1" dirty="0">
                <a:solidFill>
                  <a:srgbClr val="FFFFFF"/>
                </a:solidFill>
                <a:latin typeface="Avenir Next" pitchFamily="34" charset="0"/>
                <a:ea typeface="Avenir Next" pitchFamily="34" charset="-122"/>
                <a:cs typeface="Avenir Next" pitchFamily="34" charset="-120"/>
              </a:rPr>
              <a:t>$0.02</a:t>
            </a:r>
            <a:endParaRPr lang="en-US" sz="3600" dirty="0"/>
          </a:p>
        </p:txBody>
      </p:sp>
      <p:sp>
        <p:nvSpPr>
          <p:cNvPr id="8" name="Text 5"/>
          <p:cNvSpPr/>
          <p:nvPr/>
        </p:nvSpPr>
        <p:spPr>
          <a:xfrm>
            <a:off x="5897880" y="3913632"/>
            <a:ext cx="2560320" cy="320040"/>
          </a:xfrm>
          <a:prstGeom prst="rect">
            <a:avLst/>
          </a:prstGeom>
          <a:noFill/>
          <a:ln/>
        </p:spPr>
        <p:txBody>
          <a:bodyPr wrap="square" lIns="0" tIns="0" rIns="0" bIns="0" rtlCol="0" anchor="ctr"/>
          <a:lstStyle/>
          <a:p>
            <a:pPr indent="0" marL="0">
              <a:buNone/>
            </a:pPr>
            <a:r>
              <a:rPr lang="en-US" sz="1300" dirty="0">
                <a:solidFill>
                  <a:srgbClr val="EDE7FF"/>
                </a:solidFill>
                <a:latin typeface="Avenir Next" pitchFamily="34" charset="0"/>
                <a:ea typeface="Avenir Next" pitchFamily="34" charset="-122"/>
                <a:cs typeface="Avenir Next" pitchFamily="34" charset="-120"/>
              </a:rPr>
              <a:t>to judge 1,126 kinds of message</a:t>
            </a:r>
            <a:endParaRPr lang="en-US" sz="1300" dirty="0"/>
          </a:p>
        </p:txBody>
      </p:sp>
      <p:pic>
        <p:nvPicPr>
          <p:cNvPr id="9" name="Image 1" descr="preencoded.png">    </p:cNvPr>
          <p:cNvPicPr>
            <a:picLocks noChangeAspect="1"/>
          </p:cNvPicPr>
          <p:nvPr/>
        </p:nvPicPr>
        <p:blipFill>
          <a:blip r:embed="rId2"/>
          <a:stretch>
            <a:fillRect/>
          </a:stretch>
        </p:blipFill>
        <p:spPr>
          <a:xfrm>
            <a:off x="457200" y="594360"/>
            <a:ext cx="384048" cy="384048"/>
          </a:xfrm>
          <a:prstGeom prst="rect">
            <a:avLst/>
          </a:prstGeom>
        </p:spPr>
      </p:pic>
      <p:sp>
        <p:nvSpPr>
          <p:cNvPr id="10" name="Text 6"/>
          <p:cNvSpPr/>
          <p:nvPr/>
        </p:nvSpPr>
        <p:spPr>
          <a:xfrm>
            <a:off x="960120" y="612648"/>
            <a:ext cx="4480560" cy="347472"/>
          </a:xfrm>
          <a:prstGeom prst="rect">
            <a:avLst/>
          </a:prstGeom>
          <a:noFill/>
          <a:ln/>
        </p:spPr>
        <p:txBody>
          <a:bodyPr wrap="square" lIns="0" tIns="0" rIns="0" bIns="0" rtlCol="0" anchor="ctr"/>
          <a:lstStyle/>
          <a:p>
            <a:pPr indent="0" marL="0">
              <a:buNone/>
            </a:pPr>
            <a:r>
              <a:rPr lang="en-US" sz="1100" dirty="0">
                <a:solidFill>
                  <a:srgbClr val="6B7386"/>
                </a:solidFill>
                <a:latin typeface="Avenir Next" pitchFamily="34" charset="0"/>
                <a:ea typeface="Avenir Next" pitchFamily="34" charset="-122"/>
                <a:cs typeface="Avenir Next" pitchFamily="34" charset="-120"/>
              </a:rPr>
              <a:t>SereneDB challenge · SchubKI Hackathon 2026</a:t>
            </a:r>
            <a:endParaRPr lang="en-US" sz="1100" dirty="0"/>
          </a:p>
        </p:txBody>
      </p:sp>
      <p:sp>
        <p:nvSpPr>
          <p:cNvPr id="11" name="Text 7"/>
          <p:cNvSpPr/>
          <p:nvPr/>
        </p:nvSpPr>
        <p:spPr>
          <a:xfrm>
            <a:off x="457200" y="1325880"/>
            <a:ext cx="4937760" cy="1371600"/>
          </a:xfrm>
          <a:prstGeom prst="rect">
            <a:avLst/>
          </a:prstGeom>
          <a:noFill/>
          <a:ln/>
        </p:spPr>
        <p:txBody>
          <a:bodyPr wrap="square" lIns="0" tIns="0" rIns="0" bIns="0" rtlCol="0" anchor="ctr"/>
          <a:lstStyle/>
          <a:p>
            <a:pPr indent="0" marL="0">
              <a:buNone/>
            </a:pPr>
            <a:r>
              <a:rPr lang="en-US" sz="4000" b="1" dirty="0">
                <a:solidFill>
                  <a:srgbClr val="11121D"/>
                </a:solidFill>
                <a:latin typeface="Avenir Next" pitchFamily="34" charset="0"/>
                <a:ea typeface="Avenir Next" pitchFamily="34" charset="-122"/>
                <a:cs typeface="Avenir Next" pitchFamily="34" charset="-120"/>
              </a:rPr>
              <a:t>Making Sense</a:t>
            </a:r>
            <a:endParaRPr lang="en-US" sz="4000" dirty="0"/>
          </a:p>
          <a:p>
            <a:pPr indent="0" marL="0">
              <a:buNone/>
            </a:pPr>
            <a:r>
              <a:rPr lang="en-US" sz="4000" b="1" dirty="0">
                <a:solidFill>
                  <a:srgbClr val="11121D"/>
                </a:solidFill>
                <a:latin typeface="Avenir Next" pitchFamily="34" charset="0"/>
                <a:ea typeface="Avenir Next" pitchFamily="34" charset="-122"/>
                <a:cs typeface="Avenir Next" pitchFamily="34" charset="-120"/>
              </a:rPr>
              <a:t>of Logs</a:t>
            </a:r>
            <a:endParaRPr lang="en-US" sz="4000" dirty="0"/>
          </a:p>
        </p:txBody>
      </p:sp>
      <p:sp>
        <p:nvSpPr>
          <p:cNvPr id="12" name="Text 8"/>
          <p:cNvSpPr/>
          <p:nvPr/>
        </p:nvSpPr>
        <p:spPr>
          <a:xfrm>
            <a:off x="457200" y="2788920"/>
            <a:ext cx="4754880" cy="731520"/>
          </a:xfrm>
          <a:prstGeom prst="rect">
            <a:avLst/>
          </a:prstGeom>
          <a:noFill/>
          <a:ln/>
        </p:spPr>
        <p:txBody>
          <a:bodyPr wrap="square" lIns="0" tIns="0" rIns="0" bIns="0" rtlCol="0" anchor="t"/>
          <a:lstStyle/>
          <a:p>
            <a:pPr indent="0" marL="0">
              <a:buNone/>
            </a:pPr>
            <a:r>
              <a:rPr lang="en-US" sz="1600" dirty="0">
                <a:solidFill>
                  <a:srgbClr val="3A3F55"/>
                </a:solidFill>
                <a:latin typeface="Avenir Next" pitchFamily="34" charset="0"/>
                <a:ea typeface="Avenir Next" pitchFamily="34" charset="-122"/>
                <a:cs typeface="Avenir Next" pitchFamily="34" charset="-120"/>
              </a:rPr>
              <a:t>Ask your logs a question. Get the answer your role needs, fast, cheap, and with proof.</a:t>
            </a:r>
            <a:endParaRPr lang="en-US" sz="1600" dirty="0"/>
          </a:p>
        </p:txBody>
      </p:sp>
      <p:sp>
        <p:nvSpPr>
          <p:cNvPr id="13" name="Text 9"/>
          <p:cNvSpPr/>
          <p:nvPr/>
        </p:nvSpPr>
        <p:spPr>
          <a:xfrm>
            <a:off x="457200" y="4160520"/>
            <a:ext cx="4572000" cy="274320"/>
          </a:xfrm>
          <a:prstGeom prst="rect">
            <a:avLst/>
          </a:prstGeom>
          <a:noFill/>
          <a:ln/>
        </p:spPr>
        <p:txBody>
          <a:bodyPr wrap="square" lIns="0" tIns="0" rIns="0" bIns="0" rtlCol="0" anchor="ctr"/>
          <a:lstStyle/>
          <a:p>
            <a:pPr indent="0" marL="0">
              <a:buNone/>
            </a:pPr>
            <a:r>
              <a:rPr lang="en-US" sz="1200" b="1" dirty="0">
                <a:solidFill>
                  <a:srgbClr val="11121D"/>
                </a:solidFill>
                <a:latin typeface="Avenir Next" pitchFamily="34" charset="0"/>
                <a:ea typeface="Avenir Next" pitchFamily="34" charset="-122"/>
                <a:cs typeface="Avenir Next" pitchFamily="34" charset="-120"/>
              </a:rPr>
              <a:t>Amirali &amp; Konark</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4736592"/>
            <a:ext cx="146304" cy="146304"/>
          </a:xfrm>
          <a:prstGeom prst="rect">
            <a:avLst/>
          </a:prstGeom>
        </p:spPr>
      </p:pic>
      <p:sp>
        <p:nvSpPr>
          <p:cNvPr id="3" name="Text 0"/>
          <p:cNvSpPr/>
          <p:nvPr/>
        </p:nvSpPr>
        <p:spPr>
          <a:xfrm>
            <a:off x="676656" y="4700016"/>
            <a:ext cx="5486400" cy="228600"/>
          </a:xfrm>
          <a:prstGeom prst="rect">
            <a:avLst/>
          </a:prstGeom>
          <a:noFill/>
          <a:ln/>
        </p:spPr>
        <p:txBody>
          <a:bodyPr wrap="square" lIns="0" tIns="0" rIns="0" bIns="0" rtlCol="0" anchor="ctr"/>
          <a:lstStyle/>
          <a:p>
            <a:pPr indent="0" marL="0">
              <a:buNone/>
            </a:pPr>
            <a:r>
              <a:rPr lang="en-US" sz="900" dirty="0">
                <a:solidFill>
                  <a:srgbClr val="6B7386"/>
                </a:solidFill>
                <a:latin typeface="Avenir Next" pitchFamily="34" charset="0"/>
                <a:ea typeface="Avenir Next" pitchFamily="34" charset="-122"/>
                <a:cs typeface="Avenir Next" pitchFamily="34" charset="-120"/>
              </a:rPr>
              <a:t>Making Sense of Logs  ·  Problem</a:t>
            </a:r>
            <a:endParaRPr lang="en-US" sz="900" dirty="0"/>
          </a:p>
        </p:txBody>
      </p:sp>
      <p:sp>
        <p:nvSpPr>
          <p:cNvPr id="4" name="Text 1"/>
          <p:cNvSpPr/>
          <p:nvPr/>
        </p:nvSpPr>
        <p:spPr>
          <a:xfrm>
            <a:off x="7772400" y="4700016"/>
            <a:ext cx="914400" cy="228600"/>
          </a:xfrm>
          <a:prstGeom prst="rect">
            <a:avLst/>
          </a:prstGeom>
          <a:noFill/>
          <a:ln/>
        </p:spPr>
        <p:txBody>
          <a:bodyPr wrap="square" lIns="0" tIns="0" rIns="0" bIns="0" rtlCol="0" anchor="ctr"/>
          <a:lstStyle/>
          <a:p>
            <a:pPr algn="r" indent="0" marL="0">
              <a:buNone/>
            </a:pPr>
            <a:r>
              <a:rPr lang="en-US" sz="900" dirty="0">
                <a:solidFill>
                  <a:srgbClr val="6B7386"/>
                </a:solidFill>
                <a:latin typeface="Avenir Next" pitchFamily="34" charset="0"/>
                <a:ea typeface="Avenir Next" pitchFamily="34" charset="-122"/>
                <a:cs typeface="Avenir Next" pitchFamily="34" charset="-120"/>
              </a:rPr>
              <a:t>2</a:t>
            </a:r>
            <a:endParaRPr lang="en-US" sz="900" dirty="0"/>
          </a:p>
        </p:txBody>
      </p:sp>
      <p:sp>
        <p:nvSpPr>
          <p:cNvPr id="5" name="Text 2"/>
          <p:cNvSpPr/>
          <p:nvPr/>
        </p:nvSpPr>
        <p:spPr>
          <a:xfrm>
            <a:off x="457200" y="320040"/>
            <a:ext cx="8229600" cy="228600"/>
          </a:xfrm>
          <a:prstGeom prst="rect">
            <a:avLst/>
          </a:prstGeom>
          <a:noFill/>
          <a:ln/>
        </p:spPr>
        <p:txBody>
          <a:bodyPr wrap="square" lIns="0" tIns="0" rIns="0" bIns="0" rtlCol="0" anchor="ctr"/>
          <a:lstStyle/>
          <a:p>
            <a:pPr indent="0" marL="0">
              <a:buNone/>
            </a:pPr>
            <a:r>
              <a:rPr lang="en-US" sz="1000" b="1" spc="300" kern="0" dirty="0">
                <a:solidFill>
                  <a:srgbClr val="6A4BD8"/>
                </a:solidFill>
                <a:latin typeface="Avenir Next" pitchFamily="34" charset="0"/>
                <a:ea typeface="Avenir Next" pitchFamily="34" charset="-122"/>
                <a:cs typeface="Avenir Next" pitchFamily="34" charset="-120"/>
              </a:rPr>
              <a:t>THE PROBLEM</a:t>
            </a:r>
            <a:endParaRPr lang="en-US" sz="1000" dirty="0"/>
          </a:p>
        </p:txBody>
      </p:sp>
      <p:sp>
        <p:nvSpPr>
          <p:cNvPr id="6" name="Text 3"/>
          <p:cNvSpPr/>
          <p:nvPr/>
        </p:nvSpPr>
        <p:spPr>
          <a:xfrm>
            <a:off x="457200" y="566928"/>
            <a:ext cx="8229600" cy="594360"/>
          </a:xfrm>
          <a:prstGeom prst="rect">
            <a:avLst/>
          </a:prstGeom>
          <a:noFill/>
          <a:ln/>
        </p:spPr>
        <p:txBody>
          <a:bodyPr wrap="square" lIns="0" tIns="0" rIns="0" bIns="0" rtlCol="0" anchor="ctr"/>
          <a:lstStyle/>
          <a:p>
            <a:pPr indent="0" marL="0">
              <a:buNone/>
            </a:pPr>
            <a:r>
              <a:rPr lang="en-US" sz="2800" b="1" dirty="0">
                <a:solidFill>
                  <a:srgbClr val="11121D"/>
                </a:solidFill>
                <a:latin typeface="Avenir Next" pitchFamily="34" charset="0"/>
                <a:ea typeface="Avenir Next" pitchFamily="34" charset="-122"/>
                <a:cs typeface="Avenir Next" pitchFamily="34" charset="-120"/>
              </a:rPr>
              <a:t>Millions of lines, three people, no answers</a:t>
            </a:r>
            <a:endParaRPr lang="en-US" sz="2800" dirty="0"/>
          </a:p>
        </p:txBody>
      </p:sp>
      <p:sp>
        <p:nvSpPr>
          <p:cNvPr id="7" name="Shape 4"/>
          <p:cNvSpPr/>
          <p:nvPr/>
        </p:nvSpPr>
        <p:spPr>
          <a:xfrm>
            <a:off x="457200" y="1280160"/>
            <a:ext cx="2621280" cy="1600200"/>
          </a:xfrm>
          <a:prstGeom prst="roundRect">
            <a:avLst>
              <a:gd name="adj" fmla="val 8000"/>
            </a:avLst>
          </a:prstGeom>
          <a:solidFill>
            <a:srgbClr val="F0F2F5"/>
          </a:solidFill>
          <a:ln/>
        </p:spPr>
      </p:sp>
      <p:pic>
        <p:nvPicPr>
          <p:cNvPr id="8" name="Image 1" descr="preencoded.png">    </p:cNvPr>
          <p:cNvPicPr>
            <a:picLocks noChangeAspect="1"/>
          </p:cNvPicPr>
          <p:nvPr/>
        </p:nvPicPr>
        <p:blipFill>
          <a:blip r:embed="rId2"/>
          <a:stretch>
            <a:fillRect/>
          </a:stretch>
        </p:blipFill>
        <p:spPr>
          <a:xfrm>
            <a:off x="713232" y="1554480"/>
            <a:ext cx="502920" cy="502920"/>
          </a:xfrm>
          <a:prstGeom prst="rect">
            <a:avLst/>
          </a:prstGeom>
        </p:spPr>
      </p:pic>
      <p:pic>
        <p:nvPicPr>
          <p:cNvPr id="9" name="Image 2" descr="preencoded.png">    </p:cNvPr>
          <p:cNvPicPr>
            <a:picLocks noChangeAspect="1"/>
          </p:cNvPicPr>
          <p:nvPr/>
        </p:nvPicPr>
        <p:blipFill>
          <a:blip r:embed="rId3"/>
          <a:stretch>
            <a:fillRect/>
          </a:stretch>
        </p:blipFill>
        <p:spPr>
          <a:xfrm>
            <a:off x="843991" y="1685239"/>
            <a:ext cx="241402" cy="241402"/>
          </a:xfrm>
          <a:prstGeom prst="rect">
            <a:avLst/>
          </a:prstGeom>
        </p:spPr>
      </p:pic>
      <p:sp>
        <p:nvSpPr>
          <p:cNvPr id="10" name="Text 5"/>
          <p:cNvSpPr/>
          <p:nvPr/>
        </p:nvSpPr>
        <p:spPr>
          <a:xfrm>
            <a:off x="713232" y="2240280"/>
            <a:ext cx="2164080" cy="411480"/>
          </a:xfrm>
          <a:prstGeom prst="rect">
            <a:avLst/>
          </a:prstGeom>
          <a:noFill/>
          <a:ln/>
        </p:spPr>
        <p:txBody>
          <a:bodyPr wrap="square" lIns="0" tIns="0" rIns="0" bIns="0" rtlCol="0" anchor="t"/>
          <a:lstStyle/>
          <a:p>
            <a:pPr indent="0" marL="0">
              <a:buNone/>
            </a:pPr>
            <a:r>
              <a:rPr lang="en-US" sz="1600" b="1" dirty="0">
                <a:solidFill>
                  <a:srgbClr val="11121D"/>
                </a:solidFill>
                <a:latin typeface="Avenir Next" pitchFamily="34" charset="0"/>
                <a:ea typeface="Avenir Next" pitchFamily="34" charset="-122"/>
                <a:cs typeface="Avenir Next" pitchFamily="34" charset="-120"/>
              </a:rPr>
              <a:t>Engineer</a:t>
            </a:r>
            <a:endParaRPr lang="en-US" sz="1600" dirty="0"/>
          </a:p>
        </p:txBody>
      </p:sp>
      <p:sp>
        <p:nvSpPr>
          <p:cNvPr id="11" name="Text 6"/>
          <p:cNvSpPr/>
          <p:nvPr/>
        </p:nvSpPr>
        <p:spPr>
          <a:xfrm>
            <a:off x="713232" y="2651760"/>
            <a:ext cx="2164080" cy="91440"/>
          </a:xfrm>
          <a:prstGeom prst="rect">
            <a:avLst/>
          </a:prstGeom>
          <a:noFill/>
          <a:ln/>
        </p:spPr>
        <p:txBody>
          <a:bodyPr wrap="square" lIns="0" tIns="0" rIns="0" bIns="0" rtlCol="0" anchor="t"/>
          <a:lstStyle/>
          <a:p>
            <a:pPr indent="0" marL="0">
              <a:buNone/>
            </a:pPr>
            <a:r>
              <a:rPr lang="en-US" sz="1300" dirty="0">
                <a:solidFill>
                  <a:srgbClr val="3A3F55"/>
                </a:solidFill>
                <a:latin typeface="Avenir Next" pitchFamily="34" charset="0"/>
                <a:ea typeface="Avenir Next" pitchFamily="34" charset="-122"/>
                <a:cs typeface="Avenir Next" pitchFamily="34" charset="-120"/>
              </a:rPr>
              <a:t>“What failed?”</a:t>
            </a:r>
            <a:endParaRPr lang="en-US" sz="1300" dirty="0"/>
          </a:p>
        </p:txBody>
      </p:sp>
      <p:sp>
        <p:nvSpPr>
          <p:cNvPr id="12" name="Shape 7"/>
          <p:cNvSpPr/>
          <p:nvPr/>
        </p:nvSpPr>
        <p:spPr>
          <a:xfrm>
            <a:off x="3261360" y="1280160"/>
            <a:ext cx="2621280" cy="1600200"/>
          </a:xfrm>
          <a:prstGeom prst="roundRect">
            <a:avLst>
              <a:gd name="adj" fmla="val 8000"/>
            </a:avLst>
          </a:prstGeom>
          <a:solidFill>
            <a:srgbClr val="F0F2F5"/>
          </a:solidFill>
          <a:ln/>
        </p:spPr>
      </p:sp>
      <p:pic>
        <p:nvPicPr>
          <p:cNvPr id="13" name="Image 3" descr="preencoded.png">    </p:cNvPr>
          <p:cNvPicPr>
            <a:picLocks noChangeAspect="1"/>
          </p:cNvPicPr>
          <p:nvPr/>
        </p:nvPicPr>
        <p:blipFill>
          <a:blip r:embed="rId4"/>
          <a:stretch>
            <a:fillRect/>
          </a:stretch>
        </p:blipFill>
        <p:spPr>
          <a:xfrm>
            <a:off x="3517392" y="1554480"/>
            <a:ext cx="502920" cy="502920"/>
          </a:xfrm>
          <a:prstGeom prst="rect">
            <a:avLst/>
          </a:prstGeom>
        </p:spPr>
      </p:pic>
      <p:pic>
        <p:nvPicPr>
          <p:cNvPr id="14" name="Image 4" descr="preencoded.png">    </p:cNvPr>
          <p:cNvPicPr>
            <a:picLocks noChangeAspect="1"/>
          </p:cNvPicPr>
          <p:nvPr/>
        </p:nvPicPr>
        <p:blipFill>
          <a:blip r:embed="rId5"/>
          <a:stretch>
            <a:fillRect/>
          </a:stretch>
        </p:blipFill>
        <p:spPr>
          <a:xfrm>
            <a:off x="3648151" y="1685239"/>
            <a:ext cx="241402" cy="241402"/>
          </a:xfrm>
          <a:prstGeom prst="rect">
            <a:avLst/>
          </a:prstGeom>
        </p:spPr>
      </p:pic>
      <p:sp>
        <p:nvSpPr>
          <p:cNvPr id="15" name="Text 8"/>
          <p:cNvSpPr/>
          <p:nvPr/>
        </p:nvSpPr>
        <p:spPr>
          <a:xfrm>
            <a:off x="3517392" y="2240280"/>
            <a:ext cx="2164080" cy="411480"/>
          </a:xfrm>
          <a:prstGeom prst="rect">
            <a:avLst/>
          </a:prstGeom>
          <a:noFill/>
          <a:ln/>
        </p:spPr>
        <p:txBody>
          <a:bodyPr wrap="square" lIns="0" tIns="0" rIns="0" bIns="0" rtlCol="0" anchor="t"/>
          <a:lstStyle/>
          <a:p>
            <a:pPr indent="0" marL="0">
              <a:buNone/>
            </a:pPr>
            <a:r>
              <a:rPr lang="en-US" sz="1600" b="1" dirty="0">
                <a:solidFill>
                  <a:srgbClr val="11121D"/>
                </a:solidFill>
                <a:latin typeface="Avenir Next" pitchFamily="34" charset="0"/>
                <a:ea typeface="Avenir Next" pitchFamily="34" charset="-122"/>
                <a:cs typeface="Avenir Next" pitchFamily="34" charset="-120"/>
              </a:rPr>
              <a:t>Team lead</a:t>
            </a:r>
            <a:endParaRPr lang="en-US" sz="1600" dirty="0"/>
          </a:p>
        </p:txBody>
      </p:sp>
      <p:sp>
        <p:nvSpPr>
          <p:cNvPr id="16" name="Text 9"/>
          <p:cNvSpPr/>
          <p:nvPr/>
        </p:nvSpPr>
        <p:spPr>
          <a:xfrm>
            <a:off x="3517392" y="2651760"/>
            <a:ext cx="2164080" cy="91440"/>
          </a:xfrm>
          <a:prstGeom prst="rect">
            <a:avLst/>
          </a:prstGeom>
          <a:noFill/>
          <a:ln/>
        </p:spPr>
        <p:txBody>
          <a:bodyPr wrap="square" lIns="0" tIns="0" rIns="0" bIns="0" rtlCol="0" anchor="t"/>
          <a:lstStyle/>
          <a:p>
            <a:pPr indent="0" marL="0">
              <a:buNone/>
            </a:pPr>
            <a:r>
              <a:rPr lang="en-US" sz="1300" dirty="0">
                <a:solidFill>
                  <a:srgbClr val="3A3F55"/>
                </a:solidFill>
                <a:latin typeface="Avenir Next" pitchFamily="34" charset="0"/>
                <a:ea typeface="Avenir Next" pitchFamily="34" charset="-122"/>
                <a:cs typeface="Avenir Next" pitchFamily="34" charset="-120"/>
              </a:rPr>
              <a:t>“What keeps coming back?”</a:t>
            </a:r>
            <a:endParaRPr lang="en-US" sz="1300" dirty="0"/>
          </a:p>
        </p:txBody>
      </p:sp>
      <p:sp>
        <p:nvSpPr>
          <p:cNvPr id="17" name="Shape 10"/>
          <p:cNvSpPr/>
          <p:nvPr/>
        </p:nvSpPr>
        <p:spPr>
          <a:xfrm>
            <a:off x="6065520" y="1280160"/>
            <a:ext cx="2621280" cy="1600200"/>
          </a:xfrm>
          <a:prstGeom prst="roundRect">
            <a:avLst>
              <a:gd name="adj" fmla="val 8000"/>
            </a:avLst>
          </a:prstGeom>
          <a:solidFill>
            <a:srgbClr val="F0F2F5"/>
          </a:solidFill>
          <a:ln/>
        </p:spPr>
      </p:sp>
      <p:pic>
        <p:nvPicPr>
          <p:cNvPr id="18" name="Image 5" descr="preencoded.png">    </p:cNvPr>
          <p:cNvPicPr>
            <a:picLocks noChangeAspect="1"/>
          </p:cNvPicPr>
          <p:nvPr/>
        </p:nvPicPr>
        <p:blipFill>
          <a:blip r:embed="rId6"/>
          <a:stretch>
            <a:fillRect/>
          </a:stretch>
        </p:blipFill>
        <p:spPr>
          <a:xfrm>
            <a:off x="6321552" y="1554480"/>
            <a:ext cx="502920" cy="502920"/>
          </a:xfrm>
          <a:prstGeom prst="rect">
            <a:avLst/>
          </a:prstGeom>
        </p:spPr>
      </p:pic>
      <p:pic>
        <p:nvPicPr>
          <p:cNvPr id="19" name="Image 6" descr="preencoded.png">    </p:cNvPr>
          <p:cNvPicPr>
            <a:picLocks noChangeAspect="1"/>
          </p:cNvPicPr>
          <p:nvPr/>
        </p:nvPicPr>
        <p:blipFill>
          <a:blip r:embed="rId7"/>
          <a:stretch>
            <a:fillRect/>
          </a:stretch>
        </p:blipFill>
        <p:spPr>
          <a:xfrm>
            <a:off x="6452311" y="1685239"/>
            <a:ext cx="241402" cy="241402"/>
          </a:xfrm>
          <a:prstGeom prst="rect">
            <a:avLst/>
          </a:prstGeom>
        </p:spPr>
      </p:pic>
      <p:sp>
        <p:nvSpPr>
          <p:cNvPr id="20" name="Text 11"/>
          <p:cNvSpPr/>
          <p:nvPr/>
        </p:nvSpPr>
        <p:spPr>
          <a:xfrm>
            <a:off x="6321552" y="2240280"/>
            <a:ext cx="2164080" cy="411480"/>
          </a:xfrm>
          <a:prstGeom prst="rect">
            <a:avLst/>
          </a:prstGeom>
          <a:noFill/>
          <a:ln/>
        </p:spPr>
        <p:txBody>
          <a:bodyPr wrap="square" lIns="0" tIns="0" rIns="0" bIns="0" rtlCol="0" anchor="t"/>
          <a:lstStyle/>
          <a:p>
            <a:pPr indent="0" marL="0">
              <a:buNone/>
            </a:pPr>
            <a:r>
              <a:rPr lang="en-US" sz="1600" b="1" dirty="0">
                <a:solidFill>
                  <a:srgbClr val="11121D"/>
                </a:solidFill>
                <a:latin typeface="Avenir Next" pitchFamily="34" charset="0"/>
                <a:ea typeface="Avenir Next" pitchFamily="34" charset="-122"/>
                <a:cs typeface="Avenir Next" pitchFamily="34" charset="-120"/>
              </a:rPr>
              <a:t>Manager</a:t>
            </a:r>
            <a:endParaRPr lang="en-US" sz="1600" dirty="0"/>
          </a:p>
        </p:txBody>
      </p:sp>
      <p:sp>
        <p:nvSpPr>
          <p:cNvPr id="21" name="Text 12"/>
          <p:cNvSpPr/>
          <p:nvPr/>
        </p:nvSpPr>
        <p:spPr>
          <a:xfrm>
            <a:off x="6321552" y="2651760"/>
            <a:ext cx="2164080" cy="91440"/>
          </a:xfrm>
          <a:prstGeom prst="rect">
            <a:avLst/>
          </a:prstGeom>
          <a:noFill/>
          <a:ln/>
        </p:spPr>
        <p:txBody>
          <a:bodyPr wrap="square" lIns="0" tIns="0" rIns="0" bIns="0" rtlCol="0" anchor="t"/>
          <a:lstStyle/>
          <a:p>
            <a:pPr indent="0" marL="0">
              <a:buNone/>
            </a:pPr>
            <a:r>
              <a:rPr lang="en-US" sz="1300" dirty="0">
                <a:solidFill>
                  <a:srgbClr val="3A3F55"/>
                </a:solidFill>
                <a:latin typeface="Avenir Next" pitchFamily="34" charset="0"/>
                <a:ea typeface="Avenir Next" pitchFamily="34" charset="-122"/>
                <a:cs typeface="Avenir Next" pitchFamily="34" charset="-120"/>
              </a:rPr>
              <a:t>“What do we fix first?”</a:t>
            </a:r>
            <a:endParaRPr lang="en-US" sz="1300" dirty="0"/>
          </a:p>
        </p:txBody>
      </p:sp>
      <p:sp>
        <p:nvSpPr>
          <p:cNvPr id="22" name="Shape 13"/>
          <p:cNvSpPr/>
          <p:nvPr/>
        </p:nvSpPr>
        <p:spPr>
          <a:xfrm>
            <a:off x="457200" y="3017520"/>
            <a:ext cx="2621280" cy="1554480"/>
          </a:xfrm>
          <a:prstGeom prst="roundRect">
            <a:avLst>
              <a:gd name="adj" fmla="val 8235"/>
            </a:avLst>
          </a:prstGeom>
          <a:solidFill>
            <a:srgbClr val="F0F2F5"/>
          </a:solidFill>
          <a:ln/>
        </p:spPr>
      </p:sp>
      <p:sp>
        <p:nvSpPr>
          <p:cNvPr id="23" name="Text 14"/>
          <p:cNvSpPr/>
          <p:nvPr/>
        </p:nvSpPr>
        <p:spPr>
          <a:xfrm>
            <a:off x="731520" y="3337560"/>
            <a:ext cx="2164080" cy="731520"/>
          </a:xfrm>
          <a:prstGeom prst="rect">
            <a:avLst/>
          </a:prstGeom>
          <a:noFill/>
          <a:ln/>
        </p:spPr>
        <p:txBody>
          <a:bodyPr wrap="square" lIns="0" tIns="0" rIns="0" bIns="0" rtlCol="0" anchor="ctr"/>
          <a:lstStyle/>
          <a:p>
            <a:pPr indent="0" marL="0">
              <a:buNone/>
            </a:pPr>
            <a:r>
              <a:rPr lang="en-US" sz="3800" b="1" dirty="0">
                <a:solidFill>
                  <a:srgbClr val="6A4BD8"/>
                </a:solidFill>
                <a:latin typeface="Avenir Next" pitchFamily="34" charset="0"/>
                <a:ea typeface="Avenir Next" pitchFamily="34" charset="-122"/>
                <a:cs typeface="Avenir Next" pitchFamily="34" charset="-120"/>
              </a:rPr>
              <a:t>4.7 M</a:t>
            </a:r>
            <a:endParaRPr lang="en-US" sz="3800" dirty="0"/>
          </a:p>
        </p:txBody>
      </p:sp>
      <p:sp>
        <p:nvSpPr>
          <p:cNvPr id="24" name="Text 15"/>
          <p:cNvSpPr/>
          <p:nvPr/>
        </p:nvSpPr>
        <p:spPr>
          <a:xfrm>
            <a:off x="731520" y="4114800"/>
            <a:ext cx="2164080" cy="320040"/>
          </a:xfrm>
          <a:prstGeom prst="rect">
            <a:avLst/>
          </a:prstGeom>
          <a:noFill/>
          <a:ln/>
        </p:spPr>
        <p:txBody>
          <a:bodyPr wrap="square" lIns="0" tIns="0" rIns="0" bIns="0" rtlCol="0" anchor="t"/>
          <a:lstStyle/>
          <a:p>
            <a:pPr indent="0" marL="0">
              <a:buNone/>
            </a:pPr>
            <a:r>
              <a:rPr lang="en-US" sz="1300" dirty="0">
                <a:solidFill>
                  <a:srgbClr val="3A3F55"/>
                </a:solidFill>
                <a:latin typeface="Avenir Next" pitchFamily="34" charset="0"/>
                <a:ea typeface="Avenir Next" pitchFamily="34" charset="-122"/>
                <a:cs typeface="Avenir Next" pitchFamily="34" charset="-120"/>
              </a:rPr>
              <a:t>lines: no prompt fits</a:t>
            </a:r>
            <a:endParaRPr lang="en-US" sz="1300" dirty="0"/>
          </a:p>
        </p:txBody>
      </p:sp>
      <p:sp>
        <p:nvSpPr>
          <p:cNvPr id="25" name="Shape 16"/>
          <p:cNvSpPr/>
          <p:nvPr/>
        </p:nvSpPr>
        <p:spPr>
          <a:xfrm>
            <a:off x="3261360" y="3017520"/>
            <a:ext cx="2621280" cy="1554480"/>
          </a:xfrm>
          <a:prstGeom prst="roundRect">
            <a:avLst>
              <a:gd name="adj" fmla="val 8235"/>
            </a:avLst>
          </a:prstGeom>
          <a:solidFill>
            <a:srgbClr val="F0F2F5"/>
          </a:solidFill>
          <a:ln/>
        </p:spPr>
      </p:sp>
      <p:sp>
        <p:nvSpPr>
          <p:cNvPr id="26" name="Text 17"/>
          <p:cNvSpPr/>
          <p:nvPr/>
        </p:nvSpPr>
        <p:spPr>
          <a:xfrm>
            <a:off x="3535680" y="3337560"/>
            <a:ext cx="2164080" cy="731520"/>
          </a:xfrm>
          <a:prstGeom prst="rect">
            <a:avLst/>
          </a:prstGeom>
          <a:noFill/>
          <a:ln/>
        </p:spPr>
        <p:txBody>
          <a:bodyPr wrap="square" lIns="0" tIns="0" rIns="0" bIns="0" rtlCol="0" anchor="ctr"/>
          <a:lstStyle/>
          <a:p>
            <a:pPr indent="0" marL="0">
              <a:buNone/>
            </a:pPr>
            <a:r>
              <a:rPr lang="en-US" sz="3800" b="1" dirty="0">
                <a:solidFill>
                  <a:srgbClr val="6A4BD8"/>
                </a:solidFill>
                <a:latin typeface="Avenir Next" pitchFamily="34" charset="0"/>
                <a:ea typeface="Avenir Next" pitchFamily="34" charset="-122"/>
                <a:cs typeface="Avenir Next" pitchFamily="34" charset="-120"/>
              </a:rPr>
              <a:t>855,501</a:t>
            </a:r>
            <a:endParaRPr lang="en-US" sz="3800" dirty="0"/>
          </a:p>
        </p:txBody>
      </p:sp>
      <p:sp>
        <p:nvSpPr>
          <p:cNvPr id="27" name="Text 18"/>
          <p:cNvSpPr/>
          <p:nvPr/>
        </p:nvSpPr>
        <p:spPr>
          <a:xfrm>
            <a:off x="3535680" y="4114800"/>
            <a:ext cx="2164080" cy="320040"/>
          </a:xfrm>
          <a:prstGeom prst="rect">
            <a:avLst/>
          </a:prstGeom>
          <a:noFill/>
          <a:ln/>
        </p:spPr>
        <p:txBody>
          <a:bodyPr wrap="square" lIns="0" tIns="0" rIns="0" bIns="0" rtlCol="0" anchor="t"/>
          <a:lstStyle/>
          <a:p>
            <a:pPr indent="0" marL="0">
              <a:buNone/>
            </a:pPr>
            <a:r>
              <a:rPr lang="en-US" sz="1300" dirty="0">
                <a:solidFill>
                  <a:srgbClr val="3A3F55"/>
                </a:solidFill>
                <a:latin typeface="Avenir Next" pitchFamily="34" charset="0"/>
                <a:ea typeface="Avenir Next" pitchFamily="34" charset="-122"/>
                <a:cs typeface="Avenir Next" pitchFamily="34" charset="-120"/>
              </a:rPr>
              <a:t>FATAL lines, 36,714 bursts</a:t>
            </a:r>
            <a:endParaRPr lang="en-US" sz="1300" dirty="0"/>
          </a:p>
        </p:txBody>
      </p:sp>
      <p:sp>
        <p:nvSpPr>
          <p:cNvPr id="28" name="Shape 19"/>
          <p:cNvSpPr/>
          <p:nvPr/>
        </p:nvSpPr>
        <p:spPr>
          <a:xfrm>
            <a:off x="6065520" y="3017520"/>
            <a:ext cx="2621280" cy="1554480"/>
          </a:xfrm>
          <a:prstGeom prst="roundRect">
            <a:avLst>
              <a:gd name="adj" fmla="val 8235"/>
            </a:avLst>
          </a:prstGeom>
          <a:solidFill>
            <a:srgbClr val="F0F2F5"/>
          </a:solidFill>
          <a:ln/>
        </p:spPr>
      </p:sp>
      <p:sp>
        <p:nvSpPr>
          <p:cNvPr id="29" name="Text 20"/>
          <p:cNvSpPr/>
          <p:nvPr/>
        </p:nvSpPr>
        <p:spPr>
          <a:xfrm>
            <a:off x="6339840" y="3337560"/>
            <a:ext cx="2164080" cy="731520"/>
          </a:xfrm>
          <a:prstGeom prst="rect">
            <a:avLst/>
          </a:prstGeom>
          <a:noFill/>
          <a:ln/>
        </p:spPr>
        <p:txBody>
          <a:bodyPr wrap="square" lIns="0" tIns="0" rIns="0" bIns="0" rtlCol="0" anchor="ctr"/>
          <a:lstStyle/>
          <a:p>
            <a:pPr indent="0" marL="0">
              <a:buNone/>
            </a:pPr>
            <a:r>
              <a:rPr lang="en-US" sz="3800" b="1" dirty="0">
                <a:solidFill>
                  <a:srgbClr val="6A4BD8"/>
                </a:solidFill>
                <a:latin typeface="Avenir Next" pitchFamily="34" charset="0"/>
                <a:ea typeface="Avenir Next" pitchFamily="34" charset="-122"/>
                <a:cs typeface="Avenir Next" pitchFamily="34" charset="-120"/>
              </a:rPr>
              <a:t>86 s</a:t>
            </a:r>
            <a:endParaRPr lang="en-US" sz="3800" dirty="0"/>
          </a:p>
        </p:txBody>
      </p:sp>
      <p:sp>
        <p:nvSpPr>
          <p:cNvPr id="30" name="Text 21"/>
          <p:cNvSpPr/>
          <p:nvPr/>
        </p:nvSpPr>
        <p:spPr>
          <a:xfrm>
            <a:off x="6339840" y="4114800"/>
            <a:ext cx="2164080" cy="320040"/>
          </a:xfrm>
          <a:prstGeom prst="rect">
            <a:avLst/>
          </a:prstGeom>
          <a:noFill/>
          <a:ln/>
        </p:spPr>
        <p:txBody>
          <a:bodyPr wrap="square" lIns="0" tIns="0" rIns="0" bIns="0" rtlCol="0" anchor="t"/>
          <a:lstStyle/>
          <a:p>
            <a:pPr indent="0" marL="0">
              <a:buNone/>
            </a:pPr>
            <a:r>
              <a:rPr lang="en-US" sz="1300" dirty="0">
                <a:solidFill>
                  <a:srgbClr val="3A3F55"/>
                </a:solidFill>
                <a:latin typeface="Avenir Next" pitchFamily="34" charset="0"/>
                <a:ea typeface="Avenir Next" pitchFamily="34" charset="-122"/>
                <a:cs typeface="Avenir Next" pitchFamily="34" charset="-120"/>
              </a:rPr>
              <a:t>per answer on raw files</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4736592"/>
            <a:ext cx="146304" cy="146304"/>
          </a:xfrm>
          <a:prstGeom prst="rect">
            <a:avLst/>
          </a:prstGeom>
        </p:spPr>
      </p:pic>
      <p:sp>
        <p:nvSpPr>
          <p:cNvPr id="3" name="Text 0"/>
          <p:cNvSpPr/>
          <p:nvPr/>
        </p:nvSpPr>
        <p:spPr>
          <a:xfrm>
            <a:off x="676656" y="4700016"/>
            <a:ext cx="5486400" cy="228600"/>
          </a:xfrm>
          <a:prstGeom prst="rect">
            <a:avLst/>
          </a:prstGeom>
          <a:noFill/>
          <a:ln/>
        </p:spPr>
        <p:txBody>
          <a:bodyPr wrap="square" lIns="0" tIns="0" rIns="0" bIns="0" rtlCol="0" anchor="ctr"/>
          <a:lstStyle/>
          <a:p>
            <a:pPr indent="0" marL="0">
              <a:buNone/>
            </a:pPr>
            <a:r>
              <a:rPr lang="en-US" sz="900" dirty="0">
                <a:solidFill>
                  <a:srgbClr val="6B7386"/>
                </a:solidFill>
                <a:latin typeface="Avenir Next" pitchFamily="34" charset="0"/>
                <a:ea typeface="Avenir Next" pitchFamily="34" charset="-122"/>
                <a:cs typeface="Avenir Next" pitchFamily="34" charset="-120"/>
              </a:rPr>
              <a:t>Making Sense of Logs  ·  Pipeline</a:t>
            </a:r>
            <a:endParaRPr lang="en-US" sz="900" dirty="0"/>
          </a:p>
        </p:txBody>
      </p:sp>
      <p:sp>
        <p:nvSpPr>
          <p:cNvPr id="4" name="Text 1"/>
          <p:cNvSpPr/>
          <p:nvPr/>
        </p:nvSpPr>
        <p:spPr>
          <a:xfrm>
            <a:off x="7772400" y="4700016"/>
            <a:ext cx="914400" cy="228600"/>
          </a:xfrm>
          <a:prstGeom prst="rect">
            <a:avLst/>
          </a:prstGeom>
          <a:noFill/>
          <a:ln/>
        </p:spPr>
        <p:txBody>
          <a:bodyPr wrap="square" lIns="0" tIns="0" rIns="0" bIns="0" rtlCol="0" anchor="ctr"/>
          <a:lstStyle/>
          <a:p>
            <a:pPr algn="r" indent="0" marL="0">
              <a:buNone/>
            </a:pPr>
            <a:r>
              <a:rPr lang="en-US" sz="900" dirty="0">
                <a:solidFill>
                  <a:srgbClr val="6B7386"/>
                </a:solidFill>
                <a:latin typeface="Avenir Next" pitchFamily="34" charset="0"/>
                <a:ea typeface="Avenir Next" pitchFamily="34" charset="-122"/>
                <a:cs typeface="Avenir Next" pitchFamily="34" charset="-120"/>
              </a:rPr>
              <a:t>3</a:t>
            </a:r>
            <a:endParaRPr lang="en-US" sz="900" dirty="0"/>
          </a:p>
        </p:txBody>
      </p:sp>
      <p:sp>
        <p:nvSpPr>
          <p:cNvPr id="5" name="Text 2"/>
          <p:cNvSpPr/>
          <p:nvPr/>
        </p:nvSpPr>
        <p:spPr>
          <a:xfrm>
            <a:off x="457200" y="320040"/>
            <a:ext cx="8229600" cy="228600"/>
          </a:xfrm>
          <a:prstGeom prst="rect">
            <a:avLst/>
          </a:prstGeom>
          <a:noFill/>
          <a:ln/>
        </p:spPr>
        <p:txBody>
          <a:bodyPr wrap="square" lIns="0" tIns="0" rIns="0" bIns="0" rtlCol="0" anchor="ctr"/>
          <a:lstStyle/>
          <a:p>
            <a:pPr indent="0" marL="0">
              <a:buNone/>
            </a:pPr>
            <a:r>
              <a:rPr lang="en-US" sz="1000" b="1" spc="300" kern="0" dirty="0">
                <a:solidFill>
                  <a:srgbClr val="6A4BD8"/>
                </a:solidFill>
                <a:latin typeface="Avenir Next" pitchFamily="34" charset="0"/>
                <a:ea typeface="Avenir Next" pitchFamily="34" charset="-122"/>
                <a:cs typeface="Avenir Next" pitchFamily="34" charset="-120"/>
              </a:rPr>
              <a:t>THE PIPELINE</a:t>
            </a:r>
            <a:endParaRPr lang="en-US" sz="1000" dirty="0"/>
          </a:p>
        </p:txBody>
      </p:sp>
      <p:sp>
        <p:nvSpPr>
          <p:cNvPr id="6" name="Text 3"/>
          <p:cNvSpPr/>
          <p:nvPr/>
        </p:nvSpPr>
        <p:spPr>
          <a:xfrm>
            <a:off x="457200" y="566928"/>
            <a:ext cx="8229600" cy="594360"/>
          </a:xfrm>
          <a:prstGeom prst="rect">
            <a:avLst/>
          </a:prstGeom>
          <a:noFill/>
          <a:ln/>
        </p:spPr>
        <p:txBody>
          <a:bodyPr wrap="square" lIns="0" tIns="0" rIns="0" bIns="0" rtlCol="0" anchor="ctr"/>
          <a:lstStyle/>
          <a:p>
            <a:pPr indent="0" marL="0">
              <a:buNone/>
            </a:pPr>
            <a:r>
              <a:rPr lang="en-US" sz="2800" b="1" dirty="0">
                <a:solidFill>
                  <a:srgbClr val="11121D"/>
                </a:solidFill>
                <a:latin typeface="Avenir Next" pitchFamily="34" charset="0"/>
                <a:ea typeface="Avenir Next" pitchFamily="34" charset="-122"/>
                <a:cs typeface="Avenir Next" pitchFamily="34" charset="-120"/>
              </a:rPr>
              <a:t>The database counts, the AI explains</a:t>
            </a:r>
            <a:endParaRPr lang="en-US" sz="2800" dirty="0"/>
          </a:p>
        </p:txBody>
      </p:sp>
      <p:sp>
        <p:nvSpPr>
          <p:cNvPr id="7" name="Shape 4"/>
          <p:cNvSpPr/>
          <p:nvPr/>
        </p:nvSpPr>
        <p:spPr>
          <a:xfrm>
            <a:off x="457200" y="1417320"/>
            <a:ext cx="1536192" cy="2743200"/>
          </a:xfrm>
          <a:prstGeom prst="roundRect">
            <a:avLst>
              <a:gd name="adj" fmla="val 8333"/>
            </a:avLst>
          </a:prstGeom>
          <a:solidFill>
            <a:srgbClr val="F1ECFD"/>
          </a:solidFill>
          <a:ln/>
        </p:spPr>
      </p:sp>
      <p:pic>
        <p:nvPicPr>
          <p:cNvPr id="8" name="Image 1" descr="preencoded.png">    </p:cNvPr>
          <p:cNvPicPr>
            <a:picLocks noChangeAspect="1"/>
          </p:cNvPicPr>
          <p:nvPr/>
        </p:nvPicPr>
        <p:blipFill>
          <a:blip r:embed="rId2"/>
          <a:stretch>
            <a:fillRect/>
          </a:stretch>
        </p:blipFill>
        <p:spPr>
          <a:xfrm>
            <a:off x="658368" y="1600200"/>
            <a:ext cx="457200" cy="457200"/>
          </a:xfrm>
          <a:prstGeom prst="rect">
            <a:avLst/>
          </a:prstGeom>
        </p:spPr>
      </p:pic>
      <p:pic>
        <p:nvPicPr>
          <p:cNvPr id="9" name="Image 2" descr="preencoded.png">    </p:cNvPr>
          <p:cNvPicPr>
            <a:picLocks noChangeAspect="1"/>
          </p:cNvPicPr>
          <p:nvPr/>
        </p:nvPicPr>
        <p:blipFill>
          <a:blip r:embed="rId3"/>
          <a:stretch>
            <a:fillRect/>
          </a:stretch>
        </p:blipFill>
        <p:spPr>
          <a:xfrm>
            <a:off x="777240" y="1719072"/>
            <a:ext cx="219456" cy="219456"/>
          </a:xfrm>
          <a:prstGeom prst="rect">
            <a:avLst/>
          </a:prstGeom>
        </p:spPr>
      </p:pic>
      <p:sp>
        <p:nvSpPr>
          <p:cNvPr id="10" name="Text 5"/>
          <p:cNvSpPr/>
          <p:nvPr/>
        </p:nvSpPr>
        <p:spPr>
          <a:xfrm>
            <a:off x="658368" y="2212848"/>
            <a:ext cx="1234440" cy="365760"/>
          </a:xfrm>
          <a:prstGeom prst="rect">
            <a:avLst/>
          </a:prstGeom>
          <a:noFill/>
          <a:ln/>
        </p:spPr>
        <p:txBody>
          <a:bodyPr wrap="square" lIns="0" tIns="0" rIns="0" bIns="0" rtlCol="0" anchor="ctr"/>
          <a:lstStyle/>
          <a:p>
            <a:pPr indent="0" marL="0">
              <a:buNone/>
            </a:pPr>
            <a:r>
              <a:rPr lang="en-US" sz="1600" b="1" dirty="0">
                <a:solidFill>
                  <a:srgbClr val="11121D"/>
                </a:solidFill>
                <a:latin typeface="Avenir Next" pitchFamily="34" charset="0"/>
                <a:ea typeface="Avenir Next" pitchFamily="34" charset="-122"/>
                <a:cs typeface="Avenir Next" pitchFamily="34" charset="-120"/>
              </a:rPr>
              <a:t>Load</a:t>
            </a:r>
            <a:endParaRPr lang="en-US" sz="1600" dirty="0"/>
          </a:p>
        </p:txBody>
      </p:sp>
      <p:sp>
        <p:nvSpPr>
          <p:cNvPr id="11" name="Text 6"/>
          <p:cNvSpPr/>
          <p:nvPr/>
        </p:nvSpPr>
        <p:spPr>
          <a:xfrm>
            <a:off x="658368" y="2606040"/>
            <a:ext cx="1234440" cy="731520"/>
          </a:xfrm>
          <a:prstGeom prst="rect">
            <a:avLst/>
          </a:prstGeom>
          <a:noFill/>
          <a:ln/>
        </p:spPr>
        <p:txBody>
          <a:bodyPr wrap="square" lIns="0" tIns="0" rIns="0" bIns="0" rtlCol="0" anchor="t"/>
          <a:lstStyle/>
          <a:p>
            <a:pPr indent="0" marL="0">
              <a:buNone/>
            </a:pPr>
            <a:r>
              <a:rPr lang="en-US" sz="1100" dirty="0">
                <a:solidFill>
                  <a:srgbClr val="3A3F55"/>
                </a:solidFill>
                <a:latin typeface="Avenir Next" pitchFamily="34" charset="0"/>
                <a:ea typeface="Avenir Next" pitchFamily="34" charset="-122"/>
                <a:cs typeface="Avenir Next" pitchFamily="34" charset="-120"/>
              </a:rPr>
              <a:t>SereneDB parses and indexes</a:t>
            </a:r>
            <a:endParaRPr lang="en-US" sz="1100" dirty="0"/>
          </a:p>
        </p:txBody>
      </p:sp>
      <p:sp>
        <p:nvSpPr>
          <p:cNvPr id="12" name="Text 7"/>
          <p:cNvSpPr/>
          <p:nvPr/>
        </p:nvSpPr>
        <p:spPr>
          <a:xfrm>
            <a:off x="658368" y="3429000"/>
            <a:ext cx="1261872" cy="594360"/>
          </a:xfrm>
          <a:prstGeom prst="rect">
            <a:avLst/>
          </a:prstGeom>
          <a:noFill/>
          <a:ln/>
        </p:spPr>
        <p:txBody>
          <a:bodyPr wrap="square" lIns="0" tIns="0" rIns="0" bIns="0" rtlCol="0" anchor="t"/>
          <a:lstStyle/>
          <a:p>
            <a:pPr indent="0" marL="0">
              <a:buNone/>
            </a:pPr>
            <a:r>
              <a:rPr lang="en-US" sz="1350" b="1" dirty="0">
                <a:solidFill>
                  <a:srgbClr val="6A4BD8"/>
                </a:solidFill>
                <a:latin typeface="Avenir Next" pitchFamily="34" charset="0"/>
                <a:ea typeface="Avenir Next" pitchFamily="34" charset="-122"/>
                <a:cs typeface="Avenir Next" pitchFamily="34" charset="-120"/>
              </a:rPr>
              <a:t>72 s · 5 M lines</a:t>
            </a:r>
            <a:endParaRPr lang="en-US" sz="1350" dirty="0"/>
          </a:p>
        </p:txBody>
      </p:sp>
      <p:sp>
        <p:nvSpPr>
          <p:cNvPr id="13" name="Text 8"/>
          <p:cNvSpPr/>
          <p:nvPr/>
        </p:nvSpPr>
        <p:spPr>
          <a:xfrm>
            <a:off x="1956816" y="2514600"/>
            <a:ext cx="201168" cy="365760"/>
          </a:xfrm>
          <a:prstGeom prst="rect">
            <a:avLst/>
          </a:prstGeom>
          <a:noFill/>
          <a:ln/>
        </p:spPr>
        <p:txBody>
          <a:bodyPr wrap="square" lIns="0" tIns="0" rIns="0" bIns="0" rtlCol="0" anchor="ctr"/>
          <a:lstStyle/>
          <a:p>
            <a:pPr algn="ctr" indent="0" marL="0">
              <a:buNone/>
            </a:pPr>
            <a:r>
              <a:rPr lang="en-US" sz="2200" b="1" dirty="0">
                <a:solidFill>
                  <a:srgbClr val="6A4BD8"/>
                </a:solidFill>
                <a:latin typeface="Avenir Next" pitchFamily="34" charset="0"/>
                <a:ea typeface="Avenir Next" pitchFamily="34" charset="-122"/>
                <a:cs typeface="Avenir Next" pitchFamily="34" charset="-120"/>
              </a:rPr>
              <a:t>›</a:t>
            </a:r>
            <a:endParaRPr lang="en-US" sz="2200" dirty="0"/>
          </a:p>
        </p:txBody>
      </p:sp>
      <p:sp>
        <p:nvSpPr>
          <p:cNvPr id="14" name="Shape 9"/>
          <p:cNvSpPr/>
          <p:nvPr/>
        </p:nvSpPr>
        <p:spPr>
          <a:xfrm>
            <a:off x="2130552" y="1417320"/>
            <a:ext cx="1536192" cy="2743200"/>
          </a:xfrm>
          <a:prstGeom prst="roundRect">
            <a:avLst>
              <a:gd name="adj" fmla="val 8333"/>
            </a:avLst>
          </a:prstGeom>
          <a:solidFill>
            <a:srgbClr val="F0F2F5"/>
          </a:solidFill>
          <a:ln/>
        </p:spPr>
      </p:sp>
      <p:pic>
        <p:nvPicPr>
          <p:cNvPr id="15" name="Image 3" descr="preencoded.png">    </p:cNvPr>
          <p:cNvPicPr>
            <a:picLocks noChangeAspect="1"/>
          </p:cNvPicPr>
          <p:nvPr/>
        </p:nvPicPr>
        <p:blipFill>
          <a:blip r:embed="rId4"/>
          <a:stretch>
            <a:fillRect/>
          </a:stretch>
        </p:blipFill>
        <p:spPr>
          <a:xfrm>
            <a:off x="2331720" y="1600200"/>
            <a:ext cx="457200" cy="457200"/>
          </a:xfrm>
          <a:prstGeom prst="rect">
            <a:avLst/>
          </a:prstGeom>
        </p:spPr>
      </p:pic>
      <p:pic>
        <p:nvPicPr>
          <p:cNvPr id="16" name="Image 4" descr="preencoded.png">    </p:cNvPr>
          <p:cNvPicPr>
            <a:picLocks noChangeAspect="1"/>
          </p:cNvPicPr>
          <p:nvPr/>
        </p:nvPicPr>
        <p:blipFill>
          <a:blip r:embed="rId5"/>
          <a:stretch>
            <a:fillRect/>
          </a:stretch>
        </p:blipFill>
        <p:spPr>
          <a:xfrm>
            <a:off x="2450592" y="1719072"/>
            <a:ext cx="219456" cy="219456"/>
          </a:xfrm>
          <a:prstGeom prst="rect">
            <a:avLst/>
          </a:prstGeom>
        </p:spPr>
      </p:pic>
      <p:sp>
        <p:nvSpPr>
          <p:cNvPr id="17" name="Text 10"/>
          <p:cNvSpPr/>
          <p:nvPr/>
        </p:nvSpPr>
        <p:spPr>
          <a:xfrm>
            <a:off x="2331720" y="2212848"/>
            <a:ext cx="1234440" cy="365760"/>
          </a:xfrm>
          <a:prstGeom prst="rect">
            <a:avLst/>
          </a:prstGeom>
          <a:noFill/>
          <a:ln/>
        </p:spPr>
        <p:txBody>
          <a:bodyPr wrap="square" lIns="0" tIns="0" rIns="0" bIns="0" rtlCol="0" anchor="ctr"/>
          <a:lstStyle/>
          <a:p>
            <a:pPr indent="0" marL="0">
              <a:buNone/>
            </a:pPr>
            <a:r>
              <a:rPr lang="en-US" sz="1600" b="1" dirty="0">
                <a:solidFill>
                  <a:srgbClr val="11121D"/>
                </a:solidFill>
                <a:latin typeface="Avenir Next" pitchFamily="34" charset="0"/>
                <a:ea typeface="Avenir Next" pitchFamily="34" charset="-122"/>
                <a:cs typeface="Avenir Next" pitchFamily="34" charset="-120"/>
              </a:rPr>
              <a:t>Judge</a:t>
            </a:r>
            <a:endParaRPr lang="en-US" sz="1600" dirty="0"/>
          </a:p>
        </p:txBody>
      </p:sp>
      <p:sp>
        <p:nvSpPr>
          <p:cNvPr id="18" name="Text 11"/>
          <p:cNvSpPr/>
          <p:nvPr/>
        </p:nvSpPr>
        <p:spPr>
          <a:xfrm>
            <a:off x="2331720" y="2606040"/>
            <a:ext cx="1234440" cy="731520"/>
          </a:xfrm>
          <a:prstGeom prst="rect">
            <a:avLst/>
          </a:prstGeom>
          <a:noFill/>
          <a:ln/>
        </p:spPr>
        <p:txBody>
          <a:bodyPr wrap="square" lIns="0" tIns="0" rIns="0" bIns="0" rtlCol="0" anchor="t"/>
          <a:lstStyle/>
          <a:p>
            <a:pPr indent="0" marL="0">
              <a:buNone/>
            </a:pPr>
            <a:r>
              <a:rPr lang="en-US" sz="1100" dirty="0">
                <a:solidFill>
                  <a:srgbClr val="3A3F55"/>
                </a:solidFill>
                <a:latin typeface="Avenir Next" pitchFamily="34" charset="0"/>
                <a:ea typeface="Avenir Next" pitchFamily="34" charset="-122"/>
                <a:cs typeface="Avenir Next" pitchFamily="34" charset="-120"/>
              </a:rPr>
              <a:t>Jev labels each kind of message</a:t>
            </a:r>
            <a:endParaRPr lang="en-US" sz="1100" dirty="0"/>
          </a:p>
        </p:txBody>
      </p:sp>
      <p:sp>
        <p:nvSpPr>
          <p:cNvPr id="19" name="Text 12"/>
          <p:cNvSpPr/>
          <p:nvPr/>
        </p:nvSpPr>
        <p:spPr>
          <a:xfrm>
            <a:off x="2331720" y="3429000"/>
            <a:ext cx="1261872" cy="594360"/>
          </a:xfrm>
          <a:prstGeom prst="rect">
            <a:avLst/>
          </a:prstGeom>
          <a:noFill/>
          <a:ln/>
        </p:spPr>
        <p:txBody>
          <a:bodyPr wrap="square" lIns="0" tIns="0" rIns="0" bIns="0" rtlCol="0" anchor="t"/>
          <a:lstStyle/>
          <a:p>
            <a:pPr indent="0" marL="0">
              <a:buNone/>
            </a:pPr>
            <a:r>
              <a:rPr lang="en-US" sz="1350" b="1" dirty="0">
                <a:solidFill>
                  <a:srgbClr val="6A4BD8"/>
                </a:solidFill>
                <a:latin typeface="Avenir Next" pitchFamily="34" charset="0"/>
                <a:ea typeface="Avenir Next" pitchFamily="34" charset="-122"/>
                <a:cs typeface="Avenir Next" pitchFamily="34" charset="-120"/>
              </a:rPr>
              <a:t>$0.02 · 20 s</a:t>
            </a:r>
            <a:endParaRPr lang="en-US" sz="1350" dirty="0"/>
          </a:p>
        </p:txBody>
      </p:sp>
      <p:sp>
        <p:nvSpPr>
          <p:cNvPr id="20" name="Text 13"/>
          <p:cNvSpPr/>
          <p:nvPr/>
        </p:nvSpPr>
        <p:spPr>
          <a:xfrm>
            <a:off x="3630168" y="2514600"/>
            <a:ext cx="201168" cy="365760"/>
          </a:xfrm>
          <a:prstGeom prst="rect">
            <a:avLst/>
          </a:prstGeom>
          <a:noFill/>
          <a:ln/>
        </p:spPr>
        <p:txBody>
          <a:bodyPr wrap="square" lIns="0" tIns="0" rIns="0" bIns="0" rtlCol="0" anchor="ctr"/>
          <a:lstStyle/>
          <a:p>
            <a:pPr algn="ctr" indent="0" marL="0">
              <a:buNone/>
            </a:pPr>
            <a:r>
              <a:rPr lang="en-US" sz="2200" b="1" dirty="0">
                <a:solidFill>
                  <a:srgbClr val="6A4BD8"/>
                </a:solidFill>
                <a:latin typeface="Avenir Next" pitchFamily="34" charset="0"/>
                <a:ea typeface="Avenir Next" pitchFamily="34" charset="-122"/>
                <a:cs typeface="Avenir Next" pitchFamily="34" charset="-120"/>
              </a:rPr>
              <a:t>›</a:t>
            </a:r>
            <a:endParaRPr lang="en-US" sz="2200" dirty="0"/>
          </a:p>
        </p:txBody>
      </p:sp>
      <p:sp>
        <p:nvSpPr>
          <p:cNvPr id="21" name="Shape 14"/>
          <p:cNvSpPr/>
          <p:nvPr/>
        </p:nvSpPr>
        <p:spPr>
          <a:xfrm>
            <a:off x="3803904" y="1417320"/>
            <a:ext cx="1536192" cy="2743200"/>
          </a:xfrm>
          <a:prstGeom prst="roundRect">
            <a:avLst>
              <a:gd name="adj" fmla="val 8333"/>
            </a:avLst>
          </a:prstGeom>
          <a:solidFill>
            <a:srgbClr val="F1ECFD"/>
          </a:solidFill>
          <a:ln/>
        </p:spPr>
      </p:sp>
      <p:pic>
        <p:nvPicPr>
          <p:cNvPr id="22" name="Image 5" descr="preencoded.png">    </p:cNvPr>
          <p:cNvPicPr>
            <a:picLocks noChangeAspect="1"/>
          </p:cNvPicPr>
          <p:nvPr/>
        </p:nvPicPr>
        <p:blipFill>
          <a:blip r:embed="rId6"/>
          <a:stretch>
            <a:fillRect/>
          </a:stretch>
        </p:blipFill>
        <p:spPr>
          <a:xfrm>
            <a:off x="4005072" y="1600200"/>
            <a:ext cx="457200" cy="457200"/>
          </a:xfrm>
          <a:prstGeom prst="rect">
            <a:avLst/>
          </a:prstGeom>
        </p:spPr>
      </p:pic>
      <p:pic>
        <p:nvPicPr>
          <p:cNvPr id="23" name="Image 6" descr="preencoded.png">    </p:cNvPr>
          <p:cNvPicPr>
            <a:picLocks noChangeAspect="1"/>
          </p:cNvPicPr>
          <p:nvPr/>
        </p:nvPicPr>
        <p:blipFill>
          <a:blip r:embed="rId7"/>
          <a:stretch>
            <a:fillRect/>
          </a:stretch>
        </p:blipFill>
        <p:spPr>
          <a:xfrm>
            <a:off x="4123944" y="1719072"/>
            <a:ext cx="219456" cy="219456"/>
          </a:xfrm>
          <a:prstGeom prst="rect">
            <a:avLst/>
          </a:prstGeom>
        </p:spPr>
      </p:pic>
      <p:sp>
        <p:nvSpPr>
          <p:cNvPr id="24" name="Text 15"/>
          <p:cNvSpPr/>
          <p:nvPr/>
        </p:nvSpPr>
        <p:spPr>
          <a:xfrm>
            <a:off x="4005072" y="2212848"/>
            <a:ext cx="1234440" cy="365760"/>
          </a:xfrm>
          <a:prstGeom prst="rect">
            <a:avLst/>
          </a:prstGeom>
          <a:noFill/>
          <a:ln/>
        </p:spPr>
        <p:txBody>
          <a:bodyPr wrap="square" lIns="0" tIns="0" rIns="0" bIns="0" rtlCol="0" anchor="ctr"/>
          <a:lstStyle/>
          <a:p>
            <a:pPr indent="0" marL="0">
              <a:buNone/>
            </a:pPr>
            <a:r>
              <a:rPr lang="en-US" sz="1600" b="1" dirty="0">
                <a:solidFill>
                  <a:srgbClr val="11121D"/>
                </a:solidFill>
                <a:latin typeface="Avenir Next" pitchFamily="34" charset="0"/>
                <a:ea typeface="Avenir Next" pitchFamily="34" charset="-122"/>
                <a:cs typeface="Avenir Next" pitchFamily="34" charset="-120"/>
              </a:rPr>
              <a:t>Ask</a:t>
            </a:r>
            <a:endParaRPr lang="en-US" sz="1600" dirty="0"/>
          </a:p>
        </p:txBody>
      </p:sp>
      <p:sp>
        <p:nvSpPr>
          <p:cNvPr id="25" name="Text 16"/>
          <p:cNvSpPr/>
          <p:nvPr/>
        </p:nvSpPr>
        <p:spPr>
          <a:xfrm>
            <a:off x="4005072" y="2606040"/>
            <a:ext cx="1234440" cy="731520"/>
          </a:xfrm>
          <a:prstGeom prst="rect">
            <a:avLst/>
          </a:prstGeom>
          <a:noFill/>
          <a:ln/>
        </p:spPr>
        <p:txBody>
          <a:bodyPr wrap="square" lIns="0" tIns="0" rIns="0" bIns="0" rtlCol="0" anchor="t"/>
          <a:lstStyle/>
          <a:p>
            <a:pPr indent="0" marL="0">
              <a:buNone/>
            </a:pPr>
            <a:r>
              <a:rPr lang="en-US" sz="1100" dirty="0">
                <a:solidFill>
                  <a:srgbClr val="3A3F55"/>
                </a:solidFill>
                <a:latin typeface="Avenir Next" pitchFamily="34" charset="0"/>
                <a:ea typeface="Avenir Next" pitchFamily="34" charset="-122"/>
                <a:cs typeface="Avenir Next" pitchFamily="34" charset="-120"/>
              </a:rPr>
              <a:t>Claude picks MCP tools</a:t>
            </a:r>
            <a:endParaRPr lang="en-US" sz="1100" dirty="0"/>
          </a:p>
        </p:txBody>
      </p:sp>
      <p:sp>
        <p:nvSpPr>
          <p:cNvPr id="26" name="Text 17"/>
          <p:cNvSpPr/>
          <p:nvPr/>
        </p:nvSpPr>
        <p:spPr>
          <a:xfrm>
            <a:off x="4005072" y="3429000"/>
            <a:ext cx="1261872" cy="594360"/>
          </a:xfrm>
          <a:prstGeom prst="rect">
            <a:avLst/>
          </a:prstGeom>
          <a:noFill/>
          <a:ln/>
        </p:spPr>
        <p:txBody>
          <a:bodyPr wrap="square" lIns="0" tIns="0" rIns="0" bIns="0" rtlCol="0" anchor="t"/>
          <a:lstStyle/>
          <a:p>
            <a:pPr indent="0" marL="0">
              <a:buNone/>
            </a:pPr>
            <a:r>
              <a:rPr lang="en-US" sz="1350" b="1" dirty="0">
                <a:solidFill>
                  <a:srgbClr val="6A4BD8"/>
                </a:solidFill>
                <a:latin typeface="Avenir Next" pitchFamily="34" charset="0"/>
                <a:ea typeface="Avenir Next" pitchFamily="34" charset="-122"/>
                <a:cs typeface="Avenir Next" pitchFamily="34" charset="-120"/>
              </a:rPr>
              <a:t>&lt; 0.1 s per query</a:t>
            </a:r>
            <a:endParaRPr lang="en-US" sz="1350" dirty="0"/>
          </a:p>
        </p:txBody>
      </p:sp>
      <p:sp>
        <p:nvSpPr>
          <p:cNvPr id="27" name="Text 18"/>
          <p:cNvSpPr/>
          <p:nvPr/>
        </p:nvSpPr>
        <p:spPr>
          <a:xfrm>
            <a:off x="5303520" y="2514600"/>
            <a:ext cx="201168" cy="365760"/>
          </a:xfrm>
          <a:prstGeom prst="rect">
            <a:avLst/>
          </a:prstGeom>
          <a:noFill/>
          <a:ln/>
        </p:spPr>
        <p:txBody>
          <a:bodyPr wrap="square" lIns="0" tIns="0" rIns="0" bIns="0" rtlCol="0" anchor="ctr"/>
          <a:lstStyle/>
          <a:p>
            <a:pPr algn="ctr" indent="0" marL="0">
              <a:buNone/>
            </a:pPr>
            <a:r>
              <a:rPr lang="en-US" sz="2200" b="1" dirty="0">
                <a:solidFill>
                  <a:srgbClr val="6A4BD8"/>
                </a:solidFill>
                <a:latin typeface="Avenir Next" pitchFamily="34" charset="0"/>
                <a:ea typeface="Avenir Next" pitchFamily="34" charset="-122"/>
                <a:cs typeface="Avenir Next" pitchFamily="34" charset="-120"/>
              </a:rPr>
              <a:t>›</a:t>
            </a:r>
            <a:endParaRPr lang="en-US" sz="2200" dirty="0"/>
          </a:p>
        </p:txBody>
      </p:sp>
      <p:sp>
        <p:nvSpPr>
          <p:cNvPr id="28" name="Shape 19"/>
          <p:cNvSpPr/>
          <p:nvPr/>
        </p:nvSpPr>
        <p:spPr>
          <a:xfrm>
            <a:off x="5477256" y="1417320"/>
            <a:ext cx="1536192" cy="2743200"/>
          </a:xfrm>
          <a:prstGeom prst="roundRect">
            <a:avLst>
              <a:gd name="adj" fmla="val 8333"/>
            </a:avLst>
          </a:prstGeom>
          <a:solidFill>
            <a:srgbClr val="F0F2F5"/>
          </a:solidFill>
          <a:ln/>
        </p:spPr>
      </p:sp>
      <p:pic>
        <p:nvPicPr>
          <p:cNvPr id="29" name="Image 7" descr="preencoded.png">    </p:cNvPr>
          <p:cNvPicPr>
            <a:picLocks noChangeAspect="1"/>
          </p:cNvPicPr>
          <p:nvPr/>
        </p:nvPicPr>
        <p:blipFill>
          <a:blip r:embed="rId8"/>
          <a:stretch>
            <a:fillRect/>
          </a:stretch>
        </p:blipFill>
        <p:spPr>
          <a:xfrm>
            <a:off x="5678424" y="1600200"/>
            <a:ext cx="457200" cy="457200"/>
          </a:xfrm>
          <a:prstGeom prst="rect">
            <a:avLst/>
          </a:prstGeom>
        </p:spPr>
      </p:pic>
      <p:pic>
        <p:nvPicPr>
          <p:cNvPr id="30" name="Image 8" descr="preencoded.png">    </p:cNvPr>
          <p:cNvPicPr>
            <a:picLocks noChangeAspect="1"/>
          </p:cNvPicPr>
          <p:nvPr/>
        </p:nvPicPr>
        <p:blipFill>
          <a:blip r:embed="rId9"/>
          <a:stretch>
            <a:fillRect/>
          </a:stretch>
        </p:blipFill>
        <p:spPr>
          <a:xfrm>
            <a:off x="5797296" y="1719072"/>
            <a:ext cx="219456" cy="219456"/>
          </a:xfrm>
          <a:prstGeom prst="rect">
            <a:avLst/>
          </a:prstGeom>
        </p:spPr>
      </p:pic>
      <p:sp>
        <p:nvSpPr>
          <p:cNvPr id="31" name="Text 20"/>
          <p:cNvSpPr/>
          <p:nvPr/>
        </p:nvSpPr>
        <p:spPr>
          <a:xfrm>
            <a:off x="5678424" y="2212848"/>
            <a:ext cx="1234440" cy="365760"/>
          </a:xfrm>
          <a:prstGeom prst="rect">
            <a:avLst/>
          </a:prstGeom>
          <a:noFill/>
          <a:ln/>
        </p:spPr>
        <p:txBody>
          <a:bodyPr wrap="square" lIns="0" tIns="0" rIns="0" bIns="0" rtlCol="0" anchor="ctr"/>
          <a:lstStyle/>
          <a:p>
            <a:pPr indent="0" marL="0">
              <a:buNone/>
            </a:pPr>
            <a:r>
              <a:rPr lang="en-US" sz="1600" b="1" dirty="0">
                <a:solidFill>
                  <a:srgbClr val="11121D"/>
                </a:solidFill>
                <a:latin typeface="Avenir Next" pitchFamily="34" charset="0"/>
                <a:ea typeface="Avenir Next" pitchFamily="34" charset="-122"/>
                <a:cs typeface="Avenir Next" pitchFamily="34" charset="-120"/>
              </a:rPr>
              <a:t>Answer</a:t>
            </a:r>
            <a:endParaRPr lang="en-US" sz="1600" dirty="0"/>
          </a:p>
        </p:txBody>
      </p:sp>
      <p:sp>
        <p:nvSpPr>
          <p:cNvPr id="32" name="Text 21"/>
          <p:cNvSpPr/>
          <p:nvPr/>
        </p:nvSpPr>
        <p:spPr>
          <a:xfrm>
            <a:off x="5678424" y="2606040"/>
            <a:ext cx="1234440" cy="731520"/>
          </a:xfrm>
          <a:prstGeom prst="rect">
            <a:avLst/>
          </a:prstGeom>
          <a:noFill/>
          <a:ln/>
        </p:spPr>
        <p:txBody>
          <a:bodyPr wrap="square" lIns="0" tIns="0" rIns="0" bIns="0" rtlCol="0" anchor="t"/>
          <a:lstStyle/>
          <a:p>
            <a:pPr indent="0" marL="0">
              <a:buNone/>
            </a:pPr>
            <a:r>
              <a:rPr lang="en-US" sz="1100" dirty="0">
                <a:solidFill>
                  <a:srgbClr val="3A3F55"/>
                </a:solidFill>
                <a:latin typeface="Avenir Next" pitchFamily="34" charset="0"/>
                <a:ea typeface="Avenir Next" pitchFamily="34" charset="-122"/>
                <a:cs typeface="Avenir Next" pitchFamily="34" charset="-120"/>
              </a:rPr>
              <a:t>written for your role</a:t>
            </a:r>
            <a:endParaRPr lang="en-US" sz="1100" dirty="0"/>
          </a:p>
        </p:txBody>
      </p:sp>
      <p:sp>
        <p:nvSpPr>
          <p:cNvPr id="33" name="Text 22"/>
          <p:cNvSpPr/>
          <p:nvPr/>
        </p:nvSpPr>
        <p:spPr>
          <a:xfrm>
            <a:off x="5678424" y="3429000"/>
            <a:ext cx="1261872" cy="594360"/>
          </a:xfrm>
          <a:prstGeom prst="rect">
            <a:avLst/>
          </a:prstGeom>
          <a:noFill/>
          <a:ln/>
        </p:spPr>
        <p:txBody>
          <a:bodyPr wrap="square" lIns="0" tIns="0" rIns="0" bIns="0" rtlCol="0" anchor="t"/>
          <a:lstStyle/>
          <a:p>
            <a:pPr indent="0" marL="0">
              <a:buNone/>
            </a:pPr>
            <a:r>
              <a:rPr lang="en-US" sz="1350" b="1" dirty="0">
                <a:solidFill>
                  <a:srgbClr val="6A4BD8"/>
                </a:solidFill>
                <a:latin typeface="Avenir Next" pitchFamily="34" charset="0"/>
                <a:ea typeface="Avenir Next" pitchFamily="34" charset="-122"/>
                <a:cs typeface="Avenir Next" pitchFamily="34" charset="-120"/>
              </a:rPr>
              <a:t>14 s · ≈ 5 ¢</a:t>
            </a:r>
            <a:endParaRPr lang="en-US" sz="1350" dirty="0"/>
          </a:p>
        </p:txBody>
      </p:sp>
      <p:sp>
        <p:nvSpPr>
          <p:cNvPr id="34" name="Text 23"/>
          <p:cNvSpPr/>
          <p:nvPr/>
        </p:nvSpPr>
        <p:spPr>
          <a:xfrm>
            <a:off x="6976872" y="2514600"/>
            <a:ext cx="201168" cy="365760"/>
          </a:xfrm>
          <a:prstGeom prst="rect">
            <a:avLst/>
          </a:prstGeom>
          <a:noFill/>
          <a:ln/>
        </p:spPr>
        <p:txBody>
          <a:bodyPr wrap="square" lIns="0" tIns="0" rIns="0" bIns="0" rtlCol="0" anchor="ctr"/>
          <a:lstStyle/>
          <a:p>
            <a:pPr algn="ctr" indent="0" marL="0">
              <a:buNone/>
            </a:pPr>
            <a:r>
              <a:rPr lang="en-US" sz="2200" b="1" dirty="0">
                <a:solidFill>
                  <a:srgbClr val="6A4BD8"/>
                </a:solidFill>
                <a:latin typeface="Avenir Next" pitchFamily="34" charset="0"/>
                <a:ea typeface="Avenir Next" pitchFamily="34" charset="-122"/>
                <a:cs typeface="Avenir Next" pitchFamily="34" charset="-120"/>
              </a:rPr>
              <a:t>›</a:t>
            </a:r>
            <a:endParaRPr lang="en-US" sz="2200" dirty="0"/>
          </a:p>
        </p:txBody>
      </p:sp>
      <p:sp>
        <p:nvSpPr>
          <p:cNvPr id="35" name="Shape 24"/>
          <p:cNvSpPr/>
          <p:nvPr/>
        </p:nvSpPr>
        <p:spPr>
          <a:xfrm>
            <a:off x="7150608" y="1417320"/>
            <a:ext cx="1536192" cy="2743200"/>
          </a:xfrm>
          <a:prstGeom prst="roundRect">
            <a:avLst>
              <a:gd name="adj" fmla="val 8333"/>
            </a:avLst>
          </a:prstGeom>
          <a:solidFill>
            <a:srgbClr val="F1ECFD"/>
          </a:solidFill>
          <a:ln/>
        </p:spPr>
      </p:sp>
      <p:pic>
        <p:nvPicPr>
          <p:cNvPr id="36" name="Image 9" descr="preencoded.png">    </p:cNvPr>
          <p:cNvPicPr>
            <a:picLocks noChangeAspect="1"/>
          </p:cNvPicPr>
          <p:nvPr/>
        </p:nvPicPr>
        <p:blipFill>
          <a:blip r:embed="rId10"/>
          <a:stretch>
            <a:fillRect/>
          </a:stretch>
        </p:blipFill>
        <p:spPr>
          <a:xfrm>
            <a:off x="7351776" y="1600200"/>
            <a:ext cx="457200" cy="457200"/>
          </a:xfrm>
          <a:prstGeom prst="rect">
            <a:avLst/>
          </a:prstGeom>
        </p:spPr>
      </p:pic>
      <p:pic>
        <p:nvPicPr>
          <p:cNvPr id="37" name="Image 10" descr="preencoded.png">    </p:cNvPr>
          <p:cNvPicPr>
            <a:picLocks noChangeAspect="1"/>
          </p:cNvPicPr>
          <p:nvPr/>
        </p:nvPicPr>
        <p:blipFill>
          <a:blip r:embed="rId11"/>
          <a:stretch>
            <a:fillRect/>
          </a:stretch>
        </p:blipFill>
        <p:spPr>
          <a:xfrm>
            <a:off x="7470648" y="1719072"/>
            <a:ext cx="219456" cy="219456"/>
          </a:xfrm>
          <a:prstGeom prst="rect">
            <a:avLst/>
          </a:prstGeom>
        </p:spPr>
      </p:pic>
      <p:sp>
        <p:nvSpPr>
          <p:cNvPr id="38" name="Text 25"/>
          <p:cNvSpPr/>
          <p:nvPr/>
        </p:nvSpPr>
        <p:spPr>
          <a:xfrm>
            <a:off x="7351776" y="2212848"/>
            <a:ext cx="1234440" cy="365760"/>
          </a:xfrm>
          <a:prstGeom prst="rect">
            <a:avLst/>
          </a:prstGeom>
          <a:noFill/>
          <a:ln/>
        </p:spPr>
        <p:txBody>
          <a:bodyPr wrap="square" lIns="0" tIns="0" rIns="0" bIns="0" rtlCol="0" anchor="ctr"/>
          <a:lstStyle/>
          <a:p>
            <a:pPr indent="0" marL="0">
              <a:buNone/>
            </a:pPr>
            <a:r>
              <a:rPr lang="en-US" sz="1600" b="1" dirty="0">
                <a:solidFill>
                  <a:srgbClr val="11121D"/>
                </a:solidFill>
                <a:latin typeface="Avenir Next" pitchFamily="34" charset="0"/>
                <a:ea typeface="Avenir Next" pitchFamily="34" charset="-122"/>
                <a:cs typeface="Avenir Next" pitchFamily="34" charset="-120"/>
              </a:rPr>
              <a:t>Verify</a:t>
            </a:r>
            <a:endParaRPr lang="en-US" sz="1600" dirty="0"/>
          </a:p>
        </p:txBody>
      </p:sp>
      <p:sp>
        <p:nvSpPr>
          <p:cNvPr id="39" name="Text 26"/>
          <p:cNvSpPr/>
          <p:nvPr/>
        </p:nvSpPr>
        <p:spPr>
          <a:xfrm>
            <a:off x="7351776" y="2606040"/>
            <a:ext cx="1234440" cy="731520"/>
          </a:xfrm>
          <a:prstGeom prst="rect">
            <a:avLst/>
          </a:prstGeom>
          <a:noFill/>
          <a:ln/>
        </p:spPr>
        <p:txBody>
          <a:bodyPr wrap="square" lIns="0" tIns="0" rIns="0" bIns="0" rtlCol="0" anchor="t"/>
          <a:lstStyle/>
          <a:p>
            <a:pPr indent="0" marL="0">
              <a:buNone/>
            </a:pPr>
            <a:r>
              <a:rPr lang="en-US" sz="1100" dirty="0">
                <a:solidFill>
                  <a:srgbClr val="3A3F55"/>
                </a:solidFill>
                <a:latin typeface="Avenir Next" pitchFamily="34" charset="0"/>
                <a:ea typeface="Avenir Next" pitchFamily="34" charset="-122"/>
                <a:cs typeface="Avenir Next" pitchFamily="34" charset="-120"/>
              </a:rPr>
              <a:t>every number re-runs</a:t>
            </a:r>
            <a:endParaRPr lang="en-US" sz="1100" dirty="0"/>
          </a:p>
        </p:txBody>
      </p:sp>
      <p:sp>
        <p:nvSpPr>
          <p:cNvPr id="40" name="Text 27"/>
          <p:cNvSpPr/>
          <p:nvPr/>
        </p:nvSpPr>
        <p:spPr>
          <a:xfrm>
            <a:off x="7351776" y="3429000"/>
            <a:ext cx="1261872" cy="594360"/>
          </a:xfrm>
          <a:prstGeom prst="rect">
            <a:avLst/>
          </a:prstGeom>
          <a:noFill/>
          <a:ln/>
        </p:spPr>
        <p:txBody>
          <a:bodyPr wrap="square" lIns="0" tIns="0" rIns="0" bIns="0" rtlCol="0" anchor="t"/>
          <a:lstStyle/>
          <a:p>
            <a:pPr indent="0" marL="0">
              <a:buNone/>
            </a:pPr>
            <a:r>
              <a:rPr lang="en-US" sz="1350" b="1" dirty="0">
                <a:solidFill>
                  <a:srgbClr val="6A4BD8"/>
                </a:solidFill>
                <a:latin typeface="Avenir Next" pitchFamily="34" charset="0"/>
                <a:ea typeface="Avenir Next" pitchFamily="34" charset="-122"/>
                <a:cs typeface="Avenir Next" pitchFamily="34" charset="-120"/>
              </a:rPr>
              <a:t>62 / 62 traced</a:t>
            </a:r>
            <a:endParaRPr lang="en-US" sz="1350" dirty="0"/>
          </a:p>
        </p:txBody>
      </p:sp>
      <p:sp>
        <p:nvSpPr>
          <p:cNvPr id="41" name="Text 28"/>
          <p:cNvSpPr/>
          <p:nvPr/>
        </p:nvSpPr>
        <p:spPr>
          <a:xfrm>
            <a:off x="457200" y="4297680"/>
            <a:ext cx="8229600" cy="274320"/>
          </a:xfrm>
          <a:prstGeom prst="rect">
            <a:avLst/>
          </a:prstGeom>
          <a:noFill/>
          <a:ln/>
        </p:spPr>
        <p:txBody>
          <a:bodyPr wrap="square" lIns="0" tIns="0" rIns="0" bIns="0" rtlCol="0" anchor="ctr"/>
          <a:lstStyle/>
          <a:p>
            <a:pPr algn="ctr" indent="0" marL="0">
              <a:buNone/>
            </a:pPr>
            <a:r>
              <a:rPr lang="en-US" sz="1200" dirty="0">
                <a:solidFill>
                  <a:srgbClr val="3E318C"/>
                </a:solidFill>
                <a:latin typeface="Menlo" pitchFamily="34" charset="0"/>
                <a:ea typeface="Menlo" pitchFamily="34" charset="-122"/>
                <a:cs typeface="Menlo" pitchFamily="34" charset="-120"/>
              </a:rPr>
              <a:t>Setup:  docker compose up -d  ·  uv sync  ·  claude  ·  “Load the base corpus”</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4736592"/>
            <a:ext cx="146304" cy="146304"/>
          </a:xfrm>
          <a:prstGeom prst="rect">
            <a:avLst/>
          </a:prstGeom>
        </p:spPr>
      </p:pic>
      <p:sp>
        <p:nvSpPr>
          <p:cNvPr id="3" name="Text 0"/>
          <p:cNvSpPr/>
          <p:nvPr/>
        </p:nvSpPr>
        <p:spPr>
          <a:xfrm>
            <a:off x="676656" y="4700016"/>
            <a:ext cx="5486400" cy="228600"/>
          </a:xfrm>
          <a:prstGeom prst="rect">
            <a:avLst/>
          </a:prstGeom>
          <a:noFill/>
          <a:ln/>
        </p:spPr>
        <p:txBody>
          <a:bodyPr wrap="square" lIns="0" tIns="0" rIns="0" bIns="0" rtlCol="0" anchor="ctr"/>
          <a:lstStyle/>
          <a:p>
            <a:pPr indent="0" marL="0">
              <a:buNone/>
            </a:pPr>
            <a:r>
              <a:rPr lang="en-US" sz="900" dirty="0">
                <a:solidFill>
                  <a:srgbClr val="6B7386"/>
                </a:solidFill>
                <a:latin typeface="Avenir Next" pitchFamily="34" charset="0"/>
                <a:ea typeface="Avenir Next" pitchFamily="34" charset="-122"/>
                <a:cs typeface="Avenir Next" pitchFamily="34" charset="-120"/>
              </a:rPr>
              <a:t>Making Sense of Logs  ·  Pipeline</a:t>
            </a:r>
            <a:endParaRPr lang="en-US" sz="900" dirty="0"/>
          </a:p>
        </p:txBody>
      </p:sp>
      <p:sp>
        <p:nvSpPr>
          <p:cNvPr id="4" name="Text 1"/>
          <p:cNvSpPr/>
          <p:nvPr/>
        </p:nvSpPr>
        <p:spPr>
          <a:xfrm>
            <a:off x="7772400" y="4700016"/>
            <a:ext cx="914400" cy="228600"/>
          </a:xfrm>
          <a:prstGeom prst="rect">
            <a:avLst/>
          </a:prstGeom>
          <a:noFill/>
          <a:ln/>
        </p:spPr>
        <p:txBody>
          <a:bodyPr wrap="square" lIns="0" tIns="0" rIns="0" bIns="0" rtlCol="0" anchor="ctr"/>
          <a:lstStyle/>
          <a:p>
            <a:pPr algn="r" indent="0" marL="0">
              <a:buNone/>
            </a:pPr>
            <a:r>
              <a:rPr lang="en-US" sz="900" dirty="0">
                <a:solidFill>
                  <a:srgbClr val="6B7386"/>
                </a:solidFill>
                <a:latin typeface="Avenir Next" pitchFamily="34" charset="0"/>
                <a:ea typeface="Avenir Next" pitchFamily="34" charset="-122"/>
                <a:cs typeface="Avenir Next" pitchFamily="34" charset="-120"/>
              </a:rPr>
              <a:t>4</a:t>
            </a:r>
            <a:endParaRPr lang="en-US" sz="900" dirty="0"/>
          </a:p>
        </p:txBody>
      </p:sp>
      <p:sp>
        <p:nvSpPr>
          <p:cNvPr id="5" name="Text 2"/>
          <p:cNvSpPr/>
          <p:nvPr/>
        </p:nvSpPr>
        <p:spPr>
          <a:xfrm>
            <a:off x="457200" y="320040"/>
            <a:ext cx="8229600" cy="228600"/>
          </a:xfrm>
          <a:prstGeom prst="rect">
            <a:avLst/>
          </a:prstGeom>
          <a:noFill/>
          <a:ln/>
        </p:spPr>
        <p:txBody>
          <a:bodyPr wrap="square" lIns="0" tIns="0" rIns="0" bIns="0" rtlCol="0" anchor="ctr"/>
          <a:lstStyle/>
          <a:p>
            <a:pPr indent="0" marL="0">
              <a:buNone/>
            </a:pPr>
            <a:r>
              <a:rPr lang="en-US" sz="1000" b="1" spc="300" kern="0" dirty="0">
                <a:solidFill>
                  <a:srgbClr val="6A4BD8"/>
                </a:solidFill>
                <a:latin typeface="Avenir Next" pitchFamily="34" charset="0"/>
                <a:ea typeface="Avenir Next" pitchFamily="34" charset="-122"/>
                <a:cs typeface="Avenir Next" pitchFamily="34" charset="-120"/>
              </a:rPr>
              <a:t>STEP 1 · LOAD</a:t>
            </a:r>
            <a:endParaRPr lang="en-US" sz="1000" dirty="0"/>
          </a:p>
        </p:txBody>
      </p:sp>
      <p:sp>
        <p:nvSpPr>
          <p:cNvPr id="6" name="Text 3"/>
          <p:cNvSpPr/>
          <p:nvPr/>
        </p:nvSpPr>
        <p:spPr>
          <a:xfrm>
            <a:off x="457200" y="566928"/>
            <a:ext cx="8229600" cy="594360"/>
          </a:xfrm>
          <a:prstGeom prst="rect">
            <a:avLst/>
          </a:prstGeom>
          <a:noFill/>
          <a:ln/>
        </p:spPr>
        <p:txBody>
          <a:bodyPr wrap="square" lIns="0" tIns="0" rIns="0" bIns="0" rtlCol="0" anchor="ctr"/>
          <a:lstStyle/>
          <a:p>
            <a:pPr indent="0" marL="0">
              <a:buNone/>
            </a:pPr>
            <a:r>
              <a:rPr lang="en-US" sz="2800" b="1" dirty="0">
                <a:solidFill>
                  <a:srgbClr val="11121D"/>
                </a:solidFill>
                <a:latin typeface="Avenir Next" pitchFamily="34" charset="0"/>
                <a:ea typeface="Avenir Next" pitchFamily="34" charset="-122"/>
                <a:cs typeface="Avenir Next" pitchFamily="34" charset="-120"/>
              </a:rPr>
              <a:t>SereneDB loads and indexes every line</a:t>
            </a:r>
            <a:endParaRPr lang="en-US" sz="2800" dirty="0"/>
          </a:p>
        </p:txBody>
      </p:sp>
      <p:sp>
        <p:nvSpPr>
          <p:cNvPr id="7" name="Shape 4"/>
          <p:cNvSpPr/>
          <p:nvPr/>
        </p:nvSpPr>
        <p:spPr>
          <a:xfrm>
            <a:off x="457200" y="1207008"/>
            <a:ext cx="1536192" cy="457200"/>
          </a:xfrm>
          <a:prstGeom prst="roundRect">
            <a:avLst>
              <a:gd name="adj" fmla="val 50000"/>
            </a:avLst>
          </a:prstGeom>
          <a:solidFill>
            <a:srgbClr val="6A4BD8"/>
          </a:solidFill>
          <a:ln/>
        </p:spPr>
      </p:sp>
      <p:pic>
        <p:nvPicPr>
          <p:cNvPr id="8" name="Image 1" descr="preencoded.png">    </p:cNvPr>
          <p:cNvPicPr>
            <a:picLocks noChangeAspect="1"/>
          </p:cNvPicPr>
          <p:nvPr/>
        </p:nvPicPr>
        <p:blipFill>
          <a:blip r:embed="rId2"/>
          <a:stretch>
            <a:fillRect/>
          </a:stretch>
        </p:blipFill>
        <p:spPr>
          <a:xfrm>
            <a:off x="640080" y="1316736"/>
            <a:ext cx="237744" cy="237744"/>
          </a:xfrm>
          <a:prstGeom prst="rect">
            <a:avLst/>
          </a:prstGeom>
        </p:spPr>
      </p:pic>
      <p:sp>
        <p:nvSpPr>
          <p:cNvPr id="9" name="Text 5"/>
          <p:cNvSpPr/>
          <p:nvPr/>
        </p:nvSpPr>
        <p:spPr>
          <a:xfrm>
            <a:off x="932688" y="1207008"/>
            <a:ext cx="1005840" cy="457200"/>
          </a:xfrm>
          <a:prstGeom prst="rect">
            <a:avLst/>
          </a:prstGeom>
          <a:noFill/>
          <a:ln/>
        </p:spPr>
        <p:txBody>
          <a:bodyPr wrap="square" lIns="0" tIns="0" rIns="0" bIns="0" rtlCol="0" anchor="ctr"/>
          <a:lstStyle/>
          <a:p>
            <a:pPr indent="0" marL="0">
              <a:buNone/>
            </a:pPr>
            <a:r>
              <a:rPr lang="en-US" sz="1250" b="1" dirty="0">
                <a:solidFill>
                  <a:srgbClr val="FFFFFF"/>
                </a:solidFill>
                <a:latin typeface="Avenir Next" pitchFamily="34" charset="0"/>
                <a:ea typeface="Avenir Next" pitchFamily="34" charset="-122"/>
                <a:cs typeface="Avenir Next" pitchFamily="34" charset="-120"/>
              </a:rPr>
              <a:t>1 · Load</a:t>
            </a:r>
            <a:endParaRPr lang="en-US" sz="1250" dirty="0"/>
          </a:p>
        </p:txBody>
      </p:sp>
      <p:sp>
        <p:nvSpPr>
          <p:cNvPr id="10" name="Shape 6"/>
          <p:cNvSpPr/>
          <p:nvPr/>
        </p:nvSpPr>
        <p:spPr>
          <a:xfrm>
            <a:off x="2130552" y="1207008"/>
            <a:ext cx="1536192" cy="457200"/>
          </a:xfrm>
          <a:prstGeom prst="roundRect">
            <a:avLst>
              <a:gd name="adj" fmla="val 50000"/>
            </a:avLst>
          </a:prstGeom>
          <a:solidFill>
            <a:srgbClr val="F0F2F5"/>
          </a:solidFill>
          <a:ln/>
        </p:spPr>
      </p:sp>
      <p:pic>
        <p:nvPicPr>
          <p:cNvPr id="11" name="Image 2" descr="preencoded.png">    </p:cNvPr>
          <p:cNvPicPr>
            <a:picLocks noChangeAspect="1"/>
          </p:cNvPicPr>
          <p:nvPr/>
        </p:nvPicPr>
        <p:blipFill>
          <a:blip r:embed="rId3"/>
          <a:stretch>
            <a:fillRect/>
          </a:stretch>
        </p:blipFill>
        <p:spPr>
          <a:xfrm>
            <a:off x="2313432" y="1316736"/>
            <a:ext cx="237744" cy="237744"/>
          </a:xfrm>
          <a:prstGeom prst="rect">
            <a:avLst/>
          </a:prstGeom>
        </p:spPr>
      </p:pic>
      <p:sp>
        <p:nvSpPr>
          <p:cNvPr id="12" name="Text 7"/>
          <p:cNvSpPr/>
          <p:nvPr/>
        </p:nvSpPr>
        <p:spPr>
          <a:xfrm>
            <a:off x="2606040" y="1207008"/>
            <a:ext cx="1005840" cy="457200"/>
          </a:xfrm>
          <a:prstGeom prst="rect">
            <a:avLst/>
          </a:prstGeom>
          <a:noFill/>
          <a:ln/>
        </p:spPr>
        <p:txBody>
          <a:bodyPr wrap="square" lIns="0" tIns="0" rIns="0" bIns="0" rtlCol="0" anchor="ctr"/>
          <a:lstStyle/>
          <a:p>
            <a:pPr indent="0" marL="0">
              <a:buNone/>
            </a:pPr>
            <a:r>
              <a:rPr lang="en-US" sz="1250" dirty="0">
                <a:solidFill>
                  <a:srgbClr val="3A3F55"/>
                </a:solidFill>
                <a:latin typeface="Avenir Next" pitchFamily="34" charset="0"/>
                <a:ea typeface="Avenir Next" pitchFamily="34" charset="-122"/>
                <a:cs typeface="Avenir Next" pitchFamily="34" charset="-120"/>
              </a:rPr>
              <a:t>2 · Judge</a:t>
            </a:r>
            <a:endParaRPr lang="en-US" sz="1250" dirty="0"/>
          </a:p>
        </p:txBody>
      </p:sp>
      <p:sp>
        <p:nvSpPr>
          <p:cNvPr id="13" name="Shape 8"/>
          <p:cNvSpPr/>
          <p:nvPr/>
        </p:nvSpPr>
        <p:spPr>
          <a:xfrm>
            <a:off x="3803904" y="1207008"/>
            <a:ext cx="1536192" cy="457200"/>
          </a:xfrm>
          <a:prstGeom prst="roundRect">
            <a:avLst>
              <a:gd name="adj" fmla="val 50000"/>
            </a:avLst>
          </a:prstGeom>
          <a:solidFill>
            <a:srgbClr val="F0F2F5"/>
          </a:solidFill>
          <a:ln/>
        </p:spPr>
      </p:sp>
      <p:pic>
        <p:nvPicPr>
          <p:cNvPr id="14" name="Image 3" descr="preencoded.png">    </p:cNvPr>
          <p:cNvPicPr>
            <a:picLocks noChangeAspect="1"/>
          </p:cNvPicPr>
          <p:nvPr/>
        </p:nvPicPr>
        <p:blipFill>
          <a:blip r:embed="rId4"/>
          <a:stretch>
            <a:fillRect/>
          </a:stretch>
        </p:blipFill>
        <p:spPr>
          <a:xfrm>
            <a:off x="3986784" y="1316736"/>
            <a:ext cx="237744" cy="237744"/>
          </a:xfrm>
          <a:prstGeom prst="rect">
            <a:avLst/>
          </a:prstGeom>
        </p:spPr>
      </p:pic>
      <p:sp>
        <p:nvSpPr>
          <p:cNvPr id="15" name="Text 9"/>
          <p:cNvSpPr/>
          <p:nvPr/>
        </p:nvSpPr>
        <p:spPr>
          <a:xfrm>
            <a:off x="4279392" y="1207008"/>
            <a:ext cx="1005840" cy="457200"/>
          </a:xfrm>
          <a:prstGeom prst="rect">
            <a:avLst/>
          </a:prstGeom>
          <a:noFill/>
          <a:ln/>
        </p:spPr>
        <p:txBody>
          <a:bodyPr wrap="square" lIns="0" tIns="0" rIns="0" bIns="0" rtlCol="0" anchor="ctr"/>
          <a:lstStyle/>
          <a:p>
            <a:pPr indent="0" marL="0">
              <a:buNone/>
            </a:pPr>
            <a:r>
              <a:rPr lang="en-US" sz="1250" dirty="0">
                <a:solidFill>
                  <a:srgbClr val="3A3F55"/>
                </a:solidFill>
                <a:latin typeface="Avenir Next" pitchFamily="34" charset="0"/>
                <a:ea typeface="Avenir Next" pitchFamily="34" charset="-122"/>
                <a:cs typeface="Avenir Next" pitchFamily="34" charset="-120"/>
              </a:rPr>
              <a:t>3 · Ask</a:t>
            </a:r>
            <a:endParaRPr lang="en-US" sz="1250" dirty="0"/>
          </a:p>
        </p:txBody>
      </p:sp>
      <p:sp>
        <p:nvSpPr>
          <p:cNvPr id="16" name="Shape 10"/>
          <p:cNvSpPr/>
          <p:nvPr/>
        </p:nvSpPr>
        <p:spPr>
          <a:xfrm>
            <a:off x="5477256" y="1207008"/>
            <a:ext cx="1536192" cy="457200"/>
          </a:xfrm>
          <a:prstGeom prst="roundRect">
            <a:avLst>
              <a:gd name="adj" fmla="val 50000"/>
            </a:avLst>
          </a:prstGeom>
          <a:solidFill>
            <a:srgbClr val="F0F2F5"/>
          </a:solidFill>
          <a:ln/>
        </p:spPr>
      </p:sp>
      <p:pic>
        <p:nvPicPr>
          <p:cNvPr id="17" name="Image 4" descr="preencoded.png">    </p:cNvPr>
          <p:cNvPicPr>
            <a:picLocks noChangeAspect="1"/>
          </p:cNvPicPr>
          <p:nvPr/>
        </p:nvPicPr>
        <p:blipFill>
          <a:blip r:embed="rId5"/>
          <a:stretch>
            <a:fillRect/>
          </a:stretch>
        </p:blipFill>
        <p:spPr>
          <a:xfrm>
            <a:off x="5660136" y="1316736"/>
            <a:ext cx="237744" cy="237744"/>
          </a:xfrm>
          <a:prstGeom prst="rect">
            <a:avLst/>
          </a:prstGeom>
        </p:spPr>
      </p:pic>
      <p:sp>
        <p:nvSpPr>
          <p:cNvPr id="18" name="Text 11"/>
          <p:cNvSpPr/>
          <p:nvPr/>
        </p:nvSpPr>
        <p:spPr>
          <a:xfrm>
            <a:off x="5952744" y="1207008"/>
            <a:ext cx="1005840" cy="457200"/>
          </a:xfrm>
          <a:prstGeom prst="rect">
            <a:avLst/>
          </a:prstGeom>
          <a:noFill/>
          <a:ln/>
        </p:spPr>
        <p:txBody>
          <a:bodyPr wrap="square" lIns="0" tIns="0" rIns="0" bIns="0" rtlCol="0" anchor="ctr"/>
          <a:lstStyle/>
          <a:p>
            <a:pPr indent="0" marL="0">
              <a:buNone/>
            </a:pPr>
            <a:r>
              <a:rPr lang="en-US" sz="1250" dirty="0">
                <a:solidFill>
                  <a:srgbClr val="3A3F55"/>
                </a:solidFill>
                <a:latin typeface="Avenir Next" pitchFamily="34" charset="0"/>
                <a:ea typeface="Avenir Next" pitchFamily="34" charset="-122"/>
                <a:cs typeface="Avenir Next" pitchFamily="34" charset="-120"/>
              </a:rPr>
              <a:t>4 · Answer</a:t>
            </a:r>
            <a:endParaRPr lang="en-US" sz="1250" dirty="0"/>
          </a:p>
        </p:txBody>
      </p:sp>
      <p:sp>
        <p:nvSpPr>
          <p:cNvPr id="19" name="Shape 12"/>
          <p:cNvSpPr/>
          <p:nvPr/>
        </p:nvSpPr>
        <p:spPr>
          <a:xfrm>
            <a:off x="7150608" y="1207008"/>
            <a:ext cx="1536192" cy="457200"/>
          </a:xfrm>
          <a:prstGeom prst="roundRect">
            <a:avLst>
              <a:gd name="adj" fmla="val 50000"/>
            </a:avLst>
          </a:prstGeom>
          <a:solidFill>
            <a:srgbClr val="F0F2F5"/>
          </a:solidFill>
          <a:ln/>
        </p:spPr>
      </p:sp>
      <p:pic>
        <p:nvPicPr>
          <p:cNvPr id="20" name="Image 5" descr="preencoded.png">    </p:cNvPr>
          <p:cNvPicPr>
            <a:picLocks noChangeAspect="1"/>
          </p:cNvPicPr>
          <p:nvPr/>
        </p:nvPicPr>
        <p:blipFill>
          <a:blip r:embed="rId6"/>
          <a:stretch>
            <a:fillRect/>
          </a:stretch>
        </p:blipFill>
        <p:spPr>
          <a:xfrm>
            <a:off x="7333488" y="1316736"/>
            <a:ext cx="237744" cy="237744"/>
          </a:xfrm>
          <a:prstGeom prst="rect">
            <a:avLst/>
          </a:prstGeom>
        </p:spPr>
      </p:pic>
      <p:sp>
        <p:nvSpPr>
          <p:cNvPr id="21" name="Text 13"/>
          <p:cNvSpPr/>
          <p:nvPr/>
        </p:nvSpPr>
        <p:spPr>
          <a:xfrm>
            <a:off x="7626096" y="1207008"/>
            <a:ext cx="1005840" cy="457200"/>
          </a:xfrm>
          <a:prstGeom prst="rect">
            <a:avLst/>
          </a:prstGeom>
          <a:noFill/>
          <a:ln/>
        </p:spPr>
        <p:txBody>
          <a:bodyPr wrap="square" lIns="0" tIns="0" rIns="0" bIns="0" rtlCol="0" anchor="ctr"/>
          <a:lstStyle/>
          <a:p>
            <a:pPr indent="0" marL="0">
              <a:buNone/>
            </a:pPr>
            <a:r>
              <a:rPr lang="en-US" sz="1250" dirty="0">
                <a:solidFill>
                  <a:srgbClr val="3A3F55"/>
                </a:solidFill>
                <a:latin typeface="Avenir Next" pitchFamily="34" charset="0"/>
                <a:ea typeface="Avenir Next" pitchFamily="34" charset="-122"/>
                <a:cs typeface="Avenir Next" pitchFamily="34" charset="-120"/>
              </a:rPr>
              <a:t>5 · Verify</a:t>
            </a:r>
            <a:endParaRPr lang="en-US" sz="1250" dirty="0"/>
          </a:p>
        </p:txBody>
      </p:sp>
      <p:sp>
        <p:nvSpPr>
          <p:cNvPr id="22" name="Shape 14"/>
          <p:cNvSpPr/>
          <p:nvPr/>
        </p:nvSpPr>
        <p:spPr>
          <a:xfrm>
            <a:off x="457200" y="1874520"/>
            <a:ext cx="4023360" cy="2651760"/>
          </a:xfrm>
          <a:prstGeom prst="roundRect">
            <a:avLst>
              <a:gd name="adj" fmla="val 4828"/>
            </a:avLst>
          </a:prstGeom>
          <a:solidFill>
            <a:srgbClr val="F0F2F5"/>
          </a:solidFill>
          <a:ln/>
        </p:spPr>
      </p:sp>
      <p:sp>
        <p:nvSpPr>
          <p:cNvPr id="23" name="Text 15"/>
          <p:cNvSpPr/>
          <p:nvPr/>
        </p:nvSpPr>
        <p:spPr>
          <a:xfrm>
            <a:off x="685800" y="2011680"/>
            <a:ext cx="3657600" cy="2423160"/>
          </a:xfrm>
          <a:prstGeom prst="rect">
            <a:avLst/>
          </a:prstGeom>
          <a:noFill/>
          <a:ln/>
        </p:spPr>
        <p:txBody>
          <a:bodyPr wrap="square" lIns="0" tIns="0" rIns="0" bIns="0" rtlCol="0" anchor="t"/>
          <a:lstStyle/>
          <a:p>
            <a:pPr marL="177800" indent="-177800">
              <a:spcAft>
                <a:spcPts val="800"/>
              </a:spcAft>
              <a:buSzPct val="100000"/>
              <a:buChar char="•"/>
            </a:pPr>
            <a:r>
              <a:rPr lang="en-US" sz="1350" dirty="0">
                <a:solidFill>
                  <a:srgbClr val="3A3F55"/>
                </a:solidFill>
                <a:latin typeface="Avenir Next" pitchFamily="34" charset="0"/>
                <a:ea typeface="Avenir Next" pitchFamily="34" charset="-122"/>
                <a:cs typeface="Avenir Next" pitchFamily="34" charset="-120"/>
              </a:rPr>
              <a:t>Download from Zenodo, or any log file on disk</a:t>
            </a:r>
            <a:endParaRPr lang="en-US" sz="1350" dirty="0"/>
          </a:p>
          <a:p>
            <a:pPr marL="177800" indent="-177800">
              <a:spcAft>
                <a:spcPts val="800"/>
              </a:spcAft>
              <a:buSzPct val="100000"/>
              <a:buChar char="•"/>
            </a:pPr>
            <a:r>
              <a:rPr lang="en-US" sz="1350" dirty="0">
                <a:solidFill>
                  <a:srgbClr val="3A3F55"/>
                </a:solidFill>
                <a:latin typeface="Avenir Next" pitchFamily="34" charset="0"/>
                <a:ea typeface="Avenir Next" pitchFamily="34" charset="-122"/>
                <a:cs typeface="Avenir Next" pitchFamily="34" charset="-120"/>
              </a:rPr>
              <a:t>Format detected from 76 known formats</a:t>
            </a:r>
            <a:endParaRPr lang="en-US" sz="1350" dirty="0"/>
          </a:p>
          <a:p>
            <a:pPr marL="177800" indent="-177800">
              <a:spcAft>
                <a:spcPts val="800"/>
              </a:spcAft>
              <a:buSzPct val="100000"/>
              <a:buChar char="•"/>
            </a:pPr>
            <a:r>
              <a:rPr lang="en-US" sz="1350" dirty="0">
                <a:solidFill>
                  <a:srgbClr val="3A3F55"/>
                </a:solidFill>
                <a:latin typeface="Avenir Next" pitchFamily="34" charset="0"/>
                <a:ea typeface="Avenir Next" pitchFamily="34" charset="-122"/>
                <a:cs typeface="Avenir Next" pitchFamily="34" charset="-120"/>
              </a:rPr>
              <a:t>Parsed with SQL inside SereneDB: typed columns</a:t>
            </a:r>
            <a:endParaRPr lang="en-US" sz="1350" dirty="0"/>
          </a:p>
          <a:p>
            <a:pPr marL="177800" indent="-177800">
              <a:spcAft>
                <a:spcPts val="800"/>
              </a:spcAft>
              <a:buSzPct val="100000"/>
              <a:buChar char="•"/>
            </a:pPr>
            <a:r>
              <a:rPr lang="en-US" sz="1350" dirty="0">
                <a:solidFill>
                  <a:srgbClr val="3A3F55"/>
                </a:solidFill>
                <a:latin typeface="Avenir Next" pitchFamily="34" charset="0"/>
                <a:ea typeface="Avenir Next" pitchFamily="34" charset="-122"/>
                <a:cs typeface="Avenir Next" pitchFamily="34" charset="-120"/>
              </a:rPr>
              <a:t>Masked into kinds of message; bursts by window functions</a:t>
            </a:r>
            <a:endParaRPr lang="en-US" sz="1350" dirty="0"/>
          </a:p>
          <a:p>
            <a:pPr marL="177800" indent="-177800">
              <a:spcAft>
                <a:spcPts val="800"/>
              </a:spcAft>
              <a:buSzPct val="100000"/>
              <a:buChar char="•"/>
            </a:pPr>
            <a:r>
              <a:rPr lang="en-US" sz="1350" dirty="0">
                <a:solidFill>
                  <a:srgbClr val="3A3F55"/>
                </a:solidFill>
                <a:latin typeface="Avenir Next" pitchFamily="34" charset="0"/>
                <a:ea typeface="Avenir Next" pitchFamily="34" charset="-122"/>
                <a:cs typeface="Avenir Next" pitchFamily="34" charset="-120"/>
              </a:rPr>
              <a:t>One inverted index: full text, BM25, phrase, fuzzy</a:t>
            </a:r>
            <a:endParaRPr lang="en-US" sz="1350" dirty="0"/>
          </a:p>
        </p:txBody>
      </p:sp>
      <p:sp>
        <p:nvSpPr>
          <p:cNvPr id="24" name="Shape 16"/>
          <p:cNvSpPr/>
          <p:nvPr/>
        </p:nvSpPr>
        <p:spPr>
          <a:xfrm>
            <a:off x="4663440" y="1874520"/>
            <a:ext cx="4023360" cy="774192"/>
          </a:xfrm>
          <a:prstGeom prst="roundRect">
            <a:avLst>
              <a:gd name="adj" fmla="val 16535"/>
            </a:avLst>
          </a:prstGeom>
          <a:solidFill>
            <a:srgbClr val="F1ECFD"/>
          </a:solidFill>
          <a:ln/>
        </p:spPr>
      </p:sp>
      <p:sp>
        <p:nvSpPr>
          <p:cNvPr id="25" name="Text 17"/>
          <p:cNvSpPr/>
          <p:nvPr/>
        </p:nvSpPr>
        <p:spPr>
          <a:xfrm>
            <a:off x="4892040" y="1947672"/>
            <a:ext cx="3611880" cy="425806"/>
          </a:xfrm>
          <a:prstGeom prst="rect">
            <a:avLst/>
          </a:prstGeom>
          <a:noFill/>
          <a:ln/>
        </p:spPr>
        <p:txBody>
          <a:bodyPr wrap="square" lIns="0" tIns="0" rIns="0" bIns="0" rtlCol="0" anchor="b"/>
          <a:lstStyle/>
          <a:p>
            <a:pPr indent="0" marL="0">
              <a:buNone/>
            </a:pPr>
            <a:r>
              <a:rPr lang="en-US" sz="2400" b="1" dirty="0">
                <a:solidFill>
                  <a:srgbClr val="6A4BD8"/>
                </a:solidFill>
                <a:latin typeface="Avenir Next" pitchFamily="34" charset="0"/>
                <a:ea typeface="Avenir Next" pitchFamily="34" charset="-122"/>
                <a:cs typeface="Avenir Next" pitchFamily="34" charset="-120"/>
              </a:rPr>
              <a:t>72 s</a:t>
            </a:r>
            <a:endParaRPr lang="en-US" sz="2400" dirty="0"/>
          </a:p>
        </p:txBody>
      </p:sp>
      <p:sp>
        <p:nvSpPr>
          <p:cNvPr id="26" name="Text 18"/>
          <p:cNvSpPr/>
          <p:nvPr/>
        </p:nvSpPr>
        <p:spPr>
          <a:xfrm>
            <a:off x="4892040" y="2339035"/>
            <a:ext cx="3611880" cy="294193"/>
          </a:xfrm>
          <a:prstGeom prst="rect">
            <a:avLst/>
          </a:prstGeom>
          <a:noFill/>
          <a:ln/>
        </p:spPr>
        <p:txBody>
          <a:bodyPr wrap="square" lIns="0" tIns="0" rIns="0" bIns="0" rtlCol="0" anchor="t"/>
          <a:lstStyle/>
          <a:p>
            <a:pPr indent="0" marL="0">
              <a:buNone/>
            </a:pPr>
            <a:r>
              <a:rPr lang="en-US" sz="1150" dirty="0">
                <a:solidFill>
                  <a:srgbClr val="3A3F55"/>
                </a:solidFill>
                <a:latin typeface="Avenir Next" pitchFamily="34" charset="0"/>
                <a:ea typeface="Avenir Next" pitchFamily="34" charset="-122"/>
                <a:cs typeface="Avenir Next" pitchFamily="34" charset="-120"/>
              </a:rPr>
              <a:t>clean clone → BGL + OpenStack ready (5 M lines)</a:t>
            </a:r>
            <a:endParaRPr lang="en-US" sz="1150" dirty="0"/>
          </a:p>
        </p:txBody>
      </p:sp>
      <p:sp>
        <p:nvSpPr>
          <p:cNvPr id="27" name="Shape 19"/>
          <p:cNvSpPr/>
          <p:nvPr/>
        </p:nvSpPr>
        <p:spPr>
          <a:xfrm>
            <a:off x="4663440" y="2758440"/>
            <a:ext cx="4023360" cy="774192"/>
          </a:xfrm>
          <a:prstGeom prst="roundRect">
            <a:avLst>
              <a:gd name="adj" fmla="val 16535"/>
            </a:avLst>
          </a:prstGeom>
          <a:solidFill>
            <a:srgbClr val="FFFFFF"/>
          </a:solidFill>
          <a:ln w="12700">
            <a:solidFill>
              <a:srgbClr val="E3E6EC"/>
            </a:solidFill>
            <a:prstDash val="solid"/>
          </a:ln>
        </p:spPr>
      </p:sp>
      <p:sp>
        <p:nvSpPr>
          <p:cNvPr id="28" name="Text 20"/>
          <p:cNvSpPr/>
          <p:nvPr/>
        </p:nvSpPr>
        <p:spPr>
          <a:xfrm>
            <a:off x="4892040" y="2831592"/>
            <a:ext cx="3611880" cy="425806"/>
          </a:xfrm>
          <a:prstGeom prst="rect">
            <a:avLst/>
          </a:prstGeom>
          <a:noFill/>
          <a:ln/>
        </p:spPr>
        <p:txBody>
          <a:bodyPr wrap="square" lIns="0" tIns="0" rIns="0" bIns="0" rtlCol="0" anchor="b"/>
          <a:lstStyle/>
          <a:p>
            <a:pPr indent="0" marL="0">
              <a:buNone/>
            </a:pPr>
            <a:r>
              <a:rPr lang="en-US" sz="2400" b="1" dirty="0">
                <a:solidFill>
                  <a:srgbClr val="6A4BD8"/>
                </a:solidFill>
                <a:latin typeface="Avenir Next" pitchFamily="34" charset="0"/>
                <a:ea typeface="Avenir Next" pitchFamily="34" charset="-122"/>
                <a:cs typeface="Avenir Next" pitchFamily="34" charset="-120"/>
              </a:rPr>
              <a:t>18 s</a:t>
            </a:r>
            <a:endParaRPr lang="en-US" sz="2400" dirty="0"/>
          </a:p>
        </p:txBody>
      </p:sp>
      <p:sp>
        <p:nvSpPr>
          <p:cNvPr id="29" name="Text 21"/>
          <p:cNvSpPr/>
          <p:nvPr/>
        </p:nvSpPr>
        <p:spPr>
          <a:xfrm>
            <a:off x="4892040" y="3222955"/>
            <a:ext cx="3611880" cy="294193"/>
          </a:xfrm>
          <a:prstGeom prst="rect">
            <a:avLst/>
          </a:prstGeom>
          <a:noFill/>
          <a:ln/>
        </p:spPr>
        <p:txBody>
          <a:bodyPr wrap="square" lIns="0" tIns="0" rIns="0" bIns="0" rtlCol="0" anchor="t"/>
          <a:lstStyle/>
          <a:p>
            <a:pPr indent="0" marL="0">
              <a:buNone/>
            </a:pPr>
            <a:r>
              <a:rPr lang="en-US" sz="1150" dirty="0">
                <a:solidFill>
                  <a:srgbClr val="3A3F55"/>
                </a:solidFill>
                <a:latin typeface="Avenir Next" pitchFamily="34" charset="0"/>
                <a:ea typeface="Avenir Next" pitchFamily="34" charset="-122"/>
                <a:cs typeface="Avenir Next" pitchFamily="34" charset="-120"/>
              </a:rPr>
              <a:t>4.7 M BGL lines parsed + indexed in SQL</a:t>
            </a:r>
            <a:endParaRPr lang="en-US" sz="1150" dirty="0"/>
          </a:p>
        </p:txBody>
      </p:sp>
      <p:sp>
        <p:nvSpPr>
          <p:cNvPr id="30" name="Shape 22"/>
          <p:cNvSpPr/>
          <p:nvPr/>
        </p:nvSpPr>
        <p:spPr>
          <a:xfrm>
            <a:off x="4663440" y="3642360"/>
            <a:ext cx="4023360" cy="774192"/>
          </a:xfrm>
          <a:prstGeom prst="roundRect">
            <a:avLst>
              <a:gd name="adj" fmla="val 16535"/>
            </a:avLst>
          </a:prstGeom>
          <a:solidFill>
            <a:srgbClr val="FFFFFF"/>
          </a:solidFill>
          <a:ln w="12700">
            <a:solidFill>
              <a:srgbClr val="E3E6EC"/>
            </a:solidFill>
            <a:prstDash val="solid"/>
          </a:ln>
        </p:spPr>
      </p:sp>
      <p:sp>
        <p:nvSpPr>
          <p:cNvPr id="31" name="Text 23"/>
          <p:cNvSpPr/>
          <p:nvPr/>
        </p:nvSpPr>
        <p:spPr>
          <a:xfrm>
            <a:off x="4892040" y="3715512"/>
            <a:ext cx="3611880" cy="425806"/>
          </a:xfrm>
          <a:prstGeom prst="rect">
            <a:avLst/>
          </a:prstGeom>
          <a:noFill/>
          <a:ln/>
        </p:spPr>
        <p:txBody>
          <a:bodyPr wrap="square" lIns="0" tIns="0" rIns="0" bIns="0" rtlCol="0" anchor="b"/>
          <a:lstStyle/>
          <a:p>
            <a:pPr indent="0" marL="0">
              <a:buNone/>
            </a:pPr>
            <a:r>
              <a:rPr lang="en-US" sz="2400" b="1" dirty="0">
                <a:solidFill>
                  <a:srgbClr val="6A4BD8"/>
                </a:solidFill>
                <a:latin typeface="Avenir Next" pitchFamily="34" charset="0"/>
                <a:ea typeface="Avenir Next" pitchFamily="34" charset="-122"/>
                <a:cs typeface="Avenir Next" pitchFamily="34" charset="-120"/>
              </a:rPr>
              <a:t>1.6 s</a:t>
            </a:r>
            <a:endParaRPr lang="en-US" sz="2400" dirty="0"/>
          </a:p>
        </p:txBody>
      </p:sp>
      <p:sp>
        <p:nvSpPr>
          <p:cNvPr id="32" name="Text 24"/>
          <p:cNvSpPr/>
          <p:nvPr/>
        </p:nvSpPr>
        <p:spPr>
          <a:xfrm>
            <a:off x="4892040" y="4106875"/>
            <a:ext cx="3611880" cy="294193"/>
          </a:xfrm>
          <a:prstGeom prst="rect">
            <a:avLst/>
          </a:prstGeom>
          <a:noFill/>
          <a:ln/>
        </p:spPr>
        <p:txBody>
          <a:bodyPr wrap="square" lIns="0" tIns="0" rIns="0" bIns="0" rtlCol="0" anchor="t"/>
          <a:lstStyle/>
          <a:p>
            <a:pPr indent="0" marL="0">
              <a:buNone/>
            </a:pPr>
            <a:r>
              <a:rPr lang="en-US" sz="1150" dirty="0">
                <a:solidFill>
                  <a:srgbClr val="3A3F55"/>
                </a:solidFill>
                <a:latin typeface="Avenir Next" pitchFamily="34" charset="0"/>
                <a:ea typeface="Avenir Next" pitchFamily="34" charset="-122"/>
                <a:cs typeface="Avenir Next" pitchFamily="34" charset="-120"/>
              </a:rPr>
              <a:t>a new 21 k-line file, format auto-detected</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4736592"/>
            <a:ext cx="146304" cy="146304"/>
          </a:xfrm>
          <a:prstGeom prst="rect">
            <a:avLst/>
          </a:prstGeom>
        </p:spPr>
      </p:pic>
      <p:sp>
        <p:nvSpPr>
          <p:cNvPr id="3" name="Text 0"/>
          <p:cNvSpPr/>
          <p:nvPr/>
        </p:nvSpPr>
        <p:spPr>
          <a:xfrm>
            <a:off x="676656" y="4700016"/>
            <a:ext cx="5486400" cy="228600"/>
          </a:xfrm>
          <a:prstGeom prst="rect">
            <a:avLst/>
          </a:prstGeom>
          <a:noFill/>
          <a:ln/>
        </p:spPr>
        <p:txBody>
          <a:bodyPr wrap="square" lIns="0" tIns="0" rIns="0" bIns="0" rtlCol="0" anchor="ctr"/>
          <a:lstStyle/>
          <a:p>
            <a:pPr indent="0" marL="0">
              <a:buNone/>
            </a:pPr>
            <a:r>
              <a:rPr lang="en-US" sz="900" dirty="0">
                <a:solidFill>
                  <a:srgbClr val="6B7386"/>
                </a:solidFill>
                <a:latin typeface="Avenir Next" pitchFamily="34" charset="0"/>
                <a:ea typeface="Avenir Next" pitchFamily="34" charset="-122"/>
                <a:cs typeface="Avenir Next" pitchFamily="34" charset="-120"/>
              </a:rPr>
              <a:t>Making Sense of Logs  ·  Pipeline</a:t>
            </a:r>
            <a:endParaRPr lang="en-US" sz="900" dirty="0"/>
          </a:p>
        </p:txBody>
      </p:sp>
      <p:sp>
        <p:nvSpPr>
          <p:cNvPr id="4" name="Text 1"/>
          <p:cNvSpPr/>
          <p:nvPr/>
        </p:nvSpPr>
        <p:spPr>
          <a:xfrm>
            <a:off x="7772400" y="4700016"/>
            <a:ext cx="914400" cy="228600"/>
          </a:xfrm>
          <a:prstGeom prst="rect">
            <a:avLst/>
          </a:prstGeom>
          <a:noFill/>
          <a:ln/>
        </p:spPr>
        <p:txBody>
          <a:bodyPr wrap="square" lIns="0" tIns="0" rIns="0" bIns="0" rtlCol="0" anchor="ctr"/>
          <a:lstStyle/>
          <a:p>
            <a:pPr algn="r" indent="0" marL="0">
              <a:buNone/>
            </a:pPr>
            <a:r>
              <a:rPr lang="en-US" sz="900" dirty="0">
                <a:solidFill>
                  <a:srgbClr val="6B7386"/>
                </a:solidFill>
                <a:latin typeface="Avenir Next" pitchFamily="34" charset="0"/>
                <a:ea typeface="Avenir Next" pitchFamily="34" charset="-122"/>
                <a:cs typeface="Avenir Next" pitchFamily="34" charset="-120"/>
              </a:rPr>
              <a:t>5</a:t>
            </a:r>
            <a:endParaRPr lang="en-US" sz="900" dirty="0"/>
          </a:p>
        </p:txBody>
      </p:sp>
      <p:sp>
        <p:nvSpPr>
          <p:cNvPr id="5" name="Text 2"/>
          <p:cNvSpPr/>
          <p:nvPr/>
        </p:nvSpPr>
        <p:spPr>
          <a:xfrm>
            <a:off x="457200" y="320040"/>
            <a:ext cx="8229600" cy="228600"/>
          </a:xfrm>
          <a:prstGeom prst="rect">
            <a:avLst/>
          </a:prstGeom>
          <a:noFill/>
          <a:ln/>
        </p:spPr>
        <p:txBody>
          <a:bodyPr wrap="square" lIns="0" tIns="0" rIns="0" bIns="0" rtlCol="0" anchor="ctr"/>
          <a:lstStyle/>
          <a:p>
            <a:pPr indent="0" marL="0">
              <a:buNone/>
            </a:pPr>
            <a:r>
              <a:rPr lang="en-US" sz="1000" b="1" spc="300" kern="0" dirty="0">
                <a:solidFill>
                  <a:srgbClr val="6A4BD8"/>
                </a:solidFill>
                <a:latin typeface="Avenir Next" pitchFamily="34" charset="0"/>
                <a:ea typeface="Avenir Next" pitchFamily="34" charset="-122"/>
                <a:cs typeface="Avenir Next" pitchFamily="34" charset="-120"/>
              </a:rPr>
              <a:t>STEP 2 · JUDGE</a:t>
            </a:r>
            <a:endParaRPr lang="en-US" sz="1000" dirty="0"/>
          </a:p>
        </p:txBody>
      </p:sp>
      <p:sp>
        <p:nvSpPr>
          <p:cNvPr id="6" name="Text 3"/>
          <p:cNvSpPr/>
          <p:nvPr/>
        </p:nvSpPr>
        <p:spPr>
          <a:xfrm>
            <a:off x="457200" y="566928"/>
            <a:ext cx="8229600" cy="594360"/>
          </a:xfrm>
          <a:prstGeom prst="rect">
            <a:avLst/>
          </a:prstGeom>
          <a:noFill/>
          <a:ln/>
        </p:spPr>
        <p:txBody>
          <a:bodyPr wrap="square" lIns="0" tIns="0" rIns="0" bIns="0" rtlCol="0" anchor="ctr"/>
          <a:lstStyle/>
          <a:p>
            <a:pPr indent="0" marL="0">
              <a:buNone/>
            </a:pPr>
            <a:r>
              <a:rPr lang="en-US" sz="2800" b="1" dirty="0">
                <a:solidFill>
                  <a:srgbClr val="11121D"/>
                </a:solidFill>
                <a:latin typeface="Avenir Next" pitchFamily="34" charset="0"/>
                <a:ea typeface="Avenir Next" pitchFamily="34" charset="-122"/>
                <a:cs typeface="Avenir Next" pitchFamily="34" charset="-120"/>
              </a:rPr>
              <a:t>Jev decides what is a real problem, once</a:t>
            </a:r>
            <a:endParaRPr lang="en-US" sz="2800" dirty="0"/>
          </a:p>
        </p:txBody>
      </p:sp>
      <p:sp>
        <p:nvSpPr>
          <p:cNvPr id="7" name="Shape 4"/>
          <p:cNvSpPr/>
          <p:nvPr/>
        </p:nvSpPr>
        <p:spPr>
          <a:xfrm>
            <a:off x="457200" y="1207008"/>
            <a:ext cx="1536192" cy="457200"/>
          </a:xfrm>
          <a:prstGeom prst="roundRect">
            <a:avLst>
              <a:gd name="adj" fmla="val 50000"/>
            </a:avLst>
          </a:prstGeom>
          <a:solidFill>
            <a:srgbClr val="F0F2F5"/>
          </a:solidFill>
          <a:ln/>
        </p:spPr>
      </p:sp>
      <p:pic>
        <p:nvPicPr>
          <p:cNvPr id="8" name="Image 1" descr="preencoded.png">    </p:cNvPr>
          <p:cNvPicPr>
            <a:picLocks noChangeAspect="1"/>
          </p:cNvPicPr>
          <p:nvPr/>
        </p:nvPicPr>
        <p:blipFill>
          <a:blip r:embed="rId2"/>
          <a:stretch>
            <a:fillRect/>
          </a:stretch>
        </p:blipFill>
        <p:spPr>
          <a:xfrm>
            <a:off x="640080" y="1316736"/>
            <a:ext cx="237744" cy="237744"/>
          </a:xfrm>
          <a:prstGeom prst="rect">
            <a:avLst/>
          </a:prstGeom>
        </p:spPr>
      </p:pic>
      <p:sp>
        <p:nvSpPr>
          <p:cNvPr id="9" name="Text 5"/>
          <p:cNvSpPr/>
          <p:nvPr/>
        </p:nvSpPr>
        <p:spPr>
          <a:xfrm>
            <a:off x="932688" y="1207008"/>
            <a:ext cx="1005840" cy="457200"/>
          </a:xfrm>
          <a:prstGeom prst="rect">
            <a:avLst/>
          </a:prstGeom>
          <a:noFill/>
          <a:ln/>
        </p:spPr>
        <p:txBody>
          <a:bodyPr wrap="square" lIns="0" tIns="0" rIns="0" bIns="0" rtlCol="0" anchor="ctr"/>
          <a:lstStyle/>
          <a:p>
            <a:pPr indent="0" marL="0">
              <a:buNone/>
            </a:pPr>
            <a:r>
              <a:rPr lang="en-US" sz="1250" dirty="0">
                <a:solidFill>
                  <a:srgbClr val="3A3F55"/>
                </a:solidFill>
                <a:latin typeface="Avenir Next" pitchFamily="34" charset="0"/>
                <a:ea typeface="Avenir Next" pitchFamily="34" charset="-122"/>
                <a:cs typeface="Avenir Next" pitchFamily="34" charset="-120"/>
              </a:rPr>
              <a:t>1 · Load</a:t>
            </a:r>
            <a:endParaRPr lang="en-US" sz="1250" dirty="0"/>
          </a:p>
        </p:txBody>
      </p:sp>
      <p:sp>
        <p:nvSpPr>
          <p:cNvPr id="10" name="Shape 6"/>
          <p:cNvSpPr/>
          <p:nvPr/>
        </p:nvSpPr>
        <p:spPr>
          <a:xfrm>
            <a:off x="2130552" y="1207008"/>
            <a:ext cx="1536192" cy="457200"/>
          </a:xfrm>
          <a:prstGeom prst="roundRect">
            <a:avLst>
              <a:gd name="adj" fmla="val 50000"/>
            </a:avLst>
          </a:prstGeom>
          <a:solidFill>
            <a:srgbClr val="6A4BD8"/>
          </a:solidFill>
          <a:ln/>
        </p:spPr>
      </p:sp>
      <p:pic>
        <p:nvPicPr>
          <p:cNvPr id="11" name="Image 2" descr="preencoded.png">    </p:cNvPr>
          <p:cNvPicPr>
            <a:picLocks noChangeAspect="1"/>
          </p:cNvPicPr>
          <p:nvPr/>
        </p:nvPicPr>
        <p:blipFill>
          <a:blip r:embed="rId3"/>
          <a:stretch>
            <a:fillRect/>
          </a:stretch>
        </p:blipFill>
        <p:spPr>
          <a:xfrm>
            <a:off x="2313432" y="1316736"/>
            <a:ext cx="237744" cy="237744"/>
          </a:xfrm>
          <a:prstGeom prst="rect">
            <a:avLst/>
          </a:prstGeom>
        </p:spPr>
      </p:pic>
      <p:sp>
        <p:nvSpPr>
          <p:cNvPr id="12" name="Text 7"/>
          <p:cNvSpPr/>
          <p:nvPr/>
        </p:nvSpPr>
        <p:spPr>
          <a:xfrm>
            <a:off x="2606040" y="1207008"/>
            <a:ext cx="1005840" cy="457200"/>
          </a:xfrm>
          <a:prstGeom prst="rect">
            <a:avLst/>
          </a:prstGeom>
          <a:noFill/>
          <a:ln/>
        </p:spPr>
        <p:txBody>
          <a:bodyPr wrap="square" lIns="0" tIns="0" rIns="0" bIns="0" rtlCol="0" anchor="ctr"/>
          <a:lstStyle/>
          <a:p>
            <a:pPr indent="0" marL="0">
              <a:buNone/>
            </a:pPr>
            <a:r>
              <a:rPr lang="en-US" sz="1250" b="1" dirty="0">
                <a:solidFill>
                  <a:srgbClr val="FFFFFF"/>
                </a:solidFill>
                <a:latin typeface="Avenir Next" pitchFamily="34" charset="0"/>
                <a:ea typeface="Avenir Next" pitchFamily="34" charset="-122"/>
                <a:cs typeface="Avenir Next" pitchFamily="34" charset="-120"/>
              </a:rPr>
              <a:t>2 · Judge</a:t>
            </a:r>
            <a:endParaRPr lang="en-US" sz="1250" dirty="0"/>
          </a:p>
        </p:txBody>
      </p:sp>
      <p:sp>
        <p:nvSpPr>
          <p:cNvPr id="13" name="Shape 8"/>
          <p:cNvSpPr/>
          <p:nvPr/>
        </p:nvSpPr>
        <p:spPr>
          <a:xfrm>
            <a:off x="3803904" y="1207008"/>
            <a:ext cx="1536192" cy="457200"/>
          </a:xfrm>
          <a:prstGeom prst="roundRect">
            <a:avLst>
              <a:gd name="adj" fmla="val 50000"/>
            </a:avLst>
          </a:prstGeom>
          <a:solidFill>
            <a:srgbClr val="F0F2F5"/>
          </a:solidFill>
          <a:ln/>
        </p:spPr>
      </p:sp>
      <p:pic>
        <p:nvPicPr>
          <p:cNvPr id="14" name="Image 3" descr="preencoded.png">    </p:cNvPr>
          <p:cNvPicPr>
            <a:picLocks noChangeAspect="1"/>
          </p:cNvPicPr>
          <p:nvPr/>
        </p:nvPicPr>
        <p:blipFill>
          <a:blip r:embed="rId4"/>
          <a:stretch>
            <a:fillRect/>
          </a:stretch>
        </p:blipFill>
        <p:spPr>
          <a:xfrm>
            <a:off x="3986784" y="1316736"/>
            <a:ext cx="237744" cy="237744"/>
          </a:xfrm>
          <a:prstGeom prst="rect">
            <a:avLst/>
          </a:prstGeom>
        </p:spPr>
      </p:pic>
      <p:sp>
        <p:nvSpPr>
          <p:cNvPr id="15" name="Text 9"/>
          <p:cNvSpPr/>
          <p:nvPr/>
        </p:nvSpPr>
        <p:spPr>
          <a:xfrm>
            <a:off x="4279392" y="1207008"/>
            <a:ext cx="1005840" cy="457200"/>
          </a:xfrm>
          <a:prstGeom prst="rect">
            <a:avLst/>
          </a:prstGeom>
          <a:noFill/>
          <a:ln/>
        </p:spPr>
        <p:txBody>
          <a:bodyPr wrap="square" lIns="0" tIns="0" rIns="0" bIns="0" rtlCol="0" anchor="ctr"/>
          <a:lstStyle/>
          <a:p>
            <a:pPr indent="0" marL="0">
              <a:buNone/>
            </a:pPr>
            <a:r>
              <a:rPr lang="en-US" sz="1250" dirty="0">
                <a:solidFill>
                  <a:srgbClr val="3A3F55"/>
                </a:solidFill>
                <a:latin typeface="Avenir Next" pitchFamily="34" charset="0"/>
                <a:ea typeface="Avenir Next" pitchFamily="34" charset="-122"/>
                <a:cs typeface="Avenir Next" pitchFamily="34" charset="-120"/>
              </a:rPr>
              <a:t>3 · Ask</a:t>
            </a:r>
            <a:endParaRPr lang="en-US" sz="1250" dirty="0"/>
          </a:p>
        </p:txBody>
      </p:sp>
      <p:sp>
        <p:nvSpPr>
          <p:cNvPr id="16" name="Shape 10"/>
          <p:cNvSpPr/>
          <p:nvPr/>
        </p:nvSpPr>
        <p:spPr>
          <a:xfrm>
            <a:off x="5477256" y="1207008"/>
            <a:ext cx="1536192" cy="457200"/>
          </a:xfrm>
          <a:prstGeom prst="roundRect">
            <a:avLst>
              <a:gd name="adj" fmla="val 50000"/>
            </a:avLst>
          </a:prstGeom>
          <a:solidFill>
            <a:srgbClr val="F0F2F5"/>
          </a:solidFill>
          <a:ln/>
        </p:spPr>
      </p:sp>
      <p:pic>
        <p:nvPicPr>
          <p:cNvPr id="17" name="Image 4" descr="preencoded.png">    </p:cNvPr>
          <p:cNvPicPr>
            <a:picLocks noChangeAspect="1"/>
          </p:cNvPicPr>
          <p:nvPr/>
        </p:nvPicPr>
        <p:blipFill>
          <a:blip r:embed="rId5"/>
          <a:stretch>
            <a:fillRect/>
          </a:stretch>
        </p:blipFill>
        <p:spPr>
          <a:xfrm>
            <a:off x="5660136" y="1316736"/>
            <a:ext cx="237744" cy="237744"/>
          </a:xfrm>
          <a:prstGeom prst="rect">
            <a:avLst/>
          </a:prstGeom>
        </p:spPr>
      </p:pic>
      <p:sp>
        <p:nvSpPr>
          <p:cNvPr id="18" name="Text 11"/>
          <p:cNvSpPr/>
          <p:nvPr/>
        </p:nvSpPr>
        <p:spPr>
          <a:xfrm>
            <a:off x="5952744" y="1207008"/>
            <a:ext cx="1005840" cy="457200"/>
          </a:xfrm>
          <a:prstGeom prst="rect">
            <a:avLst/>
          </a:prstGeom>
          <a:noFill/>
          <a:ln/>
        </p:spPr>
        <p:txBody>
          <a:bodyPr wrap="square" lIns="0" tIns="0" rIns="0" bIns="0" rtlCol="0" anchor="ctr"/>
          <a:lstStyle/>
          <a:p>
            <a:pPr indent="0" marL="0">
              <a:buNone/>
            </a:pPr>
            <a:r>
              <a:rPr lang="en-US" sz="1250" dirty="0">
                <a:solidFill>
                  <a:srgbClr val="3A3F55"/>
                </a:solidFill>
                <a:latin typeface="Avenir Next" pitchFamily="34" charset="0"/>
                <a:ea typeface="Avenir Next" pitchFamily="34" charset="-122"/>
                <a:cs typeface="Avenir Next" pitchFamily="34" charset="-120"/>
              </a:rPr>
              <a:t>4 · Answer</a:t>
            </a:r>
            <a:endParaRPr lang="en-US" sz="1250" dirty="0"/>
          </a:p>
        </p:txBody>
      </p:sp>
      <p:sp>
        <p:nvSpPr>
          <p:cNvPr id="19" name="Shape 12"/>
          <p:cNvSpPr/>
          <p:nvPr/>
        </p:nvSpPr>
        <p:spPr>
          <a:xfrm>
            <a:off x="7150608" y="1207008"/>
            <a:ext cx="1536192" cy="457200"/>
          </a:xfrm>
          <a:prstGeom prst="roundRect">
            <a:avLst>
              <a:gd name="adj" fmla="val 50000"/>
            </a:avLst>
          </a:prstGeom>
          <a:solidFill>
            <a:srgbClr val="F0F2F5"/>
          </a:solidFill>
          <a:ln/>
        </p:spPr>
      </p:sp>
      <p:pic>
        <p:nvPicPr>
          <p:cNvPr id="20" name="Image 5" descr="preencoded.png">    </p:cNvPr>
          <p:cNvPicPr>
            <a:picLocks noChangeAspect="1"/>
          </p:cNvPicPr>
          <p:nvPr/>
        </p:nvPicPr>
        <p:blipFill>
          <a:blip r:embed="rId6"/>
          <a:stretch>
            <a:fillRect/>
          </a:stretch>
        </p:blipFill>
        <p:spPr>
          <a:xfrm>
            <a:off x="7333488" y="1316736"/>
            <a:ext cx="237744" cy="237744"/>
          </a:xfrm>
          <a:prstGeom prst="rect">
            <a:avLst/>
          </a:prstGeom>
        </p:spPr>
      </p:pic>
      <p:sp>
        <p:nvSpPr>
          <p:cNvPr id="21" name="Text 13"/>
          <p:cNvSpPr/>
          <p:nvPr/>
        </p:nvSpPr>
        <p:spPr>
          <a:xfrm>
            <a:off x="7626096" y="1207008"/>
            <a:ext cx="1005840" cy="457200"/>
          </a:xfrm>
          <a:prstGeom prst="rect">
            <a:avLst/>
          </a:prstGeom>
          <a:noFill/>
          <a:ln/>
        </p:spPr>
        <p:txBody>
          <a:bodyPr wrap="square" lIns="0" tIns="0" rIns="0" bIns="0" rtlCol="0" anchor="ctr"/>
          <a:lstStyle/>
          <a:p>
            <a:pPr indent="0" marL="0">
              <a:buNone/>
            </a:pPr>
            <a:r>
              <a:rPr lang="en-US" sz="1250" dirty="0">
                <a:solidFill>
                  <a:srgbClr val="3A3F55"/>
                </a:solidFill>
                <a:latin typeface="Avenir Next" pitchFamily="34" charset="0"/>
                <a:ea typeface="Avenir Next" pitchFamily="34" charset="-122"/>
                <a:cs typeface="Avenir Next" pitchFamily="34" charset="-120"/>
              </a:rPr>
              <a:t>5 · Verify</a:t>
            </a:r>
            <a:endParaRPr lang="en-US" sz="1250" dirty="0"/>
          </a:p>
        </p:txBody>
      </p:sp>
      <p:sp>
        <p:nvSpPr>
          <p:cNvPr id="22" name="Shape 14"/>
          <p:cNvSpPr/>
          <p:nvPr/>
        </p:nvSpPr>
        <p:spPr>
          <a:xfrm>
            <a:off x="457200" y="1874520"/>
            <a:ext cx="4023360" cy="2651760"/>
          </a:xfrm>
          <a:prstGeom prst="roundRect">
            <a:avLst>
              <a:gd name="adj" fmla="val 4828"/>
            </a:avLst>
          </a:prstGeom>
          <a:solidFill>
            <a:srgbClr val="F0F2F5"/>
          </a:solidFill>
          <a:ln/>
        </p:spPr>
      </p:sp>
      <p:sp>
        <p:nvSpPr>
          <p:cNvPr id="23" name="Text 15"/>
          <p:cNvSpPr/>
          <p:nvPr/>
        </p:nvSpPr>
        <p:spPr>
          <a:xfrm>
            <a:off x="685800" y="2011680"/>
            <a:ext cx="3657600" cy="2423160"/>
          </a:xfrm>
          <a:prstGeom prst="rect">
            <a:avLst/>
          </a:prstGeom>
          <a:noFill/>
          <a:ln/>
        </p:spPr>
        <p:txBody>
          <a:bodyPr wrap="square" lIns="0" tIns="0" rIns="0" bIns="0" rtlCol="0" anchor="t"/>
          <a:lstStyle/>
          <a:p>
            <a:pPr marL="177800" indent="-177800">
              <a:spcAft>
                <a:spcPts val="800"/>
              </a:spcAft>
              <a:buSzPct val="100000"/>
              <a:buChar char="•"/>
            </a:pPr>
            <a:r>
              <a:rPr lang="en-US" sz="1350" dirty="0">
                <a:solidFill>
                  <a:srgbClr val="3A3F55"/>
                </a:solidFill>
                <a:latin typeface="Avenir Next" pitchFamily="34" charset="0"/>
                <a:ea typeface="Avenir Next" pitchFamily="34" charset="-122"/>
                <a:cs typeface="Avenir Next" pitchFamily="34" charset="-120"/>
              </a:rPr>
              <a:t>Typed questions, calibrated probabilities: real fault? routine dump? attack? whose?</a:t>
            </a:r>
            <a:endParaRPr lang="en-US" sz="1350" dirty="0"/>
          </a:p>
          <a:p>
            <a:pPr marL="177800" indent="-177800">
              <a:spcAft>
                <a:spcPts val="800"/>
              </a:spcAft>
              <a:buSzPct val="100000"/>
              <a:buChar char="•"/>
            </a:pPr>
            <a:r>
              <a:rPr lang="en-US" sz="1350" dirty="0">
                <a:solidFill>
                  <a:srgbClr val="3A3F55"/>
                </a:solidFill>
                <a:latin typeface="Avenir Next" pitchFamily="34" charset="0"/>
                <a:ea typeface="Avenir Next" pitchFamily="34" charset="-122"/>
                <a:cs typeface="Avenir Next" pitchFamily="34" charset="-120"/>
              </a:rPr>
              <a:t>Asked once per kind of message, inside SereneDB with one SQL call</a:t>
            </a:r>
            <a:endParaRPr lang="en-US" sz="1350" dirty="0"/>
          </a:p>
          <a:p>
            <a:pPr marL="177800" indent="-177800">
              <a:spcAft>
                <a:spcPts val="800"/>
              </a:spcAft>
              <a:buSzPct val="100000"/>
              <a:buChar char="•"/>
            </a:pPr>
            <a:r>
              <a:rPr lang="en-US" sz="1350" dirty="0">
                <a:solidFill>
                  <a:srgbClr val="3A3F55"/>
                </a:solidFill>
                <a:latin typeface="Avenir Next" pitchFamily="34" charset="0"/>
                <a:ea typeface="Avenir Next" pitchFamily="34" charset="-122"/>
                <a:cs typeface="Avenir Next" pitchFamily="34" charset="-120"/>
              </a:rPr>
              <a:t>Stored: answering never re-reads raw lines</a:t>
            </a:r>
            <a:endParaRPr lang="en-US" sz="1350" dirty="0"/>
          </a:p>
          <a:p>
            <a:pPr marL="177800" indent="-177800">
              <a:spcAft>
                <a:spcPts val="800"/>
              </a:spcAft>
              <a:buSzPct val="100000"/>
              <a:buChar char="•"/>
            </a:pPr>
            <a:r>
              <a:rPr lang="en-US" sz="1350" dirty="0">
                <a:solidFill>
                  <a:srgbClr val="3A3F55"/>
                </a:solidFill>
                <a:latin typeface="Avenir Next" pitchFamily="34" charset="0"/>
                <a:ea typeface="Avenir Next" pitchFamily="34" charset="-122"/>
                <a:cs typeface="Avenir Next" pitchFamily="34" charset="-120"/>
              </a:rPr>
              <a:t>Real alerts in the manager's top 10: 1 → 5</a:t>
            </a:r>
            <a:endParaRPr lang="en-US" sz="1350" dirty="0"/>
          </a:p>
        </p:txBody>
      </p:sp>
      <p:sp>
        <p:nvSpPr>
          <p:cNvPr id="25" name="Shape 16"/>
          <p:cNvSpPr/>
          <p:nvPr/>
        </p:nvSpPr>
        <p:spPr>
          <a:xfrm>
            <a:off x="4663440" y="1874520"/>
            <a:ext cx="4023360" cy="2651760"/>
          </a:xfrm>
          <a:prstGeom prst="roundRect">
            <a:avLst>
              <a:gd name="adj" fmla="val 4828"/>
            </a:avLst>
          </a:prstGeom>
          <a:solidFill>
            <a:srgbClr val="FFFFFF"/>
          </a:solidFill>
          <a:ln w="12700">
            <a:solidFill>
              <a:srgbClr val="E3E6EC"/>
            </a:solidFill>
            <a:prstDash val="solid"/>
          </a:ln>
        </p:spPr>
      </p:sp>
      <p:sp>
        <p:nvSpPr>
          <p:cNvPr id="26" name="Text 17"/>
          <p:cNvSpPr/>
          <p:nvPr/>
        </p:nvSpPr>
        <p:spPr>
          <a:xfrm>
            <a:off x="4892040" y="1965960"/>
            <a:ext cx="3611880" cy="292608"/>
          </a:xfrm>
          <a:prstGeom prst="rect">
            <a:avLst/>
          </a:prstGeom>
          <a:noFill/>
          <a:ln/>
        </p:spPr>
        <p:txBody>
          <a:bodyPr wrap="square" lIns="0" tIns="0" rIns="0" bIns="0" rtlCol="0" anchor="ctr"/>
          <a:lstStyle/>
          <a:p>
            <a:pPr indent="0" marL="0">
              <a:buNone/>
            </a:pPr>
            <a:r>
              <a:rPr lang="en-US" sz="1250" b="1" dirty="0">
                <a:solidFill>
                  <a:srgbClr val="11121D"/>
                </a:solidFill>
                <a:latin typeface="Avenir Next" pitchFamily="34" charset="0"/>
                <a:ea typeface="Avenir Next" pitchFamily="34" charset="-122"/>
                <a:cs typeface="Avenir Next" pitchFamily="34" charset="-120"/>
              </a:rPr>
              <a:t>Cost to judge BGL once</a:t>
            </a:r>
            <a:endParaRPr lang="en-US" sz="1250" dirty="0"/>
          </a:p>
        </p:txBody>
      </p:sp>
      <p:sp>
        <p:nvSpPr>
          <p:cNvPr id="27" name="Shape 18"/>
          <p:cNvSpPr/>
          <p:nvPr/>
        </p:nvSpPr>
        <p:spPr>
          <a:xfrm>
            <a:off x="4800600" y="2295144"/>
            <a:ext cx="3749040" cy="420624"/>
          </a:xfrm>
          <a:prstGeom prst="roundRect">
            <a:avLst>
              <a:gd name="adj" fmla="val 21739"/>
            </a:avLst>
          </a:prstGeom>
          <a:solidFill>
            <a:srgbClr val="F1ECFD"/>
          </a:solidFill>
          <a:ln/>
        </p:spPr>
      </p:sp>
      <p:sp>
        <p:nvSpPr>
          <p:cNvPr id="28" name="Text 19"/>
          <p:cNvSpPr/>
          <p:nvPr/>
        </p:nvSpPr>
        <p:spPr>
          <a:xfrm>
            <a:off x="4937760" y="2331720"/>
            <a:ext cx="2514600" cy="347472"/>
          </a:xfrm>
          <a:prstGeom prst="rect">
            <a:avLst/>
          </a:prstGeom>
          <a:noFill/>
          <a:ln/>
        </p:spPr>
        <p:txBody>
          <a:bodyPr wrap="square" lIns="0" tIns="0" rIns="0" bIns="0" rtlCol="0" anchor="ctr"/>
          <a:lstStyle/>
          <a:p>
            <a:pPr indent="0" marL="0">
              <a:buNone/>
            </a:pPr>
            <a:r>
              <a:rPr lang="en-US" sz="1150" b="1" dirty="0">
                <a:solidFill>
                  <a:srgbClr val="3A3F55"/>
                </a:solidFill>
                <a:latin typeface="Avenir Next" pitchFamily="34" charset="0"/>
                <a:ea typeface="Avenir Next" pitchFamily="34" charset="-122"/>
                <a:cs typeface="Avenir Next" pitchFamily="34" charset="-120"/>
              </a:rPr>
              <a:t>Jev, once per kind of message</a:t>
            </a:r>
            <a:endParaRPr lang="en-US" sz="1150" dirty="0"/>
          </a:p>
        </p:txBody>
      </p:sp>
      <p:sp>
        <p:nvSpPr>
          <p:cNvPr id="29" name="Text 20"/>
          <p:cNvSpPr/>
          <p:nvPr/>
        </p:nvSpPr>
        <p:spPr>
          <a:xfrm>
            <a:off x="7406640" y="2331720"/>
            <a:ext cx="1097280" cy="347472"/>
          </a:xfrm>
          <a:prstGeom prst="rect">
            <a:avLst/>
          </a:prstGeom>
          <a:noFill/>
          <a:ln/>
        </p:spPr>
        <p:txBody>
          <a:bodyPr wrap="square" lIns="0" tIns="0" rIns="0" bIns="0" rtlCol="0" anchor="ctr"/>
          <a:lstStyle/>
          <a:p>
            <a:pPr algn="r" indent="0" marL="0">
              <a:buNone/>
            </a:pPr>
            <a:r>
              <a:rPr lang="en-US" sz="1600" b="1" dirty="0">
                <a:solidFill>
                  <a:srgbClr val="6A4BD8"/>
                </a:solidFill>
                <a:latin typeface="Avenir Next" pitchFamily="34" charset="0"/>
                <a:ea typeface="Avenir Next" pitchFamily="34" charset="-122"/>
                <a:cs typeface="Avenir Next" pitchFamily="34" charset="-120"/>
              </a:rPr>
              <a:t>$0.02</a:t>
            </a:r>
            <a:endParaRPr lang="en-US" sz="1600" dirty="0"/>
          </a:p>
        </p:txBody>
      </p:sp>
      <p:sp>
        <p:nvSpPr>
          <p:cNvPr id="30" name="Text 21"/>
          <p:cNvSpPr/>
          <p:nvPr/>
        </p:nvSpPr>
        <p:spPr>
          <a:xfrm>
            <a:off x="4937760" y="2788920"/>
            <a:ext cx="2514600" cy="347472"/>
          </a:xfrm>
          <a:prstGeom prst="rect">
            <a:avLst/>
          </a:prstGeom>
          <a:noFill/>
          <a:ln/>
        </p:spPr>
        <p:txBody>
          <a:bodyPr wrap="square" lIns="0" tIns="0" rIns="0" bIns="0" rtlCol="0" anchor="ctr"/>
          <a:lstStyle/>
          <a:p>
            <a:pPr indent="0" marL="0">
              <a:buNone/>
            </a:pPr>
            <a:r>
              <a:rPr lang="en-US" sz="1150" dirty="0">
                <a:solidFill>
                  <a:srgbClr val="3A3F55"/>
                </a:solidFill>
                <a:latin typeface="Avenir Next" pitchFamily="34" charset="0"/>
                <a:ea typeface="Avenir Next" pitchFamily="34" charset="-122"/>
                <a:cs typeface="Avenir Next" pitchFamily="34" charset="-120"/>
              </a:rPr>
              <a:t>Haiku 5.5 reads every line</a:t>
            </a:r>
            <a:endParaRPr lang="en-US" sz="1150" dirty="0"/>
          </a:p>
        </p:txBody>
      </p:sp>
      <p:sp>
        <p:nvSpPr>
          <p:cNvPr id="31" name="Text 22"/>
          <p:cNvSpPr/>
          <p:nvPr/>
        </p:nvSpPr>
        <p:spPr>
          <a:xfrm>
            <a:off x="7406640" y="2788920"/>
            <a:ext cx="1097280" cy="347472"/>
          </a:xfrm>
          <a:prstGeom prst="rect">
            <a:avLst/>
          </a:prstGeom>
          <a:noFill/>
          <a:ln/>
        </p:spPr>
        <p:txBody>
          <a:bodyPr wrap="square" lIns="0" tIns="0" rIns="0" bIns="0" rtlCol="0" anchor="ctr"/>
          <a:lstStyle/>
          <a:p>
            <a:pPr algn="r" indent="0" marL="0">
              <a:buNone/>
            </a:pPr>
            <a:r>
              <a:rPr lang="en-US" sz="1600" b="1" dirty="0">
                <a:solidFill>
                  <a:srgbClr val="C2410C"/>
                </a:solidFill>
                <a:latin typeface="Avenir Next" pitchFamily="34" charset="0"/>
                <a:ea typeface="Avenir Next" pitchFamily="34" charset="-122"/>
                <a:cs typeface="Avenir Next" pitchFamily="34" charset="-120"/>
              </a:rPr>
              <a:t>≈ $89</a:t>
            </a:r>
            <a:endParaRPr lang="en-US" sz="1600" dirty="0"/>
          </a:p>
        </p:txBody>
      </p:sp>
      <p:sp>
        <p:nvSpPr>
          <p:cNvPr id="32" name="Text 23"/>
          <p:cNvSpPr/>
          <p:nvPr/>
        </p:nvSpPr>
        <p:spPr>
          <a:xfrm>
            <a:off x="4937760" y="3246120"/>
            <a:ext cx="2514600" cy="347472"/>
          </a:xfrm>
          <a:prstGeom prst="rect">
            <a:avLst/>
          </a:prstGeom>
          <a:noFill/>
          <a:ln/>
        </p:spPr>
        <p:txBody>
          <a:bodyPr wrap="square" lIns="0" tIns="0" rIns="0" bIns="0" rtlCol="0" anchor="ctr"/>
          <a:lstStyle/>
          <a:p>
            <a:pPr indent="0" marL="0">
              <a:buNone/>
            </a:pPr>
            <a:r>
              <a:rPr lang="en-US" sz="1150" dirty="0">
                <a:solidFill>
                  <a:srgbClr val="3A3F55"/>
                </a:solidFill>
                <a:latin typeface="Avenir Next" pitchFamily="34" charset="0"/>
                <a:ea typeface="Avenir Next" pitchFamily="34" charset="-122"/>
                <a:cs typeface="Avenir Next" pitchFamily="34" charset="-120"/>
              </a:rPr>
              <a:t>Sonnet 5.5 reads every line</a:t>
            </a:r>
            <a:endParaRPr lang="en-US" sz="1150" dirty="0"/>
          </a:p>
        </p:txBody>
      </p:sp>
      <p:sp>
        <p:nvSpPr>
          <p:cNvPr id="33" name="Text 24"/>
          <p:cNvSpPr/>
          <p:nvPr/>
        </p:nvSpPr>
        <p:spPr>
          <a:xfrm>
            <a:off x="7406640" y="3246120"/>
            <a:ext cx="1097280" cy="347472"/>
          </a:xfrm>
          <a:prstGeom prst="rect">
            <a:avLst/>
          </a:prstGeom>
          <a:noFill/>
          <a:ln/>
        </p:spPr>
        <p:txBody>
          <a:bodyPr wrap="square" lIns="0" tIns="0" rIns="0" bIns="0" rtlCol="0" anchor="ctr"/>
          <a:lstStyle/>
          <a:p>
            <a:pPr algn="r" indent="0" marL="0">
              <a:buNone/>
            </a:pPr>
            <a:r>
              <a:rPr lang="en-US" sz="1600" b="1" dirty="0">
                <a:solidFill>
                  <a:srgbClr val="C2410C"/>
                </a:solidFill>
                <a:latin typeface="Avenir Next" pitchFamily="34" charset="0"/>
                <a:ea typeface="Avenir Next" pitchFamily="34" charset="-122"/>
                <a:cs typeface="Avenir Next" pitchFamily="34" charset="-120"/>
              </a:rPr>
              <a:t>≈ $354</a:t>
            </a:r>
            <a:endParaRPr lang="en-US" sz="1600" dirty="0"/>
          </a:p>
        </p:txBody>
      </p:sp>
      <p:sp>
        <p:nvSpPr>
          <p:cNvPr id="34" name="Text 25"/>
          <p:cNvSpPr/>
          <p:nvPr/>
        </p:nvSpPr>
        <p:spPr>
          <a:xfrm>
            <a:off x="4937760" y="3703320"/>
            <a:ext cx="2514600" cy="347472"/>
          </a:xfrm>
          <a:prstGeom prst="rect">
            <a:avLst/>
          </a:prstGeom>
          <a:noFill/>
          <a:ln/>
        </p:spPr>
        <p:txBody>
          <a:bodyPr wrap="square" lIns="0" tIns="0" rIns="0" bIns="0" rtlCol="0" anchor="ctr"/>
          <a:lstStyle/>
          <a:p>
            <a:pPr indent="0" marL="0">
              <a:buNone/>
            </a:pPr>
            <a:r>
              <a:rPr lang="en-US" sz="1150" dirty="0">
                <a:solidFill>
                  <a:srgbClr val="3A3F55"/>
                </a:solidFill>
                <a:latin typeface="Avenir Next" pitchFamily="34" charset="0"/>
                <a:ea typeface="Avenir Next" pitchFamily="34" charset="-122"/>
                <a:cs typeface="Avenir Next" pitchFamily="34" charset="-120"/>
              </a:rPr>
              <a:t>Opus 5.5 reads every line</a:t>
            </a:r>
            <a:endParaRPr lang="en-US" sz="1150" dirty="0"/>
          </a:p>
        </p:txBody>
      </p:sp>
      <p:sp>
        <p:nvSpPr>
          <p:cNvPr id="35" name="Text 26"/>
          <p:cNvSpPr/>
          <p:nvPr/>
        </p:nvSpPr>
        <p:spPr>
          <a:xfrm>
            <a:off x="7406640" y="3703320"/>
            <a:ext cx="1097280" cy="347472"/>
          </a:xfrm>
          <a:prstGeom prst="rect">
            <a:avLst/>
          </a:prstGeom>
          <a:noFill/>
          <a:ln/>
        </p:spPr>
        <p:txBody>
          <a:bodyPr wrap="square" lIns="0" tIns="0" rIns="0" bIns="0" rtlCol="0" anchor="ctr"/>
          <a:lstStyle/>
          <a:p>
            <a:pPr algn="r" indent="0" marL="0">
              <a:buNone/>
            </a:pPr>
            <a:r>
              <a:rPr lang="en-US" sz="1600" b="1" dirty="0">
                <a:solidFill>
                  <a:srgbClr val="C2410C"/>
                </a:solidFill>
                <a:latin typeface="Avenir Next" pitchFamily="34" charset="0"/>
                <a:ea typeface="Avenir Next" pitchFamily="34" charset="-122"/>
                <a:cs typeface="Avenir Next" pitchFamily="34" charset="-120"/>
              </a:rPr>
              <a:t>≈ $708</a:t>
            </a:r>
            <a:endParaRPr lang="en-US" sz="1600" dirty="0"/>
          </a:p>
        </p:txBody>
      </p:sp>
      <p:sp>
        <p:nvSpPr>
          <p:cNvPr id="36" name="Text 27"/>
          <p:cNvSpPr/>
          <p:nvPr/>
        </p:nvSpPr>
        <p:spPr>
          <a:xfrm>
            <a:off x="4892040" y="4114800"/>
            <a:ext cx="3611880" cy="384048"/>
          </a:xfrm>
          <a:prstGeom prst="rect">
            <a:avLst/>
          </a:prstGeom>
          <a:noFill/>
          <a:ln/>
        </p:spPr>
        <p:txBody>
          <a:bodyPr wrap="square" lIns="0" tIns="0" rIns="0" bIns="0" rtlCol="0" anchor="t"/>
          <a:lstStyle/>
          <a:p>
            <a:pPr indent="0" marL="0">
              <a:buNone/>
            </a:pPr>
            <a:r>
              <a:rPr lang="en-US" sz="850" dirty="0">
                <a:solidFill>
                  <a:srgbClr val="6B7386"/>
                </a:solidFill>
                <a:latin typeface="Avenir Next" pitchFamily="34" charset="0"/>
                <a:ea typeface="Avenir Next" pitchFamily="34" charset="-122"/>
                <a:cs typeface="Avenir Next" pitchFamily="34" charset="-120"/>
              </a:rPr>
              <a:t>LLM: ≈ 177 M input tokens (709 MB ÷ ~4 B/token, estimate) × list price; again for every question, and it does not fit one context window.</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4736592"/>
            <a:ext cx="146304" cy="146304"/>
          </a:xfrm>
          <a:prstGeom prst="rect">
            <a:avLst/>
          </a:prstGeom>
        </p:spPr>
      </p:pic>
      <p:sp>
        <p:nvSpPr>
          <p:cNvPr id="3" name="Text 0"/>
          <p:cNvSpPr/>
          <p:nvPr/>
        </p:nvSpPr>
        <p:spPr>
          <a:xfrm>
            <a:off x="676656" y="4700016"/>
            <a:ext cx="5486400" cy="228600"/>
          </a:xfrm>
          <a:prstGeom prst="rect">
            <a:avLst/>
          </a:prstGeom>
          <a:noFill/>
          <a:ln/>
        </p:spPr>
        <p:txBody>
          <a:bodyPr wrap="square" lIns="0" tIns="0" rIns="0" bIns="0" rtlCol="0" anchor="ctr"/>
          <a:lstStyle/>
          <a:p>
            <a:pPr indent="0" marL="0">
              <a:buNone/>
            </a:pPr>
            <a:r>
              <a:rPr lang="en-US" sz="900" dirty="0">
                <a:solidFill>
                  <a:srgbClr val="6B7386"/>
                </a:solidFill>
                <a:latin typeface="Avenir Next" pitchFamily="34" charset="0"/>
                <a:ea typeface="Avenir Next" pitchFamily="34" charset="-122"/>
                <a:cs typeface="Avenir Next" pitchFamily="34" charset="-120"/>
              </a:rPr>
              <a:t>Making Sense of Logs  ·  Pipeline</a:t>
            </a:r>
            <a:endParaRPr lang="en-US" sz="900" dirty="0"/>
          </a:p>
        </p:txBody>
      </p:sp>
      <p:sp>
        <p:nvSpPr>
          <p:cNvPr id="4" name="Text 1"/>
          <p:cNvSpPr/>
          <p:nvPr/>
        </p:nvSpPr>
        <p:spPr>
          <a:xfrm>
            <a:off x="7772400" y="4700016"/>
            <a:ext cx="914400" cy="228600"/>
          </a:xfrm>
          <a:prstGeom prst="rect">
            <a:avLst/>
          </a:prstGeom>
          <a:noFill/>
          <a:ln/>
        </p:spPr>
        <p:txBody>
          <a:bodyPr wrap="square" lIns="0" tIns="0" rIns="0" bIns="0" rtlCol="0" anchor="ctr"/>
          <a:lstStyle/>
          <a:p>
            <a:pPr algn="r" indent="0" marL="0">
              <a:buNone/>
            </a:pPr>
            <a:r>
              <a:rPr lang="en-US" sz="900" dirty="0">
                <a:solidFill>
                  <a:srgbClr val="6B7386"/>
                </a:solidFill>
                <a:latin typeface="Avenir Next" pitchFamily="34" charset="0"/>
                <a:ea typeface="Avenir Next" pitchFamily="34" charset="-122"/>
                <a:cs typeface="Avenir Next" pitchFamily="34" charset="-120"/>
              </a:rPr>
              <a:t>6</a:t>
            </a:r>
            <a:endParaRPr lang="en-US" sz="900" dirty="0"/>
          </a:p>
        </p:txBody>
      </p:sp>
      <p:sp>
        <p:nvSpPr>
          <p:cNvPr id="5" name="Text 2"/>
          <p:cNvSpPr/>
          <p:nvPr/>
        </p:nvSpPr>
        <p:spPr>
          <a:xfrm>
            <a:off x="457200" y="320040"/>
            <a:ext cx="8229600" cy="228600"/>
          </a:xfrm>
          <a:prstGeom prst="rect">
            <a:avLst/>
          </a:prstGeom>
          <a:noFill/>
          <a:ln/>
        </p:spPr>
        <p:txBody>
          <a:bodyPr wrap="square" lIns="0" tIns="0" rIns="0" bIns="0" rtlCol="0" anchor="ctr"/>
          <a:lstStyle/>
          <a:p>
            <a:pPr indent="0" marL="0">
              <a:buNone/>
            </a:pPr>
            <a:r>
              <a:rPr lang="en-US" sz="1000" b="1" spc="300" kern="0" dirty="0">
                <a:solidFill>
                  <a:srgbClr val="6A4BD8"/>
                </a:solidFill>
                <a:latin typeface="Avenir Next" pitchFamily="34" charset="0"/>
                <a:ea typeface="Avenir Next" pitchFamily="34" charset="-122"/>
                <a:cs typeface="Avenir Next" pitchFamily="34" charset="-120"/>
              </a:rPr>
              <a:t>STEP 3 · ASK</a:t>
            </a:r>
            <a:endParaRPr lang="en-US" sz="1000" dirty="0"/>
          </a:p>
        </p:txBody>
      </p:sp>
      <p:sp>
        <p:nvSpPr>
          <p:cNvPr id="6" name="Text 3"/>
          <p:cNvSpPr/>
          <p:nvPr/>
        </p:nvSpPr>
        <p:spPr>
          <a:xfrm>
            <a:off x="457200" y="566928"/>
            <a:ext cx="8229600" cy="594360"/>
          </a:xfrm>
          <a:prstGeom prst="rect">
            <a:avLst/>
          </a:prstGeom>
          <a:noFill/>
          <a:ln/>
        </p:spPr>
        <p:txBody>
          <a:bodyPr wrap="square" lIns="0" tIns="0" rIns="0" bIns="0" rtlCol="0" anchor="ctr"/>
          <a:lstStyle/>
          <a:p>
            <a:pPr indent="0" marL="0">
              <a:buNone/>
            </a:pPr>
            <a:r>
              <a:rPr lang="en-US" sz="2800" b="1" dirty="0">
                <a:solidFill>
                  <a:srgbClr val="11121D"/>
                </a:solidFill>
                <a:latin typeface="Avenir Next" pitchFamily="34" charset="0"/>
                <a:ea typeface="Avenir Next" pitchFamily="34" charset="-122"/>
                <a:cs typeface="Avenir Next" pitchFamily="34" charset="-120"/>
              </a:rPr>
              <a:t>Claude asks focused questions through MCP</a:t>
            </a:r>
            <a:endParaRPr lang="en-US" sz="2800" dirty="0"/>
          </a:p>
        </p:txBody>
      </p:sp>
      <p:sp>
        <p:nvSpPr>
          <p:cNvPr id="7" name="Shape 4"/>
          <p:cNvSpPr/>
          <p:nvPr/>
        </p:nvSpPr>
        <p:spPr>
          <a:xfrm>
            <a:off x="457200" y="1207008"/>
            <a:ext cx="1536192" cy="457200"/>
          </a:xfrm>
          <a:prstGeom prst="roundRect">
            <a:avLst>
              <a:gd name="adj" fmla="val 50000"/>
            </a:avLst>
          </a:prstGeom>
          <a:solidFill>
            <a:srgbClr val="F0F2F5"/>
          </a:solidFill>
          <a:ln/>
        </p:spPr>
      </p:sp>
      <p:pic>
        <p:nvPicPr>
          <p:cNvPr id="8" name="Image 1" descr="preencoded.png">    </p:cNvPr>
          <p:cNvPicPr>
            <a:picLocks noChangeAspect="1"/>
          </p:cNvPicPr>
          <p:nvPr/>
        </p:nvPicPr>
        <p:blipFill>
          <a:blip r:embed="rId2"/>
          <a:stretch>
            <a:fillRect/>
          </a:stretch>
        </p:blipFill>
        <p:spPr>
          <a:xfrm>
            <a:off x="640080" y="1316736"/>
            <a:ext cx="237744" cy="237744"/>
          </a:xfrm>
          <a:prstGeom prst="rect">
            <a:avLst/>
          </a:prstGeom>
        </p:spPr>
      </p:pic>
      <p:sp>
        <p:nvSpPr>
          <p:cNvPr id="9" name="Text 5"/>
          <p:cNvSpPr/>
          <p:nvPr/>
        </p:nvSpPr>
        <p:spPr>
          <a:xfrm>
            <a:off x="932688" y="1207008"/>
            <a:ext cx="1005840" cy="457200"/>
          </a:xfrm>
          <a:prstGeom prst="rect">
            <a:avLst/>
          </a:prstGeom>
          <a:noFill/>
          <a:ln/>
        </p:spPr>
        <p:txBody>
          <a:bodyPr wrap="square" lIns="0" tIns="0" rIns="0" bIns="0" rtlCol="0" anchor="ctr"/>
          <a:lstStyle/>
          <a:p>
            <a:pPr indent="0" marL="0">
              <a:buNone/>
            </a:pPr>
            <a:r>
              <a:rPr lang="en-US" sz="1250" dirty="0">
                <a:solidFill>
                  <a:srgbClr val="3A3F55"/>
                </a:solidFill>
                <a:latin typeface="Avenir Next" pitchFamily="34" charset="0"/>
                <a:ea typeface="Avenir Next" pitchFamily="34" charset="-122"/>
                <a:cs typeface="Avenir Next" pitchFamily="34" charset="-120"/>
              </a:rPr>
              <a:t>1 · Load</a:t>
            </a:r>
            <a:endParaRPr lang="en-US" sz="1250" dirty="0"/>
          </a:p>
        </p:txBody>
      </p:sp>
      <p:sp>
        <p:nvSpPr>
          <p:cNvPr id="10" name="Shape 6"/>
          <p:cNvSpPr/>
          <p:nvPr/>
        </p:nvSpPr>
        <p:spPr>
          <a:xfrm>
            <a:off x="2130552" y="1207008"/>
            <a:ext cx="1536192" cy="457200"/>
          </a:xfrm>
          <a:prstGeom prst="roundRect">
            <a:avLst>
              <a:gd name="adj" fmla="val 50000"/>
            </a:avLst>
          </a:prstGeom>
          <a:solidFill>
            <a:srgbClr val="F0F2F5"/>
          </a:solidFill>
          <a:ln/>
        </p:spPr>
      </p:sp>
      <p:pic>
        <p:nvPicPr>
          <p:cNvPr id="11" name="Image 2" descr="preencoded.png">    </p:cNvPr>
          <p:cNvPicPr>
            <a:picLocks noChangeAspect="1"/>
          </p:cNvPicPr>
          <p:nvPr/>
        </p:nvPicPr>
        <p:blipFill>
          <a:blip r:embed="rId3"/>
          <a:stretch>
            <a:fillRect/>
          </a:stretch>
        </p:blipFill>
        <p:spPr>
          <a:xfrm>
            <a:off x="2313432" y="1316736"/>
            <a:ext cx="237744" cy="237744"/>
          </a:xfrm>
          <a:prstGeom prst="rect">
            <a:avLst/>
          </a:prstGeom>
        </p:spPr>
      </p:pic>
      <p:sp>
        <p:nvSpPr>
          <p:cNvPr id="12" name="Text 7"/>
          <p:cNvSpPr/>
          <p:nvPr/>
        </p:nvSpPr>
        <p:spPr>
          <a:xfrm>
            <a:off x="2606040" y="1207008"/>
            <a:ext cx="1005840" cy="457200"/>
          </a:xfrm>
          <a:prstGeom prst="rect">
            <a:avLst/>
          </a:prstGeom>
          <a:noFill/>
          <a:ln/>
        </p:spPr>
        <p:txBody>
          <a:bodyPr wrap="square" lIns="0" tIns="0" rIns="0" bIns="0" rtlCol="0" anchor="ctr"/>
          <a:lstStyle/>
          <a:p>
            <a:pPr indent="0" marL="0">
              <a:buNone/>
            </a:pPr>
            <a:r>
              <a:rPr lang="en-US" sz="1250" dirty="0">
                <a:solidFill>
                  <a:srgbClr val="3A3F55"/>
                </a:solidFill>
                <a:latin typeface="Avenir Next" pitchFamily="34" charset="0"/>
                <a:ea typeface="Avenir Next" pitchFamily="34" charset="-122"/>
                <a:cs typeface="Avenir Next" pitchFamily="34" charset="-120"/>
              </a:rPr>
              <a:t>2 · Judge</a:t>
            </a:r>
            <a:endParaRPr lang="en-US" sz="1250" dirty="0"/>
          </a:p>
        </p:txBody>
      </p:sp>
      <p:sp>
        <p:nvSpPr>
          <p:cNvPr id="13" name="Shape 8"/>
          <p:cNvSpPr/>
          <p:nvPr/>
        </p:nvSpPr>
        <p:spPr>
          <a:xfrm>
            <a:off x="3803904" y="1207008"/>
            <a:ext cx="1536192" cy="457200"/>
          </a:xfrm>
          <a:prstGeom prst="roundRect">
            <a:avLst>
              <a:gd name="adj" fmla="val 50000"/>
            </a:avLst>
          </a:prstGeom>
          <a:solidFill>
            <a:srgbClr val="6A4BD8"/>
          </a:solidFill>
          <a:ln/>
        </p:spPr>
      </p:sp>
      <p:pic>
        <p:nvPicPr>
          <p:cNvPr id="14" name="Image 3" descr="preencoded.png">    </p:cNvPr>
          <p:cNvPicPr>
            <a:picLocks noChangeAspect="1"/>
          </p:cNvPicPr>
          <p:nvPr/>
        </p:nvPicPr>
        <p:blipFill>
          <a:blip r:embed="rId4"/>
          <a:stretch>
            <a:fillRect/>
          </a:stretch>
        </p:blipFill>
        <p:spPr>
          <a:xfrm>
            <a:off x="3986784" y="1316736"/>
            <a:ext cx="237744" cy="237744"/>
          </a:xfrm>
          <a:prstGeom prst="rect">
            <a:avLst/>
          </a:prstGeom>
        </p:spPr>
      </p:pic>
      <p:sp>
        <p:nvSpPr>
          <p:cNvPr id="15" name="Text 9"/>
          <p:cNvSpPr/>
          <p:nvPr/>
        </p:nvSpPr>
        <p:spPr>
          <a:xfrm>
            <a:off x="4279392" y="1207008"/>
            <a:ext cx="1005840" cy="457200"/>
          </a:xfrm>
          <a:prstGeom prst="rect">
            <a:avLst/>
          </a:prstGeom>
          <a:noFill/>
          <a:ln/>
        </p:spPr>
        <p:txBody>
          <a:bodyPr wrap="square" lIns="0" tIns="0" rIns="0" bIns="0" rtlCol="0" anchor="ctr"/>
          <a:lstStyle/>
          <a:p>
            <a:pPr indent="0" marL="0">
              <a:buNone/>
            </a:pPr>
            <a:r>
              <a:rPr lang="en-US" sz="1250" b="1" dirty="0">
                <a:solidFill>
                  <a:srgbClr val="FFFFFF"/>
                </a:solidFill>
                <a:latin typeface="Avenir Next" pitchFamily="34" charset="0"/>
                <a:ea typeface="Avenir Next" pitchFamily="34" charset="-122"/>
                <a:cs typeface="Avenir Next" pitchFamily="34" charset="-120"/>
              </a:rPr>
              <a:t>3 · Ask</a:t>
            </a:r>
            <a:endParaRPr lang="en-US" sz="1250" dirty="0"/>
          </a:p>
        </p:txBody>
      </p:sp>
      <p:sp>
        <p:nvSpPr>
          <p:cNvPr id="16" name="Shape 10"/>
          <p:cNvSpPr/>
          <p:nvPr/>
        </p:nvSpPr>
        <p:spPr>
          <a:xfrm>
            <a:off x="5477256" y="1207008"/>
            <a:ext cx="1536192" cy="457200"/>
          </a:xfrm>
          <a:prstGeom prst="roundRect">
            <a:avLst>
              <a:gd name="adj" fmla="val 50000"/>
            </a:avLst>
          </a:prstGeom>
          <a:solidFill>
            <a:srgbClr val="F0F2F5"/>
          </a:solidFill>
          <a:ln/>
        </p:spPr>
      </p:sp>
      <p:pic>
        <p:nvPicPr>
          <p:cNvPr id="17" name="Image 4" descr="preencoded.png">    </p:cNvPr>
          <p:cNvPicPr>
            <a:picLocks noChangeAspect="1"/>
          </p:cNvPicPr>
          <p:nvPr/>
        </p:nvPicPr>
        <p:blipFill>
          <a:blip r:embed="rId5"/>
          <a:stretch>
            <a:fillRect/>
          </a:stretch>
        </p:blipFill>
        <p:spPr>
          <a:xfrm>
            <a:off x="5660136" y="1316736"/>
            <a:ext cx="237744" cy="237744"/>
          </a:xfrm>
          <a:prstGeom prst="rect">
            <a:avLst/>
          </a:prstGeom>
        </p:spPr>
      </p:pic>
      <p:sp>
        <p:nvSpPr>
          <p:cNvPr id="18" name="Text 11"/>
          <p:cNvSpPr/>
          <p:nvPr/>
        </p:nvSpPr>
        <p:spPr>
          <a:xfrm>
            <a:off x="5952744" y="1207008"/>
            <a:ext cx="1005840" cy="457200"/>
          </a:xfrm>
          <a:prstGeom prst="rect">
            <a:avLst/>
          </a:prstGeom>
          <a:noFill/>
          <a:ln/>
        </p:spPr>
        <p:txBody>
          <a:bodyPr wrap="square" lIns="0" tIns="0" rIns="0" bIns="0" rtlCol="0" anchor="ctr"/>
          <a:lstStyle/>
          <a:p>
            <a:pPr indent="0" marL="0">
              <a:buNone/>
            </a:pPr>
            <a:r>
              <a:rPr lang="en-US" sz="1250" dirty="0">
                <a:solidFill>
                  <a:srgbClr val="3A3F55"/>
                </a:solidFill>
                <a:latin typeface="Avenir Next" pitchFamily="34" charset="0"/>
                <a:ea typeface="Avenir Next" pitchFamily="34" charset="-122"/>
                <a:cs typeface="Avenir Next" pitchFamily="34" charset="-120"/>
              </a:rPr>
              <a:t>4 · Answer</a:t>
            </a:r>
            <a:endParaRPr lang="en-US" sz="1250" dirty="0"/>
          </a:p>
        </p:txBody>
      </p:sp>
      <p:sp>
        <p:nvSpPr>
          <p:cNvPr id="19" name="Shape 12"/>
          <p:cNvSpPr/>
          <p:nvPr/>
        </p:nvSpPr>
        <p:spPr>
          <a:xfrm>
            <a:off x="7150608" y="1207008"/>
            <a:ext cx="1536192" cy="457200"/>
          </a:xfrm>
          <a:prstGeom prst="roundRect">
            <a:avLst>
              <a:gd name="adj" fmla="val 50000"/>
            </a:avLst>
          </a:prstGeom>
          <a:solidFill>
            <a:srgbClr val="F0F2F5"/>
          </a:solidFill>
          <a:ln/>
        </p:spPr>
      </p:sp>
      <p:pic>
        <p:nvPicPr>
          <p:cNvPr id="20" name="Image 5" descr="preencoded.png">    </p:cNvPr>
          <p:cNvPicPr>
            <a:picLocks noChangeAspect="1"/>
          </p:cNvPicPr>
          <p:nvPr/>
        </p:nvPicPr>
        <p:blipFill>
          <a:blip r:embed="rId6"/>
          <a:stretch>
            <a:fillRect/>
          </a:stretch>
        </p:blipFill>
        <p:spPr>
          <a:xfrm>
            <a:off x="7333488" y="1316736"/>
            <a:ext cx="237744" cy="237744"/>
          </a:xfrm>
          <a:prstGeom prst="rect">
            <a:avLst/>
          </a:prstGeom>
        </p:spPr>
      </p:pic>
      <p:sp>
        <p:nvSpPr>
          <p:cNvPr id="21" name="Text 13"/>
          <p:cNvSpPr/>
          <p:nvPr/>
        </p:nvSpPr>
        <p:spPr>
          <a:xfrm>
            <a:off x="7626096" y="1207008"/>
            <a:ext cx="1005840" cy="457200"/>
          </a:xfrm>
          <a:prstGeom prst="rect">
            <a:avLst/>
          </a:prstGeom>
          <a:noFill/>
          <a:ln/>
        </p:spPr>
        <p:txBody>
          <a:bodyPr wrap="square" lIns="0" tIns="0" rIns="0" bIns="0" rtlCol="0" anchor="ctr"/>
          <a:lstStyle/>
          <a:p>
            <a:pPr indent="0" marL="0">
              <a:buNone/>
            </a:pPr>
            <a:r>
              <a:rPr lang="en-US" sz="1250" dirty="0">
                <a:solidFill>
                  <a:srgbClr val="3A3F55"/>
                </a:solidFill>
                <a:latin typeface="Avenir Next" pitchFamily="34" charset="0"/>
                <a:ea typeface="Avenir Next" pitchFamily="34" charset="-122"/>
                <a:cs typeface="Avenir Next" pitchFamily="34" charset="-120"/>
              </a:rPr>
              <a:t>5 · Verify</a:t>
            </a:r>
            <a:endParaRPr lang="en-US" sz="1250" dirty="0"/>
          </a:p>
        </p:txBody>
      </p:sp>
      <p:sp>
        <p:nvSpPr>
          <p:cNvPr id="22" name="Shape 14"/>
          <p:cNvSpPr/>
          <p:nvPr/>
        </p:nvSpPr>
        <p:spPr>
          <a:xfrm>
            <a:off x="457200" y="1874520"/>
            <a:ext cx="4023360" cy="2651760"/>
          </a:xfrm>
          <a:prstGeom prst="roundRect">
            <a:avLst>
              <a:gd name="adj" fmla="val 4828"/>
            </a:avLst>
          </a:prstGeom>
          <a:solidFill>
            <a:srgbClr val="F0F2F5"/>
          </a:solidFill>
          <a:ln/>
        </p:spPr>
      </p:sp>
      <p:sp>
        <p:nvSpPr>
          <p:cNvPr id="23" name="Text 15"/>
          <p:cNvSpPr/>
          <p:nvPr/>
        </p:nvSpPr>
        <p:spPr>
          <a:xfrm>
            <a:off x="685800" y="2011680"/>
            <a:ext cx="3657600" cy="2423160"/>
          </a:xfrm>
          <a:prstGeom prst="rect">
            <a:avLst/>
          </a:prstGeom>
          <a:noFill/>
          <a:ln/>
        </p:spPr>
        <p:txBody>
          <a:bodyPr wrap="square" lIns="0" tIns="0" rIns="0" bIns="0" rtlCol="0" anchor="t"/>
          <a:lstStyle/>
          <a:p>
            <a:pPr marL="177800" indent="-177800">
              <a:spcAft>
                <a:spcPts val="800"/>
              </a:spcAft>
              <a:buSzPct val="100000"/>
              <a:buChar char="•"/>
            </a:pPr>
            <a:r>
              <a:rPr lang="en-US" sz="1350" dirty="0">
                <a:solidFill>
                  <a:srgbClr val="3A3F55"/>
                </a:solidFill>
                <a:latin typeface="Avenir Next" pitchFamily="34" charset="0"/>
                <a:ea typeface="Avenir Next" pitchFamily="34" charset="-122"/>
                <a:cs typeface="Avenir Next" pitchFamily="34" charset="-120"/>
              </a:rPr>
              <a:t>44 tools: search, context, counts, trends, rankings, owners</a:t>
            </a:r>
            <a:endParaRPr lang="en-US" sz="1350" dirty="0"/>
          </a:p>
          <a:p>
            <a:pPr marL="177800" indent="-177800">
              <a:spcAft>
                <a:spcPts val="800"/>
              </a:spcAft>
              <a:buSzPct val="100000"/>
              <a:buChar char="•"/>
            </a:pPr>
            <a:r>
              <a:rPr lang="en-US" sz="1350" dirty="0">
                <a:solidFill>
                  <a:srgbClr val="3A3F55"/>
                </a:solidFill>
                <a:latin typeface="Avenir Next" pitchFamily="34" charset="0"/>
                <a:ea typeface="Avenir Next" pitchFamily="34" charset="-122"/>
                <a:cs typeface="Avenir Next" pitchFamily="34" charset="-120"/>
              </a:rPr>
              <a:t>Each tool is a fixed, safe SQL query; Claude fills typed fields</a:t>
            </a:r>
            <a:endParaRPr lang="en-US" sz="1350" dirty="0"/>
          </a:p>
          <a:p>
            <a:pPr marL="177800" indent="-177800">
              <a:spcAft>
                <a:spcPts val="800"/>
              </a:spcAft>
              <a:buSzPct val="100000"/>
              <a:buChar char="•"/>
            </a:pPr>
            <a:r>
              <a:rPr lang="en-US" sz="1350" dirty="0">
                <a:solidFill>
                  <a:srgbClr val="3A3F55"/>
                </a:solidFill>
                <a:latin typeface="Avenir Next" pitchFamily="34" charset="0"/>
                <a:ea typeface="Avenir Next" pitchFamily="34" charset="-122"/>
                <a:cs typeface="Avenir Next" pitchFamily="34" charset="-120"/>
              </a:rPr>
              <a:t>Results: the SQL, exact totals, ≤ 50 rows, truncation flag</a:t>
            </a:r>
            <a:endParaRPr lang="en-US" sz="1350" dirty="0"/>
          </a:p>
          <a:p>
            <a:pPr marL="177800" indent="-177800">
              <a:spcAft>
                <a:spcPts val="800"/>
              </a:spcAft>
              <a:buSzPct val="100000"/>
              <a:buChar char="•"/>
            </a:pPr>
            <a:r>
              <a:rPr lang="en-US" sz="1350" dirty="0">
                <a:solidFill>
                  <a:srgbClr val="3A3F55"/>
                </a:solidFill>
                <a:latin typeface="Avenir Next" pitchFamily="34" charset="0"/>
                <a:ea typeface="Avenir Next" pitchFamily="34" charset="-122"/>
                <a:cs typeface="Avenir Next" pitchFamily="34" charset="-120"/>
              </a:rPr>
              <a:t>5 prompts (type /) and 6 resources (type @)</a:t>
            </a:r>
            <a:endParaRPr lang="en-US" sz="1350" dirty="0"/>
          </a:p>
        </p:txBody>
      </p:sp>
      <p:sp>
        <p:nvSpPr>
          <p:cNvPr id="24" name="Shape 16"/>
          <p:cNvSpPr/>
          <p:nvPr/>
        </p:nvSpPr>
        <p:spPr>
          <a:xfrm>
            <a:off x="4663440" y="1874520"/>
            <a:ext cx="4023360" cy="774192"/>
          </a:xfrm>
          <a:prstGeom prst="roundRect">
            <a:avLst>
              <a:gd name="adj" fmla="val 16535"/>
            </a:avLst>
          </a:prstGeom>
          <a:solidFill>
            <a:srgbClr val="F1ECFD"/>
          </a:solidFill>
          <a:ln/>
        </p:spPr>
      </p:sp>
      <p:sp>
        <p:nvSpPr>
          <p:cNvPr id="25" name="Text 17"/>
          <p:cNvSpPr/>
          <p:nvPr/>
        </p:nvSpPr>
        <p:spPr>
          <a:xfrm>
            <a:off x="4892040" y="1947672"/>
            <a:ext cx="3611880" cy="425806"/>
          </a:xfrm>
          <a:prstGeom prst="rect">
            <a:avLst/>
          </a:prstGeom>
          <a:noFill/>
          <a:ln/>
        </p:spPr>
        <p:txBody>
          <a:bodyPr wrap="square" lIns="0" tIns="0" rIns="0" bIns="0" rtlCol="0" anchor="b"/>
          <a:lstStyle/>
          <a:p>
            <a:pPr indent="0" marL="0">
              <a:buNone/>
            </a:pPr>
            <a:r>
              <a:rPr lang="en-US" sz="2400" b="1" dirty="0">
                <a:solidFill>
                  <a:srgbClr val="6A4BD8"/>
                </a:solidFill>
                <a:latin typeface="Avenir Next" pitchFamily="34" charset="0"/>
                <a:ea typeface="Avenir Next" pitchFamily="34" charset="-122"/>
                <a:cs typeface="Avenir Next" pitchFamily="34" charset="-120"/>
              </a:rPr>
              <a:t>7 ms</a:t>
            </a:r>
            <a:endParaRPr lang="en-US" sz="2400" dirty="0"/>
          </a:p>
        </p:txBody>
      </p:sp>
      <p:sp>
        <p:nvSpPr>
          <p:cNvPr id="26" name="Text 18"/>
          <p:cNvSpPr/>
          <p:nvPr/>
        </p:nvSpPr>
        <p:spPr>
          <a:xfrm>
            <a:off x="4892040" y="2339035"/>
            <a:ext cx="3611880" cy="294193"/>
          </a:xfrm>
          <a:prstGeom prst="rect">
            <a:avLst/>
          </a:prstGeom>
          <a:noFill/>
          <a:ln/>
        </p:spPr>
        <p:txBody>
          <a:bodyPr wrap="square" lIns="0" tIns="0" rIns="0" bIns="0" rtlCol="0" anchor="t"/>
          <a:lstStyle/>
          <a:p>
            <a:pPr indent="0" marL="0">
              <a:buNone/>
            </a:pPr>
            <a:r>
              <a:rPr lang="en-US" sz="1150" dirty="0">
                <a:solidFill>
                  <a:srgbClr val="3A3F55"/>
                </a:solidFill>
                <a:latin typeface="Avenir Next" pitchFamily="34" charset="0"/>
                <a:ea typeface="Avenir Next" pitchFamily="34" charset="-122"/>
                <a:cs typeface="Avenir Next" pitchFamily="34" charset="-120"/>
              </a:rPr>
              <a:t>full-text count over 4.7 M lines (inverted index)</a:t>
            </a:r>
            <a:endParaRPr lang="en-US" sz="1150" dirty="0"/>
          </a:p>
        </p:txBody>
      </p:sp>
      <p:sp>
        <p:nvSpPr>
          <p:cNvPr id="27" name="Shape 19"/>
          <p:cNvSpPr/>
          <p:nvPr/>
        </p:nvSpPr>
        <p:spPr>
          <a:xfrm>
            <a:off x="4663440" y="2758440"/>
            <a:ext cx="4023360" cy="774192"/>
          </a:xfrm>
          <a:prstGeom prst="roundRect">
            <a:avLst>
              <a:gd name="adj" fmla="val 16535"/>
            </a:avLst>
          </a:prstGeom>
          <a:solidFill>
            <a:srgbClr val="FFFFFF"/>
          </a:solidFill>
          <a:ln w="12700">
            <a:solidFill>
              <a:srgbClr val="E3E6EC"/>
            </a:solidFill>
            <a:prstDash val="solid"/>
          </a:ln>
        </p:spPr>
      </p:sp>
      <p:sp>
        <p:nvSpPr>
          <p:cNvPr id="28" name="Text 20"/>
          <p:cNvSpPr/>
          <p:nvPr/>
        </p:nvSpPr>
        <p:spPr>
          <a:xfrm>
            <a:off x="4892040" y="2831592"/>
            <a:ext cx="3611880" cy="425806"/>
          </a:xfrm>
          <a:prstGeom prst="rect">
            <a:avLst/>
          </a:prstGeom>
          <a:noFill/>
          <a:ln/>
        </p:spPr>
        <p:txBody>
          <a:bodyPr wrap="square" lIns="0" tIns="0" rIns="0" bIns="0" rtlCol="0" anchor="b"/>
          <a:lstStyle/>
          <a:p>
            <a:pPr indent="0" marL="0">
              <a:buNone/>
            </a:pPr>
            <a:r>
              <a:rPr lang="en-US" sz="2400" b="1" dirty="0">
                <a:solidFill>
                  <a:srgbClr val="6A4BD8"/>
                </a:solidFill>
                <a:latin typeface="Avenir Next" pitchFamily="34" charset="0"/>
                <a:ea typeface="Avenir Next" pitchFamily="34" charset="-122"/>
                <a:cs typeface="Avenir Next" pitchFamily="34" charset="-120"/>
              </a:rPr>
              <a:t>3–39 ms</a:t>
            </a:r>
            <a:endParaRPr lang="en-US" sz="2400" dirty="0"/>
          </a:p>
        </p:txBody>
      </p:sp>
      <p:sp>
        <p:nvSpPr>
          <p:cNvPr id="29" name="Text 21"/>
          <p:cNvSpPr/>
          <p:nvPr/>
        </p:nvSpPr>
        <p:spPr>
          <a:xfrm>
            <a:off x="4892040" y="3222955"/>
            <a:ext cx="3611880" cy="294193"/>
          </a:xfrm>
          <a:prstGeom prst="rect">
            <a:avLst/>
          </a:prstGeom>
          <a:noFill/>
          <a:ln/>
        </p:spPr>
        <p:txBody>
          <a:bodyPr wrap="square" lIns="0" tIns="0" rIns="0" bIns="0" rtlCol="0" anchor="t"/>
          <a:lstStyle/>
          <a:p>
            <a:pPr indent="0" marL="0">
              <a:buNone/>
            </a:pPr>
            <a:r>
              <a:rPr lang="en-US" sz="1150" dirty="0">
                <a:solidFill>
                  <a:srgbClr val="3A3F55"/>
                </a:solidFill>
                <a:latin typeface="Avenir Next" pitchFamily="34" charset="0"/>
                <a:ea typeface="Avenir Next" pitchFamily="34" charset="-122"/>
                <a:cs typeface="Avenir Next" pitchFamily="34" charset="-120"/>
              </a:rPr>
              <a:t>group-bys straight from the term dictionary</a:t>
            </a:r>
            <a:endParaRPr lang="en-US" sz="1150" dirty="0"/>
          </a:p>
        </p:txBody>
      </p:sp>
      <p:sp>
        <p:nvSpPr>
          <p:cNvPr id="30" name="Shape 22"/>
          <p:cNvSpPr/>
          <p:nvPr/>
        </p:nvSpPr>
        <p:spPr>
          <a:xfrm>
            <a:off x="4663440" y="3642360"/>
            <a:ext cx="4023360" cy="774192"/>
          </a:xfrm>
          <a:prstGeom prst="roundRect">
            <a:avLst>
              <a:gd name="adj" fmla="val 16535"/>
            </a:avLst>
          </a:prstGeom>
          <a:solidFill>
            <a:srgbClr val="FFFFFF"/>
          </a:solidFill>
          <a:ln w="12700">
            <a:solidFill>
              <a:srgbClr val="E3E6EC"/>
            </a:solidFill>
            <a:prstDash val="solid"/>
          </a:ln>
        </p:spPr>
      </p:sp>
      <p:sp>
        <p:nvSpPr>
          <p:cNvPr id="31" name="Text 23"/>
          <p:cNvSpPr/>
          <p:nvPr/>
        </p:nvSpPr>
        <p:spPr>
          <a:xfrm>
            <a:off x="4892040" y="3715512"/>
            <a:ext cx="3611880" cy="425806"/>
          </a:xfrm>
          <a:prstGeom prst="rect">
            <a:avLst/>
          </a:prstGeom>
          <a:noFill/>
          <a:ln/>
        </p:spPr>
        <p:txBody>
          <a:bodyPr wrap="square" lIns="0" tIns="0" rIns="0" bIns="0" rtlCol="0" anchor="b"/>
          <a:lstStyle/>
          <a:p>
            <a:pPr indent="0" marL="0">
              <a:buNone/>
            </a:pPr>
            <a:r>
              <a:rPr lang="en-US" sz="2400" b="1" dirty="0">
                <a:solidFill>
                  <a:srgbClr val="6A4BD8"/>
                </a:solidFill>
                <a:latin typeface="Avenir Next" pitchFamily="34" charset="0"/>
                <a:ea typeface="Avenir Next" pitchFamily="34" charset="-122"/>
                <a:cs typeface="Avenir Next" pitchFamily="34" charset="-120"/>
              </a:rPr>
              <a:t>1.8 s</a:t>
            </a:r>
            <a:endParaRPr lang="en-US" sz="2400" dirty="0"/>
          </a:p>
        </p:txBody>
      </p:sp>
      <p:sp>
        <p:nvSpPr>
          <p:cNvPr id="32" name="Text 24"/>
          <p:cNvSpPr/>
          <p:nvPr/>
        </p:nvSpPr>
        <p:spPr>
          <a:xfrm>
            <a:off x="4892040" y="4106875"/>
            <a:ext cx="3611880" cy="294193"/>
          </a:xfrm>
          <a:prstGeom prst="rect">
            <a:avLst/>
          </a:prstGeom>
          <a:noFill/>
          <a:ln/>
        </p:spPr>
        <p:txBody>
          <a:bodyPr wrap="square" lIns="0" tIns="0" rIns="0" bIns="0" rtlCol="0" anchor="t"/>
          <a:lstStyle/>
          <a:p>
            <a:pPr indent="0" marL="0">
              <a:buNone/>
            </a:pPr>
            <a:r>
              <a:rPr lang="en-US" sz="1150" dirty="0">
                <a:solidFill>
                  <a:srgbClr val="3A3F55"/>
                </a:solidFill>
                <a:latin typeface="Avenir Next" pitchFamily="34" charset="0"/>
                <a:ea typeface="Avenir Next" pitchFamily="34" charset="-122"/>
                <a:cs typeface="Avenir Next" pitchFamily="34" charset="-120"/>
              </a:rPr>
              <a:t>of database time for a 20-step investigation</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4736592"/>
            <a:ext cx="146304" cy="146304"/>
          </a:xfrm>
          <a:prstGeom prst="rect">
            <a:avLst/>
          </a:prstGeom>
        </p:spPr>
      </p:pic>
      <p:sp>
        <p:nvSpPr>
          <p:cNvPr id="3" name="Text 0"/>
          <p:cNvSpPr/>
          <p:nvPr/>
        </p:nvSpPr>
        <p:spPr>
          <a:xfrm>
            <a:off x="676656" y="4700016"/>
            <a:ext cx="5486400" cy="228600"/>
          </a:xfrm>
          <a:prstGeom prst="rect">
            <a:avLst/>
          </a:prstGeom>
          <a:noFill/>
          <a:ln/>
        </p:spPr>
        <p:txBody>
          <a:bodyPr wrap="square" lIns="0" tIns="0" rIns="0" bIns="0" rtlCol="0" anchor="ctr"/>
          <a:lstStyle/>
          <a:p>
            <a:pPr indent="0" marL="0">
              <a:buNone/>
            </a:pPr>
            <a:r>
              <a:rPr lang="en-US" sz="900" dirty="0">
                <a:solidFill>
                  <a:srgbClr val="6B7386"/>
                </a:solidFill>
                <a:latin typeface="Avenir Next" pitchFamily="34" charset="0"/>
                <a:ea typeface="Avenir Next" pitchFamily="34" charset="-122"/>
                <a:cs typeface="Avenir Next" pitchFamily="34" charset="-120"/>
              </a:rPr>
              <a:t>Making Sense of Logs  ·  Pipeline</a:t>
            </a:r>
            <a:endParaRPr lang="en-US" sz="900" dirty="0"/>
          </a:p>
        </p:txBody>
      </p:sp>
      <p:sp>
        <p:nvSpPr>
          <p:cNvPr id="4" name="Text 1"/>
          <p:cNvSpPr/>
          <p:nvPr/>
        </p:nvSpPr>
        <p:spPr>
          <a:xfrm>
            <a:off x="7772400" y="4700016"/>
            <a:ext cx="914400" cy="228600"/>
          </a:xfrm>
          <a:prstGeom prst="rect">
            <a:avLst/>
          </a:prstGeom>
          <a:noFill/>
          <a:ln/>
        </p:spPr>
        <p:txBody>
          <a:bodyPr wrap="square" lIns="0" tIns="0" rIns="0" bIns="0" rtlCol="0" anchor="ctr"/>
          <a:lstStyle/>
          <a:p>
            <a:pPr algn="r" indent="0" marL="0">
              <a:buNone/>
            </a:pPr>
            <a:r>
              <a:rPr lang="en-US" sz="900" dirty="0">
                <a:solidFill>
                  <a:srgbClr val="6B7386"/>
                </a:solidFill>
                <a:latin typeface="Avenir Next" pitchFamily="34" charset="0"/>
                <a:ea typeface="Avenir Next" pitchFamily="34" charset="-122"/>
                <a:cs typeface="Avenir Next" pitchFamily="34" charset="-120"/>
              </a:rPr>
              <a:t>7</a:t>
            </a:r>
            <a:endParaRPr lang="en-US" sz="900" dirty="0"/>
          </a:p>
        </p:txBody>
      </p:sp>
      <p:sp>
        <p:nvSpPr>
          <p:cNvPr id="5" name="Text 2"/>
          <p:cNvSpPr/>
          <p:nvPr/>
        </p:nvSpPr>
        <p:spPr>
          <a:xfrm>
            <a:off x="457200" y="320040"/>
            <a:ext cx="8229600" cy="228600"/>
          </a:xfrm>
          <a:prstGeom prst="rect">
            <a:avLst/>
          </a:prstGeom>
          <a:noFill/>
          <a:ln/>
        </p:spPr>
        <p:txBody>
          <a:bodyPr wrap="square" lIns="0" tIns="0" rIns="0" bIns="0" rtlCol="0" anchor="ctr"/>
          <a:lstStyle/>
          <a:p>
            <a:pPr indent="0" marL="0">
              <a:buNone/>
            </a:pPr>
            <a:r>
              <a:rPr lang="en-US" sz="1000" b="1" spc="300" kern="0" dirty="0">
                <a:solidFill>
                  <a:srgbClr val="6A4BD8"/>
                </a:solidFill>
                <a:latin typeface="Avenir Next" pitchFamily="34" charset="0"/>
                <a:ea typeface="Avenir Next" pitchFamily="34" charset="-122"/>
                <a:cs typeface="Avenir Next" pitchFamily="34" charset="-120"/>
              </a:rPr>
              <a:t>STEP 4 · ANSWER</a:t>
            </a:r>
            <a:endParaRPr lang="en-US" sz="1000" dirty="0"/>
          </a:p>
        </p:txBody>
      </p:sp>
      <p:sp>
        <p:nvSpPr>
          <p:cNvPr id="6" name="Text 3"/>
          <p:cNvSpPr/>
          <p:nvPr/>
        </p:nvSpPr>
        <p:spPr>
          <a:xfrm>
            <a:off x="457200" y="566928"/>
            <a:ext cx="8229600" cy="594360"/>
          </a:xfrm>
          <a:prstGeom prst="rect">
            <a:avLst/>
          </a:prstGeom>
          <a:noFill/>
          <a:ln/>
        </p:spPr>
        <p:txBody>
          <a:bodyPr wrap="square" lIns="0" tIns="0" rIns="0" bIns="0" rtlCol="0" anchor="ctr"/>
          <a:lstStyle/>
          <a:p>
            <a:pPr indent="0" marL="0">
              <a:buNone/>
            </a:pPr>
            <a:r>
              <a:rPr lang="en-US" sz="2800" b="1" dirty="0">
                <a:solidFill>
                  <a:srgbClr val="11121D"/>
                </a:solidFill>
                <a:latin typeface="Avenir Next" pitchFamily="34" charset="0"/>
                <a:ea typeface="Avenir Next" pitchFamily="34" charset="-122"/>
                <a:cs typeface="Avenir Next" pitchFamily="34" charset="-120"/>
              </a:rPr>
              <a:t>One problem, three different answers</a:t>
            </a:r>
            <a:endParaRPr lang="en-US" sz="2800" dirty="0"/>
          </a:p>
        </p:txBody>
      </p:sp>
      <p:sp>
        <p:nvSpPr>
          <p:cNvPr id="7" name="Shape 4"/>
          <p:cNvSpPr/>
          <p:nvPr/>
        </p:nvSpPr>
        <p:spPr>
          <a:xfrm>
            <a:off x="457200" y="1207008"/>
            <a:ext cx="1536192" cy="457200"/>
          </a:xfrm>
          <a:prstGeom prst="roundRect">
            <a:avLst>
              <a:gd name="adj" fmla="val 50000"/>
            </a:avLst>
          </a:prstGeom>
          <a:solidFill>
            <a:srgbClr val="F0F2F5"/>
          </a:solidFill>
          <a:ln/>
        </p:spPr>
      </p:sp>
      <p:pic>
        <p:nvPicPr>
          <p:cNvPr id="8" name="Image 1" descr="preencoded.png">    </p:cNvPr>
          <p:cNvPicPr>
            <a:picLocks noChangeAspect="1"/>
          </p:cNvPicPr>
          <p:nvPr/>
        </p:nvPicPr>
        <p:blipFill>
          <a:blip r:embed="rId2"/>
          <a:stretch>
            <a:fillRect/>
          </a:stretch>
        </p:blipFill>
        <p:spPr>
          <a:xfrm>
            <a:off x="640080" y="1316736"/>
            <a:ext cx="237744" cy="237744"/>
          </a:xfrm>
          <a:prstGeom prst="rect">
            <a:avLst/>
          </a:prstGeom>
        </p:spPr>
      </p:pic>
      <p:sp>
        <p:nvSpPr>
          <p:cNvPr id="9" name="Text 5"/>
          <p:cNvSpPr/>
          <p:nvPr/>
        </p:nvSpPr>
        <p:spPr>
          <a:xfrm>
            <a:off x="932688" y="1207008"/>
            <a:ext cx="1005840" cy="457200"/>
          </a:xfrm>
          <a:prstGeom prst="rect">
            <a:avLst/>
          </a:prstGeom>
          <a:noFill/>
          <a:ln/>
        </p:spPr>
        <p:txBody>
          <a:bodyPr wrap="square" lIns="0" tIns="0" rIns="0" bIns="0" rtlCol="0" anchor="ctr"/>
          <a:lstStyle/>
          <a:p>
            <a:pPr indent="0" marL="0">
              <a:buNone/>
            </a:pPr>
            <a:r>
              <a:rPr lang="en-US" sz="1250" dirty="0">
                <a:solidFill>
                  <a:srgbClr val="3A3F55"/>
                </a:solidFill>
                <a:latin typeface="Avenir Next" pitchFamily="34" charset="0"/>
                <a:ea typeface="Avenir Next" pitchFamily="34" charset="-122"/>
                <a:cs typeface="Avenir Next" pitchFamily="34" charset="-120"/>
              </a:rPr>
              <a:t>1 · Load</a:t>
            </a:r>
            <a:endParaRPr lang="en-US" sz="1250" dirty="0"/>
          </a:p>
        </p:txBody>
      </p:sp>
      <p:sp>
        <p:nvSpPr>
          <p:cNvPr id="10" name="Shape 6"/>
          <p:cNvSpPr/>
          <p:nvPr/>
        </p:nvSpPr>
        <p:spPr>
          <a:xfrm>
            <a:off x="2130552" y="1207008"/>
            <a:ext cx="1536192" cy="457200"/>
          </a:xfrm>
          <a:prstGeom prst="roundRect">
            <a:avLst>
              <a:gd name="adj" fmla="val 50000"/>
            </a:avLst>
          </a:prstGeom>
          <a:solidFill>
            <a:srgbClr val="F0F2F5"/>
          </a:solidFill>
          <a:ln/>
        </p:spPr>
      </p:sp>
      <p:pic>
        <p:nvPicPr>
          <p:cNvPr id="11" name="Image 2" descr="preencoded.png">    </p:cNvPr>
          <p:cNvPicPr>
            <a:picLocks noChangeAspect="1"/>
          </p:cNvPicPr>
          <p:nvPr/>
        </p:nvPicPr>
        <p:blipFill>
          <a:blip r:embed="rId3"/>
          <a:stretch>
            <a:fillRect/>
          </a:stretch>
        </p:blipFill>
        <p:spPr>
          <a:xfrm>
            <a:off x="2313432" y="1316736"/>
            <a:ext cx="237744" cy="237744"/>
          </a:xfrm>
          <a:prstGeom prst="rect">
            <a:avLst/>
          </a:prstGeom>
        </p:spPr>
      </p:pic>
      <p:sp>
        <p:nvSpPr>
          <p:cNvPr id="12" name="Text 7"/>
          <p:cNvSpPr/>
          <p:nvPr/>
        </p:nvSpPr>
        <p:spPr>
          <a:xfrm>
            <a:off x="2606040" y="1207008"/>
            <a:ext cx="1005840" cy="457200"/>
          </a:xfrm>
          <a:prstGeom prst="rect">
            <a:avLst/>
          </a:prstGeom>
          <a:noFill/>
          <a:ln/>
        </p:spPr>
        <p:txBody>
          <a:bodyPr wrap="square" lIns="0" tIns="0" rIns="0" bIns="0" rtlCol="0" anchor="ctr"/>
          <a:lstStyle/>
          <a:p>
            <a:pPr indent="0" marL="0">
              <a:buNone/>
            </a:pPr>
            <a:r>
              <a:rPr lang="en-US" sz="1250" dirty="0">
                <a:solidFill>
                  <a:srgbClr val="3A3F55"/>
                </a:solidFill>
                <a:latin typeface="Avenir Next" pitchFamily="34" charset="0"/>
                <a:ea typeface="Avenir Next" pitchFamily="34" charset="-122"/>
                <a:cs typeface="Avenir Next" pitchFamily="34" charset="-120"/>
              </a:rPr>
              <a:t>2 · Judge</a:t>
            </a:r>
            <a:endParaRPr lang="en-US" sz="1250" dirty="0"/>
          </a:p>
        </p:txBody>
      </p:sp>
      <p:sp>
        <p:nvSpPr>
          <p:cNvPr id="13" name="Shape 8"/>
          <p:cNvSpPr/>
          <p:nvPr/>
        </p:nvSpPr>
        <p:spPr>
          <a:xfrm>
            <a:off x="3803904" y="1207008"/>
            <a:ext cx="1536192" cy="457200"/>
          </a:xfrm>
          <a:prstGeom prst="roundRect">
            <a:avLst>
              <a:gd name="adj" fmla="val 50000"/>
            </a:avLst>
          </a:prstGeom>
          <a:solidFill>
            <a:srgbClr val="F0F2F5"/>
          </a:solidFill>
          <a:ln/>
        </p:spPr>
      </p:sp>
      <p:pic>
        <p:nvPicPr>
          <p:cNvPr id="14" name="Image 3" descr="preencoded.png">    </p:cNvPr>
          <p:cNvPicPr>
            <a:picLocks noChangeAspect="1"/>
          </p:cNvPicPr>
          <p:nvPr/>
        </p:nvPicPr>
        <p:blipFill>
          <a:blip r:embed="rId4"/>
          <a:stretch>
            <a:fillRect/>
          </a:stretch>
        </p:blipFill>
        <p:spPr>
          <a:xfrm>
            <a:off x="3986784" y="1316736"/>
            <a:ext cx="237744" cy="237744"/>
          </a:xfrm>
          <a:prstGeom prst="rect">
            <a:avLst/>
          </a:prstGeom>
        </p:spPr>
      </p:pic>
      <p:sp>
        <p:nvSpPr>
          <p:cNvPr id="15" name="Text 9"/>
          <p:cNvSpPr/>
          <p:nvPr/>
        </p:nvSpPr>
        <p:spPr>
          <a:xfrm>
            <a:off x="4279392" y="1207008"/>
            <a:ext cx="1005840" cy="457200"/>
          </a:xfrm>
          <a:prstGeom prst="rect">
            <a:avLst/>
          </a:prstGeom>
          <a:noFill/>
          <a:ln/>
        </p:spPr>
        <p:txBody>
          <a:bodyPr wrap="square" lIns="0" tIns="0" rIns="0" bIns="0" rtlCol="0" anchor="ctr"/>
          <a:lstStyle/>
          <a:p>
            <a:pPr indent="0" marL="0">
              <a:buNone/>
            </a:pPr>
            <a:r>
              <a:rPr lang="en-US" sz="1250" dirty="0">
                <a:solidFill>
                  <a:srgbClr val="3A3F55"/>
                </a:solidFill>
                <a:latin typeface="Avenir Next" pitchFamily="34" charset="0"/>
                <a:ea typeface="Avenir Next" pitchFamily="34" charset="-122"/>
                <a:cs typeface="Avenir Next" pitchFamily="34" charset="-120"/>
              </a:rPr>
              <a:t>3 · Ask</a:t>
            </a:r>
            <a:endParaRPr lang="en-US" sz="1250" dirty="0"/>
          </a:p>
        </p:txBody>
      </p:sp>
      <p:sp>
        <p:nvSpPr>
          <p:cNvPr id="16" name="Shape 10"/>
          <p:cNvSpPr/>
          <p:nvPr/>
        </p:nvSpPr>
        <p:spPr>
          <a:xfrm>
            <a:off x="5477256" y="1207008"/>
            <a:ext cx="1536192" cy="457200"/>
          </a:xfrm>
          <a:prstGeom prst="roundRect">
            <a:avLst>
              <a:gd name="adj" fmla="val 50000"/>
            </a:avLst>
          </a:prstGeom>
          <a:solidFill>
            <a:srgbClr val="6A4BD8"/>
          </a:solidFill>
          <a:ln/>
        </p:spPr>
      </p:sp>
      <p:pic>
        <p:nvPicPr>
          <p:cNvPr id="17" name="Image 4" descr="preencoded.png">    </p:cNvPr>
          <p:cNvPicPr>
            <a:picLocks noChangeAspect="1"/>
          </p:cNvPicPr>
          <p:nvPr/>
        </p:nvPicPr>
        <p:blipFill>
          <a:blip r:embed="rId5"/>
          <a:stretch>
            <a:fillRect/>
          </a:stretch>
        </p:blipFill>
        <p:spPr>
          <a:xfrm>
            <a:off x="5660136" y="1316736"/>
            <a:ext cx="237744" cy="237744"/>
          </a:xfrm>
          <a:prstGeom prst="rect">
            <a:avLst/>
          </a:prstGeom>
        </p:spPr>
      </p:pic>
      <p:sp>
        <p:nvSpPr>
          <p:cNvPr id="18" name="Text 11"/>
          <p:cNvSpPr/>
          <p:nvPr/>
        </p:nvSpPr>
        <p:spPr>
          <a:xfrm>
            <a:off x="5952744" y="1207008"/>
            <a:ext cx="1005840" cy="457200"/>
          </a:xfrm>
          <a:prstGeom prst="rect">
            <a:avLst/>
          </a:prstGeom>
          <a:noFill/>
          <a:ln/>
        </p:spPr>
        <p:txBody>
          <a:bodyPr wrap="square" lIns="0" tIns="0" rIns="0" bIns="0" rtlCol="0" anchor="ctr"/>
          <a:lstStyle/>
          <a:p>
            <a:pPr indent="0" marL="0">
              <a:buNone/>
            </a:pPr>
            <a:r>
              <a:rPr lang="en-US" sz="1250" b="1" dirty="0">
                <a:solidFill>
                  <a:srgbClr val="FFFFFF"/>
                </a:solidFill>
                <a:latin typeface="Avenir Next" pitchFamily="34" charset="0"/>
                <a:ea typeface="Avenir Next" pitchFamily="34" charset="-122"/>
                <a:cs typeface="Avenir Next" pitchFamily="34" charset="-120"/>
              </a:rPr>
              <a:t>4 · Answer</a:t>
            </a:r>
            <a:endParaRPr lang="en-US" sz="1250" dirty="0"/>
          </a:p>
        </p:txBody>
      </p:sp>
      <p:sp>
        <p:nvSpPr>
          <p:cNvPr id="19" name="Shape 12"/>
          <p:cNvSpPr/>
          <p:nvPr/>
        </p:nvSpPr>
        <p:spPr>
          <a:xfrm>
            <a:off x="7150608" y="1207008"/>
            <a:ext cx="1536192" cy="457200"/>
          </a:xfrm>
          <a:prstGeom prst="roundRect">
            <a:avLst>
              <a:gd name="adj" fmla="val 50000"/>
            </a:avLst>
          </a:prstGeom>
          <a:solidFill>
            <a:srgbClr val="F0F2F5"/>
          </a:solidFill>
          <a:ln/>
        </p:spPr>
      </p:sp>
      <p:pic>
        <p:nvPicPr>
          <p:cNvPr id="20" name="Image 5" descr="preencoded.png">    </p:cNvPr>
          <p:cNvPicPr>
            <a:picLocks noChangeAspect="1"/>
          </p:cNvPicPr>
          <p:nvPr/>
        </p:nvPicPr>
        <p:blipFill>
          <a:blip r:embed="rId6"/>
          <a:stretch>
            <a:fillRect/>
          </a:stretch>
        </p:blipFill>
        <p:spPr>
          <a:xfrm>
            <a:off x="7333488" y="1316736"/>
            <a:ext cx="237744" cy="237744"/>
          </a:xfrm>
          <a:prstGeom prst="rect">
            <a:avLst/>
          </a:prstGeom>
        </p:spPr>
      </p:pic>
      <p:sp>
        <p:nvSpPr>
          <p:cNvPr id="21" name="Text 13"/>
          <p:cNvSpPr/>
          <p:nvPr/>
        </p:nvSpPr>
        <p:spPr>
          <a:xfrm>
            <a:off x="7626096" y="1207008"/>
            <a:ext cx="1005840" cy="457200"/>
          </a:xfrm>
          <a:prstGeom prst="rect">
            <a:avLst/>
          </a:prstGeom>
          <a:noFill/>
          <a:ln/>
        </p:spPr>
        <p:txBody>
          <a:bodyPr wrap="square" lIns="0" tIns="0" rIns="0" bIns="0" rtlCol="0" anchor="ctr"/>
          <a:lstStyle/>
          <a:p>
            <a:pPr indent="0" marL="0">
              <a:buNone/>
            </a:pPr>
            <a:r>
              <a:rPr lang="en-US" sz="1250" dirty="0">
                <a:solidFill>
                  <a:srgbClr val="3A3F55"/>
                </a:solidFill>
                <a:latin typeface="Avenir Next" pitchFamily="34" charset="0"/>
                <a:ea typeface="Avenir Next" pitchFamily="34" charset="-122"/>
                <a:cs typeface="Avenir Next" pitchFamily="34" charset="-120"/>
              </a:rPr>
              <a:t>5 · Verify</a:t>
            </a:r>
            <a:endParaRPr lang="en-US" sz="1250" dirty="0"/>
          </a:p>
        </p:txBody>
      </p:sp>
      <p:sp>
        <p:nvSpPr>
          <p:cNvPr id="22" name="Shape 14"/>
          <p:cNvSpPr/>
          <p:nvPr/>
        </p:nvSpPr>
        <p:spPr>
          <a:xfrm>
            <a:off x="457200" y="1874520"/>
            <a:ext cx="4023360" cy="2651760"/>
          </a:xfrm>
          <a:prstGeom prst="roundRect">
            <a:avLst>
              <a:gd name="adj" fmla="val 4828"/>
            </a:avLst>
          </a:prstGeom>
          <a:solidFill>
            <a:srgbClr val="F0F2F5"/>
          </a:solidFill>
          <a:ln/>
        </p:spPr>
      </p:sp>
      <p:sp>
        <p:nvSpPr>
          <p:cNvPr id="23" name="Text 15"/>
          <p:cNvSpPr/>
          <p:nvPr/>
        </p:nvSpPr>
        <p:spPr>
          <a:xfrm>
            <a:off x="685800" y="2011680"/>
            <a:ext cx="3657600" cy="2423160"/>
          </a:xfrm>
          <a:prstGeom prst="rect">
            <a:avLst/>
          </a:prstGeom>
          <a:noFill/>
          <a:ln/>
        </p:spPr>
        <p:txBody>
          <a:bodyPr wrap="square" lIns="0" tIns="0" rIns="0" bIns="0" rtlCol="0" anchor="t"/>
          <a:lstStyle/>
          <a:p>
            <a:pPr marL="177800" indent="-177800">
              <a:spcAft>
                <a:spcPts val="800"/>
              </a:spcAft>
              <a:buSzPct val="100000"/>
              <a:buChar char="•"/>
            </a:pPr>
            <a:r>
              <a:rPr lang="en-US" sz="1350" dirty="0">
                <a:solidFill>
                  <a:srgbClr val="3A3F55"/>
                </a:solidFill>
                <a:latin typeface="Avenir Next" pitchFamily="34" charset="0"/>
                <a:ea typeface="Avenir Next" pitchFamily="34" charset="-122"/>
                <a:cs typeface="Avenir Next" pitchFamily="34" charset="-120"/>
              </a:rPr>
              <a:t>Engineer: 12,996 lines on 1,024 nodes, one host → check it</a:t>
            </a:r>
            <a:endParaRPr lang="en-US" sz="1350" dirty="0"/>
          </a:p>
          <a:p>
            <a:pPr marL="177800" indent="-177800">
              <a:spcAft>
                <a:spcPts val="800"/>
              </a:spcAft>
              <a:buSzPct val="100000"/>
              <a:buChar char="•"/>
            </a:pPr>
            <a:r>
              <a:rPr lang="en-US" sz="1350" dirty="0">
                <a:solidFill>
                  <a:srgbClr val="3A3F55"/>
                </a:solidFill>
                <a:latin typeface="Avenir Next" pitchFamily="34" charset="0"/>
                <a:ea typeface="Avenir Next" pitchFamily="34" charset="-122"/>
                <a:cs typeface="Avenir Next" pitchFamily="34" charset="-120"/>
              </a:rPr>
              <a:t>Team lead: 31 bursts, owner disputed → triage together</a:t>
            </a:r>
            <a:endParaRPr lang="en-US" sz="1350" dirty="0"/>
          </a:p>
          <a:p>
            <a:pPr marL="177800" indent="-177800">
              <a:spcAft>
                <a:spcPts val="800"/>
              </a:spcAft>
              <a:buSzPct val="100000"/>
              <a:buChar char="•"/>
            </a:pPr>
            <a:r>
              <a:rPr lang="en-US" sz="1350" dirty="0">
                <a:solidFill>
                  <a:srgbClr val="3A3F55"/>
                </a:solidFill>
                <a:latin typeface="Avenir Next" pitchFamily="34" charset="0"/>
                <a:ea typeface="Avenir Next" pitchFamily="34" charset="-122"/>
                <a:cs typeface="Avenir Next" pitchFamily="34" charset="-120"/>
              </a:rPr>
              <a:t>Manager: rank 1 of 133 → name an owner now</a:t>
            </a:r>
            <a:endParaRPr lang="en-US" sz="1350" dirty="0"/>
          </a:p>
          <a:p>
            <a:pPr marL="177800" indent="-177800">
              <a:spcAft>
                <a:spcPts val="800"/>
              </a:spcAft>
              <a:buSzPct val="100000"/>
              <a:buChar char="•"/>
            </a:pPr>
            <a:r>
              <a:rPr lang="en-US" sz="1350" dirty="0">
                <a:solidFill>
                  <a:srgbClr val="3A3F55"/>
                </a:solidFill>
                <a:latin typeface="Avenir Next" pitchFamily="34" charset="0"/>
                <a:ea typeface="Avenir Next" pitchFamily="34" charset="-122"/>
                <a:cs typeface="Avenir Next" pitchFamily="34" charset="-120"/>
              </a:rPr>
              <a:t>Facts, hypothesis, unknowns and a next step, every time</a:t>
            </a:r>
            <a:endParaRPr lang="en-US" sz="1350" dirty="0"/>
          </a:p>
        </p:txBody>
      </p:sp>
      <p:sp>
        <p:nvSpPr>
          <p:cNvPr id="24" name="Shape 16"/>
          <p:cNvSpPr/>
          <p:nvPr/>
        </p:nvSpPr>
        <p:spPr>
          <a:xfrm>
            <a:off x="4663440" y="1874520"/>
            <a:ext cx="4023360" cy="1216152"/>
          </a:xfrm>
          <a:prstGeom prst="roundRect">
            <a:avLst>
              <a:gd name="adj" fmla="val 10526"/>
            </a:avLst>
          </a:prstGeom>
          <a:solidFill>
            <a:srgbClr val="F1ECFD"/>
          </a:solidFill>
          <a:ln/>
        </p:spPr>
      </p:sp>
      <p:sp>
        <p:nvSpPr>
          <p:cNvPr id="25" name="Text 17"/>
          <p:cNvSpPr/>
          <p:nvPr/>
        </p:nvSpPr>
        <p:spPr>
          <a:xfrm>
            <a:off x="4892040" y="1947672"/>
            <a:ext cx="3611880" cy="668884"/>
          </a:xfrm>
          <a:prstGeom prst="rect">
            <a:avLst/>
          </a:prstGeom>
          <a:noFill/>
          <a:ln/>
        </p:spPr>
        <p:txBody>
          <a:bodyPr wrap="square" lIns="0" tIns="0" rIns="0" bIns="0" rtlCol="0" anchor="b"/>
          <a:lstStyle/>
          <a:p>
            <a:pPr indent="0" marL="0">
              <a:buNone/>
            </a:pPr>
            <a:r>
              <a:rPr lang="en-US" sz="3000" b="1" dirty="0">
                <a:solidFill>
                  <a:srgbClr val="6A4BD8"/>
                </a:solidFill>
                <a:latin typeface="Avenir Next" pitchFamily="34" charset="0"/>
                <a:ea typeface="Avenir Next" pitchFamily="34" charset="-122"/>
                <a:cs typeface="Avenir Next" pitchFamily="34" charset="-120"/>
              </a:rPr>
              <a:t>14 s</a:t>
            </a:r>
            <a:endParaRPr lang="en-US" sz="3000" dirty="0"/>
          </a:p>
        </p:txBody>
      </p:sp>
      <p:sp>
        <p:nvSpPr>
          <p:cNvPr id="26" name="Text 18"/>
          <p:cNvSpPr/>
          <p:nvPr/>
        </p:nvSpPr>
        <p:spPr>
          <a:xfrm>
            <a:off x="4892040" y="2604211"/>
            <a:ext cx="3611880" cy="462138"/>
          </a:xfrm>
          <a:prstGeom prst="rect">
            <a:avLst/>
          </a:prstGeom>
          <a:noFill/>
          <a:ln/>
        </p:spPr>
        <p:txBody>
          <a:bodyPr wrap="square" lIns="0" tIns="0" rIns="0" bIns="0" rtlCol="0" anchor="t"/>
          <a:lstStyle/>
          <a:p>
            <a:pPr indent="0" marL="0">
              <a:buNone/>
            </a:pPr>
            <a:r>
              <a:rPr lang="en-US" sz="1150" dirty="0">
                <a:solidFill>
                  <a:srgbClr val="3A3F55"/>
                </a:solidFill>
                <a:latin typeface="Avenir Next" pitchFamily="34" charset="0"/>
                <a:ea typeface="Avenir Next" pitchFamily="34" charset="-122"/>
                <a:cs typeface="Avenir Next" pitchFamily="34" charset="-120"/>
              </a:rPr>
              <a:t>per answer with Claude Code + our server</a:t>
            </a:r>
            <a:endParaRPr lang="en-US" sz="1150" dirty="0"/>
          </a:p>
        </p:txBody>
      </p:sp>
      <p:sp>
        <p:nvSpPr>
          <p:cNvPr id="27" name="Shape 19"/>
          <p:cNvSpPr/>
          <p:nvPr/>
        </p:nvSpPr>
        <p:spPr>
          <a:xfrm>
            <a:off x="4663440" y="3200400"/>
            <a:ext cx="4023360" cy="1216152"/>
          </a:xfrm>
          <a:prstGeom prst="roundRect">
            <a:avLst>
              <a:gd name="adj" fmla="val 10526"/>
            </a:avLst>
          </a:prstGeom>
          <a:solidFill>
            <a:srgbClr val="FFFFFF"/>
          </a:solidFill>
          <a:ln w="12700">
            <a:solidFill>
              <a:srgbClr val="E3E6EC"/>
            </a:solidFill>
            <a:prstDash val="solid"/>
          </a:ln>
        </p:spPr>
      </p:sp>
      <p:sp>
        <p:nvSpPr>
          <p:cNvPr id="28" name="Text 20"/>
          <p:cNvSpPr/>
          <p:nvPr/>
        </p:nvSpPr>
        <p:spPr>
          <a:xfrm>
            <a:off x="4892040" y="3273552"/>
            <a:ext cx="3611880" cy="668884"/>
          </a:xfrm>
          <a:prstGeom prst="rect">
            <a:avLst/>
          </a:prstGeom>
          <a:noFill/>
          <a:ln/>
        </p:spPr>
        <p:txBody>
          <a:bodyPr wrap="square" lIns="0" tIns="0" rIns="0" bIns="0" rtlCol="0" anchor="b"/>
          <a:lstStyle/>
          <a:p>
            <a:pPr indent="0" marL="0">
              <a:buNone/>
            </a:pPr>
            <a:r>
              <a:rPr lang="en-US" sz="3000" b="1" dirty="0">
                <a:solidFill>
                  <a:srgbClr val="6A4BD8"/>
                </a:solidFill>
                <a:latin typeface="Avenir Next" pitchFamily="34" charset="0"/>
                <a:ea typeface="Avenir Next" pitchFamily="34" charset="-122"/>
                <a:cs typeface="Avenir Next" pitchFamily="34" charset="-120"/>
              </a:rPr>
              <a:t>≈ 5 ¢</a:t>
            </a:r>
            <a:endParaRPr lang="en-US" sz="3000" dirty="0"/>
          </a:p>
        </p:txBody>
      </p:sp>
      <p:sp>
        <p:nvSpPr>
          <p:cNvPr id="29" name="Text 21"/>
          <p:cNvSpPr/>
          <p:nvPr/>
        </p:nvSpPr>
        <p:spPr>
          <a:xfrm>
            <a:off x="4892040" y="3930091"/>
            <a:ext cx="3611880" cy="462138"/>
          </a:xfrm>
          <a:prstGeom prst="rect">
            <a:avLst/>
          </a:prstGeom>
          <a:noFill/>
          <a:ln/>
        </p:spPr>
        <p:txBody>
          <a:bodyPr wrap="square" lIns="0" tIns="0" rIns="0" bIns="0" rtlCol="0" anchor="t"/>
          <a:lstStyle/>
          <a:p>
            <a:pPr indent="0" marL="0">
              <a:buNone/>
            </a:pPr>
            <a:r>
              <a:rPr lang="en-US" sz="1150" dirty="0">
                <a:solidFill>
                  <a:srgbClr val="3A3F55"/>
                </a:solidFill>
                <a:latin typeface="Avenir Next" pitchFamily="34" charset="0"/>
                <a:ea typeface="Avenir Next" pitchFamily="34" charset="-122"/>
                <a:cs typeface="Avenir Next" pitchFamily="34" charset="-120"/>
              </a:rPr>
              <a:t>per answer (Claude Code, 50 questions)</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4736592"/>
            <a:ext cx="146304" cy="146304"/>
          </a:xfrm>
          <a:prstGeom prst="rect">
            <a:avLst/>
          </a:prstGeom>
        </p:spPr>
      </p:pic>
      <p:sp>
        <p:nvSpPr>
          <p:cNvPr id="3" name="Text 0"/>
          <p:cNvSpPr/>
          <p:nvPr/>
        </p:nvSpPr>
        <p:spPr>
          <a:xfrm>
            <a:off x="676656" y="4700016"/>
            <a:ext cx="5486400" cy="228600"/>
          </a:xfrm>
          <a:prstGeom prst="rect">
            <a:avLst/>
          </a:prstGeom>
          <a:noFill/>
          <a:ln/>
        </p:spPr>
        <p:txBody>
          <a:bodyPr wrap="square" lIns="0" tIns="0" rIns="0" bIns="0" rtlCol="0" anchor="ctr"/>
          <a:lstStyle/>
          <a:p>
            <a:pPr indent="0" marL="0">
              <a:buNone/>
            </a:pPr>
            <a:r>
              <a:rPr lang="en-US" sz="900" dirty="0">
                <a:solidFill>
                  <a:srgbClr val="6B7386"/>
                </a:solidFill>
                <a:latin typeface="Avenir Next" pitchFamily="34" charset="0"/>
                <a:ea typeface="Avenir Next" pitchFamily="34" charset="-122"/>
                <a:cs typeface="Avenir Next" pitchFamily="34" charset="-120"/>
              </a:rPr>
              <a:t>Making Sense of Logs  ·  Pipeline</a:t>
            </a:r>
            <a:endParaRPr lang="en-US" sz="900" dirty="0"/>
          </a:p>
        </p:txBody>
      </p:sp>
      <p:sp>
        <p:nvSpPr>
          <p:cNvPr id="4" name="Text 1"/>
          <p:cNvSpPr/>
          <p:nvPr/>
        </p:nvSpPr>
        <p:spPr>
          <a:xfrm>
            <a:off x="7772400" y="4700016"/>
            <a:ext cx="914400" cy="228600"/>
          </a:xfrm>
          <a:prstGeom prst="rect">
            <a:avLst/>
          </a:prstGeom>
          <a:noFill/>
          <a:ln/>
        </p:spPr>
        <p:txBody>
          <a:bodyPr wrap="square" lIns="0" tIns="0" rIns="0" bIns="0" rtlCol="0" anchor="ctr"/>
          <a:lstStyle/>
          <a:p>
            <a:pPr algn="r" indent="0" marL="0">
              <a:buNone/>
            </a:pPr>
            <a:r>
              <a:rPr lang="en-US" sz="900" dirty="0">
                <a:solidFill>
                  <a:srgbClr val="6B7386"/>
                </a:solidFill>
                <a:latin typeface="Avenir Next" pitchFamily="34" charset="0"/>
                <a:ea typeface="Avenir Next" pitchFamily="34" charset="-122"/>
                <a:cs typeface="Avenir Next" pitchFamily="34" charset="-120"/>
              </a:rPr>
              <a:t>8</a:t>
            </a:r>
            <a:endParaRPr lang="en-US" sz="900" dirty="0"/>
          </a:p>
        </p:txBody>
      </p:sp>
      <p:sp>
        <p:nvSpPr>
          <p:cNvPr id="5" name="Text 2"/>
          <p:cNvSpPr/>
          <p:nvPr/>
        </p:nvSpPr>
        <p:spPr>
          <a:xfrm>
            <a:off x="457200" y="320040"/>
            <a:ext cx="8229600" cy="228600"/>
          </a:xfrm>
          <a:prstGeom prst="rect">
            <a:avLst/>
          </a:prstGeom>
          <a:noFill/>
          <a:ln/>
        </p:spPr>
        <p:txBody>
          <a:bodyPr wrap="square" lIns="0" tIns="0" rIns="0" bIns="0" rtlCol="0" anchor="ctr"/>
          <a:lstStyle/>
          <a:p>
            <a:pPr indent="0" marL="0">
              <a:buNone/>
            </a:pPr>
            <a:r>
              <a:rPr lang="en-US" sz="1000" b="1" spc="300" kern="0" dirty="0">
                <a:solidFill>
                  <a:srgbClr val="6A4BD8"/>
                </a:solidFill>
                <a:latin typeface="Avenir Next" pitchFamily="34" charset="0"/>
                <a:ea typeface="Avenir Next" pitchFamily="34" charset="-122"/>
                <a:cs typeface="Avenir Next" pitchFamily="34" charset="-120"/>
              </a:rPr>
              <a:t>STEP 5 · VERIFY</a:t>
            </a:r>
            <a:endParaRPr lang="en-US" sz="1000" dirty="0"/>
          </a:p>
        </p:txBody>
      </p:sp>
      <p:sp>
        <p:nvSpPr>
          <p:cNvPr id="6" name="Text 3"/>
          <p:cNvSpPr/>
          <p:nvPr/>
        </p:nvSpPr>
        <p:spPr>
          <a:xfrm>
            <a:off x="457200" y="566928"/>
            <a:ext cx="8229600" cy="594360"/>
          </a:xfrm>
          <a:prstGeom prst="rect">
            <a:avLst/>
          </a:prstGeom>
          <a:noFill/>
          <a:ln/>
        </p:spPr>
        <p:txBody>
          <a:bodyPr wrap="square" lIns="0" tIns="0" rIns="0" bIns="0" rtlCol="0" anchor="ctr"/>
          <a:lstStyle/>
          <a:p>
            <a:pPr indent="0" marL="0">
              <a:buNone/>
            </a:pPr>
            <a:r>
              <a:rPr lang="en-US" sz="2800" b="1" dirty="0">
                <a:solidFill>
                  <a:srgbClr val="11121D"/>
                </a:solidFill>
                <a:latin typeface="Avenir Next" pitchFamily="34" charset="0"/>
                <a:ea typeface="Avenir Next" pitchFamily="34" charset="-122"/>
                <a:cs typeface="Avenir Next" pitchFamily="34" charset="-120"/>
              </a:rPr>
              <a:t>Every number traces to its query</a:t>
            </a:r>
            <a:endParaRPr lang="en-US" sz="2800" dirty="0"/>
          </a:p>
        </p:txBody>
      </p:sp>
      <p:sp>
        <p:nvSpPr>
          <p:cNvPr id="7" name="Shape 4"/>
          <p:cNvSpPr/>
          <p:nvPr/>
        </p:nvSpPr>
        <p:spPr>
          <a:xfrm>
            <a:off x="457200" y="1207008"/>
            <a:ext cx="1536192" cy="457200"/>
          </a:xfrm>
          <a:prstGeom prst="roundRect">
            <a:avLst>
              <a:gd name="adj" fmla="val 50000"/>
            </a:avLst>
          </a:prstGeom>
          <a:solidFill>
            <a:srgbClr val="F0F2F5"/>
          </a:solidFill>
          <a:ln/>
        </p:spPr>
      </p:sp>
      <p:pic>
        <p:nvPicPr>
          <p:cNvPr id="8" name="Image 1" descr="preencoded.png">    </p:cNvPr>
          <p:cNvPicPr>
            <a:picLocks noChangeAspect="1"/>
          </p:cNvPicPr>
          <p:nvPr/>
        </p:nvPicPr>
        <p:blipFill>
          <a:blip r:embed="rId2"/>
          <a:stretch>
            <a:fillRect/>
          </a:stretch>
        </p:blipFill>
        <p:spPr>
          <a:xfrm>
            <a:off x="640080" y="1316736"/>
            <a:ext cx="237744" cy="237744"/>
          </a:xfrm>
          <a:prstGeom prst="rect">
            <a:avLst/>
          </a:prstGeom>
        </p:spPr>
      </p:pic>
      <p:sp>
        <p:nvSpPr>
          <p:cNvPr id="9" name="Text 5"/>
          <p:cNvSpPr/>
          <p:nvPr/>
        </p:nvSpPr>
        <p:spPr>
          <a:xfrm>
            <a:off x="932688" y="1207008"/>
            <a:ext cx="1005840" cy="457200"/>
          </a:xfrm>
          <a:prstGeom prst="rect">
            <a:avLst/>
          </a:prstGeom>
          <a:noFill/>
          <a:ln/>
        </p:spPr>
        <p:txBody>
          <a:bodyPr wrap="square" lIns="0" tIns="0" rIns="0" bIns="0" rtlCol="0" anchor="ctr"/>
          <a:lstStyle/>
          <a:p>
            <a:pPr indent="0" marL="0">
              <a:buNone/>
            </a:pPr>
            <a:r>
              <a:rPr lang="en-US" sz="1250" dirty="0">
                <a:solidFill>
                  <a:srgbClr val="3A3F55"/>
                </a:solidFill>
                <a:latin typeface="Avenir Next" pitchFamily="34" charset="0"/>
                <a:ea typeface="Avenir Next" pitchFamily="34" charset="-122"/>
                <a:cs typeface="Avenir Next" pitchFamily="34" charset="-120"/>
              </a:rPr>
              <a:t>1 · Load</a:t>
            </a:r>
            <a:endParaRPr lang="en-US" sz="1250" dirty="0"/>
          </a:p>
        </p:txBody>
      </p:sp>
      <p:sp>
        <p:nvSpPr>
          <p:cNvPr id="10" name="Shape 6"/>
          <p:cNvSpPr/>
          <p:nvPr/>
        </p:nvSpPr>
        <p:spPr>
          <a:xfrm>
            <a:off x="2130552" y="1207008"/>
            <a:ext cx="1536192" cy="457200"/>
          </a:xfrm>
          <a:prstGeom prst="roundRect">
            <a:avLst>
              <a:gd name="adj" fmla="val 50000"/>
            </a:avLst>
          </a:prstGeom>
          <a:solidFill>
            <a:srgbClr val="F0F2F5"/>
          </a:solidFill>
          <a:ln/>
        </p:spPr>
      </p:sp>
      <p:pic>
        <p:nvPicPr>
          <p:cNvPr id="11" name="Image 2" descr="preencoded.png">    </p:cNvPr>
          <p:cNvPicPr>
            <a:picLocks noChangeAspect="1"/>
          </p:cNvPicPr>
          <p:nvPr/>
        </p:nvPicPr>
        <p:blipFill>
          <a:blip r:embed="rId3"/>
          <a:stretch>
            <a:fillRect/>
          </a:stretch>
        </p:blipFill>
        <p:spPr>
          <a:xfrm>
            <a:off x="2313432" y="1316736"/>
            <a:ext cx="237744" cy="237744"/>
          </a:xfrm>
          <a:prstGeom prst="rect">
            <a:avLst/>
          </a:prstGeom>
        </p:spPr>
      </p:pic>
      <p:sp>
        <p:nvSpPr>
          <p:cNvPr id="12" name="Text 7"/>
          <p:cNvSpPr/>
          <p:nvPr/>
        </p:nvSpPr>
        <p:spPr>
          <a:xfrm>
            <a:off x="2606040" y="1207008"/>
            <a:ext cx="1005840" cy="457200"/>
          </a:xfrm>
          <a:prstGeom prst="rect">
            <a:avLst/>
          </a:prstGeom>
          <a:noFill/>
          <a:ln/>
        </p:spPr>
        <p:txBody>
          <a:bodyPr wrap="square" lIns="0" tIns="0" rIns="0" bIns="0" rtlCol="0" anchor="ctr"/>
          <a:lstStyle/>
          <a:p>
            <a:pPr indent="0" marL="0">
              <a:buNone/>
            </a:pPr>
            <a:r>
              <a:rPr lang="en-US" sz="1250" dirty="0">
                <a:solidFill>
                  <a:srgbClr val="3A3F55"/>
                </a:solidFill>
                <a:latin typeface="Avenir Next" pitchFamily="34" charset="0"/>
                <a:ea typeface="Avenir Next" pitchFamily="34" charset="-122"/>
                <a:cs typeface="Avenir Next" pitchFamily="34" charset="-120"/>
              </a:rPr>
              <a:t>2 · Judge</a:t>
            </a:r>
            <a:endParaRPr lang="en-US" sz="1250" dirty="0"/>
          </a:p>
        </p:txBody>
      </p:sp>
      <p:sp>
        <p:nvSpPr>
          <p:cNvPr id="13" name="Shape 8"/>
          <p:cNvSpPr/>
          <p:nvPr/>
        </p:nvSpPr>
        <p:spPr>
          <a:xfrm>
            <a:off x="3803904" y="1207008"/>
            <a:ext cx="1536192" cy="457200"/>
          </a:xfrm>
          <a:prstGeom prst="roundRect">
            <a:avLst>
              <a:gd name="adj" fmla="val 50000"/>
            </a:avLst>
          </a:prstGeom>
          <a:solidFill>
            <a:srgbClr val="F0F2F5"/>
          </a:solidFill>
          <a:ln/>
        </p:spPr>
      </p:sp>
      <p:pic>
        <p:nvPicPr>
          <p:cNvPr id="14" name="Image 3" descr="preencoded.png">    </p:cNvPr>
          <p:cNvPicPr>
            <a:picLocks noChangeAspect="1"/>
          </p:cNvPicPr>
          <p:nvPr/>
        </p:nvPicPr>
        <p:blipFill>
          <a:blip r:embed="rId4"/>
          <a:stretch>
            <a:fillRect/>
          </a:stretch>
        </p:blipFill>
        <p:spPr>
          <a:xfrm>
            <a:off x="3986784" y="1316736"/>
            <a:ext cx="237744" cy="237744"/>
          </a:xfrm>
          <a:prstGeom prst="rect">
            <a:avLst/>
          </a:prstGeom>
        </p:spPr>
      </p:pic>
      <p:sp>
        <p:nvSpPr>
          <p:cNvPr id="15" name="Text 9"/>
          <p:cNvSpPr/>
          <p:nvPr/>
        </p:nvSpPr>
        <p:spPr>
          <a:xfrm>
            <a:off x="4279392" y="1207008"/>
            <a:ext cx="1005840" cy="457200"/>
          </a:xfrm>
          <a:prstGeom prst="rect">
            <a:avLst/>
          </a:prstGeom>
          <a:noFill/>
          <a:ln/>
        </p:spPr>
        <p:txBody>
          <a:bodyPr wrap="square" lIns="0" tIns="0" rIns="0" bIns="0" rtlCol="0" anchor="ctr"/>
          <a:lstStyle/>
          <a:p>
            <a:pPr indent="0" marL="0">
              <a:buNone/>
            </a:pPr>
            <a:r>
              <a:rPr lang="en-US" sz="1250" dirty="0">
                <a:solidFill>
                  <a:srgbClr val="3A3F55"/>
                </a:solidFill>
                <a:latin typeface="Avenir Next" pitchFamily="34" charset="0"/>
                <a:ea typeface="Avenir Next" pitchFamily="34" charset="-122"/>
                <a:cs typeface="Avenir Next" pitchFamily="34" charset="-120"/>
              </a:rPr>
              <a:t>3 · Ask</a:t>
            </a:r>
            <a:endParaRPr lang="en-US" sz="1250" dirty="0"/>
          </a:p>
        </p:txBody>
      </p:sp>
      <p:sp>
        <p:nvSpPr>
          <p:cNvPr id="16" name="Shape 10"/>
          <p:cNvSpPr/>
          <p:nvPr/>
        </p:nvSpPr>
        <p:spPr>
          <a:xfrm>
            <a:off x="5477256" y="1207008"/>
            <a:ext cx="1536192" cy="457200"/>
          </a:xfrm>
          <a:prstGeom prst="roundRect">
            <a:avLst>
              <a:gd name="adj" fmla="val 50000"/>
            </a:avLst>
          </a:prstGeom>
          <a:solidFill>
            <a:srgbClr val="F0F2F5"/>
          </a:solidFill>
          <a:ln/>
        </p:spPr>
      </p:sp>
      <p:pic>
        <p:nvPicPr>
          <p:cNvPr id="17" name="Image 4" descr="preencoded.png">    </p:cNvPr>
          <p:cNvPicPr>
            <a:picLocks noChangeAspect="1"/>
          </p:cNvPicPr>
          <p:nvPr/>
        </p:nvPicPr>
        <p:blipFill>
          <a:blip r:embed="rId5"/>
          <a:stretch>
            <a:fillRect/>
          </a:stretch>
        </p:blipFill>
        <p:spPr>
          <a:xfrm>
            <a:off x="5660136" y="1316736"/>
            <a:ext cx="237744" cy="237744"/>
          </a:xfrm>
          <a:prstGeom prst="rect">
            <a:avLst/>
          </a:prstGeom>
        </p:spPr>
      </p:pic>
      <p:sp>
        <p:nvSpPr>
          <p:cNvPr id="18" name="Text 11"/>
          <p:cNvSpPr/>
          <p:nvPr/>
        </p:nvSpPr>
        <p:spPr>
          <a:xfrm>
            <a:off x="5952744" y="1207008"/>
            <a:ext cx="1005840" cy="457200"/>
          </a:xfrm>
          <a:prstGeom prst="rect">
            <a:avLst/>
          </a:prstGeom>
          <a:noFill/>
          <a:ln/>
        </p:spPr>
        <p:txBody>
          <a:bodyPr wrap="square" lIns="0" tIns="0" rIns="0" bIns="0" rtlCol="0" anchor="ctr"/>
          <a:lstStyle/>
          <a:p>
            <a:pPr indent="0" marL="0">
              <a:buNone/>
            </a:pPr>
            <a:r>
              <a:rPr lang="en-US" sz="1250" dirty="0">
                <a:solidFill>
                  <a:srgbClr val="3A3F55"/>
                </a:solidFill>
                <a:latin typeface="Avenir Next" pitchFamily="34" charset="0"/>
                <a:ea typeface="Avenir Next" pitchFamily="34" charset="-122"/>
                <a:cs typeface="Avenir Next" pitchFamily="34" charset="-120"/>
              </a:rPr>
              <a:t>4 · Answer</a:t>
            </a:r>
            <a:endParaRPr lang="en-US" sz="1250" dirty="0"/>
          </a:p>
        </p:txBody>
      </p:sp>
      <p:sp>
        <p:nvSpPr>
          <p:cNvPr id="19" name="Shape 12"/>
          <p:cNvSpPr/>
          <p:nvPr/>
        </p:nvSpPr>
        <p:spPr>
          <a:xfrm>
            <a:off x="7150608" y="1207008"/>
            <a:ext cx="1536192" cy="457200"/>
          </a:xfrm>
          <a:prstGeom prst="roundRect">
            <a:avLst>
              <a:gd name="adj" fmla="val 50000"/>
            </a:avLst>
          </a:prstGeom>
          <a:solidFill>
            <a:srgbClr val="6A4BD8"/>
          </a:solidFill>
          <a:ln/>
        </p:spPr>
      </p:sp>
      <p:pic>
        <p:nvPicPr>
          <p:cNvPr id="20" name="Image 5" descr="preencoded.png">    </p:cNvPr>
          <p:cNvPicPr>
            <a:picLocks noChangeAspect="1"/>
          </p:cNvPicPr>
          <p:nvPr/>
        </p:nvPicPr>
        <p:blipFill>
          <a:blip r:embed="rId6"/>
          <a:stretch>
            <a:fillRect/>
          </a:stretch>
        </p:blipFill>
        <p:spPr>
          <a:xfrm>
            <a:off x="7333488" y="1316736"/>
            <a:ext cx="237744" cy="237744"/>
          </a:xfrm>
          <a:prstGeom prst="rect">
            <a:avLst/>
          </a:prstGeom>
        </p:spPr>
      </p:pic>
      <p:sp>
        <p:nvSpPr>
          <p:cNvPr id="21" name="Text 13"/>
          <p:cNvSpPr/>
          <p:nvPr/>
        </p:nvSpPr>
        <p:spPr>
          <a:xfrm>
            <a:off x="7626096" y="1207008"/>
            <a:ext cx="1005840" cy="457200"/>
          </a:xfrm>
          <a:prstGeom prst="rect">
            <a:avLst/>
          </a:prstGeom>
          <a:noFill/>
          <a:ln/>
        </p:spPr>
        <p:txBody>
          <a:bodyPr wrap="square" lIns="0" tIns="0" rIns="0" bIns="0" rtlCol="0" anchor="ctr"/>
          <a:lstStyle/>
          <a:p>
            <a:pPr indent="0" marL="0">
              <a:buNone/>
            </a:pPr>
            <a:r>
              <a:rPr lang="en-US" sz="1250" b="1" dirty="0">
                <a:solidFill>
                  <a:srgbClr val="FFFFFF"/>
                </a:solidFill>
                <a:latin typeface="Avenir Next" pitchFamily="34" charset="0"/>
                <a:ea typeface="Avenir Next" pitchFamily="34" charset="-122"/>
                <a:cs typeface="Avenir Next" pitchFamily="34" charset="-120"/>
              </a:rPr>
              <a:t>5 · Verify</a:t>
            </a:r>
            <a:endParaRPr lang="en-US" sz="1250" dirty="0"/>
          </a:p>
        </p:txBody>
      </p:sp>
      <p:sp>
        <p:nvSpPr>
          <p:cNvPr id="22" name="Shape 14"/>
          <p:cNvSpPr/>
          <p:nvPr/>
        </p:nvSpPr>
        <p:spPr>
          <a:xfrm>
            <a:off x="457200" y="1874520"/>
            <a:ext cx="4023360" cy="2651760"/>
          </a:xfrm>
          <a:prstGeom prst="roundRect">
            <a:avLst>
              <a:gd name="adj" fmla="val 4828"/>
            </a:avLst>
          </a:prstGeom>
          <a:solidFill>
            <a:srgbClr val="F0F2F5"/>
          </a:solidFill>
          <a:ln/>
        </p:spPr>
      </p:sp>
      <p:sp>
        <p:nvSpPr>
          <p:cNvPr id="23" name="Text 15"/>
          <p:cNvSpPr/>
          <p:nvPr/>
        </p:nvSpPr>
        <p:spPr>
          <a:xfrm>
            <a:off x="685800" y="2011680"/>
            <a:ext cx="3657600" cy="2423160"/>
          </a:xfrm>
          <a:prstGeom prst="rect">
            <a:avLst/>
          </a:prstGeom>
          <a:noFill/>
          <a:ln/>
        </p:spPr>
        <p:txBody>
          <a:bodyPr wrap="square" lIns="0" tIns="0" rIns="0" bIns="0" rtlCol="0" anchor="t"/>
          <a:lstStyle/>
          <a:p>
            <a:pPr marL="177800" indent="-177800">
              <a:spcAft>
                <a:spcPts val="800"/>
              </a:spcAft>
              <a:buSzPct val="100000"/>
              <a:buChar char="•"/>
            </a:pPr>
            <a:r>
              <a:rPr lang="en-US" sz="1350" dirty="0">
                <a:solidFill>
                  <a:srgbClr val="3A3F55"/>
                </a:solidFill>
                <a:latin typeface="Avenir Next" pitchFamily="34" charset="0"/>
                <a:ea typeface="Avenir Next" pitchFamily="34" charset="-122"/>
                <a:cs typeface="Avenir Next" pitchFamily="34" charset="-120"/>
              </a:rPr>
              <a:t>Session report: each number links to the step that produced it</a:t>
            </a:r>
            <a:endParaRPr lang="en-US" sz="1350" dirty="0"/>
          </a:p>
          <a:p>
            <a:pPr marL="177800" indent="-177800">
              <a:spcAft>
                <a:spcPts val="800"/>
              </a:spcAft>
              <a:buSzPct val="100000"/>
              <a:buChar char="•"/>
            </a:pPr>
            <a:r>
              <a:rPr lang="en-US" sz="1350" dirty="0">
                <a:solidFill>
                  <a:srgbClr val="3A3F55"/>
                </a:solidFill>
                <a:latin typeface="Avenir Next" pitchFamily="34" charset="0"/>
                <a:ea typeface="Avenir Next" pitchFamily="34" charset="-122"/>
                <a:cs typeface="Avenir Next" pitchFamily="34" charset="-120"/>
              </a:rPr>
              <a:t>Verify re-runs the step read-only and compares</a:t>
            </a:r>
            <a:endParaRPr lang="en-US" sz="1350" dirty="0"/>
          </a:p>
          <a:p>
            <a:pPr marL="177800" indent="-177800">
              <a:spcAft>
                <a:spcPts val="800"/>
              </a:spcAft>
              <a:buSzPct val="100000"/>
              <a:buChar char="•"/>
            </a:pPr>
            <a:r>
              <a:rPr lang="en-US" sz="1350" dirty="0">
                <a:solidFill>
                  <a:srgbClr val="3A3F55"/>
                </a:solidFill>
                <a:latin typeface="Avenir Next" pitchFamily="34" charset="0"/>
                <a:ea typeface="Avenir Next" pitchFamily="34" charset="-122"/>
                <a:cs typeface="Avenir Next" pitchFamily="34" charset="-120"/>
              </a:rPr>
              <a:t>Jev checks each sentence against its evidence</a:t>
            </a:r>
            <a:endParaRPr lang="en-US" sz="1350" dirty="0"/>
          </a:p>
          <a:p>
            <a:pPr marL="177800" indent="-177800">
              <a:spcAft>
                <a:spcPts val="800"/>
              </a:spcAft>
              <a:buSzPct val="100000"/>
              <a:buChar char="•"/>
            </a:pPr>
            <a:r>
              <a:rPr lang="en-US" sz="1350" dirty="0">
                <a:solidFill>
                  <a:srgbClr val="3A3F55"/>
                </a:solidFill>
                <a:latin typeface="Avenir Next" pitchFamily="34" charset="0"/>
                <a:ea typeface="Avenir Next" pitchFamily="34" charset="-122"/>
                <a:cs typeface="Avenir Next" pitchFamily="34" charset="-120"/>
              </a:rPr>
              <a:t>Offline copy: docs/investigation/report.html</a:t>
            </a:r>
            <a:endParaRPr lang="en-US" sz="1350" dirty="0"/>
          </a:p>
        </p:txBody>
      </p:sp>
      <p:sp>
        <p:nvSpPr>
          <p:cNvPr id="24" name="Shape 16"/>
          <p:cNvSpPr/>
          <p:nvPr/>
        </p:nvSpPr>
        <p:spPr>
          <a:xfrm>
            <a:off x="4663440" y="1874520"/>
            <a:ext cx="4023360" cy="1216152"/>
          </a:xfrm>
          <a:prstGeom prst="roundRect">
            <a:avLst>
              <a:gd name="adj" fmla="val 10526"/>
            </a:avLst>
          </a:prstGeom>
          <a:solidFill>
            <a:srgbClr val="F1ECFD"/>
          </a:solidFill>
          <a:ln/>
        </p:spPr>
      </p:sp>
      <p:sp>
        <p:nvSpPr>
          <p:cNvPr id="25" name="Text 17"/>
          <p:cNvSpPr/>
          <p:nvPr/>
        </p:nvSpPr>
        <p:spPr>
          <a:xfrm>
            <a:off x="4892040" y="1947672"/>
            <a:ext cx="3611880" cy="668884"/>
          </a:xfrm>
          <a:prstGeom prst="rect">
            <a:avLst/>
          </a:prstGeom>
          <a:noFill/>
          <a:ln/>
        </p:spPr>
        <p:txBody>
          <a:bodyPr wrap="square" lIns="0" tIns="0" rIns="0" bIns="0" rtlCol="0" anchor="b"/>
          <a:lstStyle/>
          <a:p>
            <a:pPr indent="0" marL="0">
              <a:buNone/>
            </a:pPr>
            <a:r>
              <a:rPr lang="en-US" sz="3000" b="1" dirty="0">
                <a:solidFill>
                  <a:srgbClr val="6A4BD8"/>
                </a:solidFill>
                <a:latin typeface="Avenir Next" pitchFamily="34" charset="0"/>
                <a:ea typeface="Avenir Next" pitchFamily="34" charset="-122"/>
                <a:cs typeface="Avenir Next" pitchFamily="34" charset="-120"/>
              </a:rPr>
              <a:t>62 / 62</a:t>
            </a:r>
            <a:endParaRPr lang="en-US" sz="3000" dirty="0"/>
          </a:p>
        </p:txBody>
      </p:sp>
      <p:sp>
        <p:nvSpPr>
          <p:cNvPr id="26" name="Text 18"/>
          <p:cNvSpPr/>
          <p:nvPr/>
        </p:nvSpPr>
        <p:spPr>
          <a:xfrm>
            <a:off x="4892040" y="2604211"/>
            <a:ext cx="3611880" cy="462138"/>
          </a:xfrm>
          <a:prstGeom prst="rect">
            <a:avLst/>
          </a:prstGeom>
          <a:noFill/>
          <a:ln/>
        </p:spPr>
        <p:txBody>
          <a:bodyPr wrap="square" lIns="0" tIns="0" rIns="0" bIns="0" rtlCol="0" anchor="t"/>
          <a:lstStyle/>
          <a:p>
            <a:pPr indent="0" marL="0">
              <a:buNone/>
            </a:pPr>
            <a:r>
              <a:rPr lang="en-US" sz="1150" dirty="0">
                <a:solidFill>
                  <a:srgbClr val="3A3F55"/>
                </a:solidFill>
                <a:latin typeface="Avenir Next" pitchFamily="34" charset="0"/>
                <a:ea typeface="Avenir Next" pitchFamily="34" charset="-122"/>
                <a:cs typeface="Avenir Next" pitchFamily="34" charset="-120"/>
              </a:rPr>
              <a:t>numbers in the worked investigation traced to a query</a:t>
            </a:r>
            <a:endParaRPr lang="en-US" sz="1150" dirty="0"/>
          </a:p>
        </p:txBody>
      </p:sp>
      <p:sp>
        <p:nvSpPr>
          <p:cNvPr id="27" name="Shape 19"/>
          <p:cNvSpPr/>
          <p:nvPr/>
        </p:nvSpPr>
        <p:spPr>
          <a:xfrm>
            <a:off x="4663440" y="3200400"/>
            <a:ext cx="4023360" cy="1216152"/>
          </a:xfrm>
          <a:prstGeom prst="roundRect">
            <a:avLst>
              <a:gd name="adj" fmla="val 10526"/>
            </a:avLst>
          </a:prstGeom>
          <a:solidFill>
            <a:srgbClr val="FFFFFF"/>
          </a:solidFill>
          <a:ln w="12700">
            <a:solidFill>
              <a:srgbClr val="E3E6EC"/>
            </a:solidFill>
            <a:prstDash val="solid"/>
          </a:ln>
        </p:spPr>
      </p:sp>
      <p:sp>
        <p:nvSpPr>
          <p:cNvPr id="28" name="Text 20"/>
          <p:cNvSpPr/>
          <p:nvPr/>
        </p:nvSpPr>
        <p:spPr>
          <a:xfrm>
            <a:off x="4892040" y="3273552"/>
            <a:ext cx="3611880" cy="668884"/>
          </a:xfrm>
          <a:prstGeom prst="rect">
            <a:avLst/>
          </a:prstGeom>
          <a:noFill/>
          <a:ln/>
        </p:spPr>
        <p:txBody>
          <a:bodyPr wrap="square" lIns="0" tIns="0" rIns="0" bIns="0" rtlCol="0" anchor="b"/>
          <a:lstStyle/>
          <a:p>
            <a:pPr indent="0" marL="0">
              <a:buNone/>
            </a:pPr>
            <a:r>
              <a:rPr lang="en-US" sz="3000" b="1" dirty="0">
                <a:solidFill>
                  <a:srgbClr val="6A4BD8"/>
                </a:solidFill>
                <a:latin typeface="Avenir Next" pitchFamily="34" charset="0"/>
                <a:ea typeface="Avenir Next" pitchFamily="34" charset="-122"/>
                <a:cs typeface="Avenir Next" pitchFamily="34" charset="-120"/>
              </a:rPr>
              <a:t>17 / 17</a:t>
            </a:r>
            <a:endParaRPr lang="en-US" sz="3000" dirty="0"/>
          </a:p>
        </p:txBody>
      </p:sp>
      <p:sp>
        <p:nvSpPr>
          <p:cNvPr id="29" name="Text 21"/>
          <p:cNvSpPr/>
          <p:nvPr/>
        </p:nvSpPr>
        <p:spPr>
          <a:xfrm>
            <a:off x="4892040" y="3930091"/>
            <a:ext cx="3611880" cy="462138"/>
          </a:xfrm>
          <a:prstGeom prst="rect">
            <a:avLst/>
          </a:prstGeom>
          <a:noFill/>
          <a:ln/>
        </p:spPr>
        <p:txBody>
          <a:bodyPr wrap="square" lIns="0" tIns="0" rIns="0" bIns="0" rtlCol="0" anchor="t"/>
          <a:lstStyle/>
          <a:p>
            <a:pPr indent="0" marL="0">
              <a:buNone/>
            </a:pPr>
            <a:r>
              <a:rPr lang="en-US" sz="1150" dirty="0">
                <a:solidFill>
                  <a:srgbClr val="3A3F55"/>
                </a:solidFill>
                <a:latin typeface="Avenir Next" pitchFamily="34" charset="0"/>
                <a:ea typeface="Avenir Next" pitchFamily="34" charset="-122"/>
                <a:cs typeface="Avenir Next" pitchFamily="34" charset="-120"/>
              </a:rPr>
              <a:t>steps give the same result when re-run</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4736592"/>
            <a:ext cx="146304" cy="146304"/>
          </a:xfrm>
          <a:prstGeom prst="rect">
            <a:avLst/>
          </a:prstGeom>
        </p:spPr>
      </p:pic>
      <p:sp>
        <p:nvSpPr>
          <p:cNvPr id="3" name="Text 0"/>
          <p:cNvSpPr/>
          <p:nvPr/>
        </p:nvSpPr>
        <p:spPr>
          <a:xfrm>
            <a:off x="676656" y="4700016"/>
            <a:ext cx="5486400" cy="228600"/>
          </a:xfrm>
          <a:prstGeom prst="rect">
            <a:avLst/>
          </a:prstGeom>
          <a:noFill/>
          <a:ln/>
        </p:spPr>
        <p:txBody>
          <a:bodyPr wrap="square" lIns="0" tIns="0" rIns="0" bIns="0" rtlCol="0" anchor="ctr"/>
          <a:lstStyle/>
          <a:p>
            <a:pPr indent="0" marL="0">
              <a:buNone/>
            </a:pPr>
            <a:r>
              <a:rPr lang="en-US" sz="900" dirty="0">
                <a:solidFill>
                  <a:srgbClr val="6B7386"/>
                </a:solidFill>
                <a:latin typeface="Avenir Next" pitchFamily="34" charset="0"/>
                <a:ea typeface="Avenir Next" pitchFamily="34" charset="-122"/>
                <a:cs typeface="Avenir Next" pitchFamily="34" charset="-120"/>
              </a:rPr>
              <a:t>Making Sense of Logs  ·  Price &amp; performance</a:t>
            </a:r>
            <a:endParaRPr lang="en-US" sz="900" dirty="0"/>
          </a:p>
        </p:txBody>
      </p:sp>
      <p:sp>
        <p:nvSpPr>
          <p:cNvPr id="4" name="Text 1"/>
          <p:cNvSpPr/>
          <p:nvPr/>
        </p:nvSpPr>
        <p:spPr>
          <a:xfrm>
            <a:off x="7772400" y="4700016"/>
            <a:ext cx="914400" cy="228600"/>
          </a:xfrm>
          <a:prstGeom prst="rect">
            <a:avLst/>
          </a:prstGeom>
          <a:noFill/>
          <a:ln/>
        </p:spPr>
        <p:txBody>
          <a:bodyPr wrap="square" lIns="0" tIns="0" rIns="0" bIns="0" rtlCol="0" anchor="ctr"/>
          <a:lstStyle/>
          <a:p>
            <a:pPr algn="r" indent="0" marL="0">
              <a:buNone/>
            </a:pPr>
            <a:r>
              <a:rPr lang="en-US" sz="900" dirty="0">
                <a:solidFill>
                  <a:srgbClr val="6B7386"/>
                </a:solidFill>
                <a:latin typeface="Avenir Next" pitchFamily="34" charset="0"/>
                <a:ea typeface="Avenir Next" pitchFamily="34" charset="-122"/>
                <a:cs typeface="Avenir Next" pitchFamily="34" charset="-120"/>
              </a:rPr>
              <a:t>9</a:t>
            </a:r>
            <a:endParaRPr lang="en-US" sz="900" dirty="0"/>
          </a:p>
        </p:txBody>
      </p:sp>
      <p:sp>
        <p:nvSpPr>
          <p:cNvPr id="5" name="Text 2"/>
          <p:cNvSpPr/>
          <p:nvPr/>
        </p:nvSpPr>
        <p:spPr>
          <a:xfrm>
            <a:off x="457200" y="320040"/>
            <a:ext cx="8229600" cy="228600"/>
          </a:xfrm>
          <a:prstGeom prst="rect">
            <a:avLst/>
          </a:prstGeom>
          <a:noFill/>
          <a:ln/>
        </p:spPr>
        <p:txBody>
          <a:bodyPr wrap="square" lIns="0" tIns="0" rIns="0" bIns="0" rtlCol="0" anchor="ctr"/>
          <a:lstStyle/>
          <a:p>
            <a:pPr indent="0" marL="0">
              <a:buNone/>
            </a:pPr>
            <a:r>
              <a:rPr lang="en-US" sz="1000" b="1" spc="300" kern="0" dirty="0">
                <a:solidFill>
                  <a:srgbClr val="6A4BD8"/>
                </a:solidFill>
                <a:latin typeface="Avenir Next" pitchFamily="34" charset="0"/>
                <a:ea typeface="Avenir Next" pitchFamily="34" charset="-122"/>
                <a:cs typeface="Avenir Next" pitchFamily="34" charset="-120"/>
              </a:rPr>
              <a:t>PRICE &amp; PERFORMANCE</a:t>
            </a:r>
            <a:endParaRPr lang="en-US" sz="1000" dirty="0"/>
          </a:p>
        </p:txBody>
      </p:sp>
      <p:sp>
        <p:nvSpPr>
          <p:cNvPr id="6" name="Text 3"/>
          <p:cNvSpPr/>
          <p:nvPr/>
        </p:nvSpPr>
        <p:spPr>
          <a:xfrm>
            <a:off x="457200" y="566928"/>
            <a:ext cx="8229600" cy="594360"/>
          </a:xfrm>
          <a:prstGeom prst="rect">
            <a:avLst/>
          </a:prstGeom>
          <a:noFill/>
          <a:ln/>
        </p:spPr>
        <p:txBody>
          <a:bodyPr wrap="square" lIns="0" tIns="0" rIns="0" bIns="0" rtlCol="0" anchor="ctr"/>
          <a:lstStyle/>
          <a:p>
            <a:pPr indent="0" marL="0">
              <a:buNone/>
            </a:pPr>
            <a:r>
              <a:rPr lang="en-US" sz="2800" b="1" dirty="0">
                <a:solidFill>
                  <a:srgbClr val="11121D"/>
                </a:solidFill>
                <a:latin typeface="Avenir Next" pitchFamily="34" charset="0"/>
                <a:ea typeface="Avenir Next" pitchFamily="34" charset="-122"/>
                <a:cs typeface="Avenir Next" pitchFamily="34" charset="-120"/>
              </a:rPr>
              <a:t>Faster, more correct, for about a cent more</a:t>
            </a:r>
            <a:endParaRPr lang="en-US" sz="2800" dirty="0"/>
          </a:p>
        </p:txBody>
      </p:sp>
      <p:sp>
        <p:nvSpPr>
          <p:cNvPr id="7" name="Shape 4"/>
          <p:cNvSpPr/>
          <p:nvPr/>
        </p:nvSpPr>
        <p:spPr>
          <a:xfrm>
            <a:off x="457200" y="1371600"/>
            <a:ext cx="4023360" cy="3154680"/>
          </a:xfrm>
          <a:prstGeom prst="roundRect">
            <a:avLst>
              <a:gd name="adj" fmla="val 4058"/>
            </a:avLst>
          </a:prstGeom>
          <a:solidFill>
            <a:srgbClr val="FFFFFF"/>
          </a:solidFill>
          <a:ln w="12700">
            <a:solidFill>
              <a:srgbClr val="E3E6EC"/>
            </a:solidFill>
            <a:prstDash val="solid"/>
          </a:ln>
        </p:spPr>
      </p:sp>
      <p:sp>
        <p:nvSpPr>
          <p:cNvPr id="8" name="Text 5"/>
          <p:cNvSpPr/>
          <p:nvPr/>
        </p:nvSpPr>
        <p:spPr>
          <a:xfrm>
            <a:off x="731520" y="1481328"/>
            <a:ext cx="3566160" cy="320040"/>
          </a:xfrm>
          <a:prstGeom prst="rect">
            <a:avLst/>
          </a:prstGeom>
          <a:noFill/>
          <a:ln/>
        </p:spPr>
        <p:txBody>
          <a:bodyPr wrap="square" lIns="0" tIns="0" rIns="0" bIns="0" rtlCol="0" anchor="ctr"/>
          <a:lstStyle/>
          <a:p>
            <a:pPr indent="0" marL="0">
              <a:buNone/>
            </a:pPr>
            <a:r>
              <a:rPr lang="en-US" sz="1250" b="1" dirty="0">
                <a:solidFill>
                  <a:srgbClr val="11121D"/>
                </a:solidFill>
                <a:latin typeface="Avenir Next" pitchFamily="34" charset="0"/>
                <a:ea typeface="Avenir Next" pitchFamily="34" charset="-122"/>
                <a:cs typeface="Avenir Next" pitchFamily="34" charset="-120"/>
              </a:rPr>
              <a:t>Seconds per answer (mean, 50 questions)</a:t>
            </a:r>
            <a:endParaRPr lang="en-US" sz="1250" dirty="0"/>
          </a:p>
        </p:txBody>
      </p:sp>
      <p:graphicFrame>
        <p:nvGraphicFramePr>
          <p:cNvPr id="9" name="Chart 0" descr=""/>
          <p:cNvGraphicFramePr/>
          <p:nvPr/>
        </p:nvGraphicFramePr>
        <p:xfrm>
          <a:off x="548640" y="1828800"/>
          <a:ext cx="3840480" cy="2194560"/>
        </p:xfrm>
        <a:graphic xmlns:a="http://schemas.openxmlformats.org/drawingml/2006/main">
          <a:graphicData uri="http://schemas.openxmlformats.org/drawingml/2006/chart">
            <c:chart xmlns:c="http://schemas.openxmlformats.org/drawingml/2006/chart" r:id="rId2"/>
          </a:graphicData>
        </a:graphic>
      </p:graphicFrame>
      <p:sp>
        <p:nvSpPr>
          <p:cNvPr id="10" name="Text 6"/>
          <p:cNvSpPr/>
          <p:nvPr/>
        </p:nvSpPr>
        <p:spPr>
          <a:xfrm>
            <a:off x="731520" y="4114800"/>
            <a:ext cx="3566160" cy="274320"/>
          </a:xfrm>
          <a:prstGeom prst="rect">
            <a:avLst/>
          </a:prstGeom>
          <a:noFill/>
          <a:ln/>
        </p:spPr>
        <p:txBody>
          <a:bodyPr wrap="square" lIns="0" tIns="0" rIns="0" bIns="0" rtlCol="0" anchor="ctr"/>
          <a:lstStyle/>
          <a:p>
            <a:pPr indent="0" marL="0">
              <a:buNone/>
            </a:pPr>
            <a:r>
              <a:rPr lang="en-US" sz="1050" dirty="0">
                <a:solidFill>
                  <a:srgbClr val="6B7386"/>
                </a:solidFill>
                <a:latin typeface="Avenir Next" pitchFamily="34" charset="0"/>
                <a:ea typeface="Avenir Next" pitchFamily="34" charset="-122"/>
                <a:cs typeface="Avenir Next" pitchFamily="34" charset="-120"/>
              </a:rPr>
              <a:t>same model · same questions · blind judge</a:t>
            </a:r>
            <a:endParaRPr lang="en-US" sz="1050" dirty="0"/>
          </a:p>
        </p:txBody>
      </p:sp>
      <p:sp>
        <p:nvSpPr>
          <p:cNvPr id="11" name="Shape 7"/>
          <p:cNvSpPr/>
          <p:nvPr/>
        </p:nvSpPr>
        <p:spPr>
          <a:xfrm>
            <a:off x="4663440" y="1371600"/>
            <a:ext cx="4023360" cy="713232"/>
          </a:xfrm>
          <a:prstGeom prst="roundRect">
            <a:avLst>
              <a:gd name="adj" fmla="val 17949"/>
            </a:avLst>
          </a:prstGeom>
          <a:solidFill>
            <a:srgbClr val="F1ECFD"/>
          </a:solidFill>
          <a:ln/>
        </p:spPr>
      </p:sp>
      <p:sp>
        <p:nvSpPr>
          <p:cNvPr id="12" name="Text 8"/>
          <p:cNvSpPr/>
          <p:nvPr/>
        </p:nvSpPr>
        <p:spPr>
          <a:xfrm>
            <a:off x="4892040" y="1371600"/>
            <a:ext cx="1783080" cy="713232"/>
          </a:xfrm>
          <a:prstGeom prst="rect">
            <a:avLst/>
          </a:prstGeom>
          <a:noFill/>
          <a:ln/>
        </p:spPr>
        <p:txBody>
          <a:bodyPr wrap="square" lIns="0" tIns="0" rIns="0" bIns="0" rtlCol="0" anchor="ctr"/>
          <a:lstStyle/>
          <a:p>
            <a:pPr indent="0" marL="0">
              <a:buNone/>
            </a:pPr>
            <a:r>
              <a:rPr lang="en-US" sz="1800" b="1" dirty="0">
                <a:solidFill>
                  <a:srgbClr val="6A4BD8"/>
                </a:solidFill>
                <a:latin typeface="Avenir Next" pitchFamily="34" charset="0"/>
                <a:ea typeface="Avenir Next" pitchFamily="34" charset="-122"/>
                <a:cs typeface="Avenir Next" pitchFamily="34" charset="-120"/>
              </a:rPr>
              <a:t>6× faster</a:t>
            </a:r>
            <a:endParaRPr lang="en-US" sz="1800" dirty="0"/>
          </a:p>
        </p:txBody>
      </p:sp>
      <p:sp>
        <p:nvSpPr>
          <p:cNvPr id="13" name="Text 9"/>
          <p:cNvSpPr/>
          <p:nvPr/>
        </p:nvSpPr>
        <p:spPr>
          <a:xfrm>
            <a:off x="6675120" y="1371600"/>
            <a:ext cx="1920240" cy="713232"/>
          </a:xfrm>
          <a:prstGeom prst="rect">
            <a:avLst/>
          </a:prstGeom>
          <a:noFill/>
          <a:ln/>
        </p:spPr>
        <p:txBody>
          <a:bodyPr wrap="square" lIns="0" tIns="0" rIns="0" bIns="0" rtlCol="0" anchor="ctr"/>
          <a:lstStyle/>
          <a:p>
            <a:pPr indent="0" marL="0">
              <a:buNone/>
            </a:pPr>
            <a:r>
              <a:rPr lang="en-US" sz="1100" dirty="0">
                <a:solidFill>
                  <a:srgbClr val="3A3F55"/>
                </a:solidFill>
                <a:latin typeface="Avenir Next" pitchFamily="34" charset="0"/>
                <a:ea typeface="Avenir Next" pitchFamily="34" charset="-122"/>
                <a:cs typeface="Avenir Next" pitchFamily="34" charset="-120"/>
              </a:rPr>
              <a:t>14 s vs 86 s per answer</a:t>
            </a:r>
            <a:endParaRPr lang="en-US" sz="1100" dirty="0"/>
          </a:p>
        </p:txBody>
      </p:sp>
      <p:sp>
        <p:nvSpPr>
          <p:cNvPr id="14" name="Shape 10"/>
          <p:cNvSpPr/>
          <p:nvPr/>
        </p:nvSpPr>
        <p:spPr>
          <a:xfrm>
            <a:off x="4663440" y="2176272"/>
            <a:ext cx="4023360" cy="713232"/>
          </a:xfrm>
          <a:prstGeom prst="roundRect">
            <a:avLst>
              <a:gd name="adj" fmla="val 17949"/>
            </a:avLst>
          </a:prstGeom>
          <a:solidFill>
            <a:srgbClr val="F0F2F5"/>
          </a:solidFill>
          <a:ln/>
        </p:spPr>
      </p:sp>
      <p:sp>
        <p:nvSpPr>
          <p:cNvPr id="15" name="Text 11"/>
          <p:cNvSpPr/>
          <p:nvPr/>
        </p:nvSpPr>
        <p:spPr>
          <a:xfrm>
            <a:off x="4892040" y="2176272"/>
            <a:ext cx="1783080" cy="713232"/>
          </a:xfrm>
          <a:prstGeom prst="rect">
            <a:avLst/>
          </a:prstGeom>
          <a:noFill/>
          <a:ln/>
        </p:spPr>
        <p:txBody>
          <a:bodyPr wrap="square" lIns="0" tIns="0" rIns="0" bIns="0" rtlCol="0" anchor="ctr"/>
          <a:lstStyle/>
          <a:p>
            <a:pPr indent="0" marL="0">
              <a:buNone/>
            </a:pPr>
            <a:r>
              <a:rPr lang="en-US" sz="1800" b="1" dirty="0">
                <a:solidFill>
                  <a:srgbClr val="6A4BD8"/>
                </a:solidFill>
                <a:latin typeface="Avenir Next" pitchFamily="34" charset="0"/>
                <a:ea typeface="Avenir Next" pitchFamily="34" charset="-122"/>
                <a:cs typeface="Avenir Next" pitchFamily="34" charset="-120"/>
              </a:rPr>
              <a:t>4.9 ¢ vs 3.8 ¢</a:t>
            </a:r>
            <a:endParaRPr lang="en-US" sz="1800" dirty="0"/>
          </a:p>
        </p:txBody>
      </p:sp>
      <p:sp>
        <p:nvSpPr>
          <p:cNvPr id="16" name="Text 12"/>
          <p:cNvSpPr/>
          <p:nvPr/>
        </p:nvSpPr>
        <p:spPr>
          <a:xfrm>
            <a:off x="6675120" y="2176272"/>
            <a:ext cx="1920240" cy="713232"/>
          </a:xfrm>
          <a:prstGeom prst="rect">
            <a:avLst/>
          </a:prstGeom>
          <a:noFill/>
          <a:ln/>
        </p:spPr>
        <p:txBody>
          <a:bodyPr wrap="square" lIns="0" tIns="0" rIns="0" bIns="0" rtlCol="0" anchor="ctr"/>
          <a:lstStyle/>
          <a:p>
            <a:pPr indent="0" marL="0">
              <a:buNone/>
            </a:pPr>
            <a:r>
              <a:rPr lang="en-US" sz="1100" dirty="0">
                <a:solidFill>
                  <a:srgbClr val="3A3F55"/>
                </a:solidFill>
                <a:latin typeface="Avenir Next" pitchFamily="34" charset="0"/>
                <a:ea typeface="Avenir Next" pitchFamily="34" charset="-122"/>
                <a:cs typeface="Avenir Next" pitchFamily="34" charset="-120"/>
              </a:rPr>
              <a:t>per answer: about a cent more</a:t>
            </a:r>
            <a:endParaRPr lang="en-US" sz="1100" dirty="0"/>
          </a:p>
        </p:txBody>
      </p:sp>
      <p:sp>
        <p:nvSpPr>
          <p:cNvPr id="17" name="Shape 13"/>
          <p:cNvSpPr/>
          <p:nvPr/>
        </p:nvSpPr>
        <p:spPr>
          <a:xfrm>
            <a:off x="4663440" y="2980944"/>
            <a:ext cx="4023360" cy="713232"/>
          </a:xfrm>
          <a:prstGeom prst="roundRect">
            <a:avLst>
              <a:gd name="adj" fmla="val 17949"/>
            </a:avLst>
          </a:prstGeom>
          <a:solidFill>
            <a:srgbClr val="F1ECFD"/>
          </a:solidFill>
          <a:ln/>
        </p:spPr>
      </p:sp>
      <p:sp>
        <p:nvSpPr>
          <p:cNvPr id="18" name="Text 14"/>
          <p:cNvSpPr/>
          <p:nvPr/>
        </p:nvSpPr>
        <p:spPr>
          <a:xfrm>
            <a:off x="4892040" y="2980944"/>
            <a:ext cx="1783080" cy="713232"/>
          </a:xfrm>
          <a:prstGeom prst="rect">
            <a:avLst/>
          </a:prstGeom>
          <a:noFill/>
          <a:ln/>
        </p:spPr>
        <p:txBody>
          <a:bodyPr wrap="square" lIns="0" tIns="0" rIns="0" bIns="0" rtlCol="0" anchor="ctr"/>
          <a:lstStyle/>
          <a:p>
            <a:pPr indent="0" marL="0">
              <a:buNone/>
            </a:pPr>
            <a:r>
              <a:rPr lang="en-US" sz="1800" b="1" dirty="0">
                <a:solidFill>
                  <a:srgbClr val="6A4BD8"/>
                </a:solidFill>
                <a:latin typeface="Avenir Next" pitchFamily="34" charset="0"/>
                <a:ea typeface="Avenir Next" pitchFamily="34" charset="-122"/>
                <a:cs typeface="Avenir Next" pitchFamily="34" charset="-120"/>
              </a:rPr>
              <a:t>47 vs 100</a:t>
            </a:r>
            <a:endParaRPr lang="en-US" sz="1800" dirty="0"/>
          </a:p>
        </p:txBody>
      </p:sp>
      <p:sp>
        <p:nvSpPr>
          <p:cNvPr id="19" name="Text 15"/>
          <p:cNvSpPr/>
          <p:nvPr/>
        </p:nvSpPr>
        <p:spPr>
          <a:xfrm>
            <a:off x="6675120" y="2980944"/>
            <a:ext cx="1920240" cy="713232"/>
          </a:xfrm>
          <a:prstGeom prst="rect">
            <a:avLst/>
          </a:prstGeom>
          <a:noFill/>
          <a:ln/>
        </p:spPr>
        <p:txBody>
          <a:bodyPr wrap="square" lIns="0" tIns="0" rIns="0" bIns="0" rtlCol="0" anchor="ctr"/>
          <a:lstStyle/>
          <a:p>
            <a:pPr indent="0" marL="0">
              <a:buNone/>
            </a:pPr>
            <a:r>
              <a:rPr lang="en-US" sz="1100" dirty="0">
                <a:solidFill>
                  <a:srgbClr val="3A3F55"/>
                </a:solidFill>
                <a:latin typeface="Avenir Next" pitchFamily="34" charset="0"/>
                <a:ea typeface="Avenir Next" pitchFamily="34" charset="-122"/>
                <a:cs typeface="Avenir Next" pitchFamily="34" charset="-120"/>
              </a:rPr>
              <a:t>wrong claims per dollar spent</a:t>
            </a:r>
            <a:endParaRPr lang="en-US" sz="1100" dirty="0"/>
          </a:p>
        </p:txBody>
      </p:sp>
      <p:sp>
        <p:nvSpPr>
          <p:cNvPr id="20" name="Shape 16"/>
          <p:cNvSpPr/>
          <p:nvPr/>
        </p:nvSpPr>
        <p:spPr>
          <a:xfrm>
            <a:off x="4663440" y="3785616"/>
            <a:ext cx="4023360" cy="713232"/>
          </a:xfrm>
          <a:prstGeom prst="roundRect">
            <a:avLst>
              <a:gd name="adj" fmla="val 17949"/>
            </a:avLst>
          </a:prstGeom>
          <a:solidFill>
            <a:srgbClr val="F0F2F5"/>
          </a:solidFill>
          <a:ln/>
        </p:spPr>
      </p:sp>
      <p:sp>
        <p:nvSpPr>
          <p:cNvPr id="21" name="Text 17"/>
          <p:cNvSpPr/>
          <p:nvPr/>
        </p:nvSpPr>
        <p:spPr>
          <a:xfrm>
            <a:off x="4892040" y="3785616"/>
            <a:ext cx="1783080" cy="713232"/>
          </a:xfrm>
          <a:prstGeom prst="rect">
            <a:avLst/>
          </a:prstGeom>
          <a:noFill/>
          <a:ln/>
        </p:spPr>
        <p:txBody>
          <a:bodyPr wrap="square" lIns="0" tIns="0" rIns="0" bIns="0" rtlCol="0" anchor="ctr"/>
          <a:lstStyle/>
          <a:p>
            <a:pPr indent="0" marL="0">
              <a:buNone/>
            </a:pPr>
            <a:r>
              <a:rPr lang="en-US" sz="1800" b="1" dirty="0">
                <a:solidFill>
                  <a:srgbClr val="6A4BD8"/>
                </a:solidFill>
                <a:latin typeface="Avenir Next" pitchFamily="34" charset="0"/>
                <a:ea typeface="Avenir Next" pitchFamily="34" charset="-122"/>
                <a:cs typeface="Avenir Next" pitchFamily="34" charset="-120"/>
              </a:rPr>
              <a:t>&lt; 1 s</a:t>
            </a:r>
            <a:endParaRPr lang="en-US" sz="1800" dirty="0"/>
          </a:p>
        </p:txBody>
      </p:sp>
      <p:sp>
        <p:nvSpPr>
          <p:cNvPr id="22" name="Text 18"/>
          <p:cNvSpPr/>
          <p:nvPr/>
        </p:nvSpPr>
        <p:spPr>
          <a:xfrm>
            <a:off x="6675120" y="3785616"/>
            <a:ext cx="1920240" cy="713232"/>
          </a:xfrm>
          <a:prstGeom prst="rect">
            <a:avLst/>
          </a:prstGeom>
          <a:noFill/>
          <a:ln/>
        </p:spPr>
        <p:txBody>
          <a:bodyPr wrap="square" lIns="0" tIns="0" rIns="0" bIns="0" rtlCol="0" anchor="ctr"/>
          <a:lstStyle/>
          <a:p>
            <a:pPr indent="0" marL="0">
              <a:buNone/>
            </a:pPr>
            <a:r>
              <a:rPr lang="en-US" sz="1100" dirty="0">
                <a:solidFill>
                  <a:srgbClr val="3A3F55"/>
                </a:solidFill>
                <a:latin typeface="Avenir Next" pitchFamily="34" charset="0"/>
                <a:ea typeface="Avenir Next" pitchFamily="34" charset="-122"/>
                <a:cs typeface="Avenir Next" pitchFamily="34" charset="-120"/>
              </a:rPr>
              <a:t>of each answer is the database; the rest is AI</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4736592"/>
            <a:ext cx="146304" cy="146304"/>
          </a:xfrm>
          <a:prstGeom prst="rect">
            <a:avLst/>
          </a:prstGeom>
        </p:spPr>
      </p:pic>
      <p:sp>
        <p:nvSpPr>
          <p:cNvPr id="3" name="Text 0"/>
          <p:cNvSpPr/>
          <p:nvPr/>
        </p:nvSpPr>
        <p:spPr>
          <a:xfrm>
            <a:off x="676656" y="4700016"/>
            <a:ext cx="5486400" cy="228600"/>
          </a:xfrm>
          <a:prstGeom prst="rect">
            <a:avLst/>
          </a:prstGeom>
          <a:noFill/>
          <a:ln/>
        </p:spPr>
        <p:txBody>
          <a:bodyPr wrap="square" lIns="0" tIns="0" rIns="0" bIns="0" rtlCol="0" anchor="ctr"/>
          <a:lstStyle/>
          <a:p>
            <a:pPr indent="0" marL="0">
              <a:buNone/>
            </a:pPr>
            <a:r>
              <a:rPr lang="en-US" sz="900" dirty="0">
                <a:solidFill>
                  <a:srgbClr val="6B7386"/>
                </a:solidFill>
                <a:latin typeface="Avenir Next" pitchFamily="34" charset="0"/>
                <a:ea typeface="Avenir Next" pitchFamily="34" charset="-122"/>
                <a:cs typeface="Avenir Next" pitchFamily="34" charset="-120"/>
              </a:rPr>
              <a:t>Making Sense of Logs  ·  Results</a:t>
            </a:r>
            <a:endParaRPr lang="en-US" sz="900" dirty="0"/>
          </a:p>
        </p:txBody>
      </p:sp>
      <p:sp>
        <p:nvSpPr>
          <p:cNvPr id="4" name="Text 1"/>
          <p:cNvSpPr/>
          <p:nvPr/>
        </p:nvSpPr>
        <p:spPr>
          <a:xfrm>
            <a:off x="7772400" y="4700016"/>
            <a:ext cx="914400" cy="228600"/>
          </a:xfrm>
          <a:prstGeom prst="rect">
            <a:avLst/>
          </a:prstGeom>
          <a:noFill/>
          <a:ln/>
        </p:spPr>
        <p:txBody>
          <a:bodyPr wrap="square" lIns="0" tIns="0" rIns="0" bIns="0" rtlCol="0" anchor="ctr"/>
          <a:lstStyle/>
          <a:p>
            <a:pPr algn="r" indent="0" marL="0">
              <a:buNone/>
            </a:pPr>
            <a:r>
              <a:rPr lang="en-US" sz="900" dirty="0">
                <a:solidFill>
                  <a:srgbClr val="6B7386"/>
                </a:solidFill>
                <a:latin typeface="Avenir Next" pitchFamily="34" charset="0"/>
                <a:ea typeface="Avenir Next" pitchFamily="34" charset="-122"/>
                <a:cs typeface="Avenir Next" pitchFamily="34" charset="-120"/>
              </a:rPr>
              <a:t>10</a:t>
            </a:r>
            <a:endParaRPr lang="en-US" sz="900" dirty="0"/>
          </a:p>
        </p:txBody>
      </p:sp>
      <p:sp>
        <p:nvSpPr>
          <p:cNvPr id="5" name="Text 2"/>
          <p:cNvSpPr/>
          <p:nvPr/>
        </p:nvSpPr>
        <p:spPr>
          <a:xfrm>
            <a:off x="457200" y="320040"/>
            <a:ext cx="8229600" cy="228600"/>
          </a:xfrm>
          <a:prstGeom prst="rect">
            <a:avLst/>
          </a:prstGeom>
          <a:noFill/>
          <a:ln/>
        </p:spPr>
        <p:txBody>
          <a:bodyPr wrap="square" lIns="0" tIns="0" rIns="0" bIns="0" rtlCol="0" anchor="ctr"/>
          <a:lstStyle/>
          <a:p>
            <a:pPr indent="0" marL="0">
              <a:buNone/>
            </a:pPr>
            <a:r>
              <a:rPr lang="en-US" sz="1000" b="1" spc="300" kern="0" dirty="0">
                <a:solidFill>
                  <a:srgbClr val="6A4BD8"/>
                </a:solidFill>
                <a:latin typeface="Avenir Next" pitchFamily="34" charset="0"/>
                <a:ea typeface="Avenir Next" pitchFamily="34" charset="-122"/>
                <a:cs typeface="Avenir Next" pitchFamily="34" charset="-120"/>
              </a:rPr>
              <a:t>RESULTS</a:t>
            </a:r>
            <a:endParaRPr lang="en-US" sz="1000" dirty="0"/>
          </a:p>
        </p:txBody>
      </p:sp>
      <p:sp>
        <p:nvSpPr>
          <p:cNvPr id="6" name="Text 3"/>
          <p:cNvSpPr/>
          <p:nvPr/>
        </p:nvSpPr>
        <p:spPr>
          <a:xfrm>
            <a:off x="457200" y="566928"/>
            <a:ext cx="8229600" cy="594360"/>
          </a:xfrm>
          <a:prstGeom prst="rect">
            <a:avLst/>
          </a:prstGeom>
          <a:noFill/>
          <a:ln/>
        </p:spPr>
        <p:txBody>
          <a:bodyPr wrap="square" lIns="0" tIns="0" rIns="0" bIns="0" rtlCol="0" anchor="ctr"/>
          <a:lstStyle/>
          <a:p>
            <a:pPr indent="0" marL="0">
              <a:buNone/>
            </a:pPr>
            <a:r>
              <a:rPr lang="en-US" sz="2800" b="1" dirty="0">
                <a:solidFill>
                  <a:srgbClr val="11121D"/>
                </a:solidFill>
                <a:latin typeface="Avenir Next" pitchFamily="34" charset="0"/>
                <a:ea typeface="Avenir Next" pitchFamily="34" charset="-122"/>
                <a:cs typeface="Avenir Next" pitchFamily="34" charset="-120"/>
              </a:rPr>
              <a:t>Measured on 50 questions with known answers</a:t>
            </a:r>
            <a:endParaRPr lang="en-US" sz="2800" dirty="0"/>
          </a:p>
        </p:txBody>
      </p:sp>
      <p:sp>
        <p:nvSpPr>
          <p:cNvPr id="7" name="Shape 4"/>
          <p:cNvSpPr/>
          <p:nvPr/>
        </p:nvSpPr>
        <p:spPr>
          <a:xfrm>
            <a:off x="457200" y="1417320"/>
            <a:ext cx="2621280" cy="1737360"/>
          </a:xfrm>
          <a:prstGeom prst="roundRect">
            <a:avLst>
              <a:gd name="adj" fmla="val 7368"/>
            </a:avLst>
          </a:prstGeom>
          <a:solidFill>
            <a:srgbClr val="FFFFFF"/>
          </a:solidFill>
          <a:ln w="12700">
            <a:solidFill>
              <a:srgbClr val="E3E6EC"/>
            </a:solidFill>
            <a:prstDash val="solid"/>
          </a:ln>
        </p:spPr>
      </p:sp>
      <p:sp>
        <p:nvSpPr>
          <p:cNvPr id="8" name="Text 5"/>
          <p:cNvSpPr/>
          <p:nvPr/>
        </p:nvSpPr>
        <p:spPr>
          <a:xfrm>
            <a:off x="731520" y="1737360"/>
            <a:ext cx="2164080" cy="731520"/>
          </a:xfrm>
          <a:prstGeom prst="rect">
            <a:avLst/>
          </a:prstGeom>
          <a:noFill/>
          <a:ln/>
        </p:spPr>
        <p:txBody>
          <a:bodyPr wrap="square" lIns="0" tIns="0" rIns="0" bIns="0" rtlCol="0" anchor="ctr"/>
          <a:lstStyle/>
          <a:p>
            <a:pPr indent="0" marL="0">
              <a:buNone/>
            </a:pPr>
            <a:r>
              <a:rPr lang="en-US" sz="3000" b="1" dirty="0">
                <a:solidFill>
                  <a:srgbClr val="6A4BD8"/>
                </a:solidFill>
                <a:latin typeface="Avenir Next" pitchFamily="34" charset="0"/>
                <a:ea typeface="Avenir Next" pitchFamily="34" charset="-122"/>
                <a:cs typeface="Avenir Next" pitchFamily="34" charset="-120"/>
              </a:rPr>
              <a:t>30 – 15</a:t>
            </a:r>
            <a:endParaRPr lang="en-US" sz="3000" dirty="0"/>
          </a:p>
        </p:txBody>
      </p:sp>
      <p:sp>
        <p:nvSpPr>
          <p:cNvPr id="9" name="Text 6"/>
          <p:cNvSpPr/>
          <p:nvPr/>
        </p:nvSpPr>
        <p:spPr>
          <a:xfrm>
            <a:off x="731520" y="2514600"/>
            <a:ext cx="2164080" cy="502920"/>
          </a:xfrm>
          <a:prstGeom prst="rect">
            <a:avLst/>
          </a:prstGeom>
          <a:noFill/>
          <a:ln/>
        </p:spPr>
        <p:txBody>
          <a:bodyPr wrap="square" lIns="0" tIns="0" rIns="0" bIns="0" rtlCol="0" anchor="t"/>
          <a:lstStyle/>
          <a:p>
            <a:pPr indent="0" marL="0">
              <a:buNone/>
            </a:pPr>
            <a:r>
              <a:rPr lang="en-US" sz="1300" dirty="0">
                <a:solidFill>
                  <a:srgbClr val="3A3F55"/>
                </a:solidFill>
                <a:latin typeface="Avenir Next" pitchFamily="34" charset="0"/>
                <a:ea typeface="Avenir Next" pitchFamily="34" charset="-122"/>
                <a:cs typeface="Avenir Next" pitchFamily="34" charset="-120"/>
              </a:rPr>
              <a:t>wins vs plain Claude Code (18 – 4 on BGL + OpenStack)</a:t>
            </a:r>
            <a:endParaRPr lang="en-US" sz="1300" dirty="0"/>
          </a:p>
        </p:txBody>
      </p:sp>
      <p:sp>
        <p:nvSpPr>
          <p:cNvPr id="10" name="Shape 7"/>
          <p:cNvSpPr/>
          <p:nvPr/>
        </p:nvSpPr>
        <p:spPr>
          <a:xfrm>
            <a:off x="3261360" y="1417320"/>
            <a:ext cx="2621280" cy="1737360"/>
          </a:xfrm>
          <a:prstGeom prst="roundRect">
            <a:avLst>
              <a:gd name="adj" fmla="val 7368"/>
            </a:avLst>
          </a:prstGeom>
          <a:solidFill>
            <a:srgbClr val="FFFFFF"/>
          </a:solidFill>
          <a:ln w="12700">
            <a:solidFill>
              <a:srgbClr val="E3E6EC"/>
            </a:solidFill>
            <a:prstDash val="solid"/>
          </a:ln>
        </p:spPr>
      </p:sp>
      <p:sp>
        <p:nvSpPr>
          <p:cNvPr id="11" name="Text 8"/>
          <p:cNvSpPr/>
          <p:nvPr/>
        </p:nvSpPr>
        <p:spPr>
          <a:xfrm>
            <a:off x="3535680" y="1737360"/>
            <a:ext cx="2164080" cy="731520"/>
          </a:xfrm>
          <a:prstGeom prst="rect">
            <a:avLst/>
          </a:prstGeom>
          <a:noFill/>
          <a:ln/>
        </p:spPr>
        <p:txBody>
          <a:bodyPr wrap="square" lIns="0" tIns="0" rIns="0" bIns="0" rtlCol="0" anchor="ctr"/>
          <a:lstStyle/>
          <a:p>
            <a:pPr indent="0" marL="0">
              <a:buNone/>
            </a:pPr>
            <a:r>
              <a:rPr lang="en-US" sz="3000" b="1" dirty="0">
                <a:solidFill>
                  <a:srgbClr val="6A4BD8"/>
                </a:solidFill>
                <a:latin typeface="Avenir Next" pitchFamily="34" charset="0"/>
                <a:ea typeface="Avenir Next" pitchFamily="34" charset="-122"/>
                <a:cs typeface="Avenir Next" pitchFamily="34" charset="-120"/>
              </a:rPr>
              <a:t>116 vs 186</a:t>
            </a:r>
            <a:endParaRPr lang="en-US" sz="3000" dirty="0"/>
          </a:p>
        </p:txBody>
      </p:sp>
      <p:sp>
        <p:nvSpPr>
          <p:cNvPr id="12" name="Text 9"/>
          <p:cNvSpPr/>
          <p:nvPr/>
        </p:nvSpPr>
        <p:spPr>
          <a:xfrm>
            <a:off x="3535680" y="2514600"/>
            <a:ext cx="2164080" cy="502920"/>
          </a:xfrm>
          <a:prstGeom prst="rect">
            <a:avLst/>
          </a:prstGeom>
          <a:noFill/>
          <a:ln/>
        </p:spPr>
        <p:txBody>
          <a:bodyPr wrap="square" lIns="0" tIns="0" rIns="0" bIns="0" rtlCol="0" anchor="t"/>
          <a:lstStyle/>
          <a:p>
            <a:pPr indent="0" marL="0">
              <a:buNone/>
            </a:pPr>
            <a:r>
              <a:rPr lang="en-US" sz="1300" dirty="0">
                <a:solidFill>
                  <a:srgbClr val="3A3F55"/>
                </a:solidFill>
                <a:latin typeface="Avenir Next" pitchFamily="34" charset="0"/>
                <a:ea typeface="Avenir Next" pitchFamily="34" charset="-122"/>
                <a:cs typeface="Avenir Next" pitchFamily="34" charset="-120"/>
              </a:rPr>
              <a:t>wrong claims</a:t>
            </a:r>
            <a:endParaRPr lang="en-US" sz="1300" dirty="0"/>
          </a:p>
        </p:txBody>
      </p:sp>
      <p:sp>
        <p:nvSpPr>
          <p:cNvPr id="13" name="Shape 10"/>
          <p:cNvSpPr/>
          <p:nvPr/>
        </p:nvSpPr>
        <p:spPr>
          <a:xfrm>
            <a:off x="6065520" y="1417320"/>
            <a:ext cx="2621280" cy="1737360"/>
          </a:xfrm>
          <a:prstGeom prst="roundRect">
            <a:avLst>
              <a:gd name="adj" fmla="val 7368"/>
            </a:avLst>
          </a:prstGeom>
          <a:solidFill>
            <a:srgbClr val="FFFFFF"/>
          </a:solidFill>
          <a:ln w="12700">
            <a:solidFill>
              <a:srgbClr val="E3E6EC"/>
            </a:solidFill>
            <a:prstDash val="solid"/>
          </a:ln>
        </p:spPr>
      </p:sp>
      <p:sp>
        <p:nvSpPr>
          <p:cNvPr id="14" name="Text 11"/>
          <p:cNvSpPr/>
          <p:nvPr/>
        </p:nvSpPr>
        <p:spPr>
          <a:xfrm>
            <a:off x="6339840" y="1737360"/>
            <a:ext cx="2164080" cy="731520"/>
          </a:xfrm>
          <a:prstGeom prst="rect">
            <a:avLst/>
          </a:prstGeom>
          <a:noFill/>
          <a:ln/>
        </p:spPr>
        <p:txBody>
          <a:bodyPr wrap="square" lIns="0" tIns="0" rIns="0" bIns="0" rtlCol="0" anchor="ctr"/>
          <a:lstStyle/>
          <a:p>
            <a:pPr indent="0" marL="0">
              <a:buNone/>
            </a:pPr>
            <a:r>
              <a:rPr lang="en-US" sz="3000" b="1" dirty="0">
                <a:solidFill>
                  <a:srgbClr val="6A4BD8"/>
                </a:solidFill>
                <a:latin typeface="Avenir Next" pitchFamily="34" charset="0"/>
                <a:ea typeface="Avenir Next" pitchFamily="34" charset="-122"/>
                <a:cs typeface="Avenir Next" pitchFamily="34" charset="-120"/>
              </a:rPr>
              <a:t>64 vs 46 %</a:t>
            </a:r>
            <a:endParaRPr lang="en-US" sz="3000" dirty="0"/>
          </a:p>
        </p:txBody>
      </p:sp>
      <p:sp>
        <p:nvSpPr>
          <p:cNvPr id="15" name="Text 12"/>
          <p:cNvSpPr/>
          <p:nvPr/>
        </p:nvSpPr>
        <p:spPr>
          <a:xfrm>
            <a:off x="6339840" y="2514600"/>
            <a:ext cx="2164080" cy="502920"/>
          </a:xfrm>
          <a:prstGeom prst="rect">
            <a:avLst/>
          </a:prstGeom>
          <a:noFill/>
          <a:ln/>
        </p:spPr>
        <p:txBody>
          <a:bodyPr wrap="square" lIns="0" tIns="0" rIns="0" bIns="0" rtlCol="0" anchor="t"/>
          <a:lstStyle/>
          <a:p>
            <a:pPr indent="0" marL="0">
              <a:buNone/>
            </a:pPr>
            <a:r>
              <a:rPr lang="en-US" sz="1300" dirty="0">
                <a:solidFill>
                  <a:srgbClr val="3A3F55"/>
                </a:solidFill>
                <a:latin typeface="Avenir Next" pitchFamily="34" charset="0"/>
                <a:ea typeface="Avenir Next" pitchFamily="34" charset="-122"/>
                <a:cs typeface="Avenir Next" pitchFamily="34" charset="-120"/>
              </a:rPr>
              <a:t>key facts found</a:t>
            </a:r>
            <a:endParaRPr lang="en-US" sz="1300" dirty="0"/>
          </a:p>
        </p:txBody>
      </p:sp>
      <p:sp>
        <p:nvSpPr>
          <p:cNvPr id="16" name="Shape 13"/>
          <p:cNvSpPr/>
          <p:nvPr/>
        </p:nvSpPr>
        <p:spPr>
          <a:xfrm>
            <a:off x="457200" y="3337560"/>
            <a:ext cx="8229600" cy="1188720"/>
          </a:xfrm>
          <a:prstGeom prst="roundRect">
            <a:avLst>
              <a:gd name="adj" fmla="val 10769"/>
            </a:avLst>
          </a:prstGeom>
          <a:solidFill>
            <a:srgbClr val="F0F2F5"/>
          </a:solidFill>
          <a:ln/>
        </p:spPr>
      </p:sp>
      <p:sp>
        <p:nvSpPr>
          <p:cNvPr id="17" name="Text 14"/>
          <p:cNvSpPr/>
          <p:nvPr/>
        </p:nvSpPr>
        <p:spPr>
          <a:xfrm>
            <a:off x="731520" y="3337560"/>
            <a:ext cx="7680960" cy="1188720"/>
          </a:xfrm>
          <a:prstGeom prst="rect">
            <a:avLst/>
          </a:prstGeom>
          <a:noFill/>
          <a:ln/>
        </p:spPr>
        <p:txBody>
          <a:bodyPr wrap="square" lIns="0" tIns="0" rIns="0" bIns="0" rtlCol="0" anchor="ctr"/>
          <a:lstStyle/>
          <a:p>
            <a:pPr indent="0" marL="0">
              <a:buNone/>
            </a:pPr>
            <a:r>
              <a:rPr lang="en-US" sz="1300" b="1" dirty="0">
                <a:solidFill>
                  <a:srgbClr val="3E318C"/>
                </a:solidFill>
                <a:latin typeface="Avenir Next" pitchFamily="34" charset="0"/>
                <a:ea typeface="Avenir Next" pitchFamily="34" charset="-122"/>
                <a:cs typeface="Avenir Next" pitchFamily="34" charset="-120"/>
              </a:rPr>
              <a:t>Where it still loses: </a:t>
            </a:r>
            <a:pPr indent="0" marL="0">
              <a:buNone/>
            </a:pPr>
            <a:r>
              <a:rPr lang="en-US" sz="1300" dirty="0">
                <a:solidFill>
                  <a:srgbClr val="3A3F55"/>
                </a:solidFill>
                <a:latin typeface="Avenir Next" pitchFamily="34" charset="0"/>
                <a:ea typeface="Avenir Next" pitchFamily="34" charset="-122"/>
                <a:cs typeface="Avenir Next" pitchFamily="34" charset="-120"/>
              </a:rPr>
              <a:t>engineer questions on small logs (8 – 9), where grep can read every line. All 50 answers and the judge's reasons are in the dashboard.</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4736592"/>
            <a:ext cx="146304" cy="146304"/>
          </a:xfrm>
          <a:prstGeom prst="rect">
            <a:avLst/>
          </a:prstGeom>
        </p:spPr>
      </p:pic>
      <p:sp>
        <p:nvSpPr>
          <p:cNvPr id="3" name="Text 0"/>
          <p:cNvSpPr/>
          <p:nvPr/>
        </p:nvSpPr>
        <p:spPr>
          <a:xfrm>
            <a:off x="676656" y="4700016"/>
            <a:ext cx="5486400" cy="228600"/>
          </a:xfrm>
          <a:prstGeom prst="rect">
            <a:avLst/>
          </a:prstGeom>
          <a:noFill/>
          <a:ln/>
        </p:spPr>
        <p:txBody>
          <a:bodyPr wrap="square" lIns="0" tIns="0" rIns="0" bIns="0" rtlCol="0" anchor="ctr"/>
          <a:lstStyle/>
          <a:p>
            <a:pPr indent="0" marL="0">
              <a:buNone/>
            </a:pPr>
            <a:r>
              <a:rPr lang="en-US" sz="900" dirty="0">
                <a:solidFill>
                  <a:srgbClr val="6B7386"/>
                </a:solidFill>
                <a:latin typeface="Avenir Next" pitchFamily="34" charset="0"/>
                <a:ea typeface="Avenir Next" pitchFamily="34" charset="-122"/>
                <a:cs typeface="Avenir Next" pitchFamily="34" charset="-120"/>
              </a:rPr>
              <a:t>Making Sense of Logs  ·  Features</a:t>
            </a:r>
            <a:endParaRPr lang="en-US" sz="900" dirty="0"/>
          </a:p>
        </p:txBody>
      </p:sp>
      <p:sp>
        <p:nvSpPr>
          <p:cNvPr id="4" name="Text 1"/>
          <p:cNvSpPr/>
          <p:nvPr/>
        </p:nvSpPr>
        <p:spPr>
          <a:xfrm>
            <a:off x="7772400" y="4700016"/>
            <a:ext cx="914400" cy="228600"/>
          </a:xfrm>
          <a:prstGeom prst="rect">
            <a:avLst/>
          </a:prstGeom>
          <a:noFill/>
          <a:ln/>
        </p:spPr>
        <p:txBody>
          <a:bodyPr wrap="square" lIns="0" tIns="0" rIns="0" bIns="0" rtlCol="0" anchor="ctr"/>
          <a:lstStyle/>
          <a:p>
            <a:pPr algn="r" indent="0" marL="0">
              <a:buNone/>
            </a:pPr>
            <a:r>
              <a:rPr lang="en-US" sz="900" dirty="0">
                <a:solidFill>
                  <a:srgbClr val="6B7386"/>
                </a:solidFill>
                <a:latin typeface="Avenir Next" pitchFamily="34" charset="0"/>
                <a:ea typeface="Avenir Next" pitchFamily="34" charset="-122"/>
                <a:cs typeface="Avenir Next" pitchFamily="34" charset="-120"/>
              </a:rPr>
              <a:t>11</a:t>
            </a:r>
            <a:endParaRPr lang="en-US" sz="900" dirty="0"/>
          </a:p>
        </p:txBody>
      </p:sp>
      <p:sp>
        <p:nvSpPr>
          <p:cNvPr id="5" name="Text 2"/>
          <p:cNvSpPr/>
          <p:nvPr/>
        </p:nvSpPr>
        <p:spPr>
          <a:xfrm>
            <a:off x="457200" y="320040"/>
            <a:ext cx="8229600" cy="228600"/>
          </a:xfrm>
          <a:prstGeom prst="rect">
            <a:avLst/>
          </a:prstGeom>
          <a:noFill/>
          <a:ln/>
        </p:spPr>
        <p:txBody>
          <a:bodyPr wrap="square" lIns="0" tIns="0" rIns="0" bIns="0" rtlCol="0" anchor="ctr"/>
          <a:lstStyle/>
          <a:p>
            <a:pPr indent="0" marL="0">
              <a:buNone/>
            </a:pPr>
            <a:r>
              <a:rPr lang="en-US" sz="1000" b="1" spc="300" kern="0" dirty="0">
                <a:solidFill>
                  <a:srgbClr val="6A4BD8"/>
                </a:solidFill>
                <a:latin typeface="Avenir Next" pitchFamily="34" charset="0"/>
                <a:ea typeface="Avenir Next" pitchFamily="34" charset="-122"/>
                <a:cs typeface="Avenir Next" pitchFamily="34" charset="-120"/>
              </a:rPr>
              <a:t>FEATURES</a:t>
            </a:r>
            <a:endParaRPr lang="en-US" sz="1000" dirty="0"/>
          </a:p>
        </p:txBody>
      </p:sp>
      <p:sp>
        <p:nvSpPr>
          <p:cNvPr id="6" name="Text 3"/>
          <p:cNvSpPr/>
          <p:nvPr/>
        </p:nvSpPr>
        <p:spPr>
          <a:xfrm>
            <a:off x="457200" y="566928"/>
            <a:ext cx="8229600" cy="594360"/>
          </a:xfrm>
          <a:prstGeom prst="rect">
            <a:avLst/>
          </a:prstGeom>
          <a:noFill/>
          <a:ln/>
        </p:spPr>
        <p:txBody>
          <a:bodyPr wrap="square" lIns="0" tIns="0" rIns="0" bIns="0" rtlCol="0" anchor="ctr"/>
          <a:lstStyle/>
          <a:p>
            <a:pPr indent="0" marL="0">
              <a:buNone/>
            </a:pPr>
            <a:r>
              <a:rPr lang="en-US" sz="2800" b="1" dirty="0">
                <a:solidFill>
                  <a:srgbClr val="11121D"/>
                </a:solidFill>
                <a:latin typeface="Avenir Next" pitchFamily="34" charset="0"/>
                <a:ea typeface="Avenir Next" pitchFamily="34" charset="-122"/>
                <a:cs typeface="Avenir Next" pitchFamily="34" charset="-120"/>
              </a:rPr>
              <a:t>Each feature fixes a way answers go wrong</a:t>
            </a:r>
            <a:endParaRPr lang="en-US" sz="2800" dirty="0"/>
          </a:p>
        </p:txBody>
      </p:sp>
      <p:sp>
        <p:nvSpPr>
          <p:cNvPr id="7" name="Shape 4"/>
          <p:cNvSpPr/>
          <p:nvPr/>
        </p:nvSpPr>
        <p:spPr>
          <a:xfrm>
            <a:off x="457200" y="1371600"/>
            <a:ext cx="2624328" cy="1463040"/>
          </a:xfrm>
          <a:prstGeom prst="roundRect">
            <a:avLst>
              <a:gd name="adj" fmla="val 8750"/>
            </a:avLst>
          </a:prstGeom>
          <a:solidFill>
            <a:srgbClr val="F0F2F5"/>
          </a:solidFill>
          <a:ln/>
        </p:spPr>
      </p:sp>
      <p:pic>
        <p:nvPicPr>
          <p:cNvPr id="8" name="Image 1" descr="preencoded.png">    </p:cNvPr>
          <p:cNvPicPr>
            <a:picLocks noChangeAspect="1"/>
          </p:cNvPicPr>
          <p:nvPr/>
        </p:nvPicPr>
        <p:blipFill>
          <a:blip r:embed="rId2"/>
          <a:stretch>
            <a:fillRect/>
          </a:stretch>
        </p:blipFill>
        <p:spPr>
          <a:xfrm>
            <a:off x="685800" y="1600200"/>
            <a:ext cx="420624" cy="420624"/>
          </a:xfrm>
          <a:prstGeom prst="rect">
            <a:avLst/>
          </a:prstGeom>
        </p:spPr>
      </p:pic>
      <p:pic>
        <p:nvPicPr>
          <p:cNvPr id="9" name="Image 2" descr="preencoded.png">    </p:cNvPr>
          <p:cNvPicPr>
            <a:picLocks noChangeAspect="1"/>
          </p:cNvPicPr>
          <p:nvPr/>
        </p:nvPicPr>
        <p:blipFill>
          <a:blip r:embed="rId3"/>
          <a:stretch>
            <a:fillRect/>
          </a:stretch>
        </p:blipFill>
        <p:spPr>
          <a:xfrm>
            <a:off x="795162" y="1709562"/>
            <a:ext cx="201900" cy="201900"/>
          </a:xfrm>
          <a:prstGeom prst="rect">
            <a:avLst/>
          </a:prstGeom>
        </p:spPr>
      </p:pic>
      <p:sp>
        <p:nvSpPr>
          <p:cNvPr id="10" name="Text 5"/>
          <p:cNvSpPr/>
          <p:nvPr/>
        </p:nvSpPr>
        <p:spPr>
          <a:xfrm>
            <a:off x="1234440" y="1600200"/>
            <a:ext cx="1783080" cy="420624"/>
          </a:xfrm>
          <a:prstGeom prst="rect">
            <a:avLst/>
          </a:prstGeom>
          <a:noFill/>
          <a:ln/>
        </p:spPr>
        <p:txBody>
          <a:bodyPr wrap="square" lIns="0" tIns="0" rIns="0" bIns="0" rtlCol="0" anchor="ctr"/>
          <a:lstStyle/>
          <a:p>
            <a:pPr indent="0" marL="0">
              <a:buNone/>
            </a:pPr>
            <a:r>
              <a:rPr lang="en-US" sz="1350" b="1" dirty="0">
                <a:solidFill>
                  <a:srgbClr val="11121D"/>
                </a:solidFill>
                <a:latin typeface="Avenir Next" pitchFamily="34" charset="0"/>
                <a:ea typeface="Avenir Next" pitchFamily="34" charset="-122"/>
                <a:cs typeface="Avenir Next" pitchFamily="34" charset="-120"/>
              </a:rPr>
              <a:t>Bursts, not lines</a:t>
            </a:r>
            <a:endParaRPr lang="en-US" sz="1350" dirty="0"/>
          </a:p>
        </p:txBody>
      </p:sp>
      <p:sp>
        <p:nvSpPr>
          <p:cNvPr id="11" name="Text 6"/>
          <p:cNvSpPr/>
          <p:nvPr/>
        </p:nvSpPr>
        <p:spPr>
          <a:xfrm>
            <a:off x="685800" y="2148840"/>
            <a:ext cx="2240280" cy="594360"/>
          </a:xfrm>
          <a:prstGeom prst="rect">
            <a:avLst/>
          </a:prstGeom>
          <a:noFill/>
          <a:ln/>
        </p:spPr>
        <p:txBody>
          <a:bodyPr wrap="square" lIns="0" tIns="0" rIns="0" bIns="0" rtlCol="0" anchor="t"/>
          <a:lstStyle/>
          <a:p>
            <a:pPr indent="0" marL="0">
              <a:buNone/>
            </a:pPr>
            <a:r>
              <a:rPr lang="en-US" sz="1150" dirty="0">
                <a:solidFill>
                  <a:srgbClr val="3A3F55"/>
                </a:solidFill>
                <a:latin typeface="Avenir Next" pitchFamily="34" charset="0"/>
                <a:ea typeface="Avenir Next" pitchFamily="34" charset="-122"/>
                <a:cs typeface="Avenir Next" pitchFamily="34" charset="-120"/>
              </a:rPr>
              <a:t>a storm of 12,996 lines reads as 31 recurrences</a:t>
            </a:r>
            <a:endParaRPr lang="en-US" sz="1150" dirty="0"/>
          </a:p>
        </p:txBody>
      </p:sp>
      <p:sp>
        <p:nvSpPr>
          <p:cNvPr id="12" name="Shape 7"/>
          <p:cNvSpPr/>
          <p:nvPr/>
        </p:nvSpPr>
        <p:spPr>
          <a:xfrm>
            <a:off x="3264408" y="1371600"/>
            <a:ext cx="2624328" cy="1463040"/>
          </a:xfrm>
          <a:prstGeom prst="roundRect">
            <a:avLst>
              <a:gd name="adj" fmla="val 8750"/>
            </a:avLst>
          </a:prstGeom>
          <a:solidFill>
            <a:srgbClr val="F1ECFD"/>
          </a:solidFill>
          <a:ln/>
        </p:spPr>
      </p:sp>
      <p:pic>
        <p:nvPicPr>
          <p:cNvPr id="13" name="Image 3" descr="preencoded.png">    </p:cNvPr>
          <p:cNvPicPr>
            <a:picLocks noChangeAspect="1"/>
          </p:cNvPicPr>
          <p:nvPr/>
        </p:nvPicPr>
        <p:blipFill>
          <a:blip r:embed="rId4"/>
          <a:stretch>
            <a:fillRect/>
          </a:stretch>
        </p:blipFill>
        <p:spPr>
          <a:xfrm>
            <a:off x="3493008" y="1600200"/>
            <a:ext cx="420624" cy="420624"/>
          </a:xfrm>
          <a:prstGeom prst="rect">
            <a:avLst/>
          </a:prstGeom>
        </p:spPr>
      </p:pic>
      <p:pic>
        <p:nvPicPr>
          <p:cNvPr id="14" name="Image 4" descr="preencoded.png">    </p:cNvPr>
          <p:cNvPicPr>
            <a:picLocks noChangeAspect="1"/>
          </p:cNvPicPr>
          <p:nvPr/>
        </p:nvPicPr>
        <p:blipFill>
          <a:blip r:embed="rId5"/>
          <a:stretch>
            <a:fillRect/>
          </a:stretch>
        </p:blipFill>
        <p:spPr>
          <a:xfrm>
            <a:off x="3602370" y="1709562"/>
            <a:ext cx="201900" cy="201900"/>
          </a:xfrm>
          <a:prstGeom prst="rect">
            <a:avLst/>
          </a:prstGeom>
        </p:spPr>
      </p:pic>
      <p:sp>
        <p:nvSpPr>
          <p:cNvPr id="15" name="Text 8"/>
          <p:cNvSpPr/>
          <p:nvPr/>
        </p:nvSpPr>
        <p:spPr>
          <a:xfrm>
            <a:off x="4041648" y="1600200"/>
            <a:ext cx="1783080" cy="420624"/>
          </a:xfrm>
          <a:prstGeom prst="rect">
            <a:avLst/>
          </a:prstGeom>
          <a:noFill/>
          <a:ln/>
        </p:spPr>
        <p:txBody>
          <a:bodyPr wrap="square" lIns="0" tIns="0" rIns="0" bIns="0" rtlCol="0" anchor="ctr"/>
          <a:lstStyle/>
          <a:p>
            <a:pPr indent="0" marL="0">
              <a:buNone/>
            </a:pPr>
            <a:r>
              <a:rPr lang="en-US" sz="1350" b="1" dirty="0">
                <a:solidFill>
                  <a:srgbClr val="11121D"/>
                </a:solidFill>
                <a:latin typeface="Avenir Next" pitchFamily="34" charset="0"/>
                <a:ea typeface="Avenir Next" pitchFamily="34" charset="-122"/>
                <a:cs typeface="Avenir Next" pitchFamily="34" charset="-120"/>
              </a:rPr>
              <a:t>Jev judgments</a:t>
            </a:r>
            <a:endParaRPr lang="en-US" sz="1350" dirty="0"/>
          </a:p>
        </p:txBody>
      </p:sp>
      <p:sp>
        <p:nvSpPr>
          <p:cNvPr id="16" name="Text 9"/>
          <p:cNvSpPr/>
          <p:nvPr/>
        </p:nvSpPr>
        <p:spPr>
          <a:xfrm>
            <a:off x="3493008" y="2148840"/>
            <a:ext cx="2240280" cy="594360"/>
          </a:xfrm>
          <a:prstGeom prst="rect">
            <a:avLst/>
          </a:prstGeom>
          <a:noFill/>
          <a:ln/>
        </p:spPr>
        <p:txBody>
          <a:bodyPr wrap="square" lIns="0" tIns="0" rIns="0" bIns="0" rtlCol="0" anchor="t"/>
          <a:lstStyle/>
          <a:p>
            <a:pPr indent="0" marL="0">
              <a:buNone/>
            </a:pPr>
            <a:r>
              <a:rPr lang="en-US" sz="1150" dirty="0">
                <a:solidFill>
                  <a:srgbClr val="3A3F55"/>
                </a:solidFill>
                <a:latin typeface="Avenir Next" pitchFamily="34" charset="0"/>
                <a:ea typeface="Avenir Next" pitchFamily="34" charset="-122"/>
                <a:cs typeface="Avenir Next" pitchFamily="34" charset="-120"/>
              </a:rPr>
              <a:t>real alerts in the top 10: 1 → 5</a:t>
            </a:r>
            <a:endParaRPr lang="en-US" sz="1150" dirty="0"/>
          </a:p>
        </p:txBody>
      </p:sp>
      <p:sp>
        <p:nvSpPr>
          <p:cNvPr id="17" name="Shape 10"/>
          <p:cNvSpPr/>
          <p:nvPr/>
        </p:nvSpPr>
        <p:spPr>
          <a:xfrm>
            <a:off x="6071616" y="1371600"/>
            <a:ext cx="2624328" cy="1463040"/>
          </a:xfrm>
          <a:prstGeom prst="roundRect">
            <a:avLst>
              <a:gd name="adj" fmla="val 8750"/>
            </a:avLst>
          </a:prstGeom>
          <a:solidFill>
            <a:srgbClr val="F0F2F5"/>
          </a:solidFill>
          <a:ln/>
        </p:spPr>
      </p:sp>
      <p:pic>
        <p:nvPicPr>
          <p:cNvPr id="18" name="Image 5" descr="preencoded.png">    </p:cNvPr>
          <p:cNvPicPr>
            <a:picLocks noChangeAspect="1"/>
          </p:cNvPicPr>
          <p:nvPr/>
        </p:nvPicPr>
        <p:blipFill>
          <a:blip r:embed="rId6"/>
          <a:stretch>
            <a:fillRect/>
          </a:stretch>
        </p:blipFill>
        <p:spPr>
          <a:xfrm>
            <a:off x="6300216" y="1600200"/>
            <a:ext cx="420624" cy="420624"/>
          </a:xfrm>
          <a:prstGeom prst="rect">
            <a:avLst/>
          </a:prstGeom>
        </p:spPr>
      </p:pic>
      <p:pic>
        <p:nvPicPr>
          <p:cNvPr id="19" name="Image 6" descr="preencoded.png">    </p:cNvPr>
          <p:cNvPicPr>
            <a:picLocks noChangeAspect="1"/>
          </p:cNvPicPr>
          <p:nvPr/>
        </p:nvPicPr>
        <p:blipFill>
          <a:blip r:embed="rId7"/>
          <a:stretch>
            <a:fillRect/>
          </a:stretch>
        </p:blipFill>
        <p:spPr>
          <a:xfrm>
            <a:off x="6409578" y="1709562"/>
            <a:ext cx="201900" cy="201900"/>
          </a:xfrm>
          <a:prstGeom prst="rect">
            <a:avLst/>
          </a:prstGeom>
        </p:spPr>
      </p:pic>
      <p:sp>
        <p:nvSpPr>
          <p:cNvPr id="20" name="Text 11"/>
          <p:cNvSpPr/>
          <p:nvPr/>
        </p:nvSpPr>
        <p:spPr>
          <a:xfrm>
            <a:off x="6848856" y="1600200"/>
            <a:ext cx="1783080" cy="420624"/>
          </a:xfrm>
          <a:prstGeom prst="rect">
            <a:avLst/>
          </a:prstGeom>
          <a:noFill/>
          <a:ln/>
        </p:spPr>
        <p:txBody>
          <a:bodyPr wrap="square" lIns="0" tIns="0" rIns="0" bIns="0" rtlCol="0" anchor="ctr"/>
          <a:lstStyle/>
          <a:p>
            <a:pPr indent="0" marL="0">
              <a:buNone/>
            </a:pPr>
            <a:r>
              <a:rPr lang="en-US" sz="1350" b="1" dirty="0">
                <a:solidFill>
                  <a:srgbClr val="11121D"/>
                </a:solidFill>
                <a:latin typeface="Avenir Next" pitchFamily="34" charset="0"/>
                <a:ea typeface="Avenir Next" pitchFamily="34" charset="-122"/>
                <a:cs typeface="Avenir Next" pitchFamily="34" charset="-120"/>
              </a:rPr>
              <a:t>Exact totals in SQL</a:t>
            </a:r>
            <a:endParaRPr lang="en-US" sz="1350" dirty="0"/>
          </a:p>
        </p:txBody>
      </p:sp>
      <p:sp>
        <p:nvSpPr>
          <p:cNvPr id="21" name="Text 12"/>
          <p:cNvSpPr/>
          <p:nvPr/>
        </p:nvSpPr>
        <p:spPr>
          <a:xfrm>
            <a:off x="6300216" y="2148840"/>
            <a:ext cx="2240280" cy="594360"/>
          </a:xfrm>
          <a:prstGeom prst="rect">
            <a:avLst/>
          </a:prstGeom>
          <a:noFill/>
          <a:ln/>
        </p:spPr>
        <p:txBody>
          <a:bodyPr wrap="square" lIns="0" tIns="0" rIns="0" bIns="0" rtlCol="0" anchor="t"/>
          <a:lstStyle/>
          <a:p>
            <a:pPr indent="0" marL="0">
              <a:buNone/>
            </a:pPr>
            <a:r>
              <a:rPr lang="en-US" sz="1150" dirty="0">
                <a:solidFill>
                  <a:srgbClr val="3A3F55"/>
                </a:solidFill>
                <a:latin typeface="Avenir Next" pitchFamily="34" charset="0"/>
                <a:ea typeface="Avenir Next" pitchFamily="34" charset="-122"/>
                <a:cs typeface="Avenir Next" pitchFamily="34" charset="-120"/>
              </a:rPr>
              <a:t>62 / 62 numbers traced; no rounding by the model</a:t>
            </a:r>
            <a:endParaRPr lang="en-US" sz="1150" dirty="0"/>
          </a:p>
        </p:txBody>
      </p:sp>
      <p:sp>
        <p:nvSpPr>
          <p:cNvPr id="22" name="Shape 13"/>
          <p:cNvSpPr/>
          <p:nvPr/>
        </p:nvSpPr>
        <p:spPr>
          <a:xfrm>
            <a:off x="457200" y="2971800"/>
            <a:ext cx="2624328" cy="1463040"/>
          </a:xfrm>
          <a:prstGeom prst="roundRect">
            <a:avLst>
              <a:gd name="adj" fmla="val 8750"/>
            </a:avLst>
          </a:prstGeom>
          <a:solidFill>
            <a:srgbClr val="F1ECFD"/>
          </a:solidFill>
          <a:ln/>
        </p:spPr>
      </p:sp>
      <p:pic>
        <p:nvPicPr>
          <p:cNvPr id="23" name="Image 7" descr="preencoded.png">    </p:cNvPr>
          <p:cNvPicPr>
            <a:picLocks noChangeAspect="1"/>
          </p:cNvPicPr>
          <p:nvPr/>
        </p:nvPicPr>
        <p:blipFill>
          <a:blip r:embed="rId8"/>
          <a:stretch>
            <a:fillRect/>
          </a:stretch>
        </p:blipFill>
        <p:spPr>
          <a:xfrm>
            <a:off x="685800" y="3200400"/>
            <a:ext cx="420624" cy="420624"/>
          </a:xfrm>
          <a:prstGeom prst="rect">
            <a:avLst/>
          </a:prstGeom>
        </p:spPr>
      </p:pic>
      <p:pic>
        <p:nvPicPr>
          <p:cNvPr id="24" name="Image 8" descr="preencoded.png">    </p:cNvPr>
          <p:cNvPicPr>
            <a:picLocks noChangeAspect="1"/>
          </p:cNvPicPr>
          <p:nvPr/>
        </p:nvPicPr>
        <p:blipFill>
          <a:blip r:embed="rId9"/>
          <a:stretch>
            <a:fillRect/>
          </a:stretch>
        </p:blipFill>
        <p:spPr>
          <a:xfrm>
            <a:off x="795162" y="3309762"/>
            <a:ext cx="201900" cy="201900"/>
          </a:xfrm>
          <a:prstGeom prst="rect">
            <a:avLst/>
          </a:prstGeom>
        </p:spPr>
      </p:pic>
      <p:sp>
        <p:nvSpPr>
          <p:cNvPr id="25" name="Text 14"/>
          <p:cNvSpPr/>
          <p:nvPr/>
        </p:nvSpPr>
        <p:spPr>
          <a:xfrm>
            <a:off x="1234440" y="3200400"/>
            <a:ext cx="1783080" cy="420624"/>
          </a:xfrm>
          <a:prstGeom prst="rect">
            <a:avLst/>
          </a:prstGeom>
          <a:noFill/>
          <a:ln/>
        </p:spPr>
        <p:txBody>
          <a:bodyPr wrap="square" lIns="0" tIns="0" rIns="0" bIns="0" rtlCol="0" anchor="ctr"/>
          <a:lstStyle/>
          <a:p>
            <a:pPr indent="0" marL="0">
              <a:buNone/>
            </a:pPr>
            <a:r>
              <a:rPr lang="en-US" sz="1350" b="1" dirty="0">
                <a:solidFill>
                  <a:srgbClr val="11121D"/>
                </a:solidFill>
                <a:latin typeface="Avenir Next" pitchFamily="34" charset="0"/>
                <a:ea typeface="Avenir Next" pitchFamily="34" charset="-122"/>
                <a:cs typeface="Avenir Next" pitchFamily="34" charset="-120"/>
              </a:rPr>
              <a:t>Ownership table</a:t>
            </a:r>
            <a:endParaRPr lang="en-US" sz="1350" dirty="0"/>
          </a:p>
        </p:txBody>
      </p:sp>
      <p:sp>
        <p:nvSpPr>
          <p:cNvPr id="26" name="Text 15"/>
          <p:cNvSpPr/>
          <p:nvPr/>
        </p:nvSpPr>
        <p:spPr>
          <a:xfrm>
            <a:off x="685800" y="3749040"/>
            <a:ext cx="2240280" cy="594360"/>
          </a:xfrm>
          <a:prstGeom prst="rect">
            <a:avLst/>
          </a:prstGeom>
          <a:noFill/>
          <a:ln/>
        </p:spPr>
        <p:txBody>
          <a:bodyPr wrap="square" lIns="0" tIns="0" rIns="0" bIns="0" rtlCol="0" anchor="t"/>
          <a:lstStyle/>
          <a:p>
            <a:pPr indent="0" marL="0">
              <a:buNone/>
            </a:pPr>
            <a:r>
              <a:rPr lang="en-US" sz="1150" dirty="0">
                <a:solidFill>
                  <a:srgbClr val="3A3F55"/>
                </a:solidFill>
                <a:latin typeface="Avenir Next" pitchFamily="34" charset="0"/>
                <a:ea typeface="Avenir Next" pitchFamily="34" charset="-122"/>
                <a:cs typeface="Avenir Next" pitchFamily="34" charset="-120"/>
              </a:rPr>
              <a:t>every problem has a team; 4 disputes flagged</a:t>
            </a:r>
            <a:endParaRPr lang="en-US" sz="1150" dirty="0"/>
          </a:p>
        </p:txBody>
      </p:sp>
      <p:sp>
        <p:nvSpPr>
          <p:cNvPr id="27" name="Shape 16"/>
          <p:cNvSpPr/>
          <p:nvPr/>
        </p:nvSpPr>
        <p:spPr>
          <a:xfrm>
            <a:off x="3264408" y="2971800"/>
            <a:ext cx="2624328" cy="1463040"/>
          </a:xfrm>
          <a:prstGeom prst="roundRect">
            <a:avLst>
              <a:gd name="adj" fmla="val 8750"/>
            </a:avLst>
          </a:prstGeom>
          <a:solidFill>
            <a:srgbClr val="F0F2F5"/>
          </a:solidFill>
          <a:ln/>
        </p:spPr>
      </p:sp>
      <p:pic>
        <p:nvPicPr>
          <p:cNvPr id="28" name="Image 9" descr="preencoded.png">    </p:cNvPr>
          <p:cNvPicPr>
            <a:picLocks noChangeAspect="1"/>
          </p:cNvPicPr>
          <p:nvPr/>
        </p:nvPicPr>
        <p:blipFill>
          <a:blip r:embed="rId10"/>
          <a:stretch>
            <a:fillRect/>
          </a:stretch>
        </p:blipFill>
        <p:spPr>
          <a:xfrm>
            <a:off x="3493008" y="3200400"/>
            <a:ext cx="420624" cy="420624"/>
          </a:xfrm>
          <a:prstGeom prst="rect">
            <a:avLst/>
          </a:prstGeom>
        </p:spPr>
      </p:pic>
      <p:pic>
        <p:nvPicPr>
          <p:cNvPr id="29" name="Image 10" descr="preencoded.png">    </p:cNvPr>
          <p:cNvPicPr>
            <a:picLocks noChangeAspect="1"/>
          </p:cNvPicPr>
          <p:nvPr/>
        </p:nvPicPr>
        <p:blipFill>
          <a:blip r:embed="rId11"/>
          <a:stretch>
            <a:fillRect/>
          </a:stretch>
        </p:blipFill>
        <p:spPr>
          <a:xfrm>
            <a:off x="3602370" y="3309762"/>
            <a:ext cx="201900" cy="201900"/>
          </a:xfrm>
          <a:prstGeom prst="rect">
            <a:avLst/>
          </a:prstGeom>
        </p:spPr>
      </p:pic>
      <p:sp>
        <p:nvSpPr>
          <p:cNvPr id="30" name="Text 17"/>
          <p:cNvSpPr/>
          <p:nvPr/>
        </p:nvSpPr>
        <p:spPr>
          <a:xfrm>
            <a:off x="4041648" y="3200400"/>
            <a:ext cx="1783080" cy="420624"/>
          </a:xfrm>
          <a:prstGeom prst="rect">
            <a:avLst/>
          </a:prstGeom>
          <a:noFill/>
          <a:ln/>
        </p:spPr>
        <p:txBody>
          <a:bodyPr wrap="square" lIns="0" tIns="0" rIns="0" bIns="0" rtlCol="0" anchor="ctr"/>
          <a:lstStyle/>
          <a:p>
            <a:pPr indent="0" marL="0">
              <a:buNone/>
            </a:pPr>
            <a:r>
              <a:rPr lang="en-US" sz="1350" b="1" dirty="0">
                <a:solidFill>
                  <a:srgbClr val="11121D"/>
                </a:solidFill>
                <a:latin typeface="Avenir Next" pitchFamily="34" charset="0"/>
                <a:ea typeface="Avenir Next" pitchFamily="34" charset="-122"/>
                <a:cs typeface="Avenir Next" pitchFamily="34" charset="-120"/>
              </a:rPr>
              <a:t>Computed priority</a:t>
            </a:r>
            <a:endParaRPr lang="en-US" sz="1350" dirty="0"/>
          </a:p>
        </p:txBody>
      </p:sp>
      <p:sp>
        <p:nvSpPr>
          <p:cNvPr id="31" name="Text 18"/>
          <p:cNvSpPr/>
          <p:nvPr/>
        </p:nvSpPr>
        <p:spPr>
          <a:xfrm>
            <a:off x="3493008" y="3749040"/>
            <a:ext cx="2240280" cy="594360"/>
          </a:xfrm>
          <a:prstGeom prst="rect">
            <a:avLst/>
          </a:prstGeom>
          <a:noFill/>
          <a:ln/>
        </p:spPr>
        <p:txBody>
          <a:bodyPr wrap="square" lIns="0" tIns="0" rIns="0" bIns="0" rtlCol="0" anchor="t"/>
          <a:lstStyle/>
          <a:p>
            <a:pPr indent="0" marL="0">
              <a:buNone/>
            </a:pPr>
            <a:r>
              <a:rPr lang="en-US" sz="1150" dirty="0">
                <a:solidFill>
                  <a:srgbClr val="3A3F55"/>
                </a:solidFill>
                <a:latin typeface="Avenir Next" pitchFamily="34" charset="0"/>
                <a:ea typeface="Avenir Next" pitchFamily="34" charset="-122"/>
                <a:cs typeface="Avenir Next" pitchFamily="34" charset="-120"/>
              </a:rPr>
              <a:t>the manager's ranking is SQL, not opinion</a:t>
            </a:r>
            <a:endParaRPr lang="en-US" sz="1150" dirty="0"/>
          </a:p>
        </p:txBody>
      </p:sp>
      <p:sp>
        <p:nvSpPr>
          <p:cNvPr id="32" name="Shape 19"/>
          <p:cNvSpPr/>
          <p:nvPr/>
        </p:nvSpPr>
        <p:spPr>
          <a:xfrm>
            <a:off x="6071616" y="2971800"/>
            <a:ext cx="2624328" cy="1463040"/>
          </a:xfrm>
          <a:prstGeom prst="roundRect">
            <a:avLst>
              <a:gd name="adj" fmla="val 8750"/>
            </a:avLst>
          </a:prstGeom>
          <a:solidFill>
            <a:srgbClr val="F1ECFD"/>
          </a:solidFill>
          <a:ln/>
        </p:spPr>
      </p:sp>
      <p:pic>
        <p:nvPicPr>
          <p:cNvPr id="33" name="Image 11" descr="preencoded.png">    </p:cNvPr>
          <p:cNvPicPr>
            <a:picLocks noChangeAspect="1"/>
          </p:cNvPicPr>
          <p:nvPr/>
        </p:nvPicPr>
        <p:blipFill>
          <a:blip r:embed="rId12"/>
          <a:stretch>
            <a:fillRect/>
          </a:stretch>
        </p:blipFill>
        <p:spPr>
          <a:xfrm>
            <a:off x="6300216" y="3200400"/>
            <a:ext cx="420624" cy="420624"/>
          </a:xfrm>
          <a:prstGeom prst="rect">
            <a:avLst/>
          </a:prstGeom>
        </p:spPr>
      </p:pic>
      <p:pic>
        <p:nvPicPr>
          <p:cNvPr id="34" name="Image 12" descr="preencoded.png">    </p:cNvPr>
          <p:cNvPicPr>
            <a:picLocks noChangeAspect="1"/>
          </p:cNvPicPr>
          <p:nvPr/>
        </p:nvPicPr>
        <p:blipFill>
          <a:blip r:embed="rId13"/>
          <a:stretch>
            <a:fillRect/>
          </a:stretch>
        </p:blipFill>
        <p:spPr>
          <a:xfrm>
            <a:off x="6409578" y="3309762"/>
            <a:ext cx="201900" cy="201900"/>
          </a:xfrm>
          <a:prstGeom prst="rect">
            <a:avLst/>
          </a:prstGeom>
        </p:spPr>
      </p:pic>
      <p:sp>
        <p:nvSpPr>
          <p:cNvPr id="35" name="Text 20"/>
          <p:cNvSpPr/>
          <p:nvPr/>
        </p:nvSpPr>
        <p:spPr>
          <a:xfrm>
            <a:off x="6848856" y="3200400"/>
            <a:ext cx="1783080" cy="420624"/>
          </a:xfrm>
          <a:prstGeom prst="rect">
            <a:avLst/>
          </a:prstGeom>
          <a:noFill/>
          <a:ln/>
        </p:spPr>
        <p:txBody>
          <a:bodyPr wrap="square" lIns="0" tIns="0" rIns="0" bIns="0" rtlCol="0" anchor="ctr"/>
          <a:lstStyle/>
          <a:p>
            <a:pPr indent="0" marL="0">
              <a:buNone/>
            </a:pPr>
            <a:r>
              <a:rPr lang="en-US" sz="1350" b="1" dirty="0">
                <a:solidFill>
                  <a:srgbClr val="11121D"/>
                </a:solidFill>
                <a:latin typeface="Avenir Next" pitchFamily="34" charset="0"/>
                <a:ea typeface="Avenir Next" pitchFamily="34" charset="-122"/>
                <a:cs typeface="Avenir Next" pitchFamily="34" charset="-120"/>
              </a:rPr>
              <a:t>Facts vs hypotheses</a:t>
            </a:r>
            <a:endParaRPr lang="en-US" sz="1350" dirty="0"/>
          </a:p>
        </p:txBody>
      </p:sp>
      <p:sp>
        <p:nvSpPr>
          <p:cNvPr id="36" name="Text 21"/>
          <p:cNvSpPr/>
          <p:nvPr/>
        </p:nvSpPr>
        <p:spPr>
          <a:xfrm>
            <a:off x="6300216" y="3749040"/>
            <a:ext cx="2240280" cy="594360"/>
          </a:xfrm>
          <a:prstGeom prst="rect">
            <a:avLst/>
          </a:prstGeom>
          <a:noFill/>
          <a:ln/>
        </p:spPr>
        <p:txBody>
          <a:bodyPr wrap="square" lIns="0" tIns="0" rIns="0" bIns="0" rtlCol="0" anchor="t"/>
          <a:lstStyle/>
          <a:p>
            <a:pPr indent="0" marL="0">
              <a:buNone/>
            </a:pPr>
            <a:r>
              <a:rPr lang="en-US" sz="1150" dirty="0">
                <a:solidFill>
                  <a:srgbClr val="3A3F55"/>
                </a:solidFill>
                <a:latin typeface="Avenir Next" pitchFamily="34" charset="0"/>
                <a:ea typeface="Avenir Next" pitchFamily="34" charset="-122"/>
                <a:cs typeface="Avenir Next" pitchFamily="34" charset="-120"/>
              </a:rPr>
              <a:t>unknowns stated in 100 % of answers</a:t>
            </a:r>
            <a:endParaRPr lang="en-US" sz="11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4736592"/>
            <a:ext cx="146304" cy="146304"/>
          </a:xfrm>
          <a:prstGeom prst="rect">
            <a:avLst/>
          </a:prstGeom>
        </p:spPr>
      </p:pic>
      <p:sp>
        <p:nvSpPr>
          <p:cNvPr id="3" name="Text 0"/>
          <p:cNvSpPr/>
          <p:nvPr/>
        </p:nvSpPr>
        <p:spPr>
          <a:xfrm>
            <a:off x="676656" y="4700016"/>
            <a:ext cx="5486400" cy="228600"/>
          </a:xfrm>
          <a:prstGeom prst="rect">
            <a:avLst/>
          </a:prstGeom>
          <a:noFill/>
          <a:ln/>
        </p:spPr>
        <p:txBody>
          <a:bodyPr wrap="square" lIns="0" tIns="0" rIns="0" bIns="0" rtlCol="0" anchor="ctr"/>
          <a:lstStyle/>
          <a:p>
            <a:pPr indent="0" marL="0">
              <a:buNone/>
            </a:pPr>
            <a:r>
              <a:rPr lang="en-US" sz="900" dirty="0">
                <a:solidFill>
                  <a:srgbClr val="6B7386"/>
                </a:solidFill>
                <a:latin typeface="Avenir Next" pitchFamily="34" charset="0"/>
                <a:ea typeface="Avenir Next" pitchFamily="34" charset="-122"/>
                <a:cs typeface="Avenir Next" pitchFamily="34" charset="-120"/>
              </a:rPr>
              <a:t>Making Sense of Logs  ·  Wow</a:t>
            </a:r>
            <a:endParaRPr lang="en-US" sz="900" dirty="0"/>
          </a:p>
        </p:txBody>
      </p:sp>
      <p:sp>
        <p:nvSpPr>
          <p:cNvPr id="4" name="Text 1"/>
          <p:cNvSpPr/>
          <p:nvPr/>
        </p:nvSpPr>
        <p:spPr>
          <a:xfrm>
            <a:off x="7772400" y="4700016"/>
            <a:ext cx="914400" cy="228600"/>
          </a:xfrm>
          <a:prstGeom prst="rect">
            <a:avLst/>
          </a:prstGeom>
          <a:noFill/>
          <a:ln/>
        </p:spPr>
        <p:txBody>
          <a:bodyPr wrap="square" lIns="0" tIns="0" rIns="0" bIns="0" rtlCol="0" anchor="ctr"/>
          <a:lstStyle/>
          <a:p>
            <a:pPr algn="r" indent="0" marL="0">
              <a:buNone/>
            </a:pPr>
            <a:r>
              <a:rPr lang="en-US" sz="900" dirty="0">
                <a:solidFill>
                  <a:srgbClr val="6B7386"/>
                </a:solidFill>
                <a:latin typeface="Avenir Next" pitchFamily="34" charset="0"/>
                <a:ea typeface="Avenir Next" pitchFamily="34" charset="-122"/>
                <a:cs typeface="Avenir Next" pitchFamily="34" charset="-120"/>
              </a:rPr>
              <a:t>12</a:t>
            </a:r>
            <a:endParaRPr lang="en-US" sz="900" dirty="0"/>
          </a:p>
        </p:txBody>
      </p:sp>
      <p:sp>
        <p:nvSpPr>
          <p:cNvPr id="5" name="Text 2"/>
          <p:cNvSpPr/>
          <p:nvPr/>
        </p:nvSpPr>
        <p:spPr>
          <a:xfrm>
            <a:off x="457200" y="320040"/>
            <a:ext cx="8229600" cy="228600"/>
          </a:xfrm>
          <a:prstGeom prst="rect">
            <a:avLst/>
          </a:prstGeom>
          <a:noFill/>
          <a:ln/>
        </p:spPr>
        <p:txBody>
          <a:bodyPr wrap="square" lIns="0" tIns="0" rIns="0" bIns="0" rtlCol="0" anchor="ctr"/>
          <a:lstStyle/>
          <a:p>
            <a:pPr indent="0" marL="0">
              <a:buNone/>
            </a:pPr>
            <a:r>
              <a:rPr lang="en-US" sz="1000" b="1" spc="300" kern="0" dirty="0">
                <a:solidFill>
                  <a:srgbClr val="6A4BD8"/>
                </a:solidFill>
                <a:latin typeface="Avenir Next" pitchFamily="34" charset="0"/>
                <a:ea typeface="Avenir Next" pitchFamily="34" charset="-122"/>
                <a:cs typeface="Avenir Next" pitchFamily="34" charset="-120"/>
              </a:rPr>
              <a:t>BEYOND THE BRIEF</a:t>
            </a:r>
            <a:endParaRPr lang="en-US" sz="1000" dirty="0"/>
          </a:p>
        </p:txBody>
      </p:sp>
      <p:sp>
        <p:nvSpPr>
          <p:cNvPr id="6" name="Text 3"/>
          <p:cNvSpPr/>
          <p:nvPr/>
        </p:nvSpPr>
        <p:spPr>
          <a:xfrm>
            <a:off x="457200" y="566928"/>
            <a:ext cx="8229600" cy="594360"/>
          </a:xfrm>
          <a:prstGeom prst="rect">
            <a:avLst/>
          </a:prstGeom>
          <a:noFill/>
          <a:ln/>
        </p:spPr>
        <p:txBody>
          <a:bodyPr wrap="square" lIns="0" tIns="0" rIns="0" bIns="0" rtlCol="0" anchor="ctr"/>
          <a:lstStyle/>
          <a:p>
            <a:pPr indent="0" marL="0">
              <a:buNone/>
            </a:pPr>
            <a:r>
              <a:rPr lang="en-US" sz="2800" b="1" dirty="0">
                <a:solidFill>
                  <a:srgbClr val="11121D"/>
                </a:solidFill>
                <a:latin typeface="Avenir Next" pitchFamily="34" charset="0"/>
                <a:ea typeface="Avenir Next" pitchFamily="34" charset="-122"/>
                <a:cs typeface="Avenir Next" pitchFamily="34" charset="-120"/>
              </a:rPr>
              <a:t>More than the challenge asked for</a:t>
            </a:r>
            <a:endParaRPr lang="en-US" sz="2800" dirty="0"/>
          </a:p>
        </p:txBody>
      </p:sp>
      <p:sp>
        <p:nvSpPr>
          <p:cNvPr id="7" name="Shape 4"/>
          <p:cNvSpPr/>
          <p:nvPr/>
        </p:nvSpPr>
        <p:spPr>
          <a:xfrm>
            <a:off x="457200" y="1371600"/>
            <a:ext cx="2624328" cy="1463040"/>
          </a:xfrm>
          <a:prstGeom prst="roundRect">
            <a:avLst>
              <a:gd name="adj" fmla="val 8750"/>
            </a:avLst>
          </a:prstGeom>
          <a:solidFill>
            <a:srgbClr val="F1ECFD"/>
          </a:solidFill>
          <a:ln/>
        </p:spPr>
      </p:sp>
      <p:pic>
        <p:nvPicPr>
          <p:cNvPr id="8" name="Image 1" descr="preencoded.png">    </p:cNvPr>
          <p:cNvPicPr>
            <a:picLocks noChangeAspect="1"/>
          </p:cNvPicPr>
          <p:nvPr/>
        </p:nvPicPr>
        <p:blipFill>
          <a:blip r:embed="rId2"/>
          <a:stretch>
            <a:fillRect/>
          </a:stretch>
        </p:blipFill>
        <p:spPr>
          <a:xfrm>
            <a:off x="685800" y="1645920"/>
            <a:ext cx="420624" cy="420624"/>
          </a:xfrm>
          <a:prstGeom prst="rect">
            <a:avLst/>
          </a:prstGeom>
        </p:spPr>
      </p:pic>
      <p:pic>
        <p:nvPicPr>
          <p:cNvPr id="9" name="Image 2" descr="preencoded.png">    </p:cNvPr>
          <p:cNvPicPr>
            <a:picLocks noChangeAspect="1"/>
          </p:cNvPicPr>
          <p:nvPr/>
        </p:nvPicPr>
        <p:blipFill>
          <a:blip r:embed="rId3"/>
          <a:stretch>
            <a:fillRect/>
          </a:stretch>
        </p:blipFill>
        <p:spPr>
          <a:xfrm>
            <a:off x="795162" y="1755282"/>
            <a:ext cx="201900" cy="201900"/>
          </a:xfrm>
          <a:prstGeom prst="rect">
            <a:avLst/>
          </a:prstGeom>
        </p:spPr>
      </p:pic>
      <p:sp>
        <p:nvSpPr>
          <p:cNvPr id="10" name="Text 5"/>
          <p:cNvSpPr/>
          <p:nvPr/>
        </p:nvSpPr>
        <p:spPr>
          <a:xfrm>
            <a:off x="1234440" y="1618488"/>
            <a:ext cx="1783080" cy="457200"/>
          </a:xfrm>
          <a:prstGeom prst="rect">
            <a:avLst/>
          </a:prstGeom>
          <a:noFill/>
          <a:ln/>
        </p:spPr>
        <p:txBody>
          <a:bodyPr wrap="square" lIns="0" tIns="0" rIns="0" bIns="0" rtlCol="0" anchor="ctr"/>
          <a:lstStyle/>
          <a:p>
            <a:pPr indent="0" marL="0">
              <a:buNone/>
            </a:pPr>
            <a:r>
              <a:rPr lang="en-US" sz="1400" b="1" dirty="0">
                <a:solidFill>
                  <a:srgbClr val="11121D"/>
                </a:solidFill>
                <a:latin typeface="Avenir Next" pitchFamily="34" charset="0"/>
                <a:ea typeface="Avenir Next" pitchFamily="34" charset="-122"/>
                <a:cs typeface="Avenir Next" pitchFamily="34" charset="-120"/>
              </a:rPr>
              <a:t>Your own logs</a:t>
            </a:r>
            <a:endParaRPr lang="en-US" sz="1400" dirty="0"/>
          </a:p>
        </p:txBody>
      </p:sp>
      <p:sp>
        <p:nvSpPr>
          <p:cNvPr id="11" name="Text 6"/>
          <p:cNvSpPr/>
          <p:nvPr/>
        </p:nvSpPr>
        <p:spPr>
          <a:xfrm>
            <a:off x="685800" y="2240280"/>
            <a:ext cx="2240280" cy="457200"/>
          </a:xfrm>
          <a:prstGeom prst="rect">
            <a:avLst/>
          </a:prstGeom>
          <a:noFill/>
          <a:ln/>
        </p:spPr>
        <p:txBody>
          <a:bodyPr wrap="square" lIns="0" tIns="0" rIns="0" bIns="0" rtlCol="0" anchor="t"/>
          <a:lstStyle/>
          <a:p>
            <a:pPr indent="0" marL="0">
              <a:buNone/>
            </a:pPr>
            <a:r>
              <a:rPr lang="en-US" sz="1200" dirty="0">
                <a:solidFill>
                  <a:srgbClr val="3A3F55"/>
                </a:solidFill>
                <a:latin typeface="Avenir Next" pitchFamily="34" charset="0"/>
                <a:ea typeface="Avenir Next" pitchFamily="34" charset="-122"/>
                <a:cs typeface="Avenir Next" pitchFamily="34" charset="-120"/>
              </a:rPr>
              <a:t>any file, no code</a:t>
            </a:r>
            <a:endParaRPr lang="en-US" sz="1200" dirty="0"/>
          </a:p>
        </p:txBody>
      </p:sp>
      <p:sp>
        <p:nvSpPr>
          <p:cNvPr id="12" name="Shape 7"/>
          <p:cNvSpPr/>
          <p:nvPr/>
        </p:nvSpPr>
        <p:spPr>
          <a:xfrm>
            <a:off x="3264408" y="1371600"/>
            <a:ext cx="2624328" cy="1463040"/>
          </a:xfrm>
          <a:prstGeom prst="roundRect">
            <a:avLst>
              <a:gd name="adj" fmla="val 8750"/>
            </a:avLst>
          </a:prstGeom>
          <a:solidFill>
            <a:srgbClr val="F0F2F5"/>
          </a:solidFill>
          <a:ln/>
        </p:spPr>
      </p:sp>
      <p:pic>
        <p:nvPicPr>
          <p:cNvPr id="13" name="Image 3" descr="preencoded.png">    </p:cNvPr>
          <p:cNvPicPr>
            <a:picLocks noChangeAspect="1"/>
          </p:cNvPicPr>
          <p:nvPr/>
        </p:nvPicPr>
        <p:blipFill>
          <a:blip r:embed="rId4"/>
          <a:stretch>
            <a:fillRect/>
          </a:stretch>
        </p:blipFill>
        <p:spPr>
          <a:xfrm>
            <a:off x="3493008" y="1645920"/>
            <a:ext cx="420624" cy="420624"/>
          </a:xfrm>
          <a:prstGeom prst="rect">
            <a:avLst/>
          </a:prstGeom>
        </p:spPr>
      </p:pic>
      <p:pic>
        <p:nvPicPr>
          <p:cNvPr id="14" name="Image 4" descr="preencoded.png">    </p:cNvPr>
          <p:cNvPicPr>
            <a:picLocks noChangeAspect="1"/>
          </p:cNvPicPr>
          <p:nvPr/>
        </p:nvPicPr>
        <p:blipFill>
          <a:blip r:embed="rId5"/>
          <a:stretch>
            <a:fillRect/>
          </a:stretch>
        </p:blipFill>
        <p:spPr>
          <a:xfrm>
            <a:off x="3602370" y="1755282"/>
            <a:ext cx="201900" cy="201900"/>
          </a:xfrm>
          <a:prstGeom prst="rect">
            <a:avLst/>
          </a:prstGeom>
        </p:spPr>
      </p:pic>
      <p:sp>
        <p:nvSpPr>
          <p:cNvPr id="15" name="Text 8"/>
          <p:cNvSpPr/>
          <p:nvPr/>
        </p:nvSpPr>
        <p:spPr>
          <a:xfrm>
            <a:off x="4041648" y="1618488"/>
            <a:ext cx="1783080" cy="457200"/>
          </a:xfrm>
          <a:prstGeom prst="rect">
            <a:avLst/>
          </a:prstGeom>
          <a:noFill/>
          <a:ln/>
        </p:spPr>
        <p:txBody>
          <a:bodyPr wrap="square" lIns="0" tIns="0" rIns="0" bIns="0" rtlCol="0" anchor="ctr"/>
          <a:lstStyle/>
          <a:p>
            <a:pPr indent="0" marL="0">
              <a:buNone/>
            </a:pPr>
            <a:r>
              <a:rPr lang="en-US" sz="1400" b="1" dirty="0">
                <a:solidFill>
                  <a:srgbClr val="11121D"/>
                </a:solidFill>
                <a:latin typeface="Avenir Next" pitchFamily="34" charset="0"/>
                <a:ea typeface="Avenir Next" pitchFamily="34" charset="-122"/>
                <a:cs typeface="Avenir Next" pitchFamily="34" charset="-120"/>
              </a:rPr>
              <a:t>1 B remote rows</a:t>
            </a:r>
            <a:endParaRPr lang="en-US" sz="1400" dirty="0"/>
          </a:p>
        </p:txBody>
      </p:sp>
      <p:sp>
        <p:nvSpPr>
          <p:cNvPr id="16" name="Text 9"/>
          <p:cNvSpPr/>
          <p:nvPr/>
        </p:nvSpPr>
        <p:spPr>
          <a:xfrm>
            <a:off x="3493008" y="2240280"/>
            <a:ext cx="2240280" cy="457200"/>
          </a:xfrm>
          <a:prstGeom prst="rect">
            <a:avLst/>
          </a:prstGeom>
          <a:noFill/>
          <a:ln/>
        </p:spPr>
        <p:txBody>
          <a:bodyPr wrap="square" lIns="0" tIns="0" rIns="0" bIns="0" rtlCol="0" anchor="t"/>
          <a:lstStyle/>
          <a:p>
            <a:pPr indent="0" marL="0">
              <a:buNone/>
            </a:pPr>
            <a:r>
              <a:rPr lang="en-US" sz="1200" dirty="0">
                <a:solidFill>
                  <a:srgbClr val="3A3F55"/>
                </a:solidFill>
                <a:latin typeface="Avenir Next" pitchFamily="34" charset="0"/>
                <a:ea typeface="Avenir Next" pitchFamily="34" charset="-122"/>
                <a:cs typeface="Avenir Next" pitchFamily="34" charset="-120"/>
              </a:rPr>
              <a:t>queried in place on S3</a:t>
            </a:r>
            <a:endParaRPr lang="en-US" sz="1200" dirty="0"/>
          </a:p>
        </p:txBody>
      </p:sp>
      <p:sp>
        <p:nvSpPr>
          <p:cNvPr id="17" name="Shape 10"/>
          <p:cNvSpPr/>
          <p:nvPr/>
        </p:nvSpPr>
        <p:spPr>
          <a:xfrm>
            <a:off x="6071616" y="1371600"/>
            <a:ext cx="2624328" cy="1463040"/>
          </a:xfrm>
          <a:prstGeom prst="roundRect">
            <a:avLst>
              <a:gd name="adj" fmla="val 8750"/>
            </a:avLst>
          </a:prstGeom>
          <a:solidFill>
            <a:srgbClr val="F1ECFD"/>
          </a:solidFill>
          <a:ln/>
        </p:spPr>
      </p:sp>
      <p:pic>
        <p:nvPicPr>
          <p:cNvPr id="18" name="Image 5" descr="preencoded.png">    </p:cNvPr>
          <p:cNvPicPr>
            <a:picLocks noChangeAspect="1"/>
          </p:cNvPicPr>
          <p:nvPr/>
        </p:nvPicPr>
        <p:blipFill>
          <a:blip r:embed="rId6"/>
          <a:stretch>
            <a:fillRect/>
          </a:stretch>
        </p:blipFill>
        <p:spPr>
          <a:xfrm>
            <a:off x="6300216" y="1645920"/>
            <a:ext cx="420624" cy="420624"/>
          </a:xfrm>
          <a:prstGeom prst="rect">
            <a:avLst/>
          </a:prstGeom>
        </p:spPr>
      </p:pic>
      <p:pic>
        <p:nvPicPr>
          <p:cNvPr id="19" name="Image 6" descr="preencoded.png">    </p:cNvPr>
          <p:cNvPicPr>
            <a:picLocks noChangeAspect="1"/>
          </p:cNvPicPr>
          <p:nvPr/>
        </p:nvPicPr>
        <p:blipFill>
          <a:blip r:embed="rId7"/>
          <a:stretch>
            <a:fillRect/>
          </a:stretch>
        </p:blipFill>
        <p:spPr>
          <a:xfrm>
            <a:off x="6409578" y="1755282"/>
            <a:ext cx="201900" cy="201900"/>
          </a:xfrm>
          <a:prstGeom prst="rect">
            <a:avLst/>
          </a:prstGeom>
        </p:spPr>
      </p:pic>
      <p:sp>
        <p:nvSpPr>
          <p:cNvPr id="20" name="Text 11"/>
          <p:cNvSpPr/>
          <p:nvPr/>
        </p:nvSpPr>
        <p:spPr>
          <a:xfrm>
            <a:off x="6848856" y="1618488"/>
            <a:ext cx="1783080" cy="457200"/>
          </a:xfrm>
          <a:prstGeom prst="rect">
            <a:avLst/>
          </a:prstGeom>
          <a:noFill/>
          <a:ln/>
        </p:spPr>
        <p:txBody>
          <a:bodyPr wrap="square" lIns="0" tIns="0" rIns="0" bIns="0" rtlCol="0" anchor="ctr"/>
          <a:lstStyle/>
          <a:p>
            <a:pPr indent="0" marL="0">
              <a:buNone/>
            </a:pPr>
            <a:r>
              <a:rPr lang="en-US" sz="1400" b="1" dirty="0">
                <a:solidFill>
                  <a:srgbClr val="11121D"/>
                </a:solidFill>
                <a:latin typeface="Avenir Next" pitchFamily="34" charset="0"/>
                <a:ea typeface="Avenir Next" pitchFamily="34" charset="-122"/>
                <a:cs typeface="Avenir Next" pitchFamily="34" charset="-120"/>
              </a:rPr>
              <a:t>Access per team</a:t>
            </a:r>
            <a:endParaRPr lang="en-US" sz="1400" dirty="0"/>
          </a:p>
        </p:txBody>
      </p:sp>
      <p:sp>
        <p:nvSpPr>
          <p:cNvPr id="21" name="Text 12"/>
          <p:cNvSpPr/>
          <p:nvPr/>
        </p:nvSpPr>
        <p:spPr>
          <a:xfrm>
            <a:off x="6300216" y="2240280"/>
            <a:ext cx="2240280" cy="457200"/>
          </a:xfrm>
          <a:prstGeom prst="rect">
            <a:avLst/>
          </a:prstGeom>
          <a:noFill/>
          <a:ln/>
        </p:spPr>
        <p:txBody>
          <a:bodyPr wrap="square" lIns="0" tIns="0" rIns="0" bIns="0" rtlCol="0" anchor="t"/>
          <a:lstStyle/>
          <a:p>
            <a:pPr indent="0" marL="0">
              <a:buNone/>
            </a:pPr>
            <a:r>
              <a:rPr lang="en-US" sz="1200" dirty="0">
                <a:solidFill>
                  <a:srgbClr val="3A3F55"/>
                </a:solidFill>
                <a:latin typeface="Avenir Next" pitchFamily="34" charset="0"/>
                <a:ea typeface="Avenir Next" pitchFamily="34" charset="-122"/>
                <a:cs typeface="Avenir Next" pitchFamily="34" charset="-120"/>
              </a:rPr>
              <a:t>enforced by the database</a:t>
            </a:r>
            <a:endParaRPr lang="en-US" sz="1200" dirty="0"/>
          </a:p>
        </p:txBody>
      </p:sp>
      <p:sp>
        <p:nvSpPr>
          <p:cNvPr id="22" name="Shape 13"/>
          <p:cNvSpPr/>
          <p:nvPr/>
        </p:nvSpPr>
        <p:spPr>
          <a:xfrm>
            <a:off x="457200" y="2971800"/>
            <a:ext cx="2624328" cy="1463040"/>
          </a:xfrm>
          <a:prstGeom prst="roundRect">
            <a:avLst>
              <a:gd name="adj" fmla="val 8750"/>
            </a:avLst>
          </a:prstGeom>
          <a:solidFill>
            <a:srgbClr val="F0F2F5"/>
          </a:solidFill>
          <a:ln/>
        </p:spPr>
      </p:sp>
      <p:pic>
        <p:nvPicPr>
          <p:cNvPr id="23" name="Image 7" descr="preencoded.png">    </p:cNvPr>
          <p:cNvPicPr>
            <a:picLocks noChangeAspect="1"/>
          </p:cNvPicPr>
          <p:nvPr/>
        </p:nvPicPr>
        <p:blipFill>
          <a:blip r:embed="rId8"/>
          <a:stretch>
            <a:fillRect/>
          </a:stretch>
        </p:blipFill>
        <p:spPr>
          <a:xfrm>
            <a:off x="685800" y="3246120"/>
            <a:ext cx="420624" cy="420624"/>
          </a:xfrm>
          <a:prstGeom prst="rect">
            <a:avLst/>
          </a:prstGeom>
        </p:spPr>
      </p:pic>
      <p:pic>
        <p:nvPicPr>
          <p:cNvPr id="24" name="Image 8" descr="preencoded.png">    </p:cNvPr>
          <p:cNvPicPr>
            <a:picLocks noChangeAspect="1"/>
          </p:cNvPicPr>
          <p:nvPr/>
        </p:nvPicPr>
        <p:blipFill>
          <a:blip r:embed="rId9"/>
          <a:stretch>
            <a:fillRect/>
          </a:stretch>
        </p:blipFill>
        <p:spPr>
          <a:xfrm>
            <a:off x="795162" y="3355482"/>
            <a:ext cx="201900" cy="201900"/>
          </a:xfrm>
          <a:prstGeom prst="rect">
            <a:avLst/>
          </a:prstGeom>
        </p:spPr>
      </p:pic>
      <p:sp>
        <p:nvSpPr>
          <p:cNvPr id="25" name="Text 14"/>
          <p:cNvSpPr/>
          <p:nvPr/>
        </p:nvSpPr>
        <p:spPr>
          <a:xfrm>
            <a:off x="1234440" y="3218688"/>
            <a:ext cx="1783080" cy="457200"/>
          </a:xfrm>
          <a:prstGeom prst="rect">
            <a:avLst/>
          </a:prstGeom>
          <a:noFill/>
          <a:ln/>
        </p:spPr>
        <p:txBody>
          <a:bodyPr wrap="square" lIns="0" tIns="0" rIns="0" bIns="0" rtlCol="0" anchor="ctr"/>
          <a:lstStyle/>
          <a:p>
            <a:pPr indent="0" marL="0">
              <a:buNone/>
            </a:pPr>
            <a:r>
              <a:rPr lang="en-US" sz="1400" b="1" dirty="0">
                <a:solidFill>
                  <a:srgbClr val="11121D"/>
                </a:solidFill>
                <a:latin typeface="Avenir Next" pitchFamily="34" charset="0"/>
                <a:ea typeface="Avenir Next" pitchFamily="34" charset="-122"/>
                <a:cs typeface="Avenir Next" pitchFamily="34" charset="-120"/>
              </a:rPr>
              <a:t>11.2 M lines</a:t>
            </a:r>
            <a:endParaRPr lang="en-US" sz="1400" dirty="0"/>
          </a:p>
        </p:txBody>
      </p:sp>
      <p:sp>
        <p:nvSpPr>
          <p:cNvPr id="26" name="Text 15"/>
          <p:cNvSpPr/>
          <p:nvPr/>
        </p:nvSpPr>
        <p:spPr>
          <a:xfrm>
            <a:off x="685800" y="3840480"/>
            <a:ext cx="2240280" cy="457200"/>
          </a:xfrm>
          <a:prstGeom prst="rect">
            <a:avLst/>
          </a:prstGeom>
          <a:noFill/>
          <a:ln/>
        </p:spPr>
        <p:txBody>
          <a:bodyPr wrap="square" lIns="0" tIns="0" rIns="0" bIns="0" rtlCol="0" anchor="t"/>
          <a:lstStyle/>
          <a:p>
            <a:pPr indent="0" marL="0">
              <a:buNone/>
            </a:pPr>
            <a:r>
              <a:rPr lang="en-US" sz="1200" dirty="0">
                <a:solidFill>
                  <a:srgbClr val="3A3F55"/>
                </a:solidFill>
                <a:latin typeface="Avenir Next" pitchFamily="34" charset="0"/>
                <a:ea typeface="Avenir Next" pitchFamily="34" charset="-122"/>
                <a:cs typeface="Avenir Next" pitchFamily="34" charset="-120"/>
              </a:rPr>
              <a:t>HDFS loaded in 47 s</a:t>
            </a:r>
            <a:endParaRPr lang="en-US" sz="1200" dirty="0"/>
          </a:p>
        </p:txBody>
      </p:sp>
      <p:sp>
        <p:nvSpPr>
          <p:cNvPr id="27" name="Shape 16"/>
          <p:cNvSpPr/>
          <p:nvPr/>
        </p:nvSpPr>
        <p:spPr>
          <a:xfrm>
            <a:off x="3264408" y="2971800"/>
            <a:ext cx="2624328" cy="1463040"/>
          </a:xfrm>
          <a:prstGeom prst="roundRect">
            <a:avLst>
              <a:gd name="adj" fmla="val 8750"/>
            </a:avLst>
          </a:prstGeom>
          <a:solidFill>
            <a:srgbClr val="F1ECFD"/>
          </a:solidFill>
          <a:ln/>
        </p:spPr>
      </p:sp>
      <p:pic>
        <p:nvPicPr>
          <p:cNvPr id="28" name="Image 9" descr="preencoded.png">    </p:cNvPr>
          <p:cNvPicPr>
            <a:picLocks noChangeAspect="1"/>
          </p:cNvPicPr>
          <p:nvPr/>
        </p:nvPicPr>
        <p:blipFill>
          <a:blip r:embed="rId10"/>
          <a:stretch>
            <a:fillRect/>
          </a:stretch>
        </p:blipFill>
        <p:spPr>
          <a:xfrm>
            <a:off x="3493008" y="3246120"/>
            <a:ext cx="420624" cy="420624"/>
          </a:xfrm>
          <a:prstGeom prst="rect">
            <a:avLst/>
          </a:prstGeom>
        </p:spPr>
      </p:pic>
      <p:pic>
        <p:nvPicPr>
          <p:cNvPr id="29" name="Image 10" descr="preencoded.png">    </p:cNvPr>
          <p:cNvPicPr>
            <a:picLocks noChangeAspect="1"/>
          </p:cNvPicPr>
          <p:nvPr/>
        </p:nvPicPr>
        <p:blipFill>
          <a:blip r:embed="rId11"/>
          <a:stretch>
            <a:fillRect/>
          </a:stretch>
        </p:blipFill>
        <p:spPr>
          <a:xfrm>
            <a:off x="3602370" y="3355482"/>
            <a:ext cx="201900" cy="201900"/>
          </a:xfrm>
          <a:prstGeom prst="rect">
            <a:avLst/>
          </a:prstGeom>
        </p:spPr>
      </p:pic>
      <p:sp>
        <p:nvSpPr>
          <p:cNvPr id="30" name="Text 17"/>
          <p:cNvSpPr/>
          <p:nvPr/>
        </p:nvSpPr>
        <p:spPr>
          <a:xfrm>
            <a:off x="4041648" y="3218688"/>
            <a:ext cx="1783080" cy="457200"/>
          </a:xfrm>
          <a:prstGeom prst="rect">
            <a:avLst/>
          </a:prstGeom>
          <a:noFill/>
          <a:ln/>
        </p:spPr>
        <p:txBody>
          <a:bodyPr wrap="square" lIns="0" tIns="0" rIns="0" bIns="0" rtlCol="0" anchor="ctr"/>
          <a:lstStyle/>
          <a:p>
            <a:pPr indent="0" marL="0">
              <a:buNone/>
            </a:pPr>
            <a:r>
              <a:rPr lang="en-US" sz="1400" b="1" dirty="0">
                <a:solidFill>
                  <a:srgbClr val="11121D"/>
                </a:solidFill>
                <a:latin typeface="Avenir Next" pitchFamily="34" charset="0"/>
                <a:ea typeface="Avenir Next" pitchFamily="34" charset="-122"/>
                <a:cs typeface="Avenir Next" pitchFamily="34" charset="-120"/>
              </a:rPr>
              <a:t>Blind evaluation</a:t>
            </a:r>
            <a:endParaRPr lang="en-US" sz="1400" dirty="0"/>
          </a:p>
        </p:txBody>
      </p:sp>
      <p:sp>
        <p:nvSpPr>
          <p:cNvPr id="31" name="Text 18"/>
          <p:cNvSpPr/>
          <p:nvPr/>
        </p:nvSpPr>
        <p:spPr>
          <a:xfrm>
            <a:off x="3493008" y="3840480"/>
            <a:ext cx="2240280" cy="457200"/>
          </a:xfrm>
          <a:prstGeom prst="rect">
            <a:avLst/>
          </a:prstGeom>
          <a:noFill/>
          <a:ln/>
        </p:spPr>
        <p:txBody>
          <a:bodyPr wrap="square" lIns="0" tIns="0" rIns="0" bIns="0" rtlCol="0" anchor="t"/>
          <a:lstStyle/>
          <a:p>
            <a:pPr indent="0" marL="0">
              <a:buNone/>
            </a:pPr>
            <a:r>
              <a:rPr lang="en-US" sz="1200" dirty="0">
                <a:solidFill>
                  <a:srgbClr val="3A3F55"/>
                </a:solidFill>
                <a:latin typeface="Avenir Next" pitchFamily="34" charset="0"/>
                <a:ea typeface="Avenir Next" pitchFamily="34" charset="-122"/>
                <a:cs typeface="Avenir Next" pitchFamily="34" charset="-120"/>
              </a:rPr>
              <a:t>50 answer keys + dashboard</a:t>
            </a:r>
            <a:endParaRPr lang="en-US" sz="1200" dirty="0"/>
          </a:p>
        </p:txBody>
      </p:sp>
      <p:sp>
        <p:nvSpPr>
          <p:cNvPr id="32" name="Shape 19"/>
          <p:cNvSpPr/>
          <p:nvPr/>
        </p:nvSpPr>
        <p:spPr>
          <a:xfrm>
            <a:off x="6071616" y="2971800"/>
            <a:ext cx="2624328" cy="1463040"/>
          </a:xfrm>
          <a:prstGeom prst="roundRect">
            <a:avLst>
              <a:gd name="adj" fmla="val 8750"/>
            </a:avLst>
          </a:prstGeom>
          <a:solidFill>
            <a:srgbClr val="F0F2F5"/>
          </a:solidFill>
          <a:ln/>
        </p:spPr>
      </p:sp>
      <p:pic>
        <p:nvPicPr>
          <p:cNvPr id="33" name="Image 11" descr="preencoded.png">    </p:cNvPr>
          <p:cNvPicPr>
            <a:picLocks noChangeAspect="1"/>
          </p:cNvPicPr>
          <p:nvPr/>
        </p:nvPicPr>
        <p:blipFill>
          <a:blip r:embed="rId12"/>
          <a:stretch>
            <a:fillRect/>
          </a:stretch>
        </p:blipFill>
        <p:spPr>
          <a:xfrm>
            <a:off x="6300216" y="3246120"/>
            <a:ext cx="420624" cy="420624"/>
          </a:xfrm>
          <a:prstGeom prst="rect">
            <a:avLst/>
          </a:prstGeom>
        </p:spPr>
      </p:pic>
      <p:pic>
        <p:nvPicPr>
          <p:cNvPr id="34" name="Image 12" descr="preencoded.png">    </p:cNvPr>
          <p:cNvPicPr>
            <a:picLocks noChangeAspect="1"/>
          </p:cNvPicPr>
          <p:nvPr/>
        </p:nvPicPr>
        <p:blipFill>
          <a:blip r:embed="rId13"/>
          <a:stretch>
            <a:fillRect/>
          </a:stretch>
        </p:blipFill>
        <p:spPr>
          <a:xfrm>
            <a:off x="6409578" y="3355482"/>
            <a:ext cx="201900" cy="201900"/>
          </a:xfrm>
          <a:prstGeom prst="rect">
            <a:avLst/>
          </a:prstGeom>
        </p:spPr>
      </p:pic>
      <p:sp>
        <p:nvSpPr>
          <p:cNvPr id="35" name="Text 20"/>
          <p:cNvSpPr/>
          <p:nvPr/>
        </p:nvSpPr>
        <p:spPr>
          <a:xfrm>
            <a:off x="6848856" y="3218688"/>
            <a:ext cx="1783080" cy="457200"/>
          </a:xfrm>
          <a:prstGeom prst="rect">
            <a:avLst/>
          </a:prstGeom>
          <a:noFill/>
          <a:ln/>
        </p:spPr>
        <p:txBody>
          <a:bodyPr wrap="square" lIns="0" tIns="0" rIns="0" bIns="0" rtlCol="0" anchor="ctr"/>
          <a:lstStyle/>
          <a:p>
            <a:pPr indent="0" marL="0">
              <a:buNone/>
            </a:pPr>
            <a:r>
              <a:rPr lang="en-US" sz="1400" b="1" dirty="0">
                <a:solidFill>
                  <a:srgbClr val="11121D"/>
                </a:solidFill>
                <a:latin typeface="Avenir Next" pitchFamily="34" charset="0"/>
                <a:ea typeface="Avenir Next" pitchFamily="34" charset="-122"/>
                <a:cs typeface="Avenir Next" pitchFamily="34" charset="-120"/>
              </a:rPr>
              <a:t>Fully reproducible</a:t>
            </a:r>
            <a:endParaRPr lang="en-US" sz="1400" dirty="0"/>
          </a:p>
        </p:txBody>
      </p:sp>
      <p:sp>
        <p:nvSpPr>
          <p:cNvPr id="36" name="Text 21"/>
          <p:cNvSpPr/>
          <p:nvPr/>
        </p:nvSpPr>
        <p:spPr>
          <a:xfrm>
            <a:off x="6300216" y="3840480"/>
            <a:ext cx="2240280" cy="457200"/>
          </a:xfrm>
          <a:prstGeom prst="rect">
            <a:avLst/>
          </a:prstGeom>
          <a:noFill/>
          <a:ln/>
        </p:spPr>
        <p:txBody>
          <a:bodyPr wrap="square" lIns="0" tIns="0" rIns="0" bIns="0" rtlCol="0" anchor="t"/>
          <a:lstStyle/>
          <a:p>
            <a:pPr indent="0" marL="0">
              <a:buNone/>
            </a:pPr>
            <a:r>
              <a:rPr lang="en-US" sz="1200" dirty="0">
                <a:solidFill>
                  <a:srgbClr val="3A3F55"/>
                </a:solidFill>
                <a:latin typeface="Avenir Next" pitchFamily="34" charset="0"/>
                <a:ea typeface="Avenir Next" pitchFamily="34" charset="-122"/>
                <a:cs typeface="Avenir Next" pitchFamily="34" charset="-120"/>
              </a:rPr>
              <a:t>--fresh reruns Jev live, same result</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4736592"/>
            <a:ext cx="146304" cy="146304"/>
          </a:xfrm>
          <a:prstGeom prst="rect">
            <a:avLst/>
          </a:prstGeom>
        </p:spPr>
      </p:pic>
      <p:sp>
        <p:nvSpPr>
          <p:cNvPr id="3" name="Text 0"/>
          <p:cNvSpPr/>
          <p:nvPr/>
        </p:nvSpPr>
        <p:spPr>
          <a:xfrm>
            <a:off x="676656" y="4700016"/>
            <a:ext cx="5486400" cy="228600"/>
          </a:xfrm>
          <a:prstGeom prst="rect">
            <a:avLst/>
          </a:prstGeom>
          <a:noFill/>
          <a:ln/>
        </p:spPr>
        <p:txBody>
          <a:bodyPr wrap="square" lIns="0" tIns="0" rIns="0" bIns="0" rtlCol="0" anchor="ctr"/>
          <a:lstStyle/>
          <a:p>
            <a:pPr indent="0" marL="0">
              <a:buNone/>
            </a:pPr>
            <a:r>
              <a:rPr lang="en-US" sz="900" dirty="0">
                <a:solidFill>
                  <a:srgbClr val="6B7386"/>
                </a:solidFill>
                <a:latin typeface="Avenir Next" pitchFamily="34" charset="0"/>
                <a:ea typeface="Avenir Next" pitchFamily="34" charset="-122"/>
                <a:cs typeface="Avenir Next" pitchFamily="34" charset="-120"/>
              </a:rPr>
              <a:t>Making Sense of Logs  ·  Scale</a:t>
            </a:r>
            <a:endParaRPr lang="en-US" sz="900" dirty="0"/>
          </a:p>
        </p:txBody>
      </p:sp>
      <p:sp>
        <p:nvSpPr>
          <p:cNvPr id="4" name="Text 1"/>
          <p:cNvSpPr/>
          <p:nvPr/>
        </p:nvSpPr>
        <p:spPr>
          <a:xfrm>
            <a:off x="7772400" y="4700016"/>
            <a:ext cx="914400" cy="228600"/>
          </a:xfrm>
          <a:prstGeom prst="rect">
            <a:avLst/>
          </a:prstGeom>
          <a:noFill/>
          <a:ln/>
        </p:spPr>
        <p:txBody>
          <a:bodyPr wrap="square" lIns="0" tIns="0" rIns="0" bIns="0" rtlCol="0" anchor="ctr"/>
          <a:lstStyle/>
          <a:p>
            <a:pPr algn="r" indent="0" marL="0">
              <a:buNone/>
            </a:pPr>
            <a:r>
              <a:rPr lang="en-US" sz="900" dirty="0">
                <a:solidFill>
                  <a:srgbClr val="6B7386"/>
                </a:solidFill>
                <a:latin typeface="Avenir Next" pitchFamily="34" charset="0"/>
                <a:ea typeface="Avenir Next" pitchFamily="34" charset="-122"/>
                <a:cs typeface="Avenir Next" pitchFamily="34" charset="-120"/>
              </a:rPr>
              <a:t>13</a:t>
            </a:r>
            <a:endParaRPr lang="en-US" sz="900" dirty="0"/>
          </a:p>
        </p:txBody>
      </p:sp>
      <p:sp>
        <p:nvSpPr>
          <p:cNvPr id="5" name="Text 2"/>
          <p:cNvSpPr/>
          <p:nvPr/>
        </p:nvSpPr>
        <p:spPr>
          <a:xfrm>
            <a:off x="457200" y="320040"/>
            <a:ext cx="8229600" cy="228600"/>
          </a:xfrm>
          <a:prstGeom prst="rect">
            <a:avLst/>
          </a:prstGeom>
          <a:noFill/>
          <a:ln/>
        </p:spPr>
        <p:txBody>
          <a:bodyPr wrap="square" lIns="0" tIns="0" rIns="0" bIns="0" rtlCol="0" anchor="ctr"/>
          <a:lstStyle/>
          <a:p>
            <a:pPr indent="0" marL="0">
              <a:buNone/>
            </a:pPr>
            <a:r>
              <a:rPr lang="en-US" sz="1000" b="1" spc="300" kern="0" dirty="0">
                <a:solidFill>
                  <a:srgbClr val="6A4BD8"/>
                </a:solidFill>
                <a:latin typeface="Avenir Next" pitchFamily="34" charset="0"/>
                <a:ea typeface="Avenir Next" pitchFamily="34" charset="-122"/>
                <a:cs typeface="Avenir Next" pitchFamily="34" charset="-120"/>
              </a:rPr>
              <a:t>SCALE</a:t>
            </a:r>
            <a:endParaRPr lang="en-US" sz="1000" dirty="0"/>
          </a:p>
        </p:txBody>
      </p:sp>
      <p:sp>
        <p:nvSpPr>
          <p:cNvPr id="6" name="Text 3"/>
          <p:cNvSpPr/>
          <p:nvPr/>
        </p:nvSpPr>
        <p:spPr>
          <a:xfrm>
            <a:off x="457200" y="566928"/>
            <a:ext cx="8229600" cy="594360"/>
          </a:xfrm>
          <a:prstGeom prst="rect">
            <a:avLst/>
          </a:prstGeom>
          <a:noFill/>
          <a:ln/>
        </p:spPr>
        <p:txBody>
          <a:bodyPr wrap="square" lIns="0" tIns="0" rIns="0" bIns="0" rtlCol="0" anchor="ctr"/>
          <a:lstStyle/>
          <a:p>
            <a:pPr indent="0" marL="0">
              <a:buNone/>
            </a:pPr>
            <a:r>
              <a:rPr lang="en-US" sz="2800" b="1" dirty="0">
                <a:solidFill>
                  <a:srgbClr val="11121D"/>
                </a:solidFill>
                <a:latin typeface="Avenir Next" pitchFamily="34" charset="0"/>
                <a:ea typeface="Avenir Next" pitchFamily="34" charset="-122"/>
                <a:cs typeface="Avenir Next" pitchFamily="34" charset="-120"/>
              </a:rPr>
              <a:t>Where it goes next</a:t>
            </a:r>
            <a:endParaRPr lang="en-US" sz="2800" dirty="0"/>
          </a:p>
        </p:txBody>
      </p:sp>
      <p:sp>
        <p:nvSpPr>
          <p:cNvPr id="7" name="Shape 4"/>
          <p:cNvSpPr/>
          <p:nvPr/>
        </p:nvSpPr>
        <p:spPr>
          <a:xfrm>
            <a:off x="457200" y="1417320"/>
            <a:ext cx="2621280" cy="1783080"/>
          </a:xfrm>
          <a:prstGeom prst="roundRect">
            <a:avLst>
              <a:gd name="adj" fmla="val 7179"/>
            </a:avLst>
          </a:prstGeom>
          <a:solidFill>
            <a:srgbClr val="F0F2F5"/>
          </a:solidFill>
          <a:ln/>
        </p:spPr>
      </p:sp>
      <p:pic>
        <p:nvPicPr>
          <p:cNvPr id="8" name="Image 1" descr="preencoded.png">    </p:cNvPr>
          <p:cNvPicPr>
            <a:picLocks noChangeAspect="1"/>
          </p:cNvPicPr>
          <p:nvPr/>
        </p:nvPicPr>
        <p:blipFill>
          <a:blip r:embed="rId2"/>
          <a:stretch>
            <a:fillRect/>
          </a:stretch>
        </p:blipFill>
        <p:spPr>
          <a:xfrm>
            <a:off x="713232" y="1691640"/>
            <a:ext cx="502920" cy="502920"/>
          </a:xfrm>
          <a:prstGeom prst="rect">
            <a:avLst/>
          </a:prstGeom>
        </p:spPr>
      </p:pic>
      <p:pic>
        <p:nvPicPr>
          <p:cNvPr id="9" name="Image 2" descr="preencoded.png">    </p:cNvPr>
          <p:cNvPicPr>
            <a:picLocks noChangeAspect="1"/>
          </p:cNvPicPr>
          <p:nvPr/>
        </p:nvPicPr>
        <p:blipFill>
          <a:blip r:embed="rId3"/>
          <a:stretch>
            <a:fillRect/>
          </a:stretch>
        </p:blipFill>
        <p:spPr>
          <a:xfrm>
            <a:off x="843991" y="1822399"/>
            <a:ext cx="241402" cy="241402"/>
          </a:xfrm>
          <a:prstGeom prst="rect">
            <a:avLst/>
          </a:prstGeom>
        </p:spPr>
      </p:pic>
      <p:sp>
        <p:nvSpPr>
          <p:cNvPr id="10" name="Text 5"/>
          <p:cNvSpPr/>
          <p:nvPr/>
        </p:nvSpPr>
        <p:spPr>
          <a:xfrm>
            <a:off x="713232" y="2377440"/>
            <a:ext cx="2164080" cy="411480"/>
          </a:xfrm>
          <a:prstGeom prst="rect">
            <a:avLst/>
          </a:prstGeom>
          <a:noFill/>
          <a:ln/>
        </p:spPr>
        <p:txBody>
          <a:bodyPr wrap="square" lIns="0" tIns="0" rIns="0" bIns="0" rtlCol="0" anchor="t"/>
          <a:lstStyle/>
          <a:p>
            <a:pPr indent="0" marL="0">
              <a:buNone/>
            </a:pPr>
            <a:r>
              <a:rPr lang="en-US" sz="1600" b="1" dirty="0">
                <a:solidFill>
                  <a:srgbClr val="11121D"/>
                </a:solidFill>
                <a:latin typeface="Avenir Next" pitchFamily="34" charset="0"/>
                <a:ea typeface="Avenir Next" pitchFamily="34" charset="-122"/>
                <a:cs typeface="Avenir Next" pitchFamily="34" charset="-120"/>
              </a:rPr>
              <a:t>Mittelstand</a:t>
            </a:r>
            <a:endParaRPr lang="en-US" sz="1600" dirty="0"/>
          </a:p>
        </p:txBody>
      </p:sp>
      <p:sp>
        <p:nvSpPr>
          <p:cNvPr id="11" name="Text 6"/>
          <p:cNvSpPr/>
          <p:nvPr/>
        </p:nvSpPr>
        <p:spPr>
          <a:xfrm>
            <a:off x="713232" y="2788920"/>
            <a:ext cx="2164080" cy="274320"/>
          </a:xfrm>
          <a:prstGeom prst="rect">
            <a:avLst/>
          </a:prstGeom>
          <a:noFill/>
          <a:ln/>
        </p:spPr>
        <p:txBody>
          <a:bodyPr wrap="square" lIns="0" tIns="0" rIns="0" bIns="0" rtlCol="0" anchor="t"/>
          <a:lstStyle/>
          <a:p>
            <a:pPr indent="0" marL="0">
              <a:buNone/>
            </a:pPr>
            <a:r>
              <a:rPr lang="en-US" sz="1300" dirty="0">
                <a:solidFill>
                  <a:srgbClr val="3A3F55"/>
                </a:solidFill>
                <a:latin typeface="Avenir Next" pitchFamily="34" charset="0"/>
                <a:ea typeface="Avenir Next" pitchFamily="34" charset="-122"/>
                <a:cs typeface="Avenir Next" pitchFamily="34" charset="-120"/>
              </a:rPr>
              <a:t>production and IT logs</a:t>
            </a:r>
            <a:endParaRPr lang="en-US" sz="1300" dirty="0"/>
          </a:p>
        </p:txBody>
      </p:sp>
      <p:sp>
        <p:nvSpPr>
          <p:cNvPr id="12" name="Shape 7"/>
          <p:cNvSpPr/>
          <p:nvPr/>
        </p:nvSpPr>
        <p:spPr>
          <a:xfrm>
            <a:off x="3261360" y="1417320"/>
            <a:ext cx="2621280" cy="1783080"/>
          </a:xfrm>
          <a:prstGeom prst="roundRect">
            <a:avLst>
              <a:gd name="adj" fmla="val 7179"/>
            </a:avLst>
          </a:prstGeom>
          <a:solidFill>
            <a:srgbClr val="F0F2F5"/>
          </a:solidFill>
          <a:ln/>
        </p:spPr>
      </p:sp>
      <p:pic>
        <p:nvPicPr>
          <p:cNvPr id="13" name="Image 3" descr="preencoded.png">    </p:cNvPr>
          <p:cNvPicPr>
            <a:picLocks noChangeAspect="1"/>
          </p:cNvPicPr>
          <p:nvPr/>
        </p:nvPicPr>
        <p:blipFill>
          <a:blip r:embed="rId4"/>
          <a:stretch>
            <a:fillRect/>
          </a:stretch>
        </p:blipFill>
        <p:spPr>
          <a:xfrm>
            <a:off x="3517392" y="1691640"/>
            <a:ext cx="502920" cy="502920"/>
          </a:xfrm>
          <a:prstGeom prst="rect">
            <a:avLst/>
          </a:prstGeom>
        </p:spPr>
      </p:pic>
      <p:pic>
        <p:nvPicPr>
          <p:cNvPr id="14" name="Image 4" descr="preencoded.png">    </p:cNvPr>
          <p:cNvPicPr>
            <a:picLocks noChangeAspect="1"/>
          </p:cNvPicPr>
          <p:nvPr/>
        </p:nvPicPr>
        <p:blipFill>
          <a:blip r:embed="rId5"/>
          <a:stretch>
            <a:fillRect/>
          </a:stretch>
        </p:blipFill>
        <p:spPr>
          <a:xfrm>
            <a:off x="3648151" y="1822399"/>
            <a:ext cx="241402" cy="241402"/>
          </a:xfrm>
          <a:prstGeom prst="rect">
            <a:avLst/>
          </a:prstGeom>
        </p:spPr>
      </p:pic>
      <p:sp>
        <p:nvSpPr>
          <p:cNvPr id="15" name="Text 8"/>
          <p:cNvSpPr/>
          <p:nvPr/>
        </p:nvSpPr>
        <p:spPr>
          <a:xfrm>
            <a:off x="3517392" y="2377440"/>
            <a:ext cx="2164080" cy="411480"/>
          </a:xfrm>
          <a:prstGeom prst="rect">
            <a:avLst/>
          </a:prstGeom>
          <a:noFill/>
          <a:ln/>
        </p:spPr>
        <p:txBody>
          <a:bodyPr wrap="square" lIns="0" tIns="0" rIns="0" bIns="0" rtlCol="0" anchor="t"/>
          <a:lstStyle/>
          <a:p>
            <a:pPr indent="0" marL="0">
              <a:buNone/>
            </a:pPr>
            <a:r>
              <a:rPr lang="en-US" sz="1600" b="1" dirty="0">
                <a:solidFill>
                  <a:srgbClr val="11121D"/>
                </a:solidFill>
                <a:latin typeface="Avenir Next" pitchFamily="34" charset="0"/>
                <a:ea typeface="Avenir Next" pitchFamily="34" charset="-122"/>
                <a:cs typeface="Avenir Next" pitchFamily="34" charset="-120"/>
              </a:rPr>
              <a:t>Other industries</a:t>
            </a:r>
            <a:endParaRPr lang="en-US" sz="1600" dirty="0"/>
          </a:p>
        </p:txBody>
      </p:sp>
      <p:sp>
        <p:nvSpPr>
          <p:cNvPr id="16" name="Text 9"/>
          <p:cNvSpPr/>
          <p:nvPr/>
        </p:nvSpPr>
        <p:spPr>
          <a:xfrm>
            <a:off x="3517392" y="2788920"/>
            <a:ext cx="2164080" cy="274320"/>
          </a:xfrm>
          <a:prstGeom prst="rect">
            <a:avLst/>
          </a:prstGeom>
          <a:noFill/>
          <a:ln/>
        </p:spPr>
        <p:txBody>
          <a:bodyPr wrap="square" lIns="0" tIns="0" rIns="0" bIns="0" rtlCol="0" anchor="t"/>
          <a:lstStyle/>
          <a:p>
            <a:pPr indent="0" marL="0">
              <a:buNone/>
            </a:pPr>
            <a:r>
              <a:rPr lang="en-US" sz="1300" dirty="0">
                <a:solidFill>
                  <a:srgbClr val="3A3F55"/>
                </a:solidFill>
                <a:latin typeface="Avenir Next" pitchFamily="34" charset="0"/>
                <a:ea typeface="Avenir Next" pitchFamily="34" charset="-122"/>
                <a:cs typeface="Avenir Next" pitchFamily="34" charset="-120"/>
              </a:rPr>
              <a:t>anything that writes logs</a:t>
            </a:r>
            <a:endParaRPr lang="en-US" sz="1300" dirty="0"/>
          </a:p>
        </p:txBody>
      </p:sp>
      <p:sp>
        <p:nvSpPr>
          <p:cNvPr id="17" name="Shape 10"/>
          <p:cNvSpPr/>
          <p:nvPr/>
        </p:nvSpPr>
        <p:spPr>
          <a:xfrm>
            <a:off x="6065520" y="1417320"/>
            <a:ext cx="2621280" cy="1783080"/>
          </a:xfrm>
          <a:prstGeom prst="roundRect">
            <a:avLst>
              <a:gd name="adj" fmla="val 7179"/>
            </a:avLst>
          </a:prstGeom>
          <a:solidFill>
            <a:srgbClr val="F0F2F5"/>
          </a:solidFill>
          <a:ln/>
        </p:spPr>
      </p:sp>
      <p:pic>
        <p:nvPicPr>
          <p:cNvPr id="18" name="Image 5" descr="preencoded.png">    </p:cNvPr>
          <p:cNvPicPr>
            <a:picLocks noChangeAspect="1"/>
          </p:cNvPicPr>
          <p:nvPr/>
        </p:nvPicPr>
        <p:blipFill>
          <a:blip r:embed="rId6"/>
          <a:stretch>
            <a:fillRect/>
          </a:stretch>
        </p:blipFill>
        <p:spPr>
          <a:xfrm>
            <a:off x="6321552" y="1691640"/>
            <a:ext cx="502920" cy="502920"/>
          </a:xfrm>
          <a:prstGeom prst="rect">
            <a:avLst/>
          </a:prstGeom>
        </p:spPr>
      </p:pic>
      <p:pic>
        <p:nvPicPr>
          <p:cNvPr id="19" name="Image 6" descr="preencoded.png">    </p:cNvPr>
          <p:cNvPicPr>
            <a:picLocks noChangeAspect="1"/>
          </p:cNvPicPr>
          <p:nvPr/>
        </p:nvPicPr>
        <p:blipFill>
          <a:blip r:embed="rId7"/>
          <a:stretch>
            <a:fillRect/>
          </a:stretch>
        </p:blipFill>
        <p:spPr>
          <a:xfrm>
            <a:off x="6452311" y="1822399"/>
            <a:ext cx="241402" cy="241402"/>
          </a:xfrm>
          <a:prstGeom prst="rect">
            <a:avLst/>
          </a:prstGeom>
        </p:spPr>
      </p:pic>
      <p:sp>
        <p:nvSpPr>
          <p:cNvPr id="20" name="Text 11"/>
          <p:cNvSpPr/>
          <p:nvPr/>
        </p:nvSpPr>
        <p:spPr>
          <a:xfrm>
            <a:off x="6321552" y="2377440"/>
            <a:ext cx="2164080" cy="411480"/>
          </a:xfrm>
          <a:prstGeom prst="rect">
            <a:avLst/>
          </a:prstGeom>
          <a:noFill/>
          <a:ln/>
        </p:spPr>
        <p:txBody>
          <a:bodyPr wrap="square" lIns="0" tIns="0" rIns="0" bIns="0" rtlCol="0" anchor="t"/>
          <a:lstStyle/>
          <a:p>
            <a:pPr indent="0" marL="0">
              <a:buNone/>
            </a:pPr>
            <a:r>
              <a:rPr lang="en-US" sz="1600" b="1" dirty="0">
                <a:solidFill>
                  <a:srgbClr val="11121D"/>
                </a:solidFill>
                <a:latin typeface="Avenir Next" pitchFamily="34" charset="0"/>
                <a:ea typeface="Avenir Next" pitchFamily="34" charset="-122"/>
                <a:cs typeface="Avenir Next" pitchFamily="34" charset="-120"/>
              </a:rPr>
              <a:t>A product</a:t>
            </a:r>
            <a:endParaRPr lang="en-US" sz="1600" dirty="0"/>
          </a:p>
        </p:txBody>
      </p:sp>
      <p:sp>
        <p:nvSpPr>
          <p:cNvPr id="21" name="Text 12"/>
          <p:cNvSpPr/>
          <p:nvPr/>
        </p:nvSpPr>
        <p:spPr>
          <a:xfrm>
            <a:off x="6321552" y="2788920"/>
            <a:ext cx="2164080" cy="274320"/>
          </a:xfrm>
          <a:prstGeom prst="rect">
            <a:avLst/>
          </a:prstGeom>
          <a:noFill/>
          <a:ln/>
        </p:spPr>
        <p:txBody>
          <a:bodyPr wrap="square" lIns="0" tIns="0" rIns="0" bIns="0" rtlCol="0" anchor="t"/>
          <a:lstStyle/>
          <a:p>
            <a:pPr indent="0" marL="0">
              <a:buNone/>
            </a:pPr>
            <a:r>
              <a:rPr lang="en-US" sz="1300" dirty="0">
                <a:solidFill>
                  <a:srgbClr val="3A3F55"/>
                </a:solidFill>
                <a:latin typeface="Avenir Next" pitchFamily="34" charset="0"/>
                <a:ea typeface="Avenir Next" pitchFamily="34" charset="-122"/>
                <a:cs typeface="Avenir Next" pitchFamily="34" charset="-120"/>
              </a:rPr>
              <a:t>a self-hosted log copilot</a:t>
            </a:r>
            <a:endParaRPr lang="en-US" sz="1300" dirty="0"/>
          </a:p>
        </p:txBody>
      </p:sp>
      <p:pic>
        <p:nvPicPr>
          <p:cNvPr id="22" name="Image 7" descr="preencoded.png">    </p:cNvPr>
          <p:cNvPicPr>
            <a:picLocks noChangeAspect="1"/>
          </p:cNvPicPr>
          <p:nvPr/>
        </p:nvPicPr>
        <p:blipFill>
          <a:blip r:embed="rId8"/>
          <a:stretch>
            <a:fillRect/>
          </a:stretch>
        </p:blipFill>
        <p:spPr>
          <a:xfrm>
            <a:off x="457200" y="3429000"/>
            <a:ext cx="8229600" cy="1097280"/>
          </a:xfrm>
          <a:prstGeom prst="rect">
            <a:avLst/>
          </a:prstGeom>
        </p:spPr>
      </p:pic>
      <p:sp>
        <p:nvSpPr>
          <p:cNvPr id="23" name="Text 13"/>
          <p:cNvSpPr/>
          <p:nvPr/>
        </p:nvSpPr>
        <p:spPr>
          <a:xfrm>
            <a:off x="777240" y="3520440"/>
            <a:ext cx="2468880" cy="502920"/>
          </a:xfrm>
          <a:prstGeom prst="rect">
            <a:avLst/>
          </a:prstGeom>
          <a:noFill/>
          <a:ln/>
        </p:spPr>
        <p:txBody>
          <a:bodyPr wrap="square" lIns="0" tIns="0" rIns="0" bIns="0" rtlCol="0" anchor="ctr"/>
          <a:lstStyle/>
          <a:p>
            <a:pPr indent="0" marL="0">
              <a:buNone/>
            </a:pPr>
            <a:r>
              <a:rPr lang="en-US" sz="2800" b="1" dirty="0">
                <a:solidFill>
                  <a:srgbClr val="FFFFFF"/>
                </a:solidFill>
                <a:latin typeface="Avenir Next" pitchFamily="34" charset="0"/>
                <a:ea typeface="Avenir Next" pitchFamily="34" charset="-122"/>
                <a:cs typeface="Avenir Next" pitchFamily="34" charset="-120"/>
              </a:rPr>
              <a:t>10</a:t>
            </a:r>
            <a:endParaRPr lang="en-US" sz="2800" dirty="0"/>
          </a:p>
        </p:txBody>
      </p:sp>
      <p:sp>
        <p:nvSpPr>
          <p:cNvPr id="24" name="Text 14"/>
          <p:cNvSpPr/>
          <p:nvPr/>
        </p:nvSpPr>
        <p:spPr>
          <a:xfrm>
            <a:off x="777240" y="4023360"/>
            <a:ext cx="2468880" cy="365760"/>
          </a:xfrm>
          <a:prstGeom prst="rect">
            <a:avLst/>
          </a:prstGeom>
          <a:noFill/>
          <a:ln/>
        </p:spPr>
        <p:txBody>
          <a:bodyPr wrap="square" lIns="0" tIns="0" rIns="0" bIns="0" rtlCol="0" anchor="ctr"/>
          <a:lstStyle/>
          <a:p>
            <a:pPr indent="0" marL="0">
              <a:buNone/>
            </a:pPr>
            <a:r>
              <a:rPr lang="en-US" sz="1200" dirty="0">
                <a:solidFill>
                  <a:srgbClr val="EDE7FF"/>
                </a:solidFill>
                <a:latin typeface="Avenir Next" pitchFamily="34" charset="0"/>
                <a:ea typeface="Avenir Next" pitchFamily="34" charset="-122"/>
                <a:cs typeface="Avenir Next" pitchFamily="34" charset="-120"/>
              </a:rPr>
              <a:t>log types, no code change</a:t>
            </a:r>
            <a:endParaRPr lang="en-US" sz="1200" dirty="0"/>
          </a:p>
        </p:txBody>
      </p:sp>
      <p:sp>
        <p:nvSpPr>
          <p:cNvPr id="25" name="Text 15"/>
          <p:cNvSpPr/>
          <p:nvPr/>
        </p:nvSpPr>
        <p:spPr>
          <a:xfrm>
            <a:off x="3520440" y="3520440"/>
            <a:ext cx="2468880" cy="502920"/>
          </a:xfrm>
          <a:prstGeom prst="rect">
            <a:avLst/>
          </a:prstGeom>
          <a:noFill/>
          <a:ln/>
        </p:spPr>
        <p:txBody>
          <a:bodyPr wrap="square" lIns="0" tIns="0" rIns="0" bIns="0" rtlCol="0" anchor="ctr"/>
          <a:lstStyle/>
          <a:p>
            <a:pPr indent="0" marL="0">
              <a:buNone/>
            </a:pPr>
            <a:r>
              <a:rPr lang="en-US" sz="2800" b="1" dirty="0">
                <a:solidFill>
                  <a:srgbClr val="FFFFFF"/>
                </a:solidFill>
                <a:latin typeface="Avenir Next" pitchFamily="34" charset="0"/>
                <a:ea typeface="Avenir Next" pitchFamily="34" charset="-122"/>
                <a:cs typeface="Avenir Next" pitchFamily="34" charset="-120"/>
              </a:rPr>
              <a:t>≈ 5 ¢</a:t>
            </a:r>
            <a:endParaRPr lang="en-US" sz="2800" dirty="0"/>
          </a:p>
        </p:txBody>
      </p:sp>
      <p:sp>
        <p:nvSpPr>
          <p:cNvPr id="26" name="Text 16"/>
          <p:cNvSpPr/>
          <p:nvPr/>
        </p:nvSpPr>
        <p:spPr>
          <a:xfrm>
            <a:off x="3520440" y="4023360"/>
            <a:ext cx="2468880" cy="365760"/>
          </a:xfrm>
          <a:prstGeom prst="rect">
            <a:avLst/>
          </a:prstGeom>
          <a:noFill/>
          <a:ln/>
        </p:spPr>
        <p:txBody>
          <a:bodyPr wrap="square" lIns="0" tIns="0" rIns="0" bIns="0" rtlCol="0" anchor="ctr"/>
          <a:lstStyle/>
          <a:p>
            <a:pPr indent="0" marL="0">
              <a:buNone/>
            </a:pPr>
            <a:r>
              <a:rPr lang="en-US" sz="1200" dirty="0">
                <a:solidFill>
                  <a:srgbClr val="EDE7FF"/>
                </a:solidFill>
                <a:latin typeface="Avenir Next" pitchFamily="34" charset="0"/>
                <a:ea typeface="Avenir Next" pitchFamily="34" charset="-122"/>
                <a:cs typeface="Avenir Next" pitchFamily="34" charset="-120"/>
              </a:rPr>
              <a:t>per answer</a:t>
            </a:r>
            <a:endParaRPr lang="en-US" sz="1200" dirty="0"/>
          </a:p>
        </p:txBody>
      </p:sp>
      <p:sp>
        <p:nvSpPr>
          <p:cNvPr id="27" name="Text 17"/>
          <p:cNvSpPr/>
          <p:nvPr/>
        </p:nvSpPr>
        <p:spPr>
          <a:xfrm>
            <a:off x="6263640" y="3520440"/>
            <a:ext cx="2468880" cy="502920"/>
          </a:xfrm>
          <a:prstGeom prst="rect">
            <a:avLst/>
          </a:prstGeom>
          <a:noFill/>
          <a:ln/>
        </p:spPr>
        <p:txBody>
          <a:bodyPr wrap="square" lIns="0" tIns="0" rIns="0" bIns="0" rtlCol="0" anchor="ctr"/>
          <a:lstStyle/>
          <a:p>
            <a:pPr indent="0" marL="0">
              <a:buNone/>
            </a:pPr>
            <a:r>
              <a:rPr lang="en-US" sz="2800" b="1" dirty="0">
                <a:solidFill>
                  <a:srgbClr val="FFFFFF"/>
                </a:solidFill>
                <a:latin typeface="Avenir Next" pitchFamily="34" charset="0"/>
                <a:ea typeface="Avenir Next" pitchFamily="34" charset="-122"/>
                <a:cs typeface="Avenir Next" pitchFamily="34" charset="-120"/>
              </a:rPr>
              <a:t>2 min</a:t>
            </a:r>
            <a:endParaRPr lang="en-US" sz="2800" dirty="0"/>
          </a:p>
        </p:txBody>
      </p:sp>
      <p:sp>
        <p:nvSpPr>
          <p:cNvPr id="28" name="Text 18"/>
          <p:cNvSpPr/>
          <p:nvPr/>
        </p:nvSpPr>
        <p:spPr>
          <a:xfrm>
            <a:off x="6263640" y="4023360"/>
            <a:ext cx="2468880" cy="365760"/>
          </a:xfrm>
          <a:prstGeom prst="rect">
            <a:avLst/>
          </a:prstGeom>
          <a:noFill/>
          <a:ln/>
        </p:spPr>
        <p:txBody>
          <a:bodyPr wrap="square" lIns="0" tIns="0" rIns="0" bIns="0" rtlCol="0" anchor="ctr"/>
          <a:lstStyle/>
          <a:p>
            <a:pPr indent="0" marL="0">
              <a:buNone/>
            </a:pPr>
            <a:r>
              <a:rPr lang="en-US" sz="1200" dirty="0">
                <a:solidFill>
                  <a:srgbClr val="EDE7FF"/>
                </a:solidFill>
                <a:latin typeface="Avenir Next" pitchFamily="34" charset="0"/>
                <a:ea typeface="Avenir Next" pitchFamily="34" charset="-122"/>
                <a:cs typeface="Avenir Next" pitchFamily="34" charset="-120"/>
              </a:rPr>
              <a:t>fresh install → answers</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457200"/>
            <a:ext cx="8229600" cy="4206240"/>
          </a:xfrm>
          <a:prstGeom prst="rect">
            <a:avLst/>
          </a:prstGeom>
        </p:spPr>
      </p:pic>
      <p:sp>
        <p:nvSpPr>
          <p:cNvPr id="3" name="Text 0"/>
          <p:cNvSpPr/>
          <p:nvPr/>
        </p:nvSpPr>
        <p:spPr>
          <a:xfrm>
            <a:off x="914400" y="868680"/>
            <a:ext cx="7315200" cy="640080"/>
          </a:xfrm>
          <a:prstGeom prst="rect">
            <a:avLst/>
          </a:prstGeom>
          <a:noFill/>
          <a:ln/>
        </p:spPr>
        <p:txBody>
          <a:bodyPr wrap="square" lIns="0" tIns="0" rIns="0" bIns="0" rtlCol="0" anchor="ctr"/>
          <a:lstStyle/>
          <a:p>
            <a:pPr indent="0" marL="0">
              <a:buNone/>
            </a:pPr>
            <a:r>
              <a:rPr lang="en-US" sz="3400" b="1" dirty="0">
                <a:solidFill>
                  <a:srgbClr val="FFFFFF"/>
                </a:solidFill>
                <a:latin typeface="Avenir Next" pitchFamily="34" charset="0"/>
                <a:ea typeface="Avenir Next" pitchFamily="34" charset="-122"/>
                <a:cs typeface="Avenir Next" pitchFamily="34" charset="-120"/>
              </a:rPr>
              <a:t>Try it in two minutes</a:t>
            </a:r>
            <a:endParaRPr lang="en-US" sz="3400" dirty="0"/>
          </a:p>
        </p:txBody>
      </p:sp>
      <p:sp>
        <p:nvSpPr>
          <p:cNvPr id="4" name="Shape 1"/>
          <p:cNvSpPr/>
          <p:nvPr/>
        </p:nvSpPr>
        <p:spPr>
          <a:xfrm>
            <a:off x="914400" y="1737360"/>
            <a:ext cx="7315200" cy="1463040"/>
          </a:xfrm>
          <a:prstGeom prst="roundRect">
            <a:avLst>
              <a:gd name="adj" fmla="val 8750"/>
            </a:avLst>
          </a:prstGeom>
          <a:solidFill>
            <a:srgbClr val="FFFFFF">
              <a:alpha val="12000"/>
            </a:srgbClr>
          </a:solidFill>
          <a:ln/>
        </p:spPr>
      </p:sp>
      <p:sp>
        <p:nvSpPr>
          <p:cNvPr id="5" name="Text 2"/>
          <p:cNvSpPr/>
          <p:nvPr/>
        </p:nvSpPr>
        <p:spPr>
          <a:xfrm>
            <a:off x="1188720" y="1783080"/>
            <a:ext cx="6858000" cy="1371600"/>
          </a:xfrm>
          <a:prstGeom prst="rect">
            <a:avLst/>
          </a:prstGeom>
          <a:noFill/>
          <a:ln/>
        </p:spPr>
        <p:txBody>
          <a:bodyPr wrap="square" lIns="0" tIns="0" rIns="0" bIns="0" rtlCol="0" anchor="ctr"/>
          <a:lstStyle/>
          <a:p>
            <a:pPr indent="0" marL="0">
              <a:buNone/>
            </a:pPr>
            <a:r>
              <a:rPr lang="en-US" sz="1700" dirty="0">
                <a:solidFill>
                  <a:srgbClr val="FFFFFF"/>
                </a:solidFill>
                <a:latin typeface="Menlo" pitchFamily="34" charset="0"/>
                <a:ea typeface="Menlo" pitchFamily="34" charset="-122"/>
                <a:cs typeface="Menlo" pitchFamily="34" charset="-120"/>
              </a:rPr>
              <a:t>docker compose up -d</a:t>
            </a:r>
            <a:endParaRPr lang="en-US" sz="1700" dirty="0"/>
          </a:p>
          <a:p>
            <a:pPr indent="0" marL="0">
              <a:buNone/>
            </a:pPr>
            <a:r>
              <a:rPr lang="en-US" sz="1700" dirty="0">
                <a:solidFill>
                  <a:srgbClr val="FFFFFF"/>
                </a:solidFill>
                <a:latin typeface="Menlo" pitchFamily="34" charset="0"/>
                <a:ea typeface="Menlo" pitchFamily="34" charset="-122"/>
                <a:cs typeface="Menlo" pitchFamily="34" charset="-120"/>
              </a:rPr>
              <a:t>uv sync</a:t>
            </a:r>
            <a:endParaRPr lang="en-US" sz="1700" dirty="0"/>
          </a:p>
          <a:p>
            <a:pPr indent="0" marL="0">
              <a:buNone/>
            </a:pPr>
            <a:r>
              <a:rPr lang="en-US" sz="1700" dirty="0">
                <a:solidFill>
                  <a:srgbClr val="FFFFFF"/>
                </a:solidFill>
                <a:latin typeface="Menlo" pitchFamily="34" charset="0"/>
                <a:ea typeface="Menlo" pitchFamily="34" charset="-122"/>
                <a:cs typeface="Menlo" pitchFamily="34" charset="-120"/>
              </a:rPr>
              <a:t>claude</a:t>
            </a:r>
            <a:endParaRPr lang="en-US" sz="1700" dirty="0"/>
          </a:p>
          <a:p>
            <a:pPr indent="0" marL="0">
              <a:buNone/>
            </a:pPr>
            <a:r>
              <a:rPr lang="en-US" sz="1700" dirty="0">
                <a:solidFill>
                  <a:srgbClr val="FFFFFF"/>
                </a:solidFill>
                <a:latin typeface="Menlo" pitchFamily="34" charset="0"/>
                <a:ea typeface="Menlo" pitchFamily="34" charset="-122"/>
                <a:cs typeface="Menlo" pitchFamily="34" charset="-120"/>
              </a:rPr>
              <a:t>&gt; Load the base corpus</a:t>
            </a:r>
            <a:endParaRPr lang="en-US" sz="1700" dirty="0"/>
          </a:p>
        </p:txBody>
      </p:sp>
      <p:sp>
        <p:nvSpPr>
          <p:cNvPr id="6" name="Text 3"/>
          <p:cNvSpPr/>
          <p:nvPr/>
        </p:nvSpPr>
        <p:spPr>
          <a:xfrm>
            <a:off x="914400" y="3703320"/>
            <a:ext cx="7315200" cy="365760"/>
          </a:xfrm>
          <a:prstGeom prst="rect">
            <a:avLst/>
          </a:prstGeom>
          <a:noFill/>
          <a:ln/>
        </p:spPr>
        <p:txBody>
          <a:bodyPr wrap="square" lIns="0" tIns="0" rIns="0" bIns="0" rtlCol="0" anchor="ctr"/>
          <a:lstStyle/>
          <a:p>
            <a:pPr indent="0" marL="0">
              <a:buNone/>
            </a:pPr>
            <a:r>
              <a:rPr lang="en-US" sz="1400" b="1" dirty="0">
                <a:solidFill>
                  <a:srgbClr val="EDE7FF"/>
                </a:solidFill>
                <a:latin typeface="Avenir Next" pitchFamily="34" charset="0"/>
                <a:ea typeface="Avenir Next" pitchFamily="34" charset="-122"/>
                <a:cs typeface="Avenir Next" pitchFamily="34" charset="-120"/>
              </a:rPr>
              <a:t>github.com/aircode610/making-sense-of-logs-schubki-ai-hackathon</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Making Sense of Logs</dc:title>
  <dc:subject>PptxGenJS Presentation</dc:subject>
  <dc:creator>Amirali &amp; Konark</dc:creator>
  <cp:lastModifiedBy>Amirali &amp; Konark</cp:lastModifiedBy>
  <cp:revision>1</cp:revision>
  <dcterms:created xsi:type="dcterms:W3CDTF">2026-10-18T20:34:19Z</dcterms:created>
  <dcterms:modified xsi:type="dcterms:W3CDTF">2026-10-18T20:34:19Z</dcterms:modified>
</cp:coreProperties>
</file>
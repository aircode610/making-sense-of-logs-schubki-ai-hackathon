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assistant that answers questions about millions of log lines for three people who need different things: the engineer who fixes, the team lead who plans, the manager who decides. Every number it says can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people ask about the same logs. Engineers grep for hours during an outage, team leads count in spreadsheets, managers decide by gut. And you cannot just hand the logs to an AI: they don't fit, and a model that makes up numbers is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when you can read them, raw logs mislead. BGL has 855 thousand FATAL lines, but they come from far fewer recurring problems. Rank by severity and only one of the top ten is a real alert. And plain Claude Code grepping the raw files got 70 percent of its claims right in our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splits the work. You ask in plain words. SereneDB searches and counts every line. Jev already knows which kinds of messages are real faults. Claude only picks the tools and writes the answer for your role, with every number linked to its query. Setup is two commands and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in Claude Code: /mcp__logs__worked_investigation, topic 'what deserves attention in November 2005'. The top problem in BGL, November 2005, is a new fault: 'Link has been severed', 12,996 lines on 1,024 nodes. The engineer gets the first burst and what happened 21 minutes before; the lead gets 31 recurrences and an owner disputed between two teams; the manager gets rank 1 of 133 and a decision. Different evidence, not different lengths. Backup: docs/investigation/report.html.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accurate: every number comes from the database. In the worked investigation, 62 of 62 numbers trace to a query, and Verify re-runs each one. On 50 questions with known answers, a blind judge preferred us 13 to 2 on the brief's data, with fewer wrong claims, 53 vs 69. Faster: in our pilot, Claude Code with our server answered in 13 seconds; grepping the raw files took 71, with 94 vs 70 percent of claims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fits three routines a company already has: the incident, the weekly review, the monthly planning. It uses the tools people already have, keeps logs on their own machine, reads their own log formats, and maps problems to their teams, with access per team enforced by the database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it's cheaper. Reading all of BGL with a large model is around 177 million tokens, every time you ask; that is an estimate from the file size. Jev, a small model for typed judgments, runs inside SereneDB and judges each kind of message once: 1,126 patterns in 20 seconds for about two cents, stored and reused by every answer. That single step moved real alerts in the top ten from one to five. An answer with Claude plus our server cost about 7 cents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 One sentence to Claude starts it, and every step runs inside SereneDB: the file is streamed in with COPY, its format detected from 76 known formats, parsed with SQL into typed columns, reduced to kinds of message, judged once by Jev in SQL, and indexed. The base corpus is ready in 72 seconds, a new 21 thousand line file in 1.6. The expensive work happens once, so every later answer is fast and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comes from SereneDB's engine. The inverted index counts a full-text search over 4.7 million lines in 7 milliseconds; group-bys come straight from the term dictionary without scanning rows. Data loads inside the database. Timelines use ASOF joins, rankings use ROLLUP and PIVOT. Remote Parquet on S3 is read in place, and an on-demand index pays for itself after four searches. The database takes under a second per answer; most of the time is the AI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technical part. MCP is how Claude discovers and calls our functions. Our server offers all four kinds: 44 tools Claude picks from their descriptions, 5 prompts as slash commands, 6 resources you attach with @, and completions that suggest real values from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Forty-four tools grouped by the question they answer: find, count, recurring, explain, decide, set up. You never name a tool; Claude picks it from its description, which says when to use it, when not to, what it returns and what comes next. Every result carries the SQL that ran, the exact total, and a flag if rows were cut to 50. Full list in docs/TOOLS.md.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slash commands: one playbook per role, a three-role worked investigation, and the whole-corpus counts the brief asks for. Resources attach context with @: the loaded datasets, the glossary, what each field means, the ownership table, and the full evidence of the session, beyond the 50-row tool limit. Arguments complete with real values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goes beyond the brief: load your own log files with no code; a Verify button that re-runs the query behind any number; a billion OpenTelemetry rows queried in place on S3; access per team enforced by the database, not the prompt; our own blind evaluation with 50 answer keys; and AI judgments computed once inside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comes with its proof. On the left, the session report: each number links to the query behind it, and Verify re-runs it. On the right, the evaluation dashboard: 50 questions, both answers, the judge's reasons, and how to re-run it. Both open offline from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code is specific to one dataset: ten log types load without code changes, eleven million HDFS lines load in 47 seconds, and a billion remote rows are queried in place. That makes it a product: a self-hosted log copilot for Mittelstand production and IT, and any industry that writes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and one sentence, and your logs answer back. The worked investigation, the dashboard and every tool are documented in the repo.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77840" y="457200"/>
            <a:ext cx="3108960" cy="4206240"/>
          </a:xfrm>
          <a:prstGeom prst="rect">
            <a:avLst/>
          </a:prstGeom>
        </p:spPr>
      </p:pic>
      <p:sp>
        <p:nvSpPr>
          <p:cNvPr id="3" name="Text 0"/>
          <p:cNvSpPr/>
          <p:nvPr/>
        </p:nvSpPr>
        <p:spPr>
          <a:xfrm>
            <a:off x="5897880" y="868680"/>
            <a:ext cx="2560320" cy="594360"/>
          </a:xfrm>
          <a:prstGeom prst="rect">
            <a:avLst/>
          </a:prstGeom>
          <a:noFill/>
          <a:ln/>
        </p:spPr>
        <p:txBody>
          <a:bodyPr wrap="square" lIns="0" tIns="0" rIns="0" bIns="0" rtlCol="0" anchor="ctr"/>
          <a:lstStyle/>
          <a:p>
            <a:pPr indent="0" marL="0">
              <a:buNone/>
            </a:pPr>
            <a:r>
              <a:rPr lang="en-US" sz="3600" b="1" dirty="0">
                <a:solidFill>
                  <a:srgbClr val="FFFFFF"/>
                </a:solidFill>
                <a:latin typeface="Avenir Next" pitchFamily="34" charset="0"/>
                <a:ea typeface="Avenir Next" pitchFamily="34" charset="-122"/>
                <a:cs typeface="Avenir Next" pitchFamily="34" charset="-120"/>
              </a:rPr>
              <a:t>5 M</a:t>
            </a:r>
            <a:endParaRPr lang="en-US" sz="3600" dirty="0"/>
          </a:p>
        </p:txBody>
      </p:sp>
      <p:sp>
        <p:nvSpPr>
          <p:cNvPr id="4" name="Text 1"/>
          <p:cNvSpPr/>
          <p:nvPr/>
        </p:nvSpPr>
        <p:spPr>
          <a:xfrm>
            <a:off x="5897880" y="1444752"/>
            <a:ext cx="2560320" cy="320040"/>
          </a:xfrm>
          <a:prstGeom prst="rect">
            <a:avLst/>
          </a:prstGeom>
          <a:noFill/>
          <a:ln/>
        </p:spPr>
        <p:txBody>
          <a:bodyPr wrap="square" lIns="0" tIns="0" rIns="0" bIns="0" rtlCol="0" anchor="ctr"/>
          <a:lstStyle/>
          <a:p>
            <a:pPr indent="0" marL="0">
              <a:buNone/>
            </a:pPr>
            <a:r>
              <a:rPr lang="en-US" sz="1300" dirty="0">
                <a:solidFill>
                  <a:srgbClr val="EDE7FF"/>
                </a:solidFill>
                <a:latin typeface="Avenir Next" pitchFamily="34" charset="0"/>
                <a:ea typeface="Avenir Next" pitchFamily="34" charset="-122"/>
                <a:cs typeface="Avenir Next" pitchFamily="34" charset="-120"/>
              </a:rPr>
              <a:t>log lines</a:t>
            </a:r>
            <a:endParaRPr lang="en-US" sz="1300" dirty="0"/>
          </a:p>
        </p:txBody>
      </p:sp>
      <p:sp>
        <p:nvSpPr>
          <p:cNvPr id="5" name="Text 2"/>
          <p:cNvSpPr/>
          <p:nvPr/>
        </p:nvSpPr>
        <p:spPr>
          <a:xfrm>
            <a:off x="5897880" y="2103120"/>
            <a:ext cx="2560320" cy="594360"/>
          </a:xfrm>
          <a:prstGeom prst="rect">
            <a:avLst/>
          </a:prstGeom>
          <a:noFill/>
          <a:ln/>
        </p:spPr>
        <p:txBody>
          <a:bodyPr wrap="square" lIns="0" tIns="0" rIns="0" bIns="0" rtlCol="0" anchor="ctr"/>
          <a:lstStyle/>
          <a:p>
            <a:pPr indent="0" marL="0">
              <a:buNone/>
            </a:pPr>
            <a:r>
              <a:rPr lang="en-US" sz="3600" b="1" dirty="0">
                <a:solidFill>
                  <a:srgbClr val="FFFFFF"/>
                </a:solidFill>
                <a:latin typeface="Avenir Next" pitchFamily="34" charset="0"/>
                <a:ea typeface="Avenir Next" pitchFamily="34" charset="-122"/>
                <a:cs typeface="Avenir Next" pitchFamily="34" charset="-120"/>
              </a:rPr>
              <a:t>3</a:t>
            </a:r>
            <a:endParaRPr lang="en-US" sz="3600" dirty="0"/>
          </a:p>
        </p:txBody>
      </p:sp>
      <p:sp>
        <p:nvSpPr>
          <p:cNvPr id="6" name="Text 3"/>
          <p:cNvSpPr/>
          <p:nvPr/>
        </p:nvSpPr>
        <p:spPr>
          <a:xfrm>
            <a:off x="5897880" y="2679192"/>
            <a:ext cx="2560320" cy="320040"/>
          </a:xfrm>
          <a:prstGeom prst="rect">
            <a:avLst/>
          </a:prstGeom>
          <a:noFill/>
          <a:ln/>
        </p:spPr>
        <p:txBody>
          <a:bodyPr wrap="square" lIns="0" tIns="0" rIns="0" bIns="0" rtlCol="0" anchor="ctr"/>
          <a:lstStyle/>
          <a:p>
            <a:pPr indent="0" marL="0">
              <a:buNone/>
            </a:pPr>
            <a:r>
              <a:rPr lang="en-US" sz="1300" dirty="0">
                <a:solidFill>
                  <a:srgbClr val="EDE7FF"/>
                </a:solidFill>
                <a:latin typeface="Avenir Next" pitchFamily="34" charset="0"/>
                <a:ea typeface="Avenir Next" pitchFamily="34" charset="-122"/>
                <a:cs typeface="Avenir Next" pitchFamily="34" charset="-120"/>
              </a:rPr>
              <a:t>roles</a:t>
            </a:r>
            <a:endParaRPr lang="en-US" sz="1300" dirty="0"/>
          </a:p>
        </p:txBody>
      </p:sp>
      <p:sp>
        <p:nvSpPr>
          <p:cNvPr id="7" name="Text 4"/>
          <p:cNvSpPr/>
          <p:nvPr/>
        </p:nvSpPr>
        <p:spPr>
          <a:xfrm>
            <a:off x="5897880" y="3337560"/>
            <a:ext cx="2560320" cy="594360"/>
          </a:xfrm>
          <a:prstGeom prst="rect">
            <a:avLst/>
          </a:prstGeom>
          <a:noFill/>
          <a:ln/>
        </p:spPr>
        <p:txBody>
          <a:bodyPr wrap="square" lIns="0" tIns="0" rIns="0" bIns="0" rtlCol="0" anchor="ctr"/>
          <a:lstStyle/>
          <a:p>
            <a:pPr indent="0" marL="0">
              <a:buNone/>
            </a:pPr>
            <a:r>
              <a:rPr lang="en-US" sz="3600" b="1" dirty="0">
                <a:solidFill>
                  <a:srgbClr val="FFFFFF"/>
                </a:solidFill>
                <a:latin typeface="Avenir Next" pitchFamily="34" charset="0"/>
                <a:ea typeface="Avenir Next" pitchFamily="34" charset="-122"/>
                <a:cs typeface="Avenir Next" pitchFamily="34" charset="-120"/>
              </a:rPr>
              <a:t>2</a:t>
            </a:r>
            <a:endParaRPr lang="en-US" sz="3600" dirty="0"/>
          </a:p>
        </p:txBody>
      </p:sp>
      <p:sp>
        <p:nvSpPr>
          <p:cNvPr id="8" name="Text 5"/>
          <p:cNvSpPr/>
          <p:nvPr/>
        </p:nvSpPr>
        <p:spPr>
          <a:xfrm>
            <a:off x="5897880" y="3913632"/>
            <a:ext cx="2560320" cy="320040"/>
          </a:xfrm>
          <a:prstGeom prst="rect">
            <a:avLst/>
          </a:prstGeom>
          <a:noFill/>
          <a:ln/>
        </p:spPr>
        <p:txBody>
          <a:bodyPr wrap="square" lIns="0" tIns="0" rIns="0" bIns="0" rtlCol="0" anchor="ctr"/>
          <a:lstStyle/>
          <a:p>
            <a:pPr indent="0" marL="0">
              <a:buNone/>
            </a:pPr>
            <a:r>
              <a:rPr lang="en-US" sz="1300" dirty="0">
                <a:solidFill>
                  <a:srgbClr val="EDE7FF"/>
                </a:solidFill>
                <a:latin typeface="Avenir Next" pitchFamily="34" charset="0"/>
                <a:ea typeface="Avenir Next" pitchFamily="34" charset="-122"/>
                <a:cs typeface="Avenir Next" pitchFamily="34" charset="-120"/>
              </a:rPr>
              <a:t>commands to set up</a:t>
            </a:r>
            <a:endParaRPr lang="en-US" sz="1300" dirty="0"/>
          </a:p>
        </p:txBody>
      </p:sp>
      <p:pic>
        <p:nvPicPr>
          <p:cNvPr id="9" name="Image 1" descr="preencoded.png">    </p:cNvPr>
          <p:cNvPicPr>
            <a:picLocks noChangeAspect="1"/>
          </p:cNvPicPr>
          <p:nvPr/>
        </p:nvPicPr>
        <p:blipFill>
          <a:blip r:embed="rId2"/>
          <a:stretch>
            <a:fillRect/>
          </a:stretch>
        </p:blipFill>
        <p:spPr>
          <a:xfrm>
            <a:off x="457200" y="594360"/>
            <a:ext cx="384048" cy="384048"/>
          </a:xfrm>
          <a:prstGeom prst="rect">
            <a:avLst/>
          </a:prstGeom>
        </p:spPr>
      </p:pic>
      <p:sp>
        <p:nvSpPr>
          <p:cNvPr id="10" name="Text 6"/>
          <p:cNvSpPr/>
          <p:nvPr/>
        </p:nvSpPr>
        <p:spPr>
          <a:xfrm>
            <a:off x="960120" y="612648"/>
            <a:ext cx="4480560" cy="347472"/>
          </a:xfrm>
          <a:prstGeom prst="rect">
            <a:avLst/>
          </a:prstGeom>
          <a:noFill/>
          <a:ln/>
        </p:spPr>
        <p:txBody>
          <a:bodyPr wrap="square" lIns="0" tIns="0" rIns="0" bIns="0" rtlCol="0" anchor="ctr"/>
          <a:lstStyle/>
          <a:p>
            <a:pPr indent="0" marL="0">
              <a:buNone/>
            </a:pPr>
            <a:r>
              <a:rPr lang="en-US" sz="1100" dirty="0">
                <a:solidFill>
                  <a:srgbClr val="6B7386"/>
                </a:solidFill>
                <a:latin typeface="Avenir Next" pitchFamily="34" charset="0"/>
                <a:ea typeface="Avenir Next" pitchFamily="34" charset="-122"/>
                <a:cs typeface="Avenir Next" pitchFamily="34" charset="-120"/>
              </a:rPr>
              <a:t>SereneDB challenge · SchubKI Hackathon 2026</a:t>
            </a:r>
            <a:endParaRPr lang="en-US" sz="1100" dirty="0"/>
          </a:p>
        </p:txBody>
      </p:sp>
      <p:sp>
        <p:nvSpPr>
          <p:cNvPr id="11" name="Text 7"/>
          <p:cNvSpPr/>
          <p:nvPr/>
        </p:nvSpPr>
        <p:spPr>
          <a:xfrm>
            <a:off x="457200" y="1325880"/>
            <a:ext cx="4937760" cy="1371600"/>
          </a:xfrm>
          <a:prstGeom prst="rect">
            <a:avLst/>
          </a:prstGeom>
          <a:noFill/>
          <a:ln/>
        </p:spPr>
        <p:txBody>
          <a:bodyPr wrap="square" lIns="0" tIns="0" rIns="0" bIns="0" rtlCol="0" anchor="ctr"/>
          <a:lstStyle/>
          <a:p>
            <a:pPr indent="0" marL="0">
              <a:buNone/>
            </a:pPr>
            <a:r>
              <a:rPr lang="en-US" sz="4000" b="1" dirty="0">
                <a:solidFill>
                  <a:srgbClr val="11121D"/>
                </a:solidFill>
                <a:latin typeface="Avenir Next" pitchFamily="34" charset="0"/>
                <a:ea typeface="Avenir Next" pitchFamily="34" charset="-122"/>
                <a:cs typeface="Avenir Next" pitchFamily="34" charset="-120"/>
              </a:rPr>
              <a:t>Making Sense</a:t>
            </a:r>
            <a:endParaRPr lang="en-US" sz="4000" dirty="0"/>
          </a:p>
          <a:p>
            <a:pPr indent="0" marL="0">
              <a:buNone/>
            </a:pPr>
            <a:r>
              <a:rPr lang="en-US" sz="4000" b="1" dirty="0">
                <a:solidFill>
                  <a:srgbClr val="11121D"/>
                </a:solidFill>
                <a:latin typeface="Avenir Next" pitchFamily="34" charset="0"/>
                <a:ea typeface="Avenir Next" pitchFamily="34" charset="-122"/>
                <a:cs typeface="Avenir Next" pitchFamily="34" charset="-120"/>
              </a:rPr>
              <a:t>of Logs</a:t>
            </a:r>
            <a:endParaRPr lang="en-US" sz="4000" dirty="0"/>
          </a:p>
        </p:txBody>
      </p:sp>
      <p:sp>
        <p:nvSpPr>
          <p:cNvPr id="12" name="Text 8"/>
          <p:cNvSpPr/>
          <p:nvPr/>
        </p:nvSpPr>
        <p:spPr>
          <a:xfrm>
            <a:off x="457200" y="2788920"/>
            <a:ext cx="4754880" cy="731520"/>
          </a:xfrm>
          <a:prstGeom prst="rect">
            <a:avLst/>
          </a:prstGeom>
          <a:noFill/>
          <a:ln/>
        </p:spPr>
        <p:txBody>
          <a:bodyPr wrap="square" lIns="0" tIns="0" rIns="0" bIns="0" rtlCol="0" anchor="t"/>
          <a:lstStyle/>
          <a:p>
            <a:pPr indent="0" marL="0">
              <a:buNone/>
            </a:pPr>
            <a:r>
              <a:rPr lang="en-US" sz="1600" dirty="0">
                <a:solidFill>
                  <a:srgbClr val="3A3F55"/>
                </a:solidFill>
                <a:latin typeface="Avenir Next" pitchFamily="34" charset="0"/>
                <a:ea typeface="Avenir Next" pitchFamily="34" charset="-122"/>
                <a:cs typeface="Avenir Next" pitchFamily="34" charset="-120"/>
              </a:rPr>
              <a:t>Ask your logs a question. Get the answer your role needs, with proof.</a:t>
            </a:r>
            <a:endParaRPr lang="en-US" sz="1600" dirty="0"/>
          </a:p>
        </p:txBody>
      </p:sp>
      <p:sp>
        <p:nvSpPr>
          <p:cNvPr id="13" name="Text 9"/>
          <p:cNvSpPr/>
          <p:nvPr/>
        </p:nvSpPr>
        <p:spPr>
          <a:xfrm>
            <a:off x="457200" y="4160520"/>
            <a:ext cx="4572000" cy="274320"/>
          </a:xfrm>
          <a:prstGeom prst="rect">
            <a:avLst/>
          </a:prstGeom>
          <a:noFill/>
          <a:ln/>
        </p:spPr>
        <p:txBody>
          <a:bodyPr wrap="square" lIns="0" tIns="0" rIns="0" bIns="0" rtlCol="0" anchor="ctr"/>
          <a:lstStyle/>
          <a:p>
            <a:pPr indent="0" marL="0">
              <a:buNone/>
            </a:pPr>
            <a:r>
              <a:rPr lang="en-US" sz="1200" b="1" dirty="0">
                <a:solidFill>
                  <a:srgbClr val="11121D"/>
                </a:solidFill>
                <a:latin typeface="Avenir Next" pitchFamily="34" charset="0"/>
                <a:ea typeface="Avenir Next" pitchFamily="34" charset="-122"/>
                <a:cs typeface="Avenir Next" pitchFamily="34" charset="-120"/>
              </a:rPr>
              <a:t>Amirali &amp; Konark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Problem</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2</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THE PROBLEM</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Logs hold the answers. Nobody reads them.</a:t>
            </a:r>
            <a:endParaRPr lang="en-US" sz="2800" dirty="0"/>
          </a:p>
        </p:txBody>
      </p:sp>
      <p:sp>
        <p:nvSpPr>
          <p:cNvPr id="7" name="Shape 4"/>
          <p:cNvSpPr/>
          <p:nvPr/>
        </p:nvSpPr>
        <p:spPr>
          <a:xfrm>
            <a:off x="457200" y="1463040"/>
            <a:ext cx="2621280" cy="1874520"/>
          </a:xfrm>
          <a:prstGeom prst="roundRect">
            <a:avLst>
              <a:gd name="adj" fmla="val 6829"/>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73736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1868119"/>
            <a:ext cx="241402" cy="241402"/>
          </a:xfrm>
          <a:prstGeom prst="rect">
            <a:avLst/>
          </a:prstGeom>
        </p:spPr>
      </p:pic>
      <p:sp>
        <p:nvSpPr>
          <p:cNvPr id="10" name="Text 5"/>
          <p:cNvSpPr/>
          <p:nvPr/>
        </p:nvSpPr>
        <p:spPr>
          <a:xfrm>
            <a:off x="71323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Engineer</a:t>
            </a:r>
            <a:endParaRPr lang="en-US" sz="1600" dirty="0"/>
          </a:p>
        </p:txBody>
      </p:sp>
      <p:sp>
        <p:nvSpPr>
          <p:cNvPr id="11" name="Text 6"/>
          <p:cNvSpPr/>
          <p:nvPr/>
        </p:nvSpPr>
        <p:spPr>
          <a:xfrm>
            <a:off x="713232" y="2834640"/>
            <a:ext cx="2164080" cy="36576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“What failed?”</a:t>
            </a:r>
            <a:endParaRPr lang="en-US" sz="1300" dirty="0"/>
          </a:p>
        </p:txBody>
      </p:sp>
      <p:sp>
        <p:nvSpPr>
          <p:cNvPr id="12" name="Shape 7"/>
          <p:cNvSpPr/>
          <p:nvPr/>
        </p:nvSpPr>
        <p:spPr>
          <a:xfrm>
            <a:off x="3261360" y="1463040"/>
            <a:ext cx="2621280" cy="1874520"/>
          </a:xfrm>
          <a:prstGeom prst="roundRect">
            <a:avLst>
              <a:gd name="adj" fmla="val 6829"/>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3517392" y="173736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3648151" y="1868119"/>
            <a:ext cx="241402" cy="241402"/>
          </a:xfrm>
          <a:prstGeom prst="rect">
            <a:avLst/>
          </a:prstGeom>
        </p:spPr>
      </p:pic>
      <p:sp>
        <p:nvSpPr>
          <p:cNvPr id="15" name="Text 8"/>
          <p:cNvSpPr/>
          <p:nvPr/>
        </p:nvSpPr>
        <p:spPr>
          <a:xfrm>
            <a:off x="351739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Team lead</a:t>
            </a:r>
            <a:endParaRPr lang="en-US" sz="1600" dirty="0"/>
          </a:p>
        </p:txBody>
      </p:sp>
      <p:sp>
        <p:nvSpPr>
          <p:cNvPr id="16" name="Text 9"/>
          <p:cNvSpPr/>
          <p:nvPr/>
        </p:nvSpPr>
        <p:spPr>
          <a:xfrm>
            <a:off x="3517392" y="2834640"/>
            <a:ext cx="2164080" cy="36576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“What keeps coming back?”</a:t>
            </a:r>
            <a:endParaRPr lang="en-US" sz="1300" dirty="0"/>
          </a:p>
        </p:txBody>
      </p:sp>
      <p:sp>
        <p:nvSpPr>
          <p:cNvPr id="17" name="Shape 10"/>
          <p:cNvSpPr/>
          <p:nvPr/>
        </p:nvSpPr>
        <p:spPr>
          <a:xfrm>
            <a:off x="6065520" y="1463040"/>
            <a:ext cx="2621280" cy="1874520"/>
          </a:xfrm>
          <a:prstGeom prst="roundRect">
            <a:avLst>
              <a:gd name="adj" fmla="val 6829"/>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6321552" y="173736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6452311" y="1868119"/>
            <a:ext cx="241402" cy="241402"/>
          </a:xfrm>
          <a:prstGeom prst="rect">
            <a:avLst/>
          </a:prstGeom>
        </p:spPr>
      </p:pic>
      <p:sp>
        <p:nvSpPr>
          <p:cNvPr id="20" name="Text 11"/>
          <p:cNvSpPr/>
          <p:nvPr/>
        </p:nvSpPr>
        <p:spPr>
          <a:xfrm>
            <a:off x="632155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Manager</a:t>
            </a:r>
            <a:endParaRPr lang="en-US" sz="1600" dirty="0"/>
          </a:p>
        </p:txBody>
      </p:sp>
      <p:sp>
        <p:nvSpPr>
          <p:cNvPr id="21" name="Text 12"/>
          <p:cNvSpPr/>
          <p:nvPr/>
        </p:nvSpPr>
        <p:spPr>
          <a:xfrm>
            <a:off x="6321552" y="2834640"/>
            <a:ext cx="2164080" cy="36576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“What do we fix first?”</a:t>
            </a:r>
            <a:endParaRPr lang="en-US" sz="1300" dirty="0"/>
          </a:p>
        </p:txBody>
      </p:sp>
      <p:sp>
        <p:nvSpPr>
          <p:cNvPr id="22" name="Shape 13"/>
          <p:cNvSpPr/>
          <p:nvPr/>
        </p:nvSpPr>
        <p:spPr>
          <a:xfrm>
            <a:off x="457200" y="3520440"/>
            <a:ext cx="8229600" cy="822960"/>
          </a:xfrm>
          <a:prstGeom prst="roundRect">
            <a:avLst>
              <a:gd name="adj" fmla="val 15556"/>
            </a:avLst>
          </a:prstGeom>
          <a:solidFill>
            <a:srgbClr val="F1ECFD"/>
          </a:solidFill>
          <a:ln/>
        </p:spPr>
      </p:sp>
      <p:sp>
        <p:nvSpPr>
          <p:cNvPr id="23" name="Text 14"/>
          <p:cNvSpPr/>
          <p:nvPr/>
        </p:nvSpPr>
        <p:spPr>
          <a:xfrm>
            <a:off x="731520" y="3520440"/>
            <a:ext cx="7680960" cy="822960"/>
          </a:xfrm>
          <a:prstGeom prst="rect">
            <a:avLst/>
          </a:prstGeom>
          <a:noFill/>
          <a:ln/>
        </p:spPr>
        <p:txBody>
          <a:bodyPr wrap="square" lIns="0" tIns="0" rIns="0" bIns="0" rtlCol="0" anchor="ctr"/>
          <a:lstStyle/>
          <a:p>
            <a:pPr indent="0" marL="0">
              <a:buNone/>
            </a:pPr>
            <a:r>
              <a:rPr lang="en-US" sz="1500" b="1" dirty="0">
                <a:solidFill>
                  <a:srgbClr val="3E318C"/>
                </a:solidFill>
                <a:latin typeface="Avenir Next" pitchFamily="34" charset="0"/>
                <a:ea typeface="Avenir Next" pitchFamily="34" charset="-122"/>
                <a:cs typeface="Avenir Next" pitchFamily="34" charset="-120"/>
              </a:rPr>
              <a:t>Millions of lines don't fit in a prompt, and an AI that guesses numbers can't be trusted.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Problem</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3</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THE PROBLEM</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Raw logs mislead</a:t>
            </a:r>
            <a:endParaRPr lang="en-US" sz="2800" dirty="0"/>
          </a:p>
        </p:txBody>
      </p:sp>
      <p:sp>
        <p:nvSpPr>
          <p:cNvPr id="7" name="Shape 4"/>
          <p:cNvSpPr/>
          <p:nvPr/>
        </p:nvSpPr>
        <p:spPr>
          <a:xfrm>
            <a:off x="457200" y="1554480"/>
            <a:ext cx="2621280" cy="2103120"/>
          </a:xfrm>
          <a:prstGeom prst="roundRect">
            <a:avLst>
              <a:gd name="adj" fmla="val 6087"/>
            </a:avLst>
          </a:prstGeom>
          <a:solidFill>
            <a:srgbClr val="FFFFFF"/>
          </a:solidFill>
          <a:ln w="12700">
            <a:solidFill>
              <a:srgbClr val="E3E6EC"/>
            </a:solidFill>
            <a:prstDash val="solid"/>
          </a:ln>
        </p:spPr>
      </p:sp>
      <p:sp>
        <p:nvSpPr>
          <p:cNvPr id="8" name="Text 5"/>
          <p:cNvSpPr/>
          <p:nvPr/>
        </p:nvSpPr>
        <p:spPr>
          <a:xfrm>
            <a:off x="731520" y="187452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855,501</a:t>
            </a:r>
            <a:endParaRPr lang="en-US" sz="3800" dirty="0"/>
          </a:p>
        </p:txBody>
      </p:sp>
      <p:sp>
        <p:nvSpPr>
          <p:cNvPr id="9" name="Text 6"/>
          <p:cNvSpPr/>
          <p:nvPr/>
        </p:nvSpPr>
        <p:spPr>
          <a:xfrm>
            <a:off x="73152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FATAL lines, but only 36,714 bursts of problems</a:t>
            </a:r>
            <a:endParaRPr lang="en-US" sz="1300" dirty="0"/>
          </a:p>
        </p:txBody>
      </p:sp>
      <p:sp>
        <p:nvSpPr>
          <p:cNvPr id="10" name="Shape 7"/>
          <p:cNvSpPr/>
          <p:nvPr/>
        </p:nvSpPr>
        <p:spPr>
          <a:xfrm>
            <a:off x="3261360" y="1554480"/>
            <a:ext cx="2621280" cy="2103120"/>
          </a:xfrm>
          <a:prstGeom prst="roundRect">
            <a:avLst>
              <a:gd name="adj" fmla="val 6087"/>
            </a:avLst>
          </a:prstGeom>
          <a:solidFill>
            <a:srgbClr val="FFFFFF"/>
          </a:solidFill>
          <a:ln w="12700">
            <a:solidFill>
              <a:srgbClr val="E3E6EC"/>
            </a:solidFill>
            <a:prstDash val="solid"/>
          </a:ln>
        </p:spPr>
      </p:sp>
      <p:sp>
        <p:nvSpPr>
          <p:cNvPr id="11" name="Text 8"/>
          <p:cNvSpPr/>
          <p:nvPr/>
        </p:nvSpPr>
        <p:spPr>
          <a:xfrm>
            <a:off x="3535680" y="187452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1 / 10</a:t>
            </a:r>
            <a:endParaRPr lang="en-US" sz="3800" dirty="0"/>
          </a:p>
        </p:txBody>
      </p:sp>
      <p:sp>
        <p:nvSpPr>
          <p:cNvPr id="12" name="Text 9"/>
          <p:cNvSpPr/>
          <p:nvPr/>
        </p:nvSpPr>
        <p:spPr>
          <a:xfrm>
            <a:off x="353568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real alerts in the top 10 when ranked by log level</a:t>
            </a:r>
            <a:endParaRPr lang="en-US" sz="1300" dirty="0"/>
          </a:p>
        </p:txBody>
      </p:sp>
      <p:sp>
        <p:nvSpPr>
          <p:cNvPr id="13" name="Shape 10"/>
          <p:cNvSpPr/>
          <p:nvPr/>
        </p:nvSpPr>
        <p:spPr>
          <a:xfrm>
            <a:off x="6065520" y="1554480"/>
            <a:ext cx="2621280" cy="2103120"/>
          </a:xfrm>
          <a:prstGeom prst="roundRect">
            <a:avLst>
              <a:gd name="adj" fmla="val 6087"/>
            </a:avLst>
          </a:prstGeom>
          <a:solidFill>
            <a:srgbClr val="FFFFFF"/>
          </a:solidFill>
          <a:ln w="12700">
            <a:solidFill>
              <a:srgbClr val="E3E6EC"/>
            </a:solidFill>
            <a:prstDash val="solid"/>
          </a:ln>
        </p:spPr>
      </p:sp>
      <p:sp>
        <p:nvSpPr>
          <p:cNvPr id="14" name="Text 11"/>
          <p:cNvSpPr/>
          <p:nvPr/>
        </p:nvSpPr>
        <p:spPr>
          <a:xfrm>
            <a:off x="6339840" y="1874520"/>
            <a:ext cx="2164080" cy="731520"/>
          </a:xfrm>
          <a:prstGeom prst="rect">
            <a:avLst/>
          </a:prstGeom>
          <a:noFill/>
          <a:ln/>
        </p:spPr>
        <p:txBody>
          <a:bodyPr wrap="square" lIns="0" tIns="0" rIns="0" bIns="0" rtlCol="0" anchor="ctr"/>
          <a:lstStyle/>
          <a:p>
            <a:pPr indent="0" marL="0">
              <a:buNone/>
            </a:pPr>
            <a:r>
              <a:rPr lang="en-US" sz="3800" b="1" dirty="0">
                <a:solidFill>
                  <a:srgbClr val="C2410C"/>
                </a:solidFill>
                <a:latin typeface="Avenir Next" pitchFamily="34" charset="0"/>
                <a:ea typeface="Avenir Next" pitchFamily="34" charset="-122"/>
                <a:cs typeface="Avenir Next" pitchFamily="34" charset="-120"/>
              </a:rPr>
              <a:t>69.6 %</a:t>
            </a:r>
            <a:endParaRPr lang="en-US" sz="3800" dirty="0"/>
          </a:p>
        </p:txBody>
      </p:sp>
      <p:sp>
        <p:nvSpPr>
          <p:cNvPr id="15" name="Text 12"/>
          <p:cNvSpPr/>
          <p:nvPr/>
        </p:nvSpPr>
        <p:spPr>
          <a:xfrm>
            <a:off x="633984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of claims correct when an AI greps the raw files (pilot)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Solution</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4</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THE SOLUTION</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The database counts, the AI explains</a:t>
            </a:r>
            <a:endParaRPr lang="en-US" sz="2800" dirty="0"/>
          </a:p>
        </p:txBody>
      </p:sp>
      <p:sp>
        <p:nvSpPr>
          <p:cNvPr id="7" name="Shape 4"/>
          <p:cNvSpPr/>
          <p:nvPr/>
        </p:nvSpPr>
        <p:spPr>
          <a:xfrm>
            <a:off x="457200" y="1463040"/>
            <a:ext cx="1920240" cy="2194560"/>
          </a:xfrm>
          <a:prstGeom prst="roundRect">
            <a:avLst>
              <a:gd name="adj" fmla="val 6667"/>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73736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1868119"/>
            <a:ext cx="241402" cy="241402"/>
          </a:xfrm>
          <a:prstGeom prst="rect">
            <a:avLst/>
          </a:prstGeom>
        </p:spPr>
      </p:pic>
      <p:sp>
        <p:nvSpPr>
          <p:cNvPr id="10" name="Text 5"/>
          <p:cNvSpPr/>
          <p:nvPr/>
        </p:nvSpPr>
        <p:spPr>
          <a:xfrm>
            <a:off x="71323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Ask</a:t>
            </a:r>
            <a:endParaRPr lang="en-US" sz="1600" dirty="0"/>
          </a:p>
        </p:txBody>
      </p:sp>
      <p:sp>
        <p:nvSpPr>
          <p:cNvPr id="11" name="Text 6"/>
          <p:cNvSpPr/>
          <p:nvPr/>
        </p:nvSpPr>
        <p:spPr>
          <a:xfrm>
            <a:off x="713232" y="2834640"/>
            <a:ext cx="1463040" cy="6858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in plain words</a:t>
            </a:r>
            <a:endParaRPr lang="en-US" sz="1300" dirty="0"/>
          </a:p>
        </p:txBody>
      </p:sp>
      <p:sp>
        <p:nvSpPr>
          <p:cNvPr id="12" name="Shape 7"/>
          <p:cNvSpPr/>
          <p:nvPr/>
        </p:nvSpPr>
        <p:spPr>
          <a:xfrm>
            <a:off x="2560320" y="1463040"/>
            <a:ext cx="1920240" cy="2194560"/>
          </a:xfrm>
          <a:prstGeom prst="roundRect">
            <a:avLst>
              <a:gd name="adj" fmla="val 6667"/>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2816352" y="173736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2947111" y="1868119"/>
            <a:ext cx="241402" cy="241402"/>
          </a:xfrm>
          <a:prstGeom prst="rect">
            <a:avLst/>
          </a:prstGeom>
        </p:spPr>
      </p:pic>
      <p:sp>
        <p:nvSpPr>
          <p:cNvPr id="15" name="Text 8"/>
          <p:cNvSpPr/>
          <p:nvPr/>
        </p:nvSpPr>
        <p:spPr>
          <a:xfrm>
            <a:off x="281635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SereneDB</a:t>
            </a:r>
            <a:endParaRPr lang="en-US" sz="1600" dirty="0"/>
          </a:p>
        </p:txBody>
      </p:sp>
      <p:sp>
        <p:nvSpPr>
          <p:cNvPr id="16" name="Text 9"/>
          <p:cNvSpPr/>
          <p:nvPr/>
        </p:nvSpPr>
        <p:spPr>
          <a:xfrm>
            <a:off x="2816352" y="2834640"/>
            <a:ext cx="1463040" cy="6858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searches and counts every line</a:t>
            </a:r>
            <a:endParaRPr lang="en-US" sz="1300" dirty="0"/>
          </a:p>
        </p:txBody>
      </p:sp>
      <p:sp>
        <p:nvSpPr>
          <p:cNvPr id="17" name="Shape 10"/>
          <p:cNvSpPr/>
          <p:nvPr/>
        </p:nvSpPr>
        <p:spPr>
          <a:xfrm>
            <a:off x="4663440" y="1463040"/>
            <a:ext cx="1920240" cy="2194560"/>
          </a:xfrm>
          <a:prstGeom prst="roundRect">
            <a:avLst>
              <a:gd name="adj" fmla="val 6667"/>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4919472" y="173736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5050231" y="1868119"/>
            <a:ext cx="241402" cy="241402"/>
          </a:xfrm>
          <a:prstGeom prst="rect">
            <a:avLst/>
          </a:prstGeom>
        </p:spPr>
      </p:pic>
      <p:sp>
        <p:nvSpPr>
          <p:cNvPr id="20" name="Text 11"/>
          <p:cNvSpPr/>
          <p:nvPr/>
        </p:nvSpPr>
        <p:spPr>
          <a:xfrm>
            <a:off x="491947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Jev</a:t>
            </a:r>
            <a:endParaRPr lang="en-US" sz="1600" dirty="0"/>
          </a:p>
        </p:txBody>
      </p:sp>
      <p:sp>
        <p:nvSpPr>
          <p:cNvPr id="21" name="Text 12"/>
          <p:cNvSpPr/>
          <p:nvPr/>
        </p:nvSpPr>
        <p:spPr>
          <a:xfrm>
            <a:off x="4919472" y="2834640"/>
            <a:ext cx="1463040" cy="6858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knows which messages are real faults</a:t>
            </a:r>
            <a:endParaRPr lang="en-US" sz="1300" dirty="0"/>
          </a:p>
        </p:txBody>
      </p:sp>
      <p:sp>
        <p:nvSpPr>
          <p:cNvPr id="22" name="Shape 13"/>
          <p:cNvSpPr/>
          <p:nvPr/>
        </p:nvSpPr>
        <p:spPr>
          <a:xfrm>
            <a:off x="6766560" y="1463040"/>
            <a:ext cx="1920240" cy="2194560"/>
          </a:xfrm>
          <a:prstGeom prst="roundRect">
            <a:avLst>
              <a:gd name="adj" fmla="val 6667"/>
            </a:avLst>
          </a:prstGeom>
          <a:solidFill>
            <a:srgbClr val="F1ECFD"/>
          </a:solidFill>
          <a:ln/>
        </p:spPr>
      </p:sp>
      <p:pic>
        <p:nvPicPr>
          <p:cNvPr id="23" name="Image 7" descr="preencoded.png">    </p:cNvPr>
          <p:cNvPicPr>
            <a:picLocks noChangeAspect="1"/>
          </p:cNvPicPr>
          <p:nvPr/>
        </p:nvPicPr>
        <p:blipFill>
          <a:blip r:embed="rId8"/>
          <a:stretch>
            <a:fillRect/>
          </a:stretch>
        </p:blipFill>
        <p:spPr>
          <a:xfrm>
            <a:off x="7022592" y="1737360"/>
            <a:ext cx="502920" cy="502920"/>
          </a:xfrm>
          <a:prstGeom prst="rect">
            <a:avLst/>
          </a:prstGeom>
        </p:spPr>
      </p:pic>
      <p:pic>
        <p:nvPicPr>
          <p:cNvPr id="24" name="Image 8" descr="preencoded.png">    </p:cNvPr>
          <p:cNvPicPr>
            <a:picLocks noChangeAspect="1"/>
          </p:cNvPicPr>
          <p:nvPr/>
        </p:nvPicPr>
        <p:blipFill>
          <a:blip r:embed="rId9"/>
          <a:stretch>
            <a:fillRect/>
          </a:stretch>
        </p:blipFill>
        <p:spPr>
          <a:xfrm>
            <a:off x="7153351" y="1868119"/>
            <a:ext cx="241402" cy="241402"/>
          </a:xfrm>
          <a:prstGeom prst="rect">
            <a:avLst/>
          </a:prstGeom>
        </p:spPr>
      </p:pic>
      <p:sp>
        <p:nvSpPr>
          <p:cNvPr id="25" name="Text 14"/>
          <p:cNvSpPr/>
          <p:nvPr/>
        </p:nvSpPr>
        <p:spPr>
          <a:xfrm>
            <a:off x="702259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Answer</a:t>
            </a:r>
            <a:endParaRPr lang="en-US" sz="1600" dirty="0"/>
          </a:p>
        </p:txBody>
      </p:sp>
      <p:sp>
        <p:nvSpPr>
          <p:cNvPr id="26" name="Text 15"/>
          <p:cNvSpPr/>
          <p:nvPr/>
        </p:nvSpPr>
        <p:spPr>
          <a:xfrm>
            <a:off x="7022592" y="2834640"/>
            <a:ext cx="1463040" cy="6858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for your role, with proof</a:t>
            </a:r>
            <a:endParaRPr lang="en-US" sz="1300" dirty="0"/>
          </a:p>
        </p:txBody>
      </p:sp>
      <p:sp>
        <p:nvSpPr>
          <p:cNvPr id="27" name="Text 16"/>
          <p:cNvSpPr/>
          <p:nvPr/>
        </p:nvSpPr>
        <p:spPr>
          <a:xfrm>
            <a:off x="457200" y="3931920"/>
            <a:ext cx="8229600" cy="411480"/>
          </a:xfrm>
          <a:prstGeom prst="rect">
            <a:avLst/>
          </a:prstGeom>
          <a:noFill/>
          <a:ln/>
        </p:spPr>
        <p:txBody>
          <a:bodyPr wrap="square" lIns="0" tIns="0" rIns="0" bIns="0" rtlCol="0" anchor="ctr"/>
          <a:lstStyle/>
          <a:p>
            <a:pPr algn="ctr" indent="0" marL="0">
              <a:buNone/>
            </a:pPr>
            <a:r>
              <a:rPr lang="en-US" sz="1300" dirty="0">
                <a:solidFill>
                  <a:srgbClr val="3E318C"/>
                </a:solidFill>
                <a:latin typeface="Menlo" pitchFamily="34" charset="0"/>
                <a:ea typeface="Menlo" pitchFamily="34" charset="-122"/>
                <a:cs typeface="Menlo" pitchFamily="34" charset="-120"/>
              </a:rPr>
              <a:t>docker compose up -d   ·   claude   ·   “Load the base corpus”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Solution</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5</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DEMO</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One problem, three answers</a:t>
            </a:r>
            <a:endParaRPr lang="en-US" sz="2800" dirty="0"/>
          </a:p>
        </p:txBody>
      </p:sp>
      <p:sp>
        <p:nvSpPr>
          <p:cNvPr id="7" name="Shape 4"/>
          <p:cNvSpPr/>
          <p:nvPr/>
        </p:nvSpPr>
        <p:spPr>
          <a:xfrm>
            <a:off x="457200" y="1463040"/>
            <a:ext cx="2624328" cy="2834640"/>
          </a:xfrm>
          <a:prstGeom prst="roundRect">
            <a:avLst>
              <a:gd name="adj" fmla="val 4878"/>
            </a:avLst>
          </a:prstGeom>
          <a:solidFill>
            <a:srgbClr val="FFFFFF"/>
          </a:solidFill>
          <a:ln w="12700">
            <a:solidFill>
              <a:srgbClr val="E3E6EC"/>
            </a:solidFill>
            <a:prstDash val="solid"/>
          </a:ln>
        </p:spPr>
      </p:sp>
      <p:sp>
        <p:nvSpPr>
          <p:cNvPr id="8" name="Text 5"/>
          <p:cNvSpPr/>
          <p:nvPr/>
        </p:nvSpPr>
        <p:spPr>
          <a:xfrm>
            <a:off x="731520" y="1691640"/>
            <a:ext cx="210312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Engineer</a:t>
            </a:r>
            <a:endParaRPr lang="en-US" sz="1800" dirty="0"/>
          </a:p>
        </p:txBody>
      </p:sp>
      <p:sp>
        <p:nvSpPr>
          <p:cNvPr id="9" name="Text 6"/>
          <p:cNvSpPr/>
          <p:nvPr/>
        </p:nvSpPr>
        <p:spPr>
          <a:xfrm>
            <a:off x="731520" y="2194560"/>
            <a:ext cx="2103120" cy="914400"/>
          </a:xfrm>
          <a:prstGeom prst="rect">
            <a:avLst/>
          </a:prstGeom>
          <a:noFill/>
          <a:ln/>
        </p:spPr>
        <p:txBody>
          <a:bodyPr wrap="square" lIns="0" tIns="0" rIns="0" bIns="0" rtlCol="0" anchor="t"/>
          <a:lstStyle/>
          <a:p>
            <a:pPr indent="0" marL="0">
              <a:buNone/>
            </a:pPr>
            <a:r>
              <a:rPr lang="en-US" sz="1500" dirty="0">
                <a:solidFill>
                  <a:srgbClr val="3A3F55"/>
                </a:solidFill>
                <a:latin typeface="Avenir Next" pitchFamily="34" charset="0"/>
                <a:ea typeface="Avenir Next" pitchFamily="34" charset="-122"/>
                <a:cs typeface="Avenir Next" pitchFamily="34" charset="-120"/>
              </a:rPr>
              <a:t>1,024 nodes hit by a new fault</a:t>
            </a:r>
            <a:endParaRPr lang="en-US" sz="1500" dirty="0"/>
          </a:p>
        </p:txBody>
      </p:sp>
      <p:sp>
        <p:nvSpPr>
          <p:cNvPr id="10" name="Shape 7"/>
          <p:cNvSpPr/>
          <p:nvPr/>
        </p:nvSpPr>
        <p:spPr>
          <a:xfrm>
            <a:off x="640080" y="3429000"/>
            <a:ext cx="2258568" cy="685800"/>
          </a:xfrm>
          <a:prstGeom prst="roundRect">
            <a:avLst>
              <a:gd name="adj" fmla="val 18667"/>
            </a:avLst>
          </a:prstGeom>
          <a:solidFill>
            <a:srgbClr val="F1ECFD"/>
          </a:solidFill>
          <a:ln/>
        </p:spPr>
      </p:sp>
      <p:sp>
        <p:nvSpPr>
          <p:cNvPr id="11" name="Text 8"/>
          <p:cNvSpPr/>
          <p:nvPr/>
        </p:nvSpPr>
        <p:spPr>
          <a:xfrm>
            <a:off x="777240" y="3429000"/>
            <a:ext cx="2011680" cy="685800"/>
          </a:xfrm>
          <a:prstGeom prst="rect">
            <a:avLst/>
          </a:prstGeom>
          <a:noFill/>
          <a:ln/>
        </p:spPr>
        <p:txBody>
          <a:bodyPr wrap="square" lIns="0" tIns="0" rIns="0" bIns="0" rtlCol="0" anchor="ctr"/>
          <a:lstStyle/>
          <a:p>
            <a:pPr indent="0" marL="0">
              <a:buNone/>
            </a:pPr>
            <a:r>
              <a:rPr lang="en-US" sz="1250" b="1" dirty="0">
                <a:solidFill>
                  <a:srgbClr val="3E318C"/>
                </a:solidFill>
                <a:latin typeface="Avenir Next" pitchFamily="34" charset="0"/>
                <a:ea typeface="Avenir Next" pitchFamily="34" charset="-122"/>
                <a:cs typeface="Avenir Next" pitchFamily="34" charset="-120"/>
              </a:rPr>
              <a:t>Next: check host 172.16.96.116</a:t>
            </a:r>
            <a:endParaRPr lang="en-US" sz="1250" dirty="0"/>
          </a:p>
        </p:txBody>
      </p:sp>
      <p:sp>
        <p:nvSpPr>
          <p:cNvPr id="12" name="Shape 9"/>
          <p:cNvSpPr/>
          <p:nvPr/>
        </p:nvSpPr>
        <p:spPr>
          <a:xfrm>
            <a:off x="3264408" y="1463040"/>
            <a:ext cx="2624328" cy="2834640"/>
          </a:xfrm>
          <a:prstGeom prst="roundRect">
            <a:avLst>
              <a:gd name="adj" fmla="val 4878"/>
            </a:avLst>
          </a:prstGeom>
          <a:solidFill>
            <a:srgbClr val="FFFFFF"/>
          </a:solidFill>
          <a:ln w="12700">
            <a:solidFill>
              <a:srgbClr val="E3E6EC"/>
            </a:solidFill>
            <a:prstDash val="solid"/>
          </a:ln>
        </p:spPr>
      </p:sp>
      <p:sp>
        <p:nvSpPr>
          <p:cNvPr id="13" name="Text 10"/>
          <p:cNvSpPr/>
          <p:nvPr/>
        </p:nvSpPr>
        <p:spPr>
          <a:xfrm>
            <a:off x="3538728" y="1691640"/>
            <a:ext cx="210312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Team lead</a:t>
            </a:r>
            <a:endParaRPr lang="en-US" sz="1800" dirty="0"/>
          </a:p>
        </p:txBody>
      </p:sp>
      <p:sp>
        <p:nvSpPr>
          <p:cNvPr id="14" name="Text 11"/>
          <p:cNvSpPr/>
          <p:nvPr/>
        </p:nvSpPr>
        <p:spPr>
          <a:xfrm>
            <a:off x="3538728" y="2194560"/>
            <a:ext cx="2103120" cy="914400"/>
          </a:xfrm>
          <a:prstGeom prst="rect">
            <a:avLst/>
          </a:prstGeom>
          <a:noFill/>
          <a:ln/>
        </p:spPr>
        <p:txBody>
          <a:bodyPr wrap="square" lIns="0" tIns="0" rIns="0" bIns="0" rtlCol="0" anchor="t"/>
          <a:lstStyle/>
          <a:p>
            <a:pPr indent="0" marL="0">
              <a:buNone/>
            </a:pPr>
            <a:r>
              <a:rPr lang="en-US" sz="1500" dirty="0">
                <a:solidFill>
                  <a:srgbClr val="3A3F55"/>
                </a:solidFill>
                <a:latin typeface="Avenir Next" pitchFamily="34" charset="0"/>
                <a:ea typeface="Avenir Next" pitchFamily="34" charset="-122"/>
                <a:cs typeface="Avenir Next" pitchFamily="34" charset="-120"/>
              </a:rPr>
              <a:t>31 bursts, owner disputed</a:t>
            </a:r>
            <a:endParaRPr lang="en-US" sz="1500" dirty="0"/>
          </a:p>
        </p:txBody>
      </p:sp>
      <p:sp>
        <p:nvSpPr>
          <p:cNvPr id="15" name="Shape 12"/>
          <p:cNvSpPr/>
          <p:nvPr/>
        </p:nvSpPr>
        <p:spPr>
          <a:xfrm>
            <a:off x="3447288" y="3429000"/>
            <a:ext cx="2258568" cy="685800"/>
          </a:xfrm>
          <a:prstGeom prst="roundRect">
            <a:avLst>
              <a:gd name="adj" fmla="val 18667"/>
            </a:avLst>
          </a:prstGeom>
          <a:solidFill>
            <a:srgbClr val="F1ECFD"/>
          </a:solidFill>
          <a:ln/>
        </p:spPr>
      </p:sp>
      <p:sp>
        <p:nvSpPr>
          <p:cNvPr id="16" name="Text 13"/>
          <p:cNvSpPr/>
          <p:nvPr/>
        </p:nvSpPr>
        <p:spPr>
          <a:xfrm>
            <a:off x="3584448" y="3429000"/>
            <a:ext cx="2011680" cy="685800"/>
          </a:xfrm>
          <a:prstGeom prst="rect">
            <a:avLst/>
          </a:prstGeom>
          <a:noFill/>
          <a:ln/>
        </p:spPr>
        <p:txBody>
          <a:bodyPr wrap="square" lIns="0" tIns="0" rIns="0" bIns="0" rtlCol="0" anchor="ctr"/>
          <a:lstStyle/>
          <a:p>
            <a:pPr indent="0" marL="0">
              <a:buNone/>
            </a:pPr>
            <a:r>
              <a:rPr lang="en-US" sz="1250" b="1" dirty="0">
                <a:solidFill>
                  <a:srgbClr val="3E318C"/>
                </a:solidFill>
                <a:latin typeface="Avenir Next" pitchFamily="34" charset="0"/>
                <a:ea typeface="Avenir Next" pitchFamily="34" charset="-122"/>
                <a:cs typeface="Avenir Next" pitchFamily="34" charset="-120"/>
              </a:rPr>
              <a:t>Next: two teams triage together</a:t>
            </a:r>
            <a:endParaRPr lang="en-US" sz="1250" dirty="0"/>
          </a:p>
        </p:txBody>
      </p:sp>
      <p:sp>
        <p:nvSpPr>
          <p:cNvPr id="17" name="Shape 14"/>
          <p:cNvSpPr/>
          <p:nvPr/>
        </p:nvSpPr>
        <p:spPr>
          <a:xfrm>
            <a:off x="6071616" y="1463040"/>
            <a:ext cx="2624328" cy="2834640"/>
          </a:xfrm>
          <a:prstGeom prst="roundRect">
            <a:avLst>
              <a:gd name="adj" fmla="val 4878"/>
            </a:avLst>
          </a:prstGeom>
          <a:solidFill>
            <a:srgbClr val="FFFFFF"/>
          </a:solidFill>
          <a:ln w="12700">
            <a:solidFill>
              <a:srgbClr val="E3E6EC"/>
            </a:solidFill>
            <a:prstDash val="solid"/>
          </a:ln>
        </p:spPr>
      </p:sp>
      <p:sp>
        <p:nvSpPr>
          <p:cNvPr id="18" name="Text 15"/>
          <p:cNvSpPr/>
          <p:nvPr/>
        </p:nvSpPr>
        <p:spPr>
          <a:xfrm>
            <a:off x="6345936" y="1691640"/>
            <a:ext cx="210312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Manager</a:t>
            </a:r>
            <a:endParaRPr lang="en-US" sz="1800" dirty="0"/>
          </a:p>
        </p:txBody>
      </p:sp>
      <p:sp>
        <p:nvSpPr>
          <p:cNvPr id="19" name="Text 16"/>
          <p:cNvSpPr/>
          <p:nvPr/>
        </p:nvSpPr>
        <p:spPr>
          <a:xfrm>
            <a:off x="6345936" y="2194560"/>
            <a:ext cx="2103120" cy="914400"/>
          </a:xfrm>
          <a:prstGeom prst="rect">
            <a:avLst/>
          </a:prstGeom>
          <a:noFill/>
          <a:ln/>
        </p:spPr>
        <p:txBody>
          <a:bodyPr wrap="square" lIns="0" tIns="0" rIns="0" bIns="0" rtlCol="0" anchor="t"/>
          <a:lstStyle/>
          <a:p>
            <a:pPr indent="0" marL="0">
              <a:buNone/>
            </a:pPr>
            <a:r>
              <a:rPr lang="en-US" sz="1500" dirty="0">
                <a:solidFill>
                  <a:srgbClr val="3A3F55"/>
                </a:solidFill>
                <a:latin typeface="Avenir Next" pitchFamily="34" charset="0"/>
                <a:ea typeface="Avenir Next" pitchFamily="34" charset="-122"/>
                <a:cs typeface="Avenir Next" pitchFamily="34" charset="-120"/>
              </a:rPr>
              <a:t>Rank 1 of 133 problems</a:t>
            </a:r>
            <a:endParaRPr lang="en-US" sz="1500" dirty="0"/>
          </a:p>
        </p:txBody>
      </p:sp>
      <p:sp>
        <p:nvSpPr>
          <p:cNvPr id="20" name="Shape 17"/>
          <p:cNvSpPr/>
          <p:nvPr/>
        </p:nvSpPr>
        <p:spPr>
          <a:xfrm>
            <a:off x="6254496" y="3429000"/>
            <a:ext cx="2258568" cy="685800"/>
          </a:xfrm>
          <a:prstGeom prst="roundRect">
            <a:avLst>
              <a:gd name="adj" fmla="val 18667"/>
            </a:avLst>
          </a:prstGeom>
          <a:solidFill>
            <a:srgbClr val="F1ECFD"/>
          </a:solidFill>
          <a:ln/>
        </p:spPr>
      </p:sp>
      <p:sp>
        <p:nvSpPr>
          <p:cNvPr id="21" name="Text 18"/>
          <p:cNvSpPr/>
          <p:nvPr/>
        </p:nvSpPr>
        <p:spPr>
          <a:xfrm>
            <a:off x="6391656" y="3429000"/>
            <a:ext cx="2011680" cy="685800"/>
          </a:xfrm>
          <a:prstGeom prst="rect">
            <a:avLst/>
          </a:prstGeom>
          <a:noFill/>
          <a:ln/>
        </p:spPr>
        <p:txBody>
          <a:bodyPr wrap="square" lIns="0" tIns="0" rIns="0" bIns="0" rtlCol="0" anchor="ctr"/>
          <a:lstStyle/>
          <a:p>
            <a:pPr indent="0" marL="0">
              <a:buNone/>
            </a:pPr>
            <a:r>
              <a:rPr lang="en-US" sz="1250" b="1" dirty="0">
                <a:solidFill>
                  <a:srgbClr val="3E318C"/>
                </a:solidFill>
                <a:latin typeface="Avenir Next" pitchFamily="34" charset="0"/>
                <a:ea typeface="Avenir Next" pitchFamily="34" charset="-122"/>
                <a:cs typeface="Avenir Next" pitchFamily="34" charset="-120"/>
              </a:rPr>
              <a:t>Next: name one owner now</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Solution</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6</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WHY IT'S BETTER</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More accurate and faster</a:t>
            </a:r>
            <a:endParaRPr lang="en-US" sz="2800" dirty="0"/>
          </a:p>
        </p:txBody>
      </p:sp>
      <p:sp>
        <p:nvSpPr>
          <p:cNvPr id="7" name="Shape 4"/>
          <p:cNvSpPr/>
          <p:nvPr/>
        </p:nvSpPr>
        <p:spPr>
          <a:xfrm>
            <a:off x="457200" y="1554480"/>
            <a:ext cx="2621280" cy="2103120"/>
          </a:xfrm>
          <a:prstGeom prst="roundRect">
            <a:avLst>
              <a:gd name="adj" fmla="val 6087"/>
            </a:avLst>
          </a:prstGeom>
          <a:solidFill>
            <a:srgbClr val="FFFFFF"/>
          </a:solidFill>
          <a:ln w="12700">
            <a:solidFill>
              <a:srgbClr val="E3E6EC"/>
            </a:solidFill>
            <a:prstDash val="solid"/>
          </a:ln>
        </p:spPr>
      </p:sp>
      <p:sp>
        <p:nvSpPr>
          <p:cNvPr id="8" name="Text 5"/>
          <p:cNvSpPr/>
          <p:nvPr/>
        </p:nvSpPr>
        <p:spPr>
          <a:xfrm>
            <a:off x="731520" y="187452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62 / 62</a:t>
            </a:r>
            <a:endParaRPr lang="en-US" sz="3800" dirty="0"/>
          </a:p>
        </p:txBody>
      </p:sp>
      <p:sp>
        <p:nvSpPr>
          <p:cNvPr id="9" name="Text 6"/>
          <p:cNvSpPr/>
          <p:nvPr/>
        </p:nvSpPr>
        <p:spPr>
          <a:xfrm>
            <a:off x="73152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numbers traced to a query</a:t>
            </a:r>
            <a:endParaRPr lang="en-US" sz="1300" dirty="0"/>
          </a:p>
        </p:txBody>
      </p:sp>
      <p:sp>
        <p:nvSpPr>
          <p:cNvPr id="10" name="Shape 7"/>
          <p:cNvSpPr/>
          <p:nvPr/>
        </p:nvSpPr>
        <p:spPr>
          <a:xfrm>
            <a:off x="3261360" y="1554480"/>
            <a:ext cx="2621280" cy="2103120"/>
          </a:xfrm>
          <a:prstGeom prst="roundRect">
            <a:avLst>
              <a:gd name="adj" fmla="val 6087"/>
            </a:avLst>
          </a:prstGeom>
          <a:solidFill>
            <a:srgbClr val="FFFFFF"/>
          </a:solidFill>
          <a:ln w="12700">
            <a:solidFill>
              <a:srgbClr val="E3E6EC"/>
            </a:solidFill>
            <a:prstDash val="solid"/>
          </a:ln>
        </p:spPr>
      </p:sp>
      <p:sp>
        <p:nvSpPr>
          <p:cNvPr id="11" name="Text 8"/>
          <p:cNvSpPr/>
          <p:nvPr/>
        </p:nvSpPr>
        <p:spPr>
          <a:xfrm>
            <a:off x="3535680" y="187452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13 – 2</a:t>
            </a:r>
            <a:endParaRPr lang="en-US" sz="3800" dirty="0"/>
          </a:p>
        </p:txBody>
      </p:sp>
      <p:sp>
        <p:nvSpPr>
          <p:cNvPr id="12" name="Text 9"/>
          <p:cNvSpPr/>
          <p:nvPr/>
        </p:nvSpPr>
        <p:spPr>
          <a:xfrm>
            <a:off x="353568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wins vs the reference design (blind judge)</a:t>
            </a:r>
            <a:endParaRPr lang="en-US" sz="1300" dirty="0"/>
          </a:p>
        </p:txBody>
      </p:sp>
      <p:sp>
        <p:nvSpPr>
          <p:cNvPr id="13" name="Shape 10"/>
          <p:cNvSpPr/>
          <p:nvPr/>
        </p:nvSpPr>
        <p:spPr>
          <a:xfrm>
            <a:off x="6065520" y="1554480"/>
            <a:ext cx="2621280" cy="2103120"/>
          </a:xfrm>
          <a:prstGeom prst="roundRect">
            <a:avLst>
              <a:gd name="adj" fmla="val 6087"/>
            </a:avLst>
          </a:prstGeom>
          <a:solidFill>
            <a:srgbClr val="FFFFFF"/>
          </a:solidFill>
          <a:ln w="12700">
            <a:solidFill>
              <a:srgbClr val="E3E6EC"/>
            </a:solidFill>
            <a:prstDash val="solid"/>
          </a:ln>
        </p:spPr>
      </p:sp>
      <p:sp>
        <p:nvSpPr>
          <p:cNvPr id="14" name="Text 11"/>
          <p:cNvSpPr/>
          <p:nvPr/>
        </p:nvSpPr>
        <p:spPr>
          <a:xfrm>
            <a:off x="6339840" y="187452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13 s</a:t>
            </a:r>
            <a:endParaRPr lang="en-US" sz="3800" dirty="0"/>
          </a:p>
        </p:txBody>
      </p:sp>
      <p:sp>
        <p:nvSpPr>
          <p:cNvPr id="15" name="Text 12"/>
          <p:cNvSpPr/>
          <p:nvPr/>
        </p:nvSpPr>
        <p:spPr>
          <a:xfrm>
            <a:off x="6339840" y="2651760"/>
            <a:ext cx="216408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per answer, vs 71 s for an AI grepping raw files (pilot)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Company</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7</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HOW IT FITS THE COMPANY</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It plugs into routines that already exist</a:t>
            </a:r>
            <a:endParaRPr lang="en-US" sz="2800" dirty="0"/>
          </a:p>
        </p:txBody>
      </p:sp>
      <p:sp>
        <p:nvSpPr>
          <p:cNvPr id="7" name="Shape 4"/>
          <p:cNvSpPr/>
          <p:nvPr/>
        </p:nvSpPr>
        <p:spPr>
          <a:xfrm>
            <a:off x="457200" y="1463040"/>
            <a:ext cx="2621280" cy="1920240"/>
          </a:xfrm>
          <a:prstGeom prst="roundRect">
            <a:avLst>
              <a:gd name="adj" fmla="val 6667"/>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73736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1868119"/>
            <a:ext cx="241402" cy="241402"/>
          </a:xfrm>
          <a:prstGeom prst="rect">
            <a:avLst/>
          </a:prstGeom>
        </p:spPr>
      </p:pic>
      <p:sp>
        <p:nvSpPr>
          <p:cNvPr id="10" name="Text 5"/>
          <p:cNvSpPr/>
          <p:nvPr/>
        </p:nvSpPr>
        <p:spPr>
          <a:xfrm>
            <a:off x="71323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On-call</a:t>
            </a:r>
            <a:endParaRPr lang="en-US" sz="1600" dirty="0"/>
          </a:p>
        </p:txBody>
      </p:sp>
      <p:sp>
        <p:nvSpPr>
          <p:cNvPr id="11" name="Text 6"/>
          <p:cNvSpPr/>
          <p:nvPr/>
        </p:nvSpPr>
        <p:spPr>
          <a:xfrm>
            <a:off x="713232" y="2834640"/>
            <a:ext cx="2164080" cy="4114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the engineer, during an incident</a:t>
            </a:r>
            <a:endParaRPr lang="en-US" sz="1300" dirty="0"/>
          </a:p>
        </p:txBody>
      </p:sp>
      <p:sp>
        <p:nvSpPr>
          <p:cNvPr id="12" name="Shape 7"/>
          <p:cNvSpPr/>
          <p:nvPr/>
        </p:nvSpPr>
        <p:spPr>
          <a:xfrm>
            <a:off x="3261360" y="1463040"/>
            <a:ext cx="2621280" cy="1920240"/>
          </a:xfrm>
          <a:prstGeom prst="roundRect">
            <a:avLst>
              <a:gd name="adj" fmla="val 6667"/>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3517392" y="173736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3648151" y="1868119"/>
            <a:ext cx="241402" cy="241402"/>
          </a:xfrm>
          <a:prstGeom prst="rect">
            <a:avLst/>
          </a:prstGeom>
        </p:spPr>
      </p:pic>
      <p:sp>
        <p:nvSpPr>
          <p:cNvPr id="15" name="Text 8"/>
          <p:cNvSpPr/>
          <p:nvPr/>
        </p:nvSpPr>
        <p:spPr>
          <a:xfrm>
            <a:off x="351739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Weekly review</a:t>
            </a:r>
            <a:endParaRPr lang="en-US" sz="1600" dirty="0"/>
          </a:p>
        </p:txBody>
      </p:sp>
      <p:sp>
        <p:nvSpPr>
          <p:cNvPr id="16" name="Text 9"/>
          <p:cNvSpPr/>
          <p:nvPr/>
        </p:nvSpPr>
        <p:spPr>
          <a:xfrm>
            <a:off x="3517392" y="2834640"/>
            <a:ext cx="2164080" cy="4114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the lead, recurring problems by team</a:t>
            </a:r>
            <a:endParaRPr lang="en-US" sz="1300" dirty="0"/>
          </a:p>
        </p:txBody>
      </p:sp>
      <p:sp>
        <p:nvSpPr>
          <p:cNvPr id="17" name="Shape 10"/>
          <p:cNvSpPr/>
          <p:nvPr/>
        </p:nvSpPr>
        <p:spPr>
          <a:xfrm>
            <a:off x="6065520" y="1463040"/>
            <a:ext cx="2621280" cy="1920240"/>
          </a:xfrm>
          <a:prstGeom prst="roundRect">
            <a:avLst>
              <a:gd name="adj" fmla="val 6667"/>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6321552" y="173736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6452311" y="1868119"/>
            <a:ext cx="241402" cy="241402"/>
          </a:xfrm>
          <a:prstGeom prst="rect">
            <a:avLst/>
          </a:prstGeom>
        </p:spPr>
      </p:pic>
      <p:sp>
        <p:nvSpPr>
          <p:cNvPr id="20" name="Text 11"/>
          <p:cNvSpPr/>
          <p:nvPr/>
        </p:nvSpPr>
        <p:spPr>
          <a:xfrm>
            <a:off x="632155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Monthly planning</a:t>
            </a:r>
            <a:endParaRPr lang="en-US" sz="1600" dirty="0"/>
          </a:p>
        </p:txBody>
      </p:sp>
      <p:sp>
        <p:nvSpPr>
          <p:cNvPr id="21" name="Text 12"/>
          <p:cNvSpPr/>
          <p:nvPr/>
        </p:nvSpPr>
        <p:spPr>
          <a:xfrm>
            <a:off x="6321552" y="2834640"/>
            <a:ext cx="2164080" cy="4114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the manager, a computed ranking</a:t>
            </a:r>
            <a:endParaRPr lang="en-US" sz="1300" dirty="0"/>
          </a:p>
        </p:txBody>
      </p:sp>
      <p:sp>
        <p:nvSpPr>
          <p:cNvPr id="22" name="Shape 13"/>
          <p:cNvSpPr/>
          <p:nvPr/>
        </p:nvSpPr>
        <p:spPr>
          <a:xfrm>
            <a:off x="457200" y="3566160"/>
            <a:ext cx="1920240" cy="777240"/>
          </a:xfrm>
          <a:prstGeom prst="roundRect">
            <a:avLst>
              <a:gd name="adj" fmla="val 16471"/>
            </a:avLst>
          </a:prstGeom>
          <a:solidFill>
            <a:srgbClr val="FFFFFF"/>
          </a:solidFill>
          <a:ln w="12700">
            <a:solidFill>
              <a:srgbClr val="E3E6EC"/>
            </a:solidFill>
            <a:prstDash val="solid"/>
          </a:ln>
        </p:spPr>
      </p:sp>
      <p:sp>
        <p:nvSpPr>
          <p:cNvPr id="23" name="Text 14"/>
          <p:cNvSpPr/>
          <p:nvPr/>
        </p:nvSpPr>
        <p:spPr>
          <a:xfrm>
            <a:off x="640080" y="3566160"/>
            <a:ext cx="1645920" cy="777240"/>
          </a:xfrm>
          <a:prstGeom prst="rect">
            <a:avLst/>
          </a:prstGeom>
          <a:noFill/>
          <a:ln/>
        </p:spPr>
        <p:txBody>
          <a:bodyPr wrap="square" lIns="0" tIns="0" rIns="0" bIns="0" rtlCol="0" anchor="ctr"/>
          <a:lstStyle/>
          <a:p>
            <a:pPr indent="0" marL="0">
              <a:buNone/>
            </a:pPr>
            <a:r>
              <a:rPr lang="en-US" sz="1150" b="1" dirty="0">
                <a:solidFill>
                  <a:srgbClr val="3E318C"/>
                </a:solidFill>
                <a:latin typeface="Avenir Next" pitchFamily="34" charset="0"/>
                <a:ea typeface="Avenir Next" pitchFamily="34" charset="-122"/>
                <a:cs typeface="Avenir Next" pitchFamily="34" charset="-120"/>
              </a:rPr>
              <a:t>Their tools</a:t>
            </a:r>
            <a:endParaRPr lang="en-US" sz="1150" dirty="0"/>
          </a:p>
          <a:p>
            <a:pPr indent="0" marL="0">
              <a:buNone/>
            </a:pPr>
            <a:r>
              <a:rPr lang="en-US" sz="1150" dirty="0">
                <a:solidFill>
                  <a:srgbClr val="3A3F55"/>
                </a:solidFill>
                <a:latin typeface="Avenir Next" pitchFamily="34" charset="0"/>
                <a:ea typeface="Avenir Next" pitchFamily="34" charset="-122"/>
                <a:cs typeface="Avenir Next" pitchFamily="34" charset="-120"/>
              </a:rPr>
              <a:t>Claude Code / any MCP client</a:t>
            </a:r>
            <a:endParaRPr lang="en-US" sz="1150" dirty="0"/>
          </a:p>
        </p:txBody>
      </p:sp>
      <p:sp>
        <p:nvSpPr>
          <p:cNvPr id="24" name="Shape 15"/>
          <p:cNvSpPr/>
          <p:nvPr/>
        </p:nvSpPr>
        <p:spPr>
          <a:xfrm>
            <a:off x="2560320" y="3566160"/>
            <a:ext cx="1920240" cy="777240"/>
          </a:xfrm>
          <a:prstGeom prst="roundRect">
            <a:avLst>
              <a:gd name="adj" fmla="val 16471"/>
            </a:avLst>
          </a:prstGeom>
          <a:solidFill>
            <a:srgbClr val="FFFFFF"/>
          </a:solidFill>
          <a:ln w="12700">
            <a:solidFill>
              <a:srgbClr val="E3E6EC"/>
            </a:solidFill>
            <a:prstDash val="solid"/>
          </a:ln>
        </p:spPr>
      </p:sp>
      <p:sp>
        <p:nvSpPr>
          <p:cNvPr id="25" name="Text 16"/>
          <p:cNvSpPr/>
          <p:nvPr/>
        </p:nvSpPr>
        <p:spPr>
          <a:xfrm>
            <a:off x="2743200" y="3566160"/>
            <a:ext cx="1645920" cy="777240"/>
          </a:xfrm>
          <a:prstGeom prst="rect">
            <a:avLst/>
          </a:prstGeom>
          <a:noFill/>
          <a:ln/>
        </p:spPr>
        <p:txBody>
          <a:bodyPr wrap="square" lIns="0" tIns="0" rIns="0" bIns="0" rtlCol="0" anchor="ctr"/>
          <a:lstStyle/>
          <a:p>
            <a:pPr indent="0" marL="0">
              <a:buNone/>
            </a:pPr>
            <a:r>
              <a:rPr lang="en-US" sz="1150" b="1" dirty="0">
                <a:solidFill>
                  <a:srgbClr val="3E318C"/>
                </a:solidFill>
                <a:latin typeface="Avenir Next" pitchFamily="34" charset="0"/>
                <a:ea typeface="Avenir Next" pitchFamily="34" charset="-122"/>
                <a:cs typeface="Avenir Next" pitchFamily="34" charset="-120"/>
              </a:rPr>
              <a:t>Their data</a:t>
            </a:r>
            <a:endParaRPr lang="en-US" sz="1150" dirty="0"/>
          </a:p>
          <a:p>
            <a:pPr indent="0" marL="0">
              <a:buNone/>
            </a:pPr>
            <a:r>
              <a:rPr lang="en-US" sz="1150" dirty="0">
                <a:solidFill>
                  <a:srgbClr val="3A3F55"/>
                </a:solidFill>
                <a:latin typeface="Avenir Next" pitchFamily="34" charset="0"/>
                <a:ea typeface="Avenir Next" pitchFamily="34" charset="-122"/>
                <a:cs typeface="Avenir Next" pitchFamily="34" charset="-120"/>
              </a:rPr>
              <a:t>stays on their machine</a:t>
            </a:r>
            <a:endParaRPr lang="en-US" sz="1150" dirty="0"/>
          </a:p>
        </p:txBody>
      </p:sp>
      <p:sp>
        <p:nvSpPr>
          <p:cNvPr id="26" name="Shape 17"/>
          <p:cNvSpPr/>
          <p:nvPr/>
        </p:nvSpPr>
        <p:spPr>
          <a:xfrm>
            <a:off x="4663440" y="3566160"/>
            <a:ext cx="1920240" cy="777240"/>
          </a:xfrm>
          <a:prstGeom prst="roundRect">
            <a:avLst>
              <a:gd name="adj" fmla="val 16471"/>
            </a:avLst>
          </a:prstGeom>
          <a:solidFill>
            <a:srgbClr val="FFFFFF"/>
          </a:solidFill>
          <a:ln w="12700">
            <a:solidFill>
              <a:srgbClr val="E3E6EC"/>
            </a:solidFill>
            <a:prstDash val="solid"/>
          </a:ln>
        </p:spPr>
      </p:sp>
      <p:sp>
        <p:nvSpPr>
          <p:cNvPr id="27" name="Text 18"/>
          <p:cNvSpPr/>
          <p:nvPr/>
        </p:nvSpPr>
        <p:spPr>
          <a:xfrm>
            <a:off x="4846320" y="3566160"/>
            <a:ext cx="1645920" cy="777240"/>
          </a:xfrm>
          <a:prstGeom prst="rect">
            <a:avLst/>
          </a:prstGeom>
          <a:noFill/>
          <a:ln/>
        </p:spPr>
        <p:txBody>
          <a:bodyPr wrap="square" lIns="0" tIns="0" rIns="0" bIns="0" rtlCol="0" anchor="ctr"/>
          <a:lstStyle/>
          <a:p>
            <a:pPr indent="0" marL="0">
              <a:buNone/>
            </a:pPr>
            <a:r>
              <a:rPr lang="en-US" sz="1150" b="1" dirty="0">
                <a:solidFill>
                  <a:srgbClr val="3E318C"/>
                </a:solidFill>
                <a:latin typeface="Avenir Next" pitchFamily="34" charset="0"/>
                <a:ea typeface="Avenir Next" pitchFamily="34" charset="-122"/>
                <a:cs typeface="Avenir Next" pitchFamily="34" charset="-120"/>
              </a:rPr>
              <a:t>Their logs</a:t>
            </a:r>
            <a:endParaRPr lang="en-US" sz="1150" dirty="0"/>
          </a:p>
          <a:p>
            <a:pPr indent="0" marL="0">
              <a:buNone/>
            </a:pPr>
            <a:r>
              <a:rPr lang="en-US" sz="1150" dirty="0">
                <a:solidFill>
                  <a:srgbClr val="3A3F55"/>
                </a:solidFill>
                <a:latin typeface="Avenir Next" pitchFamily="34" charset="0"/>
                <a:ea typeface="Avenir Next" pitchFamily="34" charset="-122"/>
                <a:cs typeface="Avenir Next" pitchFamily="34" charset="-120"/>
              </a:rPr>
              <a:t>any file format</a:t>
            </a:r>
            <a:endParaRPr lang="en-US" sz="1150" dirty="0"/>
          </a:p>
        </p:txBody>
      </p:sp>
      <p:sp>
        <p:nvSpPr>
          <p:cNvPr id="28" name="Shape 19"/>
          <p:cNvSpPr/>
          <p:nvPr/>
        </p:nvSpPr>
        <p:spPr>
          <a:xfrm>
            <a:off x="6766560" y="3566160"/>
            <a:ext cx="1920240" cy="777240"/>
          </a:xfrm>
          <a:prstGeom prst="roundRect">
            <a:avLst>
              <a:gd name="adj" fmla="val 16471"/>
            </a:avLst>
          </a:prstGeom>
          <a:solidFill>
            <a:srgbClr val="FFFFFF"/>
          </a:solidFill>
          <a:ln w="12700">
            <a:solidFill>
              <a:srgbClr val="E3E6EC"/>
            </a:solidFill>
            <a:prstDash val="solid"/>
          </a:ln>
        </p:spPr>
      </p:sp>
      <p:sp>
        <p:nvSpPr>
          <p:cNvPr id="29" name="Text 20"/>
          <p:cNvSpPr/>
          <p:nvPr/>
        </p:nvSpPr>
        <p:spPr>
          <a:xfrm>
            <a:off x="6949440" y="3566160"/>
            <a:ext cx="1645920" cy="777240"/>
          </a:xfrm>
          <a:prstGeom prst="rect">
            <a:avLst/>
          </a:prstGeom>
          <a:noFill/>
          <a:ln/>
        </p:spPr>
        <p:txBody>
          <a:bodyPr wrap="square" lIns="0" tIns="0" rIns="0" bIns="0" rtlCol="0" anchor="ctr"/>
          <a:lstStyle/>
          <a:p>
            <a:pPr indent="0" marL="0">
              <a:buNone/>
            </a:pPr>
            <a:r>
              <a:rPr lang="en-US" sz="1150" b="1" dirty="0">
                <a:solidFill>
                  <a:srgbClr val="3E318C"/>
                </a:solidFill>
                <a:latin typeface="Avenir Next" pitchFamily="34" charset="0"/>
                <a:ea typeface="Avenir Next" pitchFamily="34" charset="-122"/>
                <a:cs typeface="Avenir Next" pitchFamily="34" charset="-120"/>
              </a:rPr>
              <a:t>Their teams</a:t>
            </a:r>
            <a:endParaRPr lang="en-US" sz="1150" dirty="0"/>
          </a:p>
          <a:p>
            <a:pPr indent="0" marL="0">
              <a:buNone/>
            </a:pPr>
            <a:r>
              <a:rPr lang="en-US" sz="1150" dirty="0">
                <a:solidFill>
                  <a:srgbClr val="3A3F55"/>
                </a:solidFill>
                <a:latin typeface="Avenir Next" pitchFamily="34" charset="0"/>
                <a:ea typeface="Avenir Next" pitchFamily="34" charset="-122"/>
                <a:cs typeface="Avenir Next" pitchFamily="34" charset="-120"/>
              </a:rPr>
              <a:t>access per team</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Cost</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8</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CHEAPER THAN THE ALTERNATIVES</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Judge once, not every line</a:t>
            </a:r>
            <a:endParaRPr lang="en-US" sz="2800" dirty="0"/>
          </a:p>
        </p:txBody>
      </p:sp>
      <p:sp>
        <p:nvSpPr>
          <p:cNvPr id="7" name="Shape 4"/>
          <p:cNvSpPr/>
          <p:nvPr/>
        </p:nvSpPr>
        <p:spPr>
          <a:xfrm>
            <a:off x="457200" y="1463040"/>
            <a:ext cx="4023360" cy="2880360"/>
          </a:xfrm>
          <a:prstGeom prst="roundRect">
            <a:avLst>
              <a:gd name="adj" fmla="val 4444"/>
            </a:avLst>
          </a:prstGeom>
          <a:solidFill>
            <a:srgbClr val="FFFFFF"/>
          </a:solidFill>
          <a:ln w="12700">
            <a:solidFill>
              <a:srgbClr val="E3E6EC"/>
            </a:solidFill>
            <a:prstDash val="solid"/>
          </a:ln>
        </p:spPr>
      </p:sp>
      <p:sp>
        <p:nvSpPr>
          <p:cNvPr id="8" name="Text 5"/>
          <p:cNvSpPr/>
          <p:nvPr/>
        </p:nvSpPr>
        <p:spPr>
          <a:xfrm>
            <a:off x="777240" y="1691640"/>
            <a:ext cx="3474720" cy="3657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An LLM reads every line</a:t>
            </a:r>
            <a:endParaRPr lang="en-US" sz="1500" dirty="0"/>
          </a:p>
        </p:txBody>
      </p:sp>
      <p:sp>
        <p:nvSpPr>
          <p:cNvPr id="9" name="Text 6"/>
          <p:cNvSpPr/>
          <p:nvPr/>
        </p:nvSpPr>
        <p:spPr>
          <a:xfrm>
            <a:off x="777240" y="2148840"/>
            <a:ext cx="3474720" cy="731520"/>
          </a:xfrm>
          <a:prstGeom prst="rect">
            <a:avLst/>
          </a:prstGeom>
          <a:noFill/>
          <a:ln/>
        </p:spPr>
        <p:txBody>
          <a:bodyPr wrap="square" lIns="0" tIns="0" rIns="0" bIns="0" rtlCol="0" anchor="ctr"/>
          <a:lstStyle/>
          <a:p>
            <a:pPr indent="0" marL="0">
              <a:buNone/>
            </a:pPr>
            <a:r>
              <a:rPr lang="en-US" sz="3400" b="1" dirty="0">
                <a:solidFill>
                  <a:srgbClr val="C2410C"/>
                </a:solidFill>
                <a:latin typeface="Avenir Next" pitchFamily="34" charset="0"/>
                <a:ea typeface="Avenir Next" pitchFamily="34" charset="-122"/>
                <a:cs typeface="Avenir Next" pitchFamily="34" charset="-120"/>
              </a:rPr>
              <a:t>≈ 177 M tokens</a:t>
            </a:r>
            <a:endParaRPr lang="en-US" sz="3400" dirty="0"/>
          </a:p>
        </p:txBody>
      </p:sp>
      <p:sp>
        <p:nvSpPr>
          <p:cNvPr id="10" name="Text 7"/>
          <p:cNvSpPr/>
          <p:nvPr/>
        </p:nvSpPr>
        <p:spPr>
          <a:xfrm>
            <a:off x="777240" y="2880360"/>
            <a:ext cx="3474720" cy="365760"/>
          </a:xfrm>
          <a:prstGeom prst="rect">
            <a:avLst/>
          </a:prstGeom>
          <a:noFill/>
          <a:ln/>
        </p:spPr>
        <p:txBody>
          <a:bodyPr wrap="square" lIns="0" tIns="0" rIns="0" bIns="0" rtlCol="0" anchor="ctr"/>
          <a:lstStyle/>
          <a:p>
            <a:pPr indent="0" marL="0">
              <a:buNone/>
            </a:pPr>
            <a:r>
              <a:rPr lang="en-US" sz="1300" dirty="0">
                <a:solidFill>
                  <a:srgbClr val="3A3F55"/>
                </a:solidFill>
                <a:latin typeface="Avenir Next" pitchFamily="34" charset="0"/>
                <a:ea typeface="Avenir Next" pitchFamily="34" charset="-122"/>
                <a:cs typeface="Avenir Next" pitchFamily="34" charset="-120"/>
              </a:rPr>
              <a:t>every time (estimate)</a:t>
            </a:r>
            <a:endParaRPr lang="en-US" sz="1300" dirty="0"/>
          </a:p>
        </p:txBody>
      </p:sp>
      <p:sp>
        <p:nvSpPr>
          <p:cNvPr id="11" name="Shape 8"/>
          <p:cNvSpPr/>
          <p:nvPr/>
        </p:nvSpPr>
        <p:spPr>
          <a:xfrm>
            <a:off x="4663440" y="1463040"/>
            <a:ext cx="4023360" cy="2880360"/>
          </a:xfrm>
          <a:prstGeom prst="roundRect">
            <a:avLst>
              <a:gd name="adj" fmla="val 4444"/>
            </a:avLst>
          </a:prstGeom>
          <a:solidFill>
            <a:srgbClr val="F1ECFD"/>
          </a:solidFill>
          <a:ln/>
        </p:spPr>
      </p:sp>
      <p:sp>
        <p:nvSpPr>
          <p:cNvPr id="12" name="Text 9"/>
          <p:cNvSpPr/>
          <p:nvPr/>
        </p:nvSpPr>
        <p:spPr>
          <a:xfrm>
            <a:off x="4983480" y="1691640"/>
            <a:ext cx="3474720" cy="3657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Jev judges 1,126 patterns</a:t>
            </a:r>
            <a:endParaRPr lang="en-US" sz="1500" dirty="0"/>
          </a:p>
        </p:txBody>
      </p:sp>
      <p:sp>
        <p:nvSpPr>
          <p:cNvPr id="13" name="Text 10"/>
          <p:cNvSpPr/>
          <p:nvPr/>
        </p:nvSpPr>
        <p:spPr>
          <a:xfrm>
            <a:off x="4983480" y="2148840"/>
            <a:ext cx="3474720" cy="731520"/>
          </a:xfrm>
          <a:prstGeom prst="rect">
            <a:avLst/>
          </a:prstGeom>
          <a:noFill/>
          <a:ln/>
        </p:spPr>
        <p:txBody>
          <a:bodyPr wrap="square" lIns="0" tIns="0" rIns="0" bIns="0" rtlCol="0" anchor="ctr"/>
          <a:lstStyle/>
          <a:p>
            <a:pPr indent="0" marL="0">
              <a:buNone/>
            </a:pPr>
            <a:r>
              <a:rPr lang="en-US" sz="3400" b="1" dirty="0">
                <a:solidFill>
                  <a:srgbClr val="6A4BD8"/>
                </a:solidFill>
                <a:latin typeface="Avenir Next" pitchFamily="34" charset="0"/>
                <a:ea typeface="Avenir Next" pitchFamily="34" charset="-122"/>
                <a:cs typeface="Avenir Next" pitchFamily="34" charset="-120"/>
              </a:rPr>
              <a:t>$0.02 · 20 s</a:t>
            </a:r>
            <a:endParaRPr lang="en-US" sz="3400" dirty="0"/>
          </a:p>
        </p:txBody>
      </p:sp>
      <p:sp>
        <p:nvSpPr>
          <p:cNvPr id="14" name="Text 11"/>
          <p:cNvSpPr/>
          <p:nvPr/>
        </p:nvSpPr>
        <p:spPr>
          <a:xfrm>
            <a:off x="4983480" y="2880360"/>
            <a:ext cx="3474720" cy="365760"/>
          </a:xfrm>
          <a:prstGeom prst="rect">
            <a:avLst/>
          </a:prstGeom>
          <a:noFill/>
          <a:ln/>
        </p:spPr>
        <p:txBody>
          <a:bodyPr wrap="square" lIns="0" tIns="0" rIns="0" bIns="0" rtlCol="0" anchor="ctr"/>
          <a:lstStyle/>
          <a:p>
            <a:pPr indent="0" marL="0">
              <a:buNone/>
            </a:pPr>
            <a:r>
              <a:rPr lang="en-US" sz="1300" dirty="0">
                <a:solidFill>
                  <a:srgbClr val="3A3F55"/>
                </a:solidFill>
                <a:latin typeface="Avenir Next" pitchFamily="34" charset="0"/>
                <a:ea typeface="Avenir Next" pitchFamily="34" charset="-122"/>
                <a:cs typeface="Avenir Next" pitchFamily="34" charset="-120"/>
              </a:rPr>
              <a:t>once, reused by every answer</a:t>
            </a:r>
            <a:endParaRPr lang="en-US" sz="1300" dirty="0"/>
          </a:p>
        </p:txBody>
      </p:sp>
      <p:sp>
        <p:nvSpPr>
          <p:cNvPr id="15" name="Text 12"/>
          <p:cNvSpPr/>
          <p:nvPr/>
        </p:nvSpPr>
        <p:spPr>
          <a:xfrm>
            <a:off x="4983480" y="3520440"/>
            <a:ext cx="3474720" cy="457200"/>
          </a:xfrm>
          <a:prstGeom prst="rect">
            <a:avLst/>
          </a:prstGeom>
          <a:noFill/>
          <a:ln/>
        </p:spPr>
        <p:txBody>
          <a:bodyPr wrap="square" lIns="0" tIns="0" rIns="0" bIns="0" rtlCol="0" anchor="ctr"/>
          <a:lstStyle/>
          <a:p>
            <a:pPr indent="0" marL="0">
              <a:buNone/>
            </a:pPr>
            <a:r>
              <a:rPr lang="en-US" sz="1400" b="1" dirty="0">
                <a:solidFill>
                  <a:srgbClr val="3E318C"/>
                </a:solidFill>
                <a:latin typeface="Avenir Next" pitchFamily="34" charset="0"/>
                <a:ea typeface="Avenir Next" pitchFamily="34" charset="-122"/>
                <a:cs typeface="Avenir Next" pitchFamily="34" charset="-120"/>
              </a:rPr>
              <a:t>real alerts in the top 10: 1 → 5</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Loading</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9</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LOADING</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One sentence loads your logs</a:t>
            </a:r>
            <a:endParaRPr lang="en-US" sz="2800" dirty="0"/>
          </a:p>
        </p:txBody>
      </p:sp>
      <p:sp>
        <p:nvSpPr>
          <p:cNvPr id="7" name="Shape 4"/>
          <p:cNvSpPr/>
          <p:nvPr/>
        </p:nvSpPr>
        <p:spPr>
          <a:xfrm>
            <a:off x="457200" y="1463040"/>
            <a:ext cx="1234440" cy="1417320"/>
          </a:xfrm>
          <a:prstGeom prst="roundRect">
            <a:avLst>
              <a:gd name="adj" fmla="val 10370"/>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822960" y="164592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953719" y="1776679"/>
            <a:ext cx="241402" cy="241402"/>
          </a:xfrm>
          <a:prstGeom prst="rect">
            <a:avLst/>
          </a:prstGeom>
        </p:spPr>
      </p:pic>
      <p:sp>
        <p:nvSpPr>
          <p:cNvPr id="10" name="Text 5"/>
          <p:cNvSpPr/>
          <p:nvPr/>
        </p:nvSpPr>
        <p:spPr>
          <a:xfrm>
            <a:off x="530352"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Stream</a:t>
            </a:r>
            <a:endParaRPr lang="en-US" sz="1250" dirty="0"/>
          </a:p>
        </p:txBody>
      </p:sp>
      <p:sp>
        <p:nvSpPr>
          <p:cNvPr id="11" name="Text 6"/>
          <p:cNvSpPr/>
          <p:nvPr/>
        </p:nvSpPr>
        <p:spPr>
          <a:xfrm>
            <a:off x="1673352" y="1965960"/>
            <a:ext cx="182880" cy="365760"/>
          </a:xfrm>
          <a:prstGeom prst="rect">
            <a:avLst/>
          </a:prstGeom>
          <a:noFill/>
          <a:ln/>
        </p:spPr>
        <p:txBody>
          <a:bodyPr wrap="square" lIns="0" tIns="0" rIns="0" bIns="0" rtlCol="0" anchor="ctr"/>
          <a:lstStyle/>
          <a:p>
            <a:pPr algn="ctr" indent="0" marL="0">
              <a:buNone/>
            </a:pPr>
            <a:r>
              <a:rPr lang="en-US" sz="2000" b="1" dirty="0">
                <a:solidFill>
                  <a:srgbClr val="6A4BD8"/>
                </a:solidFill>
                <a:latin typeface="Avenir Next" pitchFamily="34" charset="0"/>
                <a:ea typeface="Avenir Next" pitchFamily="34" charset="-122"/>
                <a:cs typeface="Avenir Next" pitchFamily="34" charset="-120"/>
              </a:rPr>
              <a:t>›</a:t>
            </a:r>
            <a:endParaRPr lang="en-US" sz="2000" dirty="0"/>
          </a:p>
        </p:txBody>
      </p:sp>
      <p:sp>
        <p:nvSpPr>
          <p:cNvPr id="12" name="Shape 7"/>
          <p:cNvSpPr/>
          <p:nvPr/>
        </p:nvSpPr>
        <p:spPr>
          <a:xfrm>
            <a:off x="1856232" y="1463040"/>
            <a:ext cx="1234440" cy="1417320"/>
          </a:xfrm>
          <a:prstGeom prst="roundRect">
            <a:avLst>
              <a:gd name="adj" fmla="val 10370"/>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2221992" y="164592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2352751" y="1776679"/>
            <a:ext cx="241402" cy="241402"/>
          </a:xfrm>
          <a:prstGeom prst="rect">
            <a:avLst/>
          </a:prstGeom>
        </p:spPr>
      </p:pic>
      <p:sp>
        <p:nvSpPr>
          <p:cNvPr id="15" name="Text 8"/>
          <p:cNvSpPr/>
          <p:nvPr/>
        </p:nvSpPr>
        <p:spPr>
          <a:xfrm>
            <a:off x="1929384"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Detect format</a:t>
            </a:r>
            <a:endParaRPr lang="en-US" sz="1250" dirty="0"/>
          </a:p>
        </p:txBody>
      </p:sp>
      <p:sp>
        <p:nvSpPr>
          <p:cNvPr id="16" name="Text 9"/>
          <p:cNvSpPr/>
          <p:nvPr/>
        </p:nvSpPr>
        <p:spPr>
          <a:xfrm>
            <a:off x="3072384" y="1965960"/>
            <a:ext cx="182880" cy="365760"/>
          </a:xfrm>
          <a:prstGeom prst="rect">
            <a:avLst/>
          </a:prstGeom>
          <a:noFill/>
          <a:ln/>
        </p:spPr>
        <p:txBody>
          <a:bodyPr wrap="square" lIns="0" tIns="0" rIns="0" bIns="0" rtlCol="0" anchor="ctr"/>
          <a:lstStyle/>
          <a:p>
            <a:pPr algn="ctr" indent="0" marL="0">
              <a:buNone/>
            </a:pPr>
            <a:r>
              <a:rPr lang="en-US" sz="2000" b="1" dirty="0">
                <a:solidFill>
                  <a:srgbClr val="6A4BD8"/>
                </a:solidFill>
                <a:latin typeface="Avenir Next" pitchFamily="34" charset="0"/>
                <a:ea typeface="Avenir Next" pitchFamily="34" charset="-122"/>
                <a:cs typeface="Avenir Next" pitchFamily="34" charset="-120"/>
              </a:rPr>
              <a:t>›</a:t>
            </a:r>
            <a:endParaRPr lang="en-US" sz="2000" dirty="0"/>
          </a:p>
        </p:txBody>
      </p:sp>
      <p:sp>
        <p:nvSpPr>
          <p:cNvPr id="17" name="Shape 10"/>
          <p:cNvSpPr/>
          <p:nvPr/>
        </p:nvSpPr>
        <p:spPr>
          <a:xfrm>
            <a:off x="3255264" y="1463040"/>
            <a:ext cx="1234440" cy="1417320"/>
          </a:xfrm>
          <a:prstGeom prst="roundRect">
            <a:avLst>
              <a:gd name="adj" fmla="val 10370"/>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3621024" y="164592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3751783" y="1776679"/>
            <a:ext cx="241402" cy="241402"/>
          </a:xfrm>
          <a:prstGeom prst="rect">
            <a:avLst/>
          </a:prstGeom>
        </p:spPr>
      </p:pic>
      <p:sp>
        <p:nvSpPr>
          <p:cNvPr id="20" name="Text 11"/>
          <p:cNvSpPr/>
          <p:nvPr/>
        </p:nvSpPr>
        <p:spPr>
          <a:xfrm>
            <a:off x="3328416"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Parse</a:t>
            </a:r>
            <a:endParaRPr lang="en-US" sz="1250" dirty="0"/>
          </a:p>
        </p:txBody>
      </p:sp>
      <p:sp>
        <p:nvSpPr>
          <p:cNvPr id="21" name="Text 12"/>
          <p:cNvSpPr/>
          <p:nvPr/>
        </p:nvSpPr>
        <p:spPr>
          <a:xfrm>
            <a:off x="4471416" y="1965960"/>
            <a:ext cx="182880" cy="365760"/>
          </a:xfrm>
          <a:prstGeom prst="rect">
            <a:avLst/>
          </a:prstGeom>
          <a:noFill/>
          <a:ln/>
        </p:spPr>
        <p:txBody>
          <a:bodyPr wrap="square" lIns="0" tIns="0" rIns="0" bIns="0" rtlCol="0" anchor="ctr"/>
          <a:lstStyle/>
          <a:p>
            <a:pPr algn="ctr" indent="0" marL="0">
              <a:buNone/>
            </a:pPr>
            <a:r>
              <a:rPr lang="en-US" sz="2000" b="1" dirty="0">
                <a:solidFill>
                  <a:srgbClr val="6A4BD8"/>
                </a:solidFill>
                <a:latin typeface="Avenir Next" pitchFamily="34" charset="0"/>
                <a:ea typeface="Avenir Next" pitchFamily="34" charset="-122"/>
                <a:cs typeface="Avenir Next" pitchFamily="34" charset="-120"/>
              </a:rPr>
              <a:t>›</a:t>
            </a:r>
            <a:endParaRPr lang="en-US" sz="2000" dirty="0"/>
          </a:p>
        </p:txBody>
      </p:sp>
      <p:sp>
        <p:nvSpPr>
          <p:cNvPr id="22" name="Shape 13"/>
          <p:cNvSpPr/>
          <p:nvPr/>
        </p:nvSpPr>
        <p:spPr>
          <a:xfrm>
            <a:off x="4654296" y="1463040"/>
            <a:ext cx="1234440" cy="1417320"/>
          </a:xfrm>
          <a:prstGeom prst="roundRect">
            <a:avLst>
              <a:gd name="adj" fmla="val 10370"/>
            </a:avLst>
          </a:prstGeom>
          <a:solidFill>
            <a:srgbClr val="F0F2F5"/>
          </a:solidFill>
          <a:ln/>
        </p:spPr>
      </p:sp>
      <p:pic>
        <p:nvPicPr>
          <p:cNvPr id="23" name="Image 7" descr="preencoded.png">    </p:cNvPr>
          <p:cNvPicPr>
            <a:picLocks noChangeAspect="1"/>
          </p:cNvPicPr>
          <p:nvPr/>
        </p:nvPicPr>
        <p:blipFill>
          <a:blip r:embed="rId8"/>
          <a:stretch>
            <a:fillRect/>
          </a:stretch>
        </p:blipFill>
        <p:spPr>
          <a:xfrm>
            <a:off x="5020056" y="1645920"/>
            <a:ext cx="502920" cy="502920"/>
          </a:xfrm>
          <a:prstGeom prst="rect">
            <a:avLst/>
          </a:prstGeom>
        </p:spPr>
      </p:pic>
      <p:pic>
        <p:nvPicPr>
          <p:cNvPr id="24" name="Image 8" descr="preencoded.png">    </p:cNvPr>
          <p:cNvPicPr>
            <a:picLocks noChangeAspect="1"/>
          </p:cNvPicPr>
          <p:nvPr/>
        </p:nvPicPr>
        <p:blipFill>
          <a:blip r:embed="rId9"/>
          <a:stretch>
            <a:fillRect/>
          </a:stretch>
        </p:blipFill>
        <p:spPr>
          <a:xfrm>
            <a:off x="5150815" y="1776679"/>
            <a:ext cx="241402" cy="241402"/>
          </a:xfrm>
          <a:prstGeom prst="rect">
            <a:avLst/>
          </a:prstGeom>
        </p:spPr>
      </p:pic>
      <p:sp>
        <p:nvSpPr>
          <p:cNvPr id="25" name="Text 14"/>
          <p:cNvSpPr/>
          <p:nvPr/>
        </p:nvSpPr>
        <p:spPr>
          <a:xfrm>
            <a:off x="4727448"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Patterns</a:t>
            </a:r>
            <a:endParaRPr lang="en-US" sz="1250" dirty="0"/>
          </a:p>
        </p:txBody>
      </p:sp>
      <p:sp>
        <p:nvSpPr>
          <p:cNvPr id="26" name="Text 15"/>
          <p:cNvSpPr/>
          <p:nvPr/>
        </p:nvSpPr>
        <p:spPr>
          <a:xfrm>
            <a:off x="5870448" y="1965960"/>
            <a:ext cx="182880" cy="365760"/>
          </a:xfrm>
          <a:prstGeom prst="rect">
            <a:avLst/>
          </a:prstGeom>
          <a:noFill/>
          <a:ln/>
        </p:spPr>
        <p:txBody>
          <a:bodyPr wrap="square" lIns="0" tIns="0" rIns="0" bIns="0" rtlCol="0" anchor="ctr"/>
          <a:lstStyle/>
          <a:p>
            <a:pPr algn="ctr" indent="0" marL="0">
              <a:buNone/>
            </a:pPr>
            <a:r>
              <a:rPr lang="en-US" sz="2000" b="1" dirty="0">
                <a:solidFill>
                  <a:srgbClr val="6A4BD8"/>
                </a:solidFill>
                <a:latin typeface="Avenir Next" pitchFamily="34" charset="0"/>
                <a:ea typeface="Avenir Next" pitchFamily="34" charset="-122"/>
                <a:cs typeface="Avenir Next" pitchFamily="34" charset="-120"/>
              </a:rPr>
              <a:t>›</a:t>
            </a:r>
            <a:endParaRPr lang="en-US" sz="2000" dirty="0"/>
          </a:p>
        </p:txBody>
      </p:sp>
      <p:sp>
        <p:nvSpPr>
          <p:cNvPr id="27" name="Shape 16"/>
          <p:cNvSpPr/>
          <p:nvPr/>
        </p:nvSpPr>
        <p:spPr>
          <a:xfrm>
            <a:off x="6053328" y="1463040"/>
            <a:ext cx="1234440" cy="1417320"/>
          </a:xfrm>
          <a:prstGeom prst="roundRect">
            <a:avLst>
              <a:gd name="adj" fmla="val 10370"/>
            </a:avLst>
          </a:prstGeom>
          <a:solidFill>
            <a:srgbClr val="F1ECFD"/>
          </a:solidFill>
          <a:ln/>
        </p:spPr>
      </p:sp>
      <p:pic>
        <p:nvPicPr>
          <p:cNvPr id="28" name="Image 9" descr="preencoded.png">    </p:cNvPr>
          <p:cNvPicPr>
            <a:picLocks noChangeAspect="1"/>
          </p:cNvPicPr>
          <p:nvPr/>
        </p:nvPicPr>
        <p:blipFill>
          <a:blip r:embed="rId10"/>
          <a:stretch>
            <a:fillRect/>
          </a:stretch>
        </p:blipFill>
        <p:spPr>
          <a:xfrm>
            <a:off x="6419088" y="1645920"/>
            <a:ext cx="502920" cy="502920"/>
          </a:xfrm>
          <a:prstGeom prst="rect">
            <a:avLst/>
          </a:prstGeom>
        </p:spPr>
      </p:pic>
      <p:pic>
        <p:nvPicPr>
          <p:cNvPr id="29" name="Image 10" descr="preencoded.png">    </p:cNvPr>
          <p:cNvPicPr>
            <a:picLocks noChangeAspect="1"/>
          </p:cNvPicPr>
          <p:nvPr/>
        </p:nvPicPr>
        <p:blipFill>
          <a:blip r:embed="rId11"/>
          <a:stretch>
            <a:fillRect/>
          </a:stretch>
        </p:blipFill>
        <p:spPr>
          <a:xfrm>
            <a:off x="6549847" y="1776679"/>
            <a:ext cx="241402" cy="241402"/>
          </a:xfrm>
          <a:prstGeom prst="rect">
            <a:avLst/>
          </a:prstGeom>
        </p:spPr>
      </p:pic>
      <p:sp>
        <p:nvSpPr>
          <p:cNvPr id="30" name="Text 17"/>
          <p:cNvSpPr/>
          <p:nvPr/>
        </p:nvSpPr>
        <p:spPr>
          <a:xfrm>
            <a:off x="6126480"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Jev judges</a:t>
            </a:r>
            <a:endParaRPr lang="en-US" sz="1250" dirty="0"/>
          </a:p>
        </p:txBody>
      </p:sp>
      <p:sp>
        <p:nvSpPr>
          <p:cNvPr id="31" name="Text 18"/>
          <p:cNvSpPr/>
          <p:nvPr/>
        </p:nvSpPr>
        <p:spPr>
          <a:xfrm>
            <a:off x="7269480" y="1965960"/>
            <a:ext cx="182880" cy="365760"/>
          </a:xfrm>
          <a:prstGeom prst="rect">
            <a:avLst/>
          </a:prstGeom>
          <a:noFill/>
          <a:ln/>
        </p:spPr>
        <p:txBody>
          <a:bodyPr wrap="square" lIns="0" tIns="0" rIns="0" bIns="0" rtlCol="0" anchor="ctr"/>
          <a:lstStyle/>
          <a:p>
            <a:pPr algn="ctr" indent="0" marL="0">
              <a:buNone/>
            </a:pPr>
            <a:r>
              <a:rPr lang="en-US" sz="2000" b="1" dirty="0">
                <a:solidFill>
                  <a:srgbClr val="6A4BD8"/>
                </a:solidFill>
                <a:latin typeface="Avenir Next" pitchFamily="34" charset="0"/>
                <a:ea typeface="Avenir Next" pitchFamily="34" charset="-122"/>
                <a:cs typeface="Avenir Next" pitchFamily="34" charset="-120"/>
              </a:rPr>
              <a:t>›</a:t>
            </a:r>
            <a:endParaRPr lang="en-US" sz="2000" dirty="0"/>
          </a:p>
        </p:txBody>
      </p:sp>
      <p:sp>
        <p:nvSpPr>
          <p:cNvPr id="32" name="Shape 19"/>
          <p:cNvSpPr/>
          <p:nvPr/>
        </p:nvSpPr>
        <p:spPr>
          <a:xfrm>
            <a:off x="7452360" y="1463040"/>
            <a:ext cx="1234440" cy="1417320"/>
          </a:xfrm>
          <a:prstGeom prst="roundRect">
            <a:avLst>
              <a:gd name="adj" fmla="val 10370"/>
            </a:avLst>
          </a:prstGeom>
          <a:solidFill>
            <a:srgbClr val="F0F2F5"/>
          </a:solidFill>
          <a:ln/>
        </p:spPr>
      </p:sp>
      <p:pic>
        <p:nvPicPr>
          <p:cNvPr id="33" name="Image 11" descr="preencoded.png">    </p:cNvPr>
          <p:cNvPicPr>
            <a:picLocks noChangeAspect="1"/>
          </p:cNvPicPr>
          <p:nvPr/>
        </p:nvPicPr>
        <p:blipFill>
          <a:blip r:embed="rId12"/>
          <a:stretch>
            <a:fillRect/>
          </a:stretch>
        </p:blipFill>
        <p:spPr>
          <a:xfrm>
            <a:off x="7818120" y="1645920"/>
            <a:ext cx="502920" cy="502920"/>
          </a:xfrm>
          <a:prstGeom prst="rect">
            <a:avLst/>
          </a:prstGeom>
        </p:spPr>
      </p:pic>
      <p:pic>
        <p:nvPicPr>
          <p:cNvPr id="34" name="Image 12" descr="preencoded.png">    </p:cNvPr>
          <p:cNvPicPr>
            <a:picLocks noChangeAspect="1"/>
          </p:cNvPicPr>
          <p:nvPr/>
        </p:nvPicPr>
        <p:blipFill>
          <a:blip r:embed="rId13"/>
          <a:stretch>
            <a:fillRect/>
          </a:stretch>
        </p:blipFill>
        <p:spPr>
          <a:xfrm>
            <a:off x="7948879" y="1776679"/>
            <a:ext cx="241402" cy="241402"/>
          </a:xfrm>
          <a:prstGeom prst="rect">
            <a:avLst/>
          </a:prstGeom>
        </p:spPr>
      </p:pic>
      <p:sp>
        <p:nvSpPr>
          <p:cNvPr id="35" name="Text 20"/>
          <p:cNvSpPr/>
          <p:nvPr/>
        </p:nvSpPr>
        <p:spPr>
          <a:xfrm>
            <a:off x="7525512" y="2286000"/>
            <a:ext cx="1097280" cy="457200"/>
          </a:xfrm>
          <a:prstGeom prst="rect">
            <a:avLst/>
          </a:prstGeom>
          <a:noFill/>
          <a:ln/>
        </p:spPr>
        <p:txBody>
          <a:bodyPr wrap="square" lIns="0" tIns="0" rIns="0" bIns="0" rtlCol="0" anchor="ctr"/>
          <a:lstStyle/>
          <a:p>
            <a:pPr algn="ctr" indent="0" marL="0">
              <a:buNone/>
            </a:pPr>
            <a:r>
              <a:rPr lang="en-US" sz="1250" b="1" dirty="0">
                <a:solidFill>
                  <a:srgbClr val="11121D"/>
                </a:solidFill>
                <a:latin typeface="Avenir Next" pitchFamily="34" charset="0"/>
                <a:ea typeface="Avenir Next" pitchFamily="34" charset="-122"/>
                <a:cs typeface="Avenir Next" pitchFamily="34" charset="-120"/>
              </a:rPr>
              <a:t>Index</a:t>
            </a:r>
            <a:endParaRPr lang="en-US" sz="1250" dirty="0"/>
          </a:p>
        </p:txBody>
      </p:sp>
      <p:sp>
        <p:nvSpPr>
          <p:cNvPr id="36" name="Shape 21"/>
          <p:cNvSpPr/>
          <p:nvPr/>
        </p:nvSpPr>
        <p:spPr>
          <a:xfrm>
            <a:off x="457200" y="3063240"/>
            <a:ext cx="2621280" cy="1463040"/>
          </a:xfrm>
          <a:prstGeom prst="roundRect">
            <a:avLst>
              <a:gd name="adj" fmla="val 8750"/>
            </a:avLst>
          </a:prstGeom>
          <a:solidFill>
            <a:srgbClr val="F0F2F5"/>
          </a:solidFill>
          <a:ln/>
        </p:spPr>
      </p:sp>
      <p:sp>
        <p:nvSpPr>
          <p:cNvPr id="37" name="Text 22"/>
          <p:cNvSpPr/>
          <p:nvPr/>
        </p:nvSpPr>
        <p:spPr>
          <a:xfrm>
            <a:off x="731520" y="338328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72 s</a:t>
            </a:r>
            <a:endParaRPr lang="en-US" sz="3800" dirty="0"/>
          </a:p>
        </p:txBody>
      </p:sp>
      <p:sp>
        <p:nvSpPr>
          <p:cNvPr id="38" name="Text 23"/>
          <p:cNvSpPr/>
          <p:nvPr/>
        </p:nvSpPr>
        <p:spPr>
          <a:xfrm>
            <a:off x="731520" y="4160520"/>
            <a:ext cx="2164080" cy="2286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base corpus, 5 M lines</a:t>
            </a:r>
            <a:endParaRPr lang="en-US" sz="1300" dirty="0"/>
          </a:p>
        </p:txBody>
      </p:sp>
      <p:sp>
        <p:nvSpPr>
          <p:cNvPr id="39" name="Shape 24"/>
          <p:cNvSpPr/>
          <p:nvPr/>
        </p:nvSpPr>
        <p:spPr>
          <a:xfrm>
            <a:off x="3261360" y="3063240"/>
            <a:ext cx="2621280" cy="1463040"/>
          </a:xfrm>
          <a:prstGeom prst="roundRect">
            <a:avLst>
              <a:gd name="adj" fmla="val 8750"/>
            </a:avLst>
          </a:prstGeom>
          <a:solidFill>
            <a:srgbClr val="F0F2F5"/>
          </a:solidFill>
          <a:ln/>
        </p:spPr>
      </p:sp>
      <p:sp>
        <p:nvSpPr>
          <p:cNvPr id="40" name="Text 25"/>
          <p:cNvSpPr/>
          <p:nvPr/>
        </p:nvSpPr>
        <p:spPr>
          <a:xfrm>
            <a:off x="3535680" y="338328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1.6 s</a:t>
            </a:r>
            <a:endParaRPr lang="en-US" sz="3800" dirty="0"/>
          </a:p>
        </p:txBody>
      </p:sp>
      <p:sp>
        <p:nvSpPr>
          <p:cNvPr id="41" name="Text 26"/>
          <p:cNvSpPr/>
          <p:nvPr/>
        </p:nvSpPr>
        <p:spPr>
          <a:xfrm>
            <a:off x="3535680" y="4160520"/>
            <a:ext cx="2164080" cy="2286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a new 21 k-line file</a:t>
            </a:r>
            <a:endParaRPr lang="en-US" sz="1300" dirty="0"/>
          </a:p>
        </p:txBody>
      </p:sp>
      <p:sp>
        <p:nvSpPr>
          <p:cNvPr id="42" name="Shape 27"/>
          <p:cNvSpPr/>
          <p:nvPr/>
        </p:nvSpPr>
        <p:spPr>
          <a:xfrm>
            <a:off x="6065520" y="3063240"/>
            <a:ext cx="2621280" cy="1463040"/>
          </a:xfrm>
          <a:prstGeom prst="roundRect">
            <a:avLst>
              <a:gd name="adj" fmla="val 8750"/>
            </a:avLst>
          </a:prstGeom>
          <a:solidFill>
            <a:srgbClr val="F0F2F5"/>
          </a:solidFill>
          <a:ln/>
        </p:spPr>
      </p:sp>
      <p:sp>
        <p:nvSpPr>
          <p:cNvPr id="43" name="Text 28"/>
          <p:cNvSpPr/>
          <p:nvPr/>
        </p:nvSpPr>
        <p:spPr>
          <a:xfrm>
            <a:off x="6339840" y="3383280"/>
            <a:ext cx="2164080" cy="731520"/>
          </a:xfrm>
          <a:prstGeom prst="rect">
            <a:avLst/>
          </a:prstGeom>
          <a:noFill/>
          <a:ln/>
        </p:spPr>
        <p:txBody>
          <a:bodyPr wrap="square" lIns="0" tIns="0" rIns="0" bIns="0" rtlCol="0" anchor="ctr"/>
          <a:lstStyle/>
          <a:p>
            <a:pPr indent="0" marL="0">
              <a:buNone/>
            </a:pPr>
            <a:r>
              <a:rPr lang="en-US" sz="3800" b="1" dirty="0">
                <a:solidFill>
                  <a:srgbClr val="6A4BD8"/>
                </a:solidFill>
                <a:latin typeface="Avenir Next" pitchFamily="34" charset="0"/>
                <a:ea typeface="Avenir Next" pitchFamily="34" charset="-122"/>
                <a:cs typeface="Avenir Next" pitchFamily="34" charset="-120"/>
              </a:rPr>
              <a:t>76</a:t>
            </a:r>
            <a:endParaRPr lang="en-US" sz="3800" dirty="0"/>
          </a:p>
        </p:txBody>
      </p:sp>
      <p:sp>
        <p:nvSpPr>
          <p:cNvPr id="44" name="Text 29"/>
          <p:cNvSpPr/>
          <p:nvPr/>
        </p:nvSpPr>
        <p:spPr>
          <a:xfrm>
            <a:off x="6339840" y="4160520"/>
            <a:ext cx="2164080" cy="22860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log formats detected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Performance</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10</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PERFORMANCE</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Built on SereneDB's search-analytics engine</a:t>
            </a:r>
            <a:endParaRPr lang="en-US" sz="2800" dirty="0"/>
          </a:p>
        </p:txBody>
      </p:sp>
      <p:sp>
        <p:nvSpPr>
          <p:cNvPr id="7" name="Shape 4"/>
          <p:cNvSpPr/>
          <p:nvPr/>
        </p:nvSpPr>
        <p:spPr>
          <a:xfrm>
            <a:off x="457200" y="1463040"/>
            <a:ext cx="2624328" cy="1325880"/>
          </a:xfrm>
          <a:prstGeom prst="roundRect">
            <a:avLst>
              <a:gd name="adj" fmla="val 9655"/>
            </a:avLst>
          </a:prstGeom>
          <a:solidFill>
            <a:srgbClr val="FFFFFF"/>
          </a:solidFill>
          <a:ln w="12700">
            <a:solidFill>
              <a:srgbClr val="E3E6EC"/>
            </a:solidFill>
            <a:prstDash val="solid"/>
          </a:ln>
        </p:spPr>
      </p:sp>
      <p:sp>
        <p:nvSpPr>
          <p:cNvPr id="8" name="Text 5"/>
          <p:cNvSpPr/>
          <p:nvPr/>
        </p:nvSpPr>
        <p:spPr>
          <a:xfrm>
            <a:off x="713232" y="160020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Inverted index</a:t>
            </a:r>
            <a:endParaRPr lang="en-US" sz="1250" dirty="0"/>
          </a:p>
        </p:txBody>
      </p:sp>
      <p:sp>
        <p:nvSpPr>
          <p:cNvPr id="9" name="Text 6"/>
          <p:cNvSpPr/>
          <p:nvPr/>
        </p:nvSpPr>
        <p:spPr>
          <a:xfrm>
            <a:off x="713232" y="192024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7 ms</a:t>
            </a:r>
            <a:endParaRPr lang="en-US" sz="2400" dirty="0"/>
          </a:p>
        </p:txBody>
      </p:sp>
      <p:sp>
        <p:nvSpPr>
          <p:cNvPr id="10" name="Text 7"/>
          <p:cNvSpPr/>
          <p:nvPr/>
        </p:nvSpPr>
        <p:spPr>
          <a:xfrm>
            <a:off x="713232" y="237744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full-text count, 4.7 M lines</a:t>
            </a:r>
            <a:endParaRPr lang="en-US" sz="1100" dirty="0"/>
          </a:p>
        </p:txBody>
      </p:sp>
      <p:sp>
        <p:nvSpPr>
          <p:cNvPr id="11" name="Shape 8"/>
          <p:cNvSpPr/>
          <p:nvPr/>
        </p:nvSpPr>
        <p:spPr>
          <a:xfrm>
            <a:off x="3264408" y="1463040"/>
            <a:ext cx="2624328" cy="1325880"/>
          </a:xfrm>
          <a:prstGeom prst="roundRect">
            <a:avLst>
              <a:gd name="adj" fmla="val 9655"/>
            </a:avLst>
          </a:prstGeom>
          <a:solidFill>
            <a:srgbClr val="F0F2F5"/>
          </a:solidFill>
          <a:ln/>
        </p:spPr>
      </p:sp>
      <p:sp>
        <p:nvSpPr>
          <p:cNvPr id="12" name="Text 9"/>
          <p:cNvSpPr/>
          <p:nvPr/>
        </p:nvSpPr>
        <p:spPr>
          <a:xfrm>
            <a:off x="3520440" y="160020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Term dictionary</a:t>
            </a:r>
            <a:endParaRPr lang="en-US" sz="1250" dirty="0"/>
          </a:p>
        </p:txBody>
      </p:sp>
      <p:sp>
        <p:nvSpPr>
          <p:cNvPr id="13" name="Text 10"/>
          <p:cNvSpPr/>
          <p:nvPr/>
        </p:nvSpPr>
        <p:spPr>
          <a:xfrm>
            <a:off x="3520440" y="192024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3–39 ms</a:t>
            </a:r>
            <a:endParaRPr lang="en-US" sz="2400" dirty="0"/>
          </a:p>
        </p:txBody>
      </p:sp>
      <p:sp>
        <p:nvSpPr>
          <p:cNvPr id="14" name="Text 11"/>
          <p:cNvSpPr/>
          <p:nvPr/>
        </p:nvSpPr>
        <p:spPr>
          <a:xfrm>
            <a:off x="3520440" y="237744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group-bys without scanning</a:t>
            </a:r>
            <a:endParaRPr lang="en-US" sz="1100" dirty="0"/>
          </a:p>
        </p:txBody>
      </p:sp>
      <p:sp>
        <p:nvSpPr>
          <p:cNvPr id="15" name="Shape 12"/>
          <p:cNvSpPr/>
          <p:nvPr/>
        </p:nvSpPr>
        <p:spPr>
          <a:xfrm>
            <a:off x="6071616" y="1463040"/>
            <a:ext cx="2624328" cy="1325880"/>
          </a:xfrm>
          <a:prstGeom prst="roundRect">
            <a:avLst>
              <a:gd name="adj" fmla="val 9655"/>
            </a:avLst>
          </a:prstGeom>
          <a:solidFill>
            <a:srgbClr val="FFFFFF"/>
          </a:solidFill>
          <a:ln w="12700">
            <a:solidFill>
              <a:srgbClr val="E3E6EC"/>
            </a:solidFill>
            <a:prstDash val="solid"/>
          </a:ln>
        </p:spPr>
      </p:sp>
      <p:sp>
        <p:nvSpPr>
          <p:cNvPr id="16" name="Text 13"/>
          <p:cNvSpPr/>
          <p:nvPr/>
        </p:nvSpPr>
        <p:spPr>
          <a:xfrm>
            <a:off x="6327648" y="160020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SQL-native load</a:t>
            </a:r>
            <a:endParaRPr lang="en-US" sz="1250" dirty="0"/>
          </a:p>
        </p:txBody>
      </p:sp>
      <p:sp>
        <p:nvSpPr>
          <p:cNvPr id="17" name="Text 14"/>
          <p:cNvSpPr/>
          <p:nvPr/>
        </p:nvSpPr>
        <p:spPr>
          <a:xfrm>
            <a:off x="6327648" y="192024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18 s</a:t>
            </a:r>
            <a:endParaRPr lang="en-US" sz="2400" dirty="0"/>
          </a:p>
        </p:txBody>
      </p:sp>
      <p:sp>
        <p:nvSpPr>
          <p:cNvPr id="18" name="Text 15"/>
          <p:cNvSpPr/>
          <p:nvPr/>
        </p:nvSpPr>
        <p:spPr>
          <a:xfrm>
            <a:off x="6327648" y="237744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4.7 M lines parsed</a:t>
            </a:r>
            <a:endParaRPr lang="en-US" sz="1100" dirty="0"/>
          </a:p>
        </p:txBody>
      </p:sp>
      <p:sp>
        <p:nvSpPr>
          <p:cNvPr id="19" name="Shape 16"/>
          <p:cNvSpPr/>
          <p:nvPr/>
        </p:nvSpPr>
        <p:spPr>
          <a:xfrm>
            <a:off x="457200" y="2926080"/>
            <a:ext cx="2624328" cy="1325880"/>
          </a:xfrm>
          <a:prstGeom prst="roundRect">
            <a:avLst>
              <a:gd name="adj" fmla="val 9655"/>
            </a:avLst>
          </a:prstGeom>
          <a:solidFill>
            <a:srgbClr val="F0F2F5"/>
          </a:solidFill>
          <a:ln/>
        </p:spPr>
      </p:sp>
      <p:sp>
        <p:nvSpPr>
          <p:cNvPr id="20" name="Text 17"/>
          <p:cNvSpPr/>
          <p:nvPr/>
        </p:nvSpPr>
        <p:spPr>
          <a:xfrm>
            <a:off x="713232" y="306324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ASOF · ROLLUP · PIVOT</a:t>
            </a:r>
            <a:endParaRPr lang="en-US" sz="1250" dirty="0"/>
          </a:p>
        </p:txBody>
      </p:sp>
      <p:sp>
        <p:nvSpPr>
          <p:cNvPr id="21" name="Text 18"/>
          <p:cNvSpPr/>
          <p:nvPr/>
        </p:nvSpPr>
        <p:spPr>
          <a:xfrm>
            <a:off x="713232" y="338328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&lt; 100 ms</a:t>
            </a:r>
            <a:endParaRPr lang="en-US" sz="2400" dirty="0"/>
          </a:p>
        </p:txBody>
      </p:sp>
      <p:sp>
        <p:nvSpPr>
          <p:cNvPr id="22" name="Text 19"/>
          <p:cNvSpPr/>
          <p:nvPr/>
        </p:nvSpPr>
        <p:spPr>
          <a:xfrm>
            <a:off x="713232" y="384048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timelines and rankings</a:t>
            </a:r>
            <a:endParaRPr lang="en-US" sz="1100" dirty="0"/>
          </a:p>
        </p:txBody>
      </p:sp>
      <p:sp>
        <p:nvSpPr>
          <p:cNvPr id="23" name="Shape 20"/>
          <p:cNvSpPr/>
          <p:nvPr/>
        </p:nvSpPr>
        <p:spPr>
          <a:xfrm>
            <a:off x="3264408" y="2926080"/>
            <a:ext cx="2624328" cy="1325880"/>
          </a:xfrm>
          <a:prstGeom prst="roundRect">
            <a:avLst>
              <a:gd name="adj" fmla="val 9655"/>
            </a:avLst>
          </a:prstGeom>
          <a:solidFill>
            <a:srgbClr val="FFFFFF"/>
          </a:solidFill>
          <a:ln w="12700">
            <a:solidFill>
              <a:srgbClr val="E3E6EC"/>
            </a:solidFill>
            <a:prstDash val="solid"/>
          </a:ln>
        </p:spPr>
      </p:sp>
      <p:sp>
        <p:nvSpPr>
          <p:cNvPr id="24" name="Text 21"/>
          <p:cNvSpPr/>
          <p:nvPr/>
        </p:nvSpPr>
        <p:spPr>
          <a:xfrm>
            <a:off x="3520440" y="306324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Remote Parquet</a:t>
            </a:r>
            <a:endParaRPr lang="en-US" sz="1250" dirty="0"/>
          </a:p>
        </p:txBody>
      </p:sp>
      <p:sp>
        <p:nvSpPr>
          <p:cNvPr id="25" name="Text 22"/>
          <p:cNvSpPr/>
          <p:nvPr/>
        </p:nvSpPr>
        <p:spPr>
          <a:xfrm>
            <a:off x="3520440" y="338328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2.8 s</a:t>
            </a:r>
            <a:endParaRPr lang="en-US" sz="2400" dirty="0"/>
          </a:p>
        </p:txBody>
      </p:sp>
      <p:sp>
        <p:nvSpPr>
          <p:cNvPr id="26" name="Text 23"/>
          <p:cNvSpPr/>
          <p:nvPr/>
        </p:nvSpPr>
        <p:spPr>
          <a:xfrm>
            <a:off x="3520440" y="384048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1 B rows on S3, in place</a:t>
            </a:r>
            <a:endParaRPr lang="en-US" sz="1100" dirty="0"/>
          </a:p>
        </p:txBody>
      </p:sp>
      <p:sp>
        <p:nvSpPr>
          <p:cNvPr id="27" name="Shape 24"/>
          <p:cNvSpPr/>
          <p:nvPr/>
        </p:nvSpPr>
        <p:spPr>
          <a:xfrm>
            <a:off x="6071616" y="2926080"/>
            <a:ext cx="2624328" cy="1325880"/>
          </a:xfrm>
          <a:prstGeom prst="roundRect">
            <a:avLst>
              <a:gd name="adj" fmla="val 9655"/>
            </a:avLst>
          </a:prstGeom>
          <a:solidFill>
            <a:srgbClr val="F0F2F5"/>
          </a:solidFill>
          <a:ln/>
        </p:spPr>
      </p:sp>
      <p:sp>
        <p:nvSpPr>
          <p:cNvPr id="28" name="Text 25"/>
          <p:cNvSpPr/>
          <p:nvPr/>
        </p:nvSpPr>
        <p:spPr>
          <a:xfrm>
            <a:off x="6327648" y="3063240"/>
            <a:ext cx="2194560" cy="320040"/>
          </a:xfrm>
          <a:prstGeom prst="rect">
            <a:avLst/>
          </a:prstGeom>
          <a:noFill/>
          <a:ln/>
        </p:spPr>
        <p:txBody>
          <a:bodyPr wrap="square" lIns="0" tIns="0" rIns="0" bIns="0" rtlCol="0" anchor="ctr"/>
          <a:lstStyle/>
          <a:p>
            <a:pPr indent="0" marL="0">
              <a:buNone/>
            </a:pPr>
            <a:r>
              <a:rPr lang="en-US" sz="1250" b="1" dirty="0">
                <a:solidFill>
                  <a:srgbClr val="11121D"/>
                </a:solidFill>
                <a:latin typeface="Avenir Next" pitchFamily="34" charset="0"/>
                <a:ea typeface="Avenir Next" pitchFamily="34" charset="-122"/>
                <a:cs typeface="Avenir Next" pitchFamily="34" charset="-120"/>
              </a:rPr>
              <a:t>On-demand index</a:t>
            </a:r>
            <a:endParaRPr lang="en-US" sz="1250" dirty="0"/>
          </a:p>
        </p:txBody>
      </p:sp>
      <p:sp>
        <p:nvSpPr>
          <p:cNvPr id="29" name="Text 26"/>
          <p:cNvSpPr/>
          <p:nvPr/>
        </p:nvSpPr>
        <p:spPr>
          <a:xfrm>
            <a:off x="6327648" y="3383280"/>
            <a:ext cx="2194560" cy="457200"/>
          </a:xfrm>
          <a:prstGeom prst="rect">
            <a:avLst/>
          </a:prstGeom>
          <a:noFill/>
          <a:ln/>
        </p:spPr>
        <p:txBody>
          <a:bodyPr wrap="square" lIns="0" tIns="0" rIns="0" bIns="0" rtlCol="0" anchor="ctr"/>
          <a:lstStyle/>
          <a:p>
            <a:pPr indent="0" marL="0">
              <a:buNone/>
            </a:pPr>
            <a:r>
              <a:rPr lang="en-US" sz="2400" b="1" dirty="0">
                <a:solidFill>
                  <a:srgbClr val="6A4BD8"/>
                </a:solidFill>
                <a:latin typeface="Avenir Next" pitchFamily="34" charset="0"/>
                <a:ea typeface="Avenir Next" pitchFamily="34" charset="-122"/>
                <a:cs typeface="Avenir Next" pitchFamily="34" charset="-120"/>
              </a:rPr>
              <a:t>0.94 ms</a:t>
            </a:r>
            <a:endParaRPr lang="en-US" sz="2400" dirty="0"/>
          </a:p>
        </p:txBody>
      </p:sp>
      <p:sp>
        <p:nvSpPr>
          <p:cNvPr id="30" name="Text 27"/>
          <p:cNvSpPr/>
          <p:nvPr/>
        </p:nvSpPr>
        <p:spPr>
          <a:xfrm>
            <a:off x="6327648" y="3840480"/>
            <a:ext cx="2194560" cy="320040"/>
          </a:xfrm>
          <a:prstGeom prst="rect">
            <a:avLst/>
          </a:prstGeom>
          <a:noFill/>
          <a:ln/>
        </p:spPr>
        <p:txBody>
          <a:bodyPr wrap="square" lIns="0" tIns="0" rIns="0" bIns="0" rtlCol="0" anchor="ctr"/>
          <a:lstStyle/>
          <a:p>
            <a:pPr indent="0" marL="0">
              <a:buNone/>
            </a:pPr>
            <a:r>
              <a:rPr lang="en-US" sz="1100" dirty="0">
                <a:solidFill>
                  <a:srgbClr val="3A3F55"/>
                </a:solidFill>
                <a:latin typeface="Avenir Next" pitchFamily="34" charset="0"/>
                <a:ea typeface="Avenir Next" pitchFamily="34" charset="-122"/>
                <a:cs typeface="Avenir Next" pitchFamily="34" charset="-120"/>
              </a:rPr>
              <a:t>vs 281 ms scan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Technical</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11</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TECHNICAL · MCP</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One MCP server, four ways to use it</a:t>
            </a:r>
            <a:endParaRPr lang="en-US" sz="2800" dirty="0"/>
          </a:p>
        </p:txBody>
      </p:sp>
      <p:sp>
        <p:nvSpPr>
          <p:cNvPr id="7" name="Shape 4"/>
          <p:cNvSpPr/>
          <p:nvPr/>
        </p:nvSpPr>
        <p:spPr>
          <a:xfrm>
            <a:off x="457200" y="1463040"/>
            <a:ext cx="1920240" cy="2377440"/>
          </a:xfrm>
          <a:prstGeom prst="roundRect">
            <a:avLst>
              <a:gd name="adj" fmla="val 6667"/>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73736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1868119"/>
            <a:ext cx="241402" cy="241402"/>
          </a:xfrm>
          <a:prstGeom prst="rect">
            <a:avLst/>
          </a:prstGeom>
        </p:spPr>
      </p:pic>
      <p:sp>
        <p:nvSpPr>
          <p:cNvPr id="10" name="Text 5"/>
          <p:cNvSpPr/>
          <p:nvPr/>
        </p:nvSpPr>
        <p:spPr>
          <a:xfrm>
            <a:off x="71323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44 tools</a:t>
            </a:r>
            <a:endParaRPr lang="en-US" sz="1600" dirty="0"/>
          </a:p>
        </p:txBody>
      </p:sp>
      <p:sp>
        <p:nvSpPr>
          <p:cNvPr id="11" name="Text 6"/>
          <p:cNvSpPr/>
          <p:nvPr/>
        </p:nvSpPr>
        <p:spPr>
          <a:xfrm>
            <a:off x="713232" y="2834640"/>
            <a:ext cx="146304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just ask</a:t>
            </a:r>
            <a:endParaRPr lang="en-US" sz="1300" dirty="0"/>
          </a:p>
        </p:txBody>
      </p:sp>
      <p:sp>
        <p:nvSpPr>
          <p:cNvPr id="12" name="Shape 7"/>
          <p:cNvSpPr/>
          <p:nvPr/>
        </p:nvSpPr>
        <p:spPr>
          <a:xfrm>
            <a:off x="2560320" y="1463040"/>
            <a:ext cx="1920240" cy="2377440"/>
          </a:xfrm>
          <a:prstGeom prst="roundRect">
            <a:avLst>
              <a:gd name="adj" fmla="val 6667"/>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2816352" y="173736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2947111" y="1868119"/>
            <a:ext cx="241402" cy="241402"/>
          </a:xfrm>
          <a:prstGeom prst="rect">
            <a:avLst/>
          </a:prstGeom>
        </p:spPr>
      </p:pic>
      <p:sp>
        <p:nvSpPr>
          <p:cNvPr id="15" name="Text 8"/>
          <p:cNvSpPr/>
          <p:nvPr/>
        </p:nvSpPr>
        <p:spPr>
          <a:xfrm>
            <a:off x="281635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5 prompts</a:t>
            </a:r>
            <a:endParaRPr lang="en-US" sz="1600" dirty="0"/>
          </a:p>
        </p:txBody>
      </p:sp>
      <p:sp>
        <p:nvSpPr>
          <p:cNvPr id="16" name="Text 9"/>
          <p:cNvSpPr/>
          <p:nvPr/>
        </p:nvSpPr>
        <p:spPr>
          <a:xfrm>
            <a:off x="2816352" y="2834640"/>
            <a:ext cx="146304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type /</a:t>
            </a:r>
            <a:endParaRPr lang="en-US" sz="1300" dirty="0"/>
          </a:p>
        </p:txBody>
      </p:sp>
      <p:sp>
        <p:nvSpPr>
          <p:cNvPr id="17" name="Shape 10"/>
          <p:cNvSpPr/>
          <p:nvPr/>
        </p:nvSpPr>
        <p:spPr>
          <a:xfrm>
            <a:off x="4663440" y="1463040"/>
            <a:ext cx="1920240" cy="2377440"/>
          </a:xfrm>
          <a:prstGeom prst="roundRect">
            <a:avLst>
              <a:gd name="adj" fmla="val 6667"/>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4919472" y="173736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5050231" y="1868119"/>
            <a:ext cx="241402" cy="241402"/>
          </a:xfrm>
          <a:prstGeom prst="rect">
            <a:avLst/>
          </a:prstGeom>
        </p:spPr>
      </p:pic>
      <p:sp>
        <p:nvSpPr>
          <p:cNvPr id="20" name="Text 11"/>
          <p:cNvSpPr/>
          <p:nvPr/>
        </p:nvSpPr>
        <p:spPr>
          <a:xfrm>
            <a:off x="491947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6 resources</a:t>
            </a:r>
            <a:endParaRPr lang="en-US" sz="1600" dirty="0"/>
          </a:p>
        </p:txBody>
      </p:sp>
      <p:sp>
        <p:nvSpPr>
          <p:cNvPr id="21" name="Text 12"/>
          <p:cNvSpPr/>
          <p:nvPr/>
        </p:nvSpPr>
        <p:spPr>
          <a:xfrm>
            <a:off x="4919472" y="2834640"/>
            <a:ext cx="146304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type @</a:t>
            </a:r>
            <a:endParaRPr lang="en-US" sz="1300" dirty="0"/>
          </a:p>
        </p:txBody>
      </p:sp>
      <p:sp>
        <p:nvSpPr>
          <p:cNvPr id="22" name="Shape 13"/>
          <p:cNvSpPr/>
          <p:nvPr/>
        </p:nvSpPr>
        <p:spPr>
          <a:xfrm>
            <a:off x="6766560" y="1463040"/>
            <a:ext cx="1920240" cy="2377440"/>
          </a:xfrm>
          <a:prstGeom prst="roundRect">
            <a:avLst>
              <a:gd name="adj" fmla="val 6667"/>
            </a:avLst>
          </a:prstGeom>
          <a:solidFill>
            <a:srgbClr val="F0F2F5"/>
          </a:solidFill>
          <a:ln/>
        </p:spPr>
      </p:sp>
      <p:pic>
        <p:nvPicPr>
          <p:cNvPr id="23" name="Image 7" descr="preencoded.png">    </p:cNvPr>
          <p:cNvPicPr>
            <a:picLocks noChangeAspect="1"/>
          </p:cNvPicPr>
          <p:nvPr/>
        </p:nvPicPr>
        <p:blipFill>
          <a:blip r:embed="rId8"/>
          <a:stretch>
            <a:fillRect/>
          </a:stretch>
        </p:blipFill>
        <p:spPr>
          <a:xfrm>
            <a:off x="7022592" y="1737360"/>
            <a:ext cx="502920" cy="502920"/>
          </a:xfrm>
          <a:prstGeom prst="rect">
            <a:avLst/>
          </a:prstGeom>
        </p:spPr>
      </p:pic>
      <p:pic>
        <p:nvPicPr>
          <p:cNvPr id="24" name="Image 8" descr="preencoded.png">    </p:cNvPr>
          <p:cNvPicPr>
            <a:picLocks noChangeAspect="1"/>
          </p:cNvPicPr>
          <p:nvPr/>
        </p:nvPicPr>
        <p:blipFill>
          <a:blip r:embed="rId9"/>
          <a:stretch>
            <a:fillRect/>
          </a:stretch>
        </p:blipFill>
        <p:spPr>
          <a:xfrm>
            <a:off x="7153351" y="1868119"/>
            <a:ext cx="241402" cy="241402"/>
          </a:xfrm>
          <a:prstGeom prst="rect">
            <a:avLst/>
          </a:prstGeom>
        </p:spPr>
      </p:pic>
      <p:sp>
        <p:nvSpPr>
          <p:cNvPr id="25" name="Text 14"/>
          <p:cNvSpPr/>
          <p:nvPr/>
        </p:nvSpPr>
        <p:spPr>
          <a:xfrm>
            <a:off x="7022592" y="2423160"/>
            <a:ext cx="146304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Completions</a:t>
            </a:r>
            <a:endParaRPr lang="en-US" sz="1600" dirty="0"/>
          </a:p>
        </p:txBody>
      </p:sp>
      <p:sp>
        <p:nvSpPr>
          <p:cNvPr id="26" name="Text 15"/>
          <p:cNvSpPr/>
          <p:nvPr/>
        </p:nvSpPr>
        <p:spPr>
          <a:xfrm>
            <a:off x="7022592" y="2834640"/>
            <a:ext cx="1463040" cy="86868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press Tab</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Technical</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12</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TECHNICAL · TOOLS</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44 tools, grouped by the question</a:t>
            </a:r>
            <a:endParaRPr lang="en-US" sz="2800" dirty="0"/>
          </a:p>
        </p:txBody>
      </p:sp>
      <p:sp>
        <p:nvSpPr>
          <p:cNvPr id="7" name="Shape 4"/>
          <p:cNvSpPr/>
          <p:nvPr/>
        </p:nvSpPr>
        <p:spPr>
          <a:xfrm>
            <a:off x="457200" y="1463040"/>
            <a:ext cx="2624328" cy="1280160"/>
          </a:xfrm>
          <a:prstGeom prst="roundRect">
            <a:avLst>
              <a:gd name="adj" fmla="val 10000"/>
            </a:avLst>
          </a:prstGeom>
          <a:solidFill>
            <a:srgbClr val="F0F2F5"/>
          </a:solidFill>
          <a:ln/>
        </p:spPr>
      </p:sp>
      <p:sp>
        <p:nvSpPr>
          <p:cNvPr id="8" name="Text 5"/>
          <p:cNvSpPr/>
          <p:nvPr/>
        </p:nvSpPr>
        <p:spPr>
          <a:xfrm>
            <a:off x="713232" y="164592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Find</a:t>
            </a:r>
            <a:endParaRPr lang="en-US" sz="1800" dirty="0"/>
          </a:p>
        </p:txBody>
      </p:sp>
      <p:sp>
        <p:nvSpPr>
          <p:cNvPr id="9" name="Text 6"/>
          <p:cNvSpPr/>
          <p:nvPr/>
        </p:nvSpPr>
        <p:spPr>
          <a:xfrm>
            <a:off x="713232" y="210312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search_logs · get_context</a:t>
            </a:r>
            <a:endParaRPr lang="en-US" sz="1050" dirty="0"/>
          </a:p>
        </p:txBody>
      </p:sp>
      <p:sp>
        <p:nvSpPr>
          <p:cNvPr id="10" name="Shape 7"/>
          <p:cNvSpPr/>
          <p:nvPr/>
        </p:nvSpPr>
        <p:spPr>
          <a:xfrm>
            <a:off x="3264408" y="1463040"/>
            <a:ext cx="2624328" cy="1280160"/>
          </a:xfrm>
          <a:prstGeom prst="roundRect">
            <a:avLst>
              <a:gd name="adj" fmla="val 10000"/>
            </a:avLst>
          </a:prstGeom>
          <a:solidFill>
            <a:srgbClr val="F1ECFD"/>
          </a:solidFill>
          <a:ln/>
        </p:spPr>
      </p:sp>
      <p:sp>
        <p:nvSpPr>
          <p:cNvPr id="11" name="Text 8"/>
          <p:cNvSpPr/>
          <p:nvPr/>
        </p:nvSpPr>
        <p:spPr>
          <a:xfrm>
            <a:off x="3520440" y="164592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Count</a:t>
            </a:r>
            <a:endParaRPr lang="en-US" sz="1800" dirty="0"/>
          </a:p>
        </p:txBody>
      </p:sp>
      <p:sp>
        <p:nvSpPr>
          <p:cNvPr id="12" name="Text 9"/>
          <p:cNvSpPr/>
          <p:nvPr/>
        </p:nvSpPr>
        <p:spPr>
          <a:xfrm>
            <a:off x="3520440" y="210312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count_by · trend · rollup</a:t>
            </a:r>
            <a:endParaRPr lang="en-US" sz="1050" dirty="0"/>
          </a:p>
        </p:txBody>
      </p:sp>
      <p:sp>
        <p:nvSpPr>
          <p:cNvPr id="13" name="Shape 10"/>
          <p:cNvSpPr/>
          <p:nvPr/>
        </p:nvSpPr>
        <p:spPr>
          <a:xfrm>
            <a:off x="6071616" y="1463040"/>
            <a:ext cx="2624328" cy="1280160"/>
          </a:xfrm>
          <a:prstGeom prst="roundRect">
            <a:avLst>
              <a:gd name="adj" fmla="val 10000"/>
            </a:avLst>
          </a:prstGeom>
          <a:solidFill>
            <a:srgbClr val="F0F2F5"/>
          </a:solidFill>
          <a:ln/>
        </p:spPr>
      </p:sp>
      <p:sp>
        <p:nvSpPr>
          <p:cNvPr id="14" name="Text 11"/>
          <p:cNvSpPr/>
          <p:nvPr/>
        </p:nvSpPr>
        <p:spPr>
          <a:xfrm>
            <a:off x="6327648" y="164592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Recurring</a:t>
            </a:r>
            <a:endParaRPr lang="en-US" sz="1800" dirty="0"/>
          </a:p>
        </p:txBody>
      </p:sp>
      <p:sp>
        <p:nvSpPr>
          <p:cNvPr id="15" name="Text 12"/>
          <p:cNvSpPr/>
          <p:nvPr/>
        </p:nvSpPr>
        <p:spPr>
          <a:xfrm>
            <a:off x="6327648" y="210312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top_patterns · pattern_history</a:t>
            </a:r>
            <a:endParaRPr lang="en-US" sz="1050" dirty="0"/>
          </a:p>
        </p:txBody>
      </p:sp>
      <p:sp>
        <p:nvSpPr>
          <p:cNvPr id="16" name="Shape 13"/>
          <p:cNvSpPr/>
          <p:nvPr/>
        </p:nvSpPr>
        <p:spPr>
          <a:xfrm>
            <a:off x="457200" y="2880360"/>
            <a:ext cx="2624328" cy="1280160"/>
          </a:xfrm>
          <a:prstGeom prst="roundRect">
            <a:avLst>
              <a:gd name="adj" fmla="val 10000"/>
            </a:avLst>
          </a:prstGeom>
          <a:solidFill>
            <a:srgbClr val="F1ECFD"/>
          </a:solidFill>
          <a:ln/>
        </p:spPr>
      </p:sp>
      <p:sp>
        <p:nvSpPr>
          <p:cNvPr id="17" name="Text 14"/>
          <p:cNvSpPr/>
          <p:nvPr/>
        </p:nvSpPr>
        <p:spPr>
          <a:xfrm>
            <a:off x="713232" y="306324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Explain</a:t>
            </a:r>
            <a:endParaRPr lang="en-US" sz="1800" dirty="0"/>
          </a:p>
        </p:txBody>
      </p:sp>
      <p:sp>
        <p:nvSpPr>
          <p:cNvPr id="18" name="Text 15"/>
          <p:cNvSpPr/>
          <p:nvPr/>
        </p:nvSpPr>
        <p:spPr>
          <a:xfrm>
            <a:off x="713232" y="352044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burst_timeline · precursors</a:t>
            </a:r>
            <a:endParaRPr lang="en-US" sz="1050" dirty="0"/>
          </a:p>
        </p:txBody>
      </p:sp>
      <p:sp>
        <p:nvSpPr>
          <p:cNvPr id="19" name="Shape 16"/>
          <p:cNvSpPr/>
          <p:nvPr/>
        </p:nvSpPr>
        <p:spPr>
          <a:xfrm>
            <a:off x="3264408" y="2880360"/>
            <a:ext cx="2624328" cy="1280160"/>
          </a:xfrm>
          <a:prstGeom prst="roundRect">
            <a:avLst>
              <a:gd name="adj" fmla="val 10000"/>
            </a:avLst>
          </a:prstGeom>
          <a:solidFill>
            <a:srgbClr val="F0F2F5"/>
          </a:solidFill>
          <a:ln/>
        </p:spPr>
      </p:sp>
      <p:sp>
        <p:nvSpPr>
          <p:cNvPr id="20" name="Text 17"/>
          <p:cNvSpPr/>
          <p:nvPr/>
        </p:nvSpPr>
        <p:spPr>
          <a:xfrm>
            <a:off x="3520440" y="306324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Decide</a:t>
            </a:r>
            <a:endParaRPr lang="en-US" sz="1800" dirty="0"/>
          </a:p>
        </p:txBody>
      </p:sp>
      <p:sp>
        <p:nvSpPr>
          <p:cNvPr id="21" name="Text 18"/>
          <p:cNvSpPr/>
          <p:nvPr/>
        </p:nvSpPr>
        <p:spPr>
          <a:xfrm>
            <a:off x="3520440" y="352044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priority_table · owner_of</a:t>
            </a:r>
            <a:endParaRPr lang="en-US" sz="1050" dirty="0"/>
          </a:p>
        </p:txBody>
      </p:sp>
      <p:sp>
        <p:nvSpPr>
          <p:cNvPr id="22" name="Shape 19"/>
          <p:cNvSpPr/>
          <p:nvPr/>
        </p:nvSpPr>
        <p:spPr>
          <a:xfrm>
            <a:off x="6071616" y="2880360"/>
            <a:ext cx="2624328" cy="1280160"/>
          </a:xfrm>
          <a:prstGeom prst="roundRect">
            <a:avLst>
              <a:gd name="adj" fmla="val 10000"/>
            </a:avLst>
          </a:prstGeom>
          <a:solidFill>
            <a:srgbClr val="F1ECFD"/>
          </a:solidFill>
          <a:ln/>
        </p:spPr>
      </p:sp>
      <p:sp>
        <p:nvSpPr>
          <p:cNvPr id="23" name="Text 20"/>
          <p:cNvSpPr/>
          <p:nvPr/>
        </p:nvSpPr>
        <p:spPr>
          <a:xfrm>
            <a:off x="6327648" y="3063240"/>
            <a:ext cx="2194560" cy="411480"/>
          </a:xfrm>
          <a:prstGeom prst="rect">
            <a:avLst/>
          </a:prstGeom>
          <a:noFill/>
          <a:ln/>
        </p:spPr>
        <p:txBody>
          <a:bodyPr wrap="square" lIns="0" tIns="0" rIns="0" bIns="0" rtlCol="0" anchor="ctr"/>
          <a:lstStyle/>
          <a:p>
            <a:pPr indent="0" marL="0">
              <a:buNone/>
            </a:pPr>
            <a:r>
              <a:rPr lang="en-US" sz="1800" b="1" dirty="0">
                <a:solidFill>
                  <a:srgbClr val="11121D"/>
                </a:solidFill>
                <a:latin typeface="Avenir Next" pitchFamily="34" charset="0"/>
                <a:ea typeface="Avenir Next" pitchFamily="34" charset="-122"/>
                <a:cs typeface="Avenir Next" pitchFamily="34" charset="-120"/>
              </a:rPr>
              <a:t>Set up</a:t>
            </a:r>
            <a:endParaRPr lang="en-US" sz="1800" dirty="0"/>
          </a:p>
        </p:txBody>
      </p:sp>
      <p:sp>
        <p:nvSpPr>
          <p:cNvPr id="24" name="Text 21"/>
          <p:cNvSpPr/>
          <p:nvPr/>
        </p:nvSpPr>
        <p:spPr>
          <a:xfrm>
            <a:off x="6327648" y="3520440"/>
            <a:ext cx="2240280" cy="457200"/>
          </a:xfrm>
          <a:prstGeom prst="rect">
            <a:avLst/>
          </a:prstGeom>
          <a:noFill/>
          <a:ln/>
        </p:spPr>
        <p:txBody>
          <a:bodyPr wrap="square" lIns="0" tIns="0" rIns="0" bIns="0" rtlCol="0" anchor="t"/>
          <a:lstStyle/>
          <a:p>
            <a:pPr indent="0" marL="0">
              <a:buNone/>
            </a:pPr>
            <a:r>
              <a:rPr lang="en-US" sz="1050" dirty="0">
                <a:solidFill>
                  <a:srgbClr val="6A4BD8"/>
                </a:solidFill>
                <a:latin typeface="Menlo" pitchFamily="34" charset="0"/>
                <a:ea typeface="Menlo" pitchFamily="34" charset="-122"/>
                <a:cs typeface="Menlo" pitchFamily="34" charset="-120"/>
              </a:rPr>
              <a:t>load_logs · use_dataset</a:t>
            </a:r>
            <a:endParaRPr lang="en-US" sz="1050" dirty="0"/>
          </a:p>
        </p:txBody>
      </p:sp>
      <p:sp>
        <p:nvSpPr>
          <p:cNvPr id="25" name="Text 22"/>
          <p:cNvSpPr/>
          <p:nvPr/>
        </p:nvSpPr>
        <p:spPr>
          <a:xfrm>
            <a:off x="457200" y="4343400"/>
            <a:ext cx="8229600" cy="274320"/>
          </a:xfrm>
          <a:prstGeom prst="rect">
            <a:avLst/>
          </a:prstGeom>
          <a:noFill/>
          <a:ln/>
        </p:spPr>
        <p:txBody>
          <a:bodyPr wrap="square" lIns="0" tIns="0" rIns="0" bIns="0" rtlCol="0" anchor="ctr"/>
          <a:lstStyle/>
          <a:p>
            <a:pPr indent="0" marL="0">
              <a:buNone/>
            </a:pPr>
            <a:r>
              <a:rPr lang="en-US" sz="1150" b="1" dirty="0">
                <a:solidFill>
                  <a:srgbClr val="3A3F55"/>
                </a:solidFill>
                <a:latin typeface="Avenir Next" pitchFamily="34" charset="0"/>
                <a:ea typeface="Avenir Next" pitchFamily="34" charset="-122"/>
                <a:cs typeface="Avenir Next" pitchFamily="34" charset="-120"/>
              </a:rPr>
              <a:t>Every result: its SQL, the exact total, and a flag if cut to 50 rows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Technical</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13</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TECHNICAL · PROMPTS AND RESOURCES</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Shortcuts in Claude Code</a:t>
            </a:r>
            <a:endParaRPr lang="en-US" sz="2800" dirty="0"/>
          </a:p>
        </p:txBody>
      </p:sp>
      <p:sp>
        <p:nvSpPr>
          <p:cNvPr id="7" name="Shape 4"/>
          <p:cNvSpPr/>
          <p:nvPr/>
        </p:nvSpPr>
        <p:spPr>
          <a:xfrm>
            <a:off x="457200" y="1463040"/>
            <a:ext cx="4023360" cy="2880360"/>
          </a:xfrm>
          <a:prstGeom prst="roundRect">
            <a:avLst>
              <a:gd name="adj" fmla="val 4444"/>
            </a:avLst>
          </a:prstGeom>
          <a:solidFill>
            <a:srgbClr val="F0F2F5"/>
          </a:solidFill>
          <a:ln/>
        </p:spPr>
      </p:sp>
      <p:sp>
        <p:nvSpPr>
          <p:cNvPr id="8" name="Text 5"/>
          <p:cNvSpPr/>
          <p:nvPr/>
        </p:nvSpPr>
        <p:spPr>
          <a:xfrm>
            <a:off x="731520" y="1645920"/>
            <a:ext cx="3474720" cy="365760"/>
          </a:xfrm>
          <a:prstGeom prst="rect">
            <a:avLst/>
          </a:prstGeom>
          <a:noFill/>
          <a:ln/>
        </p:spPr>
        <p:txBody>
          <a:bodyPr wrap="square" lIns="0" tIns="0" rIns="0" bIns="0" rtlCol="0" anchor="ctr"/>
          <a:lstStyle/>
          <a:p>
            <a:pPr indent="0" marL="0">
              <a:buNone/>
            </a:pPr>
            <a:r>
              <a:rPr lang="en-US" sz="1600" b="1" dirty="0">
                <a:solidFill>
                  <a:srgbClr val="11121D"/>
                </a:solidFill>
                <a:latin typeface="Avenir Next" pitchFamily="34" charset="0"/>
                <a:ea typeface="Avenir Next" pitchFamily="34" charset="-122"/>
                <a:cs typeface="Avenir Next" pitchFamily="34" charset="-120"/>
              </a:rPr>
              <a:t>Prompts  /</a:t>
            </a:r>
            <a:endParaRPr lang="en-US" sz="1600" dirty="0"/>
          </a:p>
        </p:txBody>
      </p:sp>
      <p:sp>
        <p:nvSpPr>
          <p:cNvPr id="9" name="Text 6"/>
          <p:cNvSpPr/>
          <p:nvPr/>
        </p:nvSpPr>
        <p:spPr>
          <a:xfrm>
            <a:off x="731520" y="2103120"/>
            <a:ext cx="3566160" cy="2011680"/>
          </a:xfrm>
          <a:prstGeom prst="rect">
            <a:avLst/>
          </a:prstGeom>
          <a:noFill/>
          <a:ln/>
        </p:spPr>
        <p:txBody>
          <a:bodyPr wrap="square" lIns="0" tIns="0" rIns="0" bIns="0" rtlCol="0" anchor="t"/>
          <a:lstStyle/>
          <a:p>
            <a:pPr indent="0" marL="0">
              <a:spcAft>
                <a:spcPts val="800"/>
              </a:spcAft>
              <a:buNone/>
            </a:pPr>
            <a:r>
              <a:rPr lang="en-US" sz="1200" dirty="0">
                <a:solidFill>
                  <a:srgbClr val="6A4BD8"/>
                </a:solidFill>
                <a:latin typeface="Menlo" pitchFamily="34" charset="0"/>
                <a:ea typeface="Menlo" pitchFamily="34" charset="-122"/>
                <a:cs typeface="Menlo" pitchFamily="34" charset="-120"/>
              </a:rPr>
              <a:t>investigate_failure</a:t>
            </a:r>
            <a:endParaRPr lang="en-US" sz="1200" dirty="0"/>
          </a:p>
          <a:p>
            <a:pPr indent="0" marL="0">
              <a:spcAft>
                <a:spcPts val="800"/>
              </a:spcAft>
              <a:buNone/>
            </a:pPr>
            <a:r>
              <a:rPr lang="en-US" sz="1200" dirty="0">
                <a:solidFill>
                  <a:srgbClr val="6A4BD8"/>
                </a:solidFill>
                <a:latin typeface="Menlo" pitchFamily="34" charset="0"/>
                <a:ea typeface="Menlo" pitchFamily="34" charset="-122"/>
                <a:cs typeface="Menlo" pitchFamily="34" charset="-120"/>
              </a:rPr>
              <a:t>review_recurring_problems</a:t>
            </a:r>
            <a:endParaRPr lang="en-US" sz="1200" dirty="0"/>
          </a:p>
          <a:p>
            <a:pPr indent="0" marL="0">
              <a:spcAft>
                <a:spcPts val="800"/>
              </a:spcAft>
              <a:buNone/>
            </a:pPr>
            <a:r>
              <a:rPr lang="en-US" sz="1200" dirty="0">
                <a:solidFill>
                  <a:srgbClr val="6A4BD8"/>
                </a:solidFill>
                <a:latin typeface="Menlo" pitchFamily="34" charset="0"/>
                <a:ea typeface="Menlo" pitchFamily="34" charset="-122"/>
                <a:cs typeface="Menlo" pitchFamily="34" charset="-120"/>
              </a:rPr>
              <a:t>set_priorities</a:t>
            </a:r>
            <a:endParaRPr lang="en-US" sz="1200" dirty="0"/>
          </a:p>
          <a:p>
            <a:pPr indent="0" marL="0">
              <a:spcAft>
                <a:spcPts val="800"/>
              </a:spcAft>
              <a:buNone/>
            </a:pPr>
            <a:r>
              <a:rPr lang="en-US" sz="1200" dirty="0">
                <a:solidFill>
                  <a:srgbClr val="6A4BD8"/>
                </a:solidFill>
                <a:latin typeface="Menlo" pitchFamily="34" charset="0"/>
                <a:ea typeface="Menlo" pitchFamily="34" charset="-122"/>
                <a:cs typeface="Menlo" pitchFamily="34" charset="-120"/>
              </a:rPr>
              <a:t>worked_investigation</a:t>
            </a:r>
            <a:endParaRPr lang="en-US" sz="1200" dirty="0"/>
          </a:p>
          <a:p>
            <a:pPr indent="0" marL="0">
              <a:spcAft>
                <a:spcPts val="800"/>
              </a:spcAft>
              <a:buNone/>
            </a:pPr>
            <a:r>
              <a:rPr lang="en-US" sz="1200" dirty="0">
                <a:solidFill>
                  <a:srgbClr val="6A4BD8"/>
                </a:solidFill>
                <a:latin typeface="Menlo" pitchFamily="34" charset="0"/>
                <a:ea typeface="Menlo" pitchFamily="34" charset="-122"/>
                <a:cs typeface="Menlo" pitchFamily="34" charset="-120"/>
              </a:rPr>
              <a:t>whole_corpus_counts</a:t>
            </a:r>
            <a:endParaRPr lang="en-US" sz="1200" dirty="0"/>
          </a:p>
        </p:txBody>
      </p:sp>
      <p:sp>
        <p:nvSpPr>
          <p:cNvPr id="10" name="Shape 7"/>
          <p:cNvSpPr/>
          <p:nvPr/>
        </p:nvSpPr>
        <p:spPr>
          <a:xfrm>
            <a:off x="4663440" y="1463040"/>
            <a:ext cx="4023360" cy="2880360"/>
          </a:xfrm>
          <a:prstGeom prst="roundRect">
            <a:avLst>
              <a:gd name="adj" fmla="val 4444"/>
            </a:avLst>
          </a:prstGeom>
          <a:solidFill>
            <a:srgbClr val="F1ECFD"/>
          </a:solidFill>
          <a:ln/>
        </p:spPr>
      </p:sp>
      <p:sp>
        <p:nvSpPr>
          <p:cNvPr id="11" name="Text 8"/>
          <p:cNvSpPr/>
          <p:nvPr/>
        </p:nvSpPr>
        <p:spPr>
          <a:xfrm>
            <a:off x="4937760" y="1645920"/>
            <a:ext cx="3474720" cy="365760"/>
          </a:xfrm>
          <a:prstGeom prst="rect">
            <a:avLst/>
          </a:prstGeom>
          <a:noFill/>
          <a:ln/>
        </p:spPr>
        <p:txBody>
          <a:bodyPr wrap="square" lIns="0" tIns="0" rIns="0" bIns="0" rtlCol="0" anchor="ctr"/>
          <a:lstStyle/>
          <a:p>
            <a:pPr indent="0" marL="0">
              <a:buNone/>
            </a:pPr>
            <a:r>
              <a:rPr lang="en-US" sz="1600" b="1" dirty="0">
                <a:solidFill>
                  <a:srgbClr val="11121D"/>
                </a:solidFill>
                <a:latin typeface="Avenir Next" pitchFamily="34" charset="0"/>
                <a:ea typeface="Avenir Next" pitchFamily="34" charset="-122"/>
                <a:cs typeface="Avenir Next" pitchFamily="34" charset="-120"/>
              </a:rPr>
              <a:t>Resources  @</a:t>
            </a:r>
            <a:endParaRPr lang="en-US" sz="1600" dirty="0"/>
          </a:p>
        </p:txBody>
      </p:sp>
      <p:sp>
        <p:nvSpPr>
          <p:cNvPr id="12" name="Text 9"/>
          <p:cNvSpPr/>
          <p:nvPr/>
        </p:nvSpPr>
        <p:spPr>
          <a:xfrm>
            <a:off x="4937760" y="2103120"/>
            <a:ext cx="3566160" cy="2011680"/>
          </a:xfrm>
          <a:prstGeom prst="rect">
            <a:avLst/>
          </a:prstGeom>
          <a:noFill/>
          <a:ln/>
        </p:spPr>
        <p:txBody>
          <a:bodyPr wrap="square" lIns="0" tIns="0" rIns="0" bIns="0" rtlCol="0" anchor="t"/>
          <a:lstStyle/>
          <a:p>
            <a:pPr indent="0" marL="0">
              <a:spcAft>
                <a:spcPts val="800"/>
              </a:spcAft>
              <a:buNone/>
            </a:pPr>
            <a:r>
              <a:rPr lang="en-US" sz="1200" dirty="0">
                <a:solidFill>
                  <a:srgbClr val="3E318C"/>
                </a:solidFill>
                <a:latin typeface="Menlo" pitchFamily="34" charset="0"/>
                <a:ea typeface="Menlo" pitchFamily="34" charset="-122"/>
                <a:cs typeface="Menlo" pitchFamily="34" charset="-120"/>
              </a:rPr>
              <a:t>logs://datasets</a:t>
            </a:r>
            <a:endParaRPr lang="en-US" sz="1200" dirty="0"/>
          </a:p>
          <a:p>
            <a:pPr indent="0" marL="0">
              <a:spcAft>
                <a:spcPts val="800"/>
              </a:spcAft>
              <a:buNone/>
            </a:pPr>
            <a:r>
              <a:rPr lang="en-US" sz="1200" dirty="0">
                <a:solidFill>
                  <a:srgbClr val="3E318C"/>
                </a:solidFill>
                <a:latin typeface="Menlo" pitchFamily="34" charset="0"/>
                <a:ea typeface="Menlo" pitchFamily="34" charset="-122"/>
                <a:cs typeface="Menlo" pitchFamily="34" charset="-120"/>
              </a:rPr>
              <a:t>logs://glossary</a:t>
            </a:r>
            <a:endParaRPr lang="en-US" sz="1200" dirty="0"/>
          </a:p>
          <a:p>
            <a:pPr indent="0" marL="0">
              <a:spcAft>
                <a:spcPts val="800"/>
              </a:spcAft>
              <a:buNone/>
            </a:pPr>
            <a:r>
              <a:rPr lang="en-US" sz="1200" dirty="0">
                <a:solidFill>
                  <a:srgbClr val="3E318C"/>
                </a:solidFill>
                <a:latin typeface="Menlo" pitchFamily="34" charset="0"/>
                <a:ea typeface="Menlo" pitchFamily="34" charset="-122"/>
                <a:cs typeface="Menlo" pitchFamily="34" charset="-120"/>
              </a:rPr>
              <a:t>logs://field-guide/{dataset}</a:t>
            </a:r>
            <a:endParaRPr lang="en-US" sz="1200" dirty="0"/>
          </a:p>
          <a:p>
            <a:pPr indent="0" marL="0">
              <a:spcAft>
                <a:spcPts val="800"/>
              </a:spcAft>
              <a:buNone/>
            </a:pPr>
            <a:r>
              <a:rPr lang="en-US" sz="1200" dirty="0">
                <a:solidFill>
                  <a:srgbClr val="3E318C"/>
                </a:solidFill>
                <a:latin typeface="Menlo" pitchFamily="34" charset="0"/>
                <a:ea typeface="Menlo" pitchFamily="34" charset="-122"/>
                <a:cs typeface="Menlo" pitchFamily="34" charset="-120"/>
              </a:rPr>
              <a:t>logs://ownership/{dataset}</a:t>
            </a:r>
            <a:endParaRPr lang="en-US" sz="1200" dirty="0"/>
          </a:p>
          <a:p>
            <a:pPr indent="0" marL="0">
              <a:spcAft>
                <a:spcPts val="800"/>
              </a:spcAft>
              <a:buNone/>
            </a:pPr>
            <a:r>
              <a:rPr lang="en-US" sz="1200" dirty="0">
                <a:solidFill>
                  <a:srgbClr val="3E318C"/>
                </a:solidFill>
                <a:latin typeface="Menlo" pitchFamily="34" charset="0"/>
                <a:ea typeface="Menlo" pitchFamily="34" charset="-122"/>
                <a:cs typeface="Menlo" pitchFamily="34" charset="-120"/>
              </a:rPr>
              <a:t>logs://session/latest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Wow</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14</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WOW</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Beyond what the brief asked for</a:t>
            </a:r>
            <a:endParaRPr lang="en-US" sz="2800" dirty="0"/>
          </a:p>
        </p:txBody>
      </p:sp>
      <p:sp>
        <p:nvSpPr>
          <p:cNvPr id="7" name="Shape 4"/>
          <p:cNvSpPr/>
          <p:nvPr/>
        </p:nvSpPr>
        <p:spPr>
          <a:xfrm>
            <a:off x="457200" y="1463040"/>
            <a:ext cx="2624328" cy="1325880"/>
          </a:xfrm>
          <a:prstGeom prst="roundRect">
            <a:avLst>
              <a:gd name="adj" fmla="val 9655"/>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87452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2005279"/>
            <a:ext cx="241402" cy="241402"/>
          </a:xfrm>
          <a:prstGeom prst="rect">
            <a:avLst/>
          </a:prstGeom>
        </p:spPr>
      </p:pic>
      <p:sp>
        <p:nvSpPr>
          <p:cNvPr id="10" name="Text 5"/>
          <p:cNvSpPr/>
          <p:nvPr/>
        </p:nvSpPr>
        <p:spPr>
          <a:xfrm>
            <a:off x="1371600" y="182880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Your own logs</a:t>
            </a:r>
            <a:endParaRPr lang="en-US" sz="1500" dirty="0"/>
          </a:p>
        </p:txBody>
      </p:sp>
      <p:sp>
        <p:nvSpPr>
          <p:cNvPr id="11" name="Shape 6"/>
          <p:cNvSpPr/>
          <p:nvPr/>
        </p:nvSpPr>
        <p:spPr>
          <a:xfrm>
            <a:off x="3264408" y="1463040"/>
            <a:ext cx="2624328" cy="1325880"/>
          </a:xfrm>
          <a:prstGeom prst="roundRect">
            <a:avLst>
              <a:gd name="adj" fmla="val 9655"/>
            </a:avLst>
          </a:prstGeom>
          <a:solidFill>
            <a:srgbClr val="F1ECFD"/>
          </a:solidFill>
          <a:ln/>
        </p:spPr>
      </p:sp>
      <p:pic>
        <p:nvPicPr>
          <p:cNvPr id="12" name="Image 3" descr="preencoded.png">    </p:cNvPr>
          <p:cNvPicPr>
            <a:picLocks noChangeAspect="1"/>
          </p:cNvPicPr>
          <p:nvPr/>
        </p:nvPicPr>
        <p:blipFill>
          <a:blip r:embed="rId4"/>
          <a:stretch>
            <a:fillRect/>
          </a:stretch>
        </p:blipFill>
        <p:spPr>
          <a:xfrm>
            <a:off x="3520440" y="1874520"/>
            <a:ext cx="502920" cy="502920"/>
          </a:xfrm>
          <a:prstGeom prst="rect">
            <a:avLst/>
          </a:prstGeom>
        </p:spPr>
      </p:pic>
      <p:pic>
        <p:nvPicPr>
          <p:cNvPr id="13" name="Image 4" descr="preencoded.png">    </p:cNvPr>
          <p:cNvPicPr>
            <a:picLocks noChangeAspect="1"/>
          </p:cNvPicPr>
          <p:nvPr/>
        </p:nvPicPr>
        <p:blipFill>
          <a:blip r:embed="rId5"/>
          <a:stretch>
            <a:fillRect/>
          </a:stretch>
        </p:blipFill>
        <p:spPr>
          <a:xfrm>
            <a:off x="3651199" y="2005279"/>
            <a:ext cx="241402" cy="241402"/>
          </a:xfrm>
          <a:prstGeom prst="rect">
            <a:avLst/>
          </a:prstGeom>
        </p:spPr>
      </p:pic>
      <p:sp>
        <p:nvSpPr>
          <p:cNvPr id="14" name="Text 7"/>
          <p:cNvSpPr/>
          <p:nvPr/>
        </p:nvSpPr>
        <p:spPr>
          <a:xfrm>
            <a:off x="4178808" y="182880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Verify button</a:t>
            </a:r>
            <a:endParaRPr lang="en-US" sz="1500" dirty="0"/>
          </a:p>
        </p:txBody>
      </p:sp>
      <p:sp>
        <p:nvSpPr>
          <p:cNvPr id="15" name="Shape 8"/>
          <p:cNvSpPr/>
          <p:nvPr/>
        </p:nvSpPr>
        <p:spPr>
          <a:xfrm>
            <a:off x="6071616" y="1463040"/>
            <a:ext cx="2624328" cy="1325880"/>
          </a:xfrm>
          <a:prstGeom prst="roundRect">
            <a:avLst>
              <a:gd name="adj" fmla="val 9655"/>
            </a:avLst>
          </a:prstGeom>
          <a:solidFill>
            <a:srgbClr val="F0F2F5"/>
          </a:solidFill>
          <a:ln/>
        </p:spPr>
      </p:sp>
      <p:pic>
        <p:nvPicPr>
          <p:cNvPr id="16" name="Image 5" descr="preencoded.png">    </p:cNvPr>
          <p:cNvPicPr>
            <a:picLocks noChangeAspect="1"/>
          </p:cNvPicPr>
          <p:nvPr/>
        </p:nvPicPr>
        <p:blipFill>
          <a:blip r:embed="rId6"/>
          <a:stretch>
            <a:fillRect/>
          </a:stretch>
        </p:blipFill>
        <p:spPr>
          <a:xfrm>
            <a:off x="6327648" y="1874520"/>
            <a:ext cx="502920" cy="502920"/>
          </a:xfrm>
          <a:prstGeom prst="rect">
            <a:avLst/>
          </a:prstGeom>
        </p:spPr>
      </p:pic>
      <p:pic>
        <p:nvPicPr>
          <p:cNvPr id="17" name="Image 6" descr="preencoded.png">    </p:cNvPr>
          <p:cNvPicPr>
            <a:picLocks noChangeAspect="1"/>
          </p:cNvPicPr>
          <p:nvPr/>
        </p:nvPicPr>
        <p:blipFill>
          <a:blip r:embed="rId7"/>
          <a:stretch>
            <a:fillRect/>
          </a:stretch>
        </p:blipFill>
        <p:spPr>
          <a:xfrm>
            <a:off x="6458407" y="2005279"/>
            <a:ext cx="241402" cy="241402"/>
          </a:xfrm>
          <a:prstGeom prst="rect">
            <a:avLst/>
          </a:prstGeom>
        </p:spPr>
      </p:pic>
      <p:sp>
        <p:nvSpPr>
          <p:cNvPr id="18" name="Text 9"/>
          <p:cNvSpPr/>
          <p:nvPr/>
        </p:nvSpPr>
        <p:spPr>
          <a:xfrm>
            <a:off x="6986016" y="182880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1 B remote rows</a:t>
            </a:r>
            <a:endParaRPr lang="en-US" sz="1500" dirty="0"/>
          </a:p>
        </p:txBody>
      </p:sp>
      <p:sp>
        <p:nvSpPr>
          <p:cNvPr id="19" name="Shape 10"/>
          <p:cNvSpPr/>
          <p:nvPr/>
        </p:nvSpPr>
        <p:spPr>
          <a:xfrm>
            <a:off x="457200" y="2926080"/>
            <a:ext cx="2624328" cy="1325880"/>
          </a:xfrm>
          <a:prstGeom prst="roundRect">
            <a:avLst>
              <a:gd name="adj" fmla="val 9655"/>
            </a:avLst>
          </a:prstGeom>
          <a:solidFill>
            <a:srgbClr val="F1ECFD"/>
          </a:solidFill>
          <a:ln/>
        </p:spPr>
      </p:sp>
      <p:pic>
        <p:nvPicPr>
          <p:cNvPr id="20" name="Image 7" descr="preencoded.png">    </p:cNvPr>
          <p:cNvPicPr>
            <a:picLocks noChangeAspect="1"/>
          </p:cNvPicPr>
          <p:nvPr/>
        </p:nvPicPr>
        <p:blipFill>
          <a:blip r:embed="rId8"/>
          <a:stretch>
            <a:fillRect/>
          </a:stretch>
        </p:blipFill>
        <p:spPr>
          <a:xfrm>
            <a:off x="713232" y="3337560"/>
            <a:ext cx="502920" cy="502920"/>
          </a:xfrm>
          <a:prstGeom prst="rect">
            <a:avLst/>
          </a:prstGeom>
        </p:spPr>
      </p:pic>
      <p:pic>
        <p:nvPicPr>
          <p:cNvPr id="21" name="Image 8" descr="preencoded.png">    </p:cNvPr>
          <p:cNvPicPr>
            <a:picLocks noChangeAspect="1"/>
          </p:cNvPicPr>
          <p:nvPr/>
        </p:nvPicPr>
        <p:blipFill>
          <a:blip r:embed="rId9"/>
          <a:stretch>
            <a:fillRect/>
          </a:stretch>
        </p:blipFill>
        <p:spPr>
          <a:xfrm>
            <a:off x="843991" y="3468319"/>
            <a:ext cx="241402" cy="241402"/>
          </a:xfrm>
          <a:prstGeom prst="rect">
            <a:avLst/>
          </a:prstGeom>
        </p:spPr>
      </p:pic>
      <p:sp>
        <p:nvSpPr>
          <p:cNvPr id="22" name="Text 11"/>
          <p:cNvSpPr/>
          <p:nvPr/>
        </p:nvSpPr>
        <p:spPr>
          <a:xfrm>
            <a:off x="1371600" y="329184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Access per team</a:t>
            </a:r>
            <a:endParaRPr lang="en-US" sz="1500" dirty="0"/>
          </a:p>
        </p:txBody>
      </p:sp>
      <p:sp>
        <p:nvSpPr>
          <p:cNvPr id="23" name="Shape 12"/>
          <p:cNvSpPr/>
          <p:nvPr/>
        </p:nvSpPr>
        <p:spPr>
          <a:xfrm>
            <a:off x="3264408" y="2926080"/>
            <a:ext cx="2624328" cy="1325880"/>
          </a:xfrm>
          <a:prstGeom prst="roundRect">
            <a:avLst>
              <a:gd name="adj" fmla="val 9655"/>
            </a:avLst>
          </a:prstGeom>
          <a:solidFill>
            <a:srgbClr val="F0F2F5"/>
          </a:solidFill>
          <a:ln/>
        </p:spPr>
      </p:sp>
      <p:pic>
        <p:nvPicPr>
          <p:cNvPr id="24" name="Image 9" descr="preencoded.png">    </p:cNvPr>
          <p:cNvPicPr>
            <a:picLocks noChangeAspect="1"/>
          </p:cNvPicPr>
          <p:nvPr/>
        </p:nvPicPr>
        <p:blipFill>
          <a:blip r:embed="rId10"/>
          <a:stretch>
            <a:fillRect/>
          </a:stretch>
        </p:blipFill>
        <p:spPr>
          <a:xfrm>
            <a:off x="3520440" y="3337560"/>
            <a:ext cx="502920" cy="502920"/>
          </a:xfrm>
          <a:prstGeom prst="rect">
            <a:avLst/>
          </a:prstGeom>
        </p:spPr>
      </p:pic>
      <p:pic>
        <p:nvPicPr>
          <p:cNvPr id="25" name="Image 10" descr="preencoded.png">    </p:cNvPr>
          <p:cNvPicPr>
            <a:picLocks noChangeAspect="1"/>
          </p:cNvPicPr>
          <p:nvPr/>
        </p:nvPicPr>
        <p:blipFill>
          <a:blip r:embed="rId11"/>
          <a:stretch>
            <a:fillRect/>
          </a:stretch>
        </p:blipFill>
        <p:spPr>
          <a:xfrm>
            <a:off x="3651199" y="3468319"/>
            <a:ext cx="241402" cy="241402"/>
          </a:xfrm>
          <a:prstGeom prst="rect">
            <a:avLst/>
          </a:prstGeom>
        </p:spPr>
      </p:pic>
      <p:sp>
        <p:nvSpPr>
          <p:cNvPr id="26" name="Text 13"/>
          <p:cNvSpPr/>
          <p:nvPr/>
        </p:nvSpPr>
        <p:spPr>
          <a:xfrm>
            <a:off x="4178808" y="329184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Blind evaluation</a:t>
            </a:r>
            <a:endParaRPr lang="en-US" sz="1500" dirty="0"/>
          </a:p>
        </p:txBody>
      </p:sp>
      <p:sp>
        <p:nvSpPr>
          <p:cNvPr id="27" name="Shape 14"/>
          <p:cNvSpPr/>
          <p:nvPr/>
        </p:nvSpPr>
        <p:spPr>
          <a:xfrm>
            <a:off x="6071616" y="2926080"/>
            <a:ext cx="2624328" cy="1325880"/>
          </a:xfrm>
          <a:prstGeom prst="roundRect">
            <a:avLst>
              <a:gd name="adj" fmla="val 9655"/>
            </a:avLst>
          </a:prstGeom>
          <a:solidFill>
            <a:srgbClr val="F1ECFD"/>
          </a:solidFill>
          <a:ln/>
        </p:spPr>
      </p:sp>
      <p:pic>
        <p:nvPicPr>
          <p:cNvPr id="28" name="Image 11" descr="preencoded.png">    </p:cNvPr>
          <p:cNvPicPr>
            <a:picLocks noChangeAspect="1"/>
          </p:cNvPicPr>
          <p:nvPr/>
        </p:nvPicPr>
        <p:blipFill>
          <a:blip r:embed="rId12"/>
          <a:stretch>
            <a:fillRect/>
          </a:stretch>
        </p:blipFill>
        <p:spPr>
          <a:xfrm>
            <a:off x="6327648" y="3337560"/>
            <a:ext cx="502920" cy="502920"/>
          </a:xfrm>
          <a:prstGeom prst="rect">
            <a:avLst/>
          </a:prstGeom>
        </p:spPr>
      </p:pic>
      <p:pic>
        <p:nvPicPr>
          <p:cNvPr id="29" name="Image 12" descr="preencoded.png">    </p:cNvPr>
          <p:cNvPicPr>
            <a:picLocks noChangeAspect="1"/>
          </p:cNvPicPr>
          <p:nvPr/>
        </p:nvPicPr>
        <p:blipFill>
          <a:blip r:embed="rId13"/>
          <a:stretch>
            <a:fillRect/>
          </a:stretch>
        </p:blipFill>
        <p:spPr>
          <a:xfrm>
            <a:off x="6458407" y="3468319"/>
            <a:ext cx="241402" cy="241402"/>
          </a:xfrm>
          <a:prstGeom prst="rect">
            <a:avLst/>
          </a:prstGeom>
        </p:spPr>
      </p:pic>
      <p:sp>
        <p:nvSpPr>
          <p:cNvPr id="30" name="Text 15"/>
          <p:cNvSpPr/>
          <p:nvPr/>
        </p:nvSpPr>
        <p:spPr>
          <a:xfrm>
            <a:off x="6986016" y="3291840"/>
            <a:ext cx="1645920" cy="594360"/>
          </a:xfrm>
          <a:prstGeom prst="rect">
            <a:avLst/>
          </a:prstGeom>
          <a:noFill/>
          <a:ln/>
        </p:spPr>
        <p:txBody>
          <a:bodyPr wrap="square" lIns="0" tIns="0" rIns="0" bIns="0" rtlCol="0" anchor="ctr"/>
          <a:lstStyle/>
          <a:p>
            <a:pPr indent="0" marL="0">
              <a:buNone/>
            </a:pPr>
            <a:r>
              <a:rPr lang="en-US" sz="1500" b="1" dirty="0">
                <a:solidFill>
                  <a:srgbClr val="11121D"/>
                </a:solidFill>
                <a:latin typeface="Avenir Next" pitchFamily="34" charset="0"/>
                <a:ea typeface="Avenir Next" pitchFamily="34" charset="-122"/>
                <a:cs typeface="Avenir Next" pitchFamily="34" charset="-120"/>
              </a:rPr>
              <a:t>Judged once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Wow</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15</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WOW</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Every answer comes with its proof</a:t>
            </a:r>
            <a:endParaRPr lang="en-US" sz="2800" dirty="0"/>
          </a:p>
        </p:txBody>
      </p:sp>
      <p:sp>
        <p:nvSpPr>
          <p:cNvPr id="7" name="Shape 4"/>
          <p:cNvSpPr/>
          <p:nvPr/>
        </p:nvSpPr>
        <p:spPr>
          <a:xfrm>
            <a:off x="457200" y="1417320"/>
            <a:ext cx="4023360" cy="3108960"/>
          </a:xfrm>
          <a:prstGeom prst="roundRect">
            <a:avLst>
              <a:gd name="adj" fmla="val 4118"/>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827405" y="1554480"/>
            <a:ext cx="3282950" cy="2514600"/>
          </a:xfrm>
          <a:prstGeom prst="rect">
            <a:avLst/>
          </a:prstGeom>
        </p:spPr>
      </p:pic>
      <p:sp>
        <p:nvSpPr>
          <p:cNvPr id="9" name="Text 5"/>
          <p:cNvSpPr/>
          <p:nvPr/>
        </p:nvSpPr>
        <p:spPr>
          <a:xfrm>
            <a:off x="640080" y="4114800"/>
            <a:ext cx="3657600" cy="347472"/>
          </a:xfrm>
          <a:prstGeom prst="rect">
            <a:avLst/>
          </a:prstGeom>
          <a:noFill/>
          <a:ln/>
        </p:spPr>
        <p:txBody>
          <a:bodyPr wrap="square" lIns="0" tIns="0" rIns="0" bIns="0" rtlCol="0" anchor="ctr"/>
          <a:lstStyle/>
          <a:p>
            <a:pPr algn="ctr" indent="0" marL="0">
              <a:buNone/>
            </a:pPr>
            <a:r>
              <a:rPr lang="en-US" sz="1300" b="1" dirty="0">
                <a:solidFill>
                  <a:srgbClr val="11121D"/>
                </a:solidFill>
                <a:latin typeface="Avenir Next" pitchFamily="34" charset="0"/>
                <a:ea typeface="Avenir Next" pitchFamily="34" charset="-122"/>
                <a:cs typeface="Avenir Next" pitchFamily="34" charset="-120"/>
              </a:rPr>
              <a:t>Session report</a:t>
            </a:r>
            <a:endParaRPr lang="en-US" sz="1300" dirty="0"/>
          </a:p>
        </p:txBody>
      </p:sp>
      <p:sp>
        <p:nvSpPr>
          <p:cNvPr id="10" name="Shape 6"/>
          <p:cNvSpPr/>
          <p:nvPr/>
        </p:nvSpPr>
        <p:spPr>
          <a:xfrm>
            <a:off x="4663440" y="1417320"/>
            <a:ext cx="4023360" cy="3108960"/>
          </a:xfrm>
          <a:prstGeom prst="roundRect">
            <a:avLst>
              <a:gd name="adj" fmla="val 4118"/>
            </a:avLst>
          </a:prstGeom>
          <a:solidFill>
            <a:srgbClr val="F0F2F5"/>
          </a:solidFill>
          <a:ln/>
        </p:spPr>
      </p:sp>
      <p:pic>
        <p:nvPicPr>
          <p:cNvPr id="11" name="Image 2" descr="preencoded.png">    </p:cNvPr>
          <p:cNvPicPr>
            <a:picLocks noChangeAspect="1"/>
          </p:cNvPicPr>
          <p:nvPr/>
        </p:nvPicPr>
        <p:blipFill>
          <a:blip r:embed="rId3"/>
          <a:stretch>
            <a:fillRect/>
          </a:stretch>
        </p:blipFill>
        <p:spPr>
          <a:xfrm>
            <a:off x="5040630" y="1554480"/>
            <a:ext cx="3268980" cy="2514600"/>
          </a:xfrm>
          <a:prstGeom prst="rect">
            <a:avLst/>
          </a:prstGeom>
        </p:spPr>
      </p:pic>
      <p:sp>
        <p:nvSpPr>
          <p:cNvPr id="12" name="Text 7"/>
          <p:cNvSpPr/>
          <p:nvPr/>
        </p:nvSpPr>
        <p:spPr>
          <a:xfrm>
            <a:off x="4846320" y="4114800"/>
            <a:ext cx="3657600" cy="347472"/>
          </a:xfrm>
          <a:prstGeom prst="rect">
            <a:avLst/>
          </a:prstGeom>
          <a:noFill/>
          <a:ln/>
        </p:spPr>
        <p:txBody>
          <a:bodyPr wrap="square" lIns="0" tIns="0" rIns="0" bIns="0" rtlCol="0" anchor="ctr"/>
          <a:lstStyle/>
          <a:p>
            <a:pPr algn="ctr" indent="0" marL="0">
              <a:buNone/>
            </a:pPr>
            <a:r>
              <a:rPr lang="en-US" sz="1300" b="1" dirty="0">
                <a:solidFill>
                  <a:srgbClr val="11121D"/>
                </a:solidFill>
                <a:latin typeface="Avenir Next" pitchFamily="34" charset="0"/>
                <a:ea typeface="Avenir Next" pitchFamily="34" charset="-122"/>
                <a:cs typeface="Avenir Next" pitchFamily="34" charset="-120"/>
              </a:rPr>
              <a:t>Eval dashboard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36592"/>
            <a:ext cx="146304" cy="146304"/>
          </a:xfrm>
          <a:prstGeom prst="rect">
            <a:avLst/>
          </a:prstGeom>
        </p:spPr>
      </p:pic>
      <p:sp>
        <p:nvSpPr>
          <p:cNvPr id="3" name="Text 0"/>
          <p:cNvSpPr/>
          <p:nvPr/>
        </p:nvSpPr>
        <p:spPr>
          <a:xfrm>
            <a:off x="676656" y="4700016"/>
            <a:ext cx="5486400" cy="228600"/>
          </a:xfrm>
          <a:prstGeom prst="rect">
            <a:avLst/>
          </a:prstGeom>
          <a:noFill/>
          <a:ln/>
        </p:spPr>
        <p:txBody>
          <a:bodyPr wrap="square" lIns="0" tIns="0" rIns="0" bIns="0" rtlCol="0" anchor="ctr"/>
          <a:lstStyle/>
          <a:p>
            <a:pPr indent="0" marL="0">
              <a:buNone/>
            </a:pPr>
            <a:r>
              <a:rPr lang="en-US" sz="900" dirty="0">
                <a:solidFill>
                  <a:srgbClr val="6B7386"/>
                </a:solidFill>
                <a:latin typeface="Avenir Next" pitchFamily="34" charset="0"/>
                <a:ea typeface="Avenir Next" pitchFamily="34" charset="-122"/>
                <a:cs typeface="Avenir Next" pitchFamily="34" charset="-120"/>
              </a:rPr>
              <a:t>Making Sense of Logs  ·  Scale</a:t>
            </a:r>
            <a:endParaRPr lang="en-US" sz="900" dirty="0"/>
          </a:p>
        </p:txBody>
      </p:sp>
      <p:sp>
        <p:nvSpPr>
          <p:cNvPr id="4" name="Text 1"/>
          <p:cNvSpPr/>
          <p:nvPr/>
        </p:nvSpPr>
        <p:spPr>
          <a:xfrm>
            <a:off x="7772400" y="4700016"/>
            <a:ext cx="914400" cy="228600"/>
          </a:xfrm>
          <a:prstGeom prst="rect">
            <a:avLst/>
          </a:prstGeom>
          <a:noFill/>
          <a:ln/>
        </p:spPr>
        <p:txBody>
          <a:bodyPr wrap="square" lIns="0" tIns="0" rIns="0" bIns="0" rtlCol="0" anchor="ctr"/>
          <a:lstStyle/>
          <a:p>
            <a:pPr algn="r" indent="0" marL="0">
              <a:buNone/>
            </a:pPr>
            <a:r>
              <a:rPr lang="en-US" sz="900" dirty="0">
                <a:solidFill>
                  <a:srgbClr val="6B7386"/>
                </a:solidFill>
                <a:latin typeface="Avenir Next" pitchFamily="34" charset="0"/>
                <a:ea typeface="Avenir Next" pitchFamily="34" charset="-122"/>
                <a:cs typeface="Avenir Next" pitchFamily="34" charset="-120"/>
              </a:rPr>
              <a:t>16</a:t>
            </a:r>
            <a:endParaRPr lang="en-US" sz="900" dirty="0"/>
          </a:p>
        </p:txBody>
      </p:sp>
      <p:sp>
        <p:nvSpPr>
          <p:cNvPr id="5" name="Text 2"/>
          <p:cNvSpPr/>
          <p:nvPr/>
        </p:nvSpPr>
        <p:spPr>
          <a:xfrm>
            <a:off x="457200" y="320040"/>
            <a:ext cx="8229600" cy="228600"/>
          </a:xfrm>
          <a:prstGeom prst="rect">
            <a:avLst/>
          </a:prstGeom>
          <a:noFill/>
          <a:ln/>
        </p:spPr>
        <p:txBody>
          <a:bodyPr wrap="square" lIns="0" tIns="0" rIns="0" bIns="0" rtlCol="0" anchor="ctr"/>
          <a:lstStyle/>
          <a:p>
            <a:pPr indent="0" marL="0">
              <a:buNone/>
            </a:pPr>
            <a:r>
              <a:rPr lang="en-US" sz="1000" b="1" spc="300" kern="0" dirty="0">
                <a:solidFill>
                  <a:srgbClr val="6A4BD8"/>
                </a:solidFill>
                <a:latin typeface="Avenir Next" pitchFamily="34" charset="0"/>
                <a:ea typeface="Avenir Next" pitchFamily="34" charset="-122"/>
                <a:cs typeface="Avenir Next" pitchFamily="34" charset="-120"/>
              </a:rPr>
              <a:t>SCALE</a:t>
            </a:r>
            <a:endParaRPr lang="en-US" sz="1000" dirty="0"/>
          </a:p>
        </p:txBody>
      </p:sp>
      <p:sp>
        <p:nvSpPr>
          <p:cNvPr id="6" name="Text 3"/>
          <p:cNvSpPr/>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11121D"/>
                </a:solidFill>
                <a:latin typeface="Avenir Next" pitchFamily="34" charset="0"/>
                <a:ea typeface="Avenir Next" pitchFamily="34" charset="-122"/>
                <a:cs typeface="Avenir Next" pitchFamily="34" charset="-120"/>
              </a:rPr>
              <a:t>Where it goes next</a:t>
            </a:r>
            <a:endParaRPr lang="en-US" sz="2800" dirty="0"/>
          </a:p>
        </p:txBody>
      </p:sp>
      <p:sp>
        <p:nvSpPr>
          <p:cNvPr id="7" name="Shape 4"/>
          <p:cNvSpPr/>
          <p:nvPr/>
        </p:nvSpPr>
        <p:spPr>
          <a:xfrm>
            <a:off x="457200" y="1463040"/>
            <a:ext cx="2621280" cy="1783080"/>
          </a:xfrm>
          <a:prstGeom prst="roundRect">
            <a:avLst>
              <a:gd name="adj" fmla="val 7179"/>
            </a:avLst>
          </a:prstGeom>
          <a:solidFill>
            <a:srgbClr val="F0F2F5"/>
          </a:solidFill>
          <a:ln/>
        </p:spPr>
      </p:sp>
      <p:pic>
        <p:nvPicPr>
          <p:cNvPr id="8" name="Image 1" descr="preencoded.png">    </p:cNvPr>
          <p:cNvPicPr>
            <a:picLocks noChangeAspect="1"/>
          </p:cNvPicPr>
          <p:nvPr/>
        </p:nvPicPr>
        <p:blipFill>
          <a:blip r:embed="rId2"/>
          <a:stretch>
            <a:fillRect/>
          </a:stretch>
        </p:blipFill>
        <p:spPr>
          <a:xfrm>
            <a:off x="713232" y="1737360"/>
            <a:ext cx="502920" cy="502920"/>
          </a:xfrm>
          <a:prstGeom prst="rect">
            <a:avLst/>
          </a:prstGeom>
        </p:spPr>
      </p:pic>
      <p:pic>
        <p:nvPicPr>
          <p:cNvPr id="9" name="Image 2" descr="preencoded.png">    </p:cNvPr>
          <p:cNvPicPr>
            <a:picLocks noChangeAspect="1"/>
          </p:cNvPicPr>
          <p:nvPr/>
        </p:nvPicPr>
        <p:blipFill>
          <a:blip r:embed="rId3"/>
          <a:stretch>
            <a:fillRect/>
          </a:stretch>
        </p:blipFill>
        <p:spPr>
          <a:xfrm>
            <a:off x="843991" y="1868119"/>
            <a:ext cx="241402" cy="241402"/>
          </a:xfrm>
          <a:prstGeom prst="rect">
            <a:avLst/>
          </a:prstGeom>
        </p:spPr>
      </p:pic>
      <p:sp>
        <p:nvSpPr>
          <p:cNvPr id="10" name="Text 5"/>
          <p:cNvSpPr/>
          <p:nvPr/>
        </p:nvSpPr>
        <p:spPr>
          <a:xfrm>
            <a:off x="71323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Mittelstand</a:t>
            </a:r>
            <a:endParaRPr lang="en-US" sz="1600" dirty="0"/>
          </a:p>
        </p:txBody>
      </p:sp>
      <p:sp>
        <p:nvSpPr>
          <p:cNvPr id="11" name="Text 6"/>
          <p:cNvSpPr/>
          <p:nvPr/>
        </p:nvSpPr>
        <p:spPr>
          <a:xfrm>
            <a:off x="713232" y="2834640"/>
            <a:ext cx="2164080" cy="27432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production and IT logs</a:t>
            </a:r>
            <a:endParaRPr lang="en-US" sz="1300" dirty="0"/>
          </a:p>
        </p:txBody>
      </p:sp>
      <p:sp>
        <p:nvSpPr>
          <p:cNvPr id="12" name="Shape 7"/>
          <p:cNvSpPr/>
          <p:nvPr/>
        </p:nvSpPr>
        <p:spPr>
          <a:xfrm>
            <a:off x="3261360" y="1463040"/>
            <a:ext cx="2621280" cy="1783080"/>
          </a:xfrm>
          <a:prstGeom prst="roundRect">
            <a:avLst>
              <a:gd name="adj" fmla="val 7179"/>
            </a:avLst>
          </a:prstGeom>
          <a:solidFill>
            <a:srgbClr val="F0F2F5"/>
          </a:solidFill>
          <a:ln/>
        </p:spPr>
      </p:sp>
      <p:pic>
        <p:nvPicPr>
          <p:cNvPr id="13" name="Image 3" descr="preencoded.png">    </p:cNvPr>
          <p:cNvPicPr>
            <a:picLocks noChangeAspect="1"/>
          </p:cNvPicPr>
          <p:nvPr/>
        </p:nvPicPr>
        <p:blipFill>
          <a:blip r:embed="rId4"/>
          <a:stretch>
            <a:fillRect/>
          </a:stretch>
        </p:blipFill>
        <p:spPr>
          <a:xfrm>
            <a:off x="3517392" y="1737360"/>
            <a:ext cx="502920" cy="502920"/>
          </a:xfrm>
          <a:prstGeom prst="rect">
            <a:avLst/>
          </a:prstGeom>
        </p:spPr>
      </p:pic>
      <p:pic>
        <p:nvPicPr>
          <p:cNvPr id="14" name="Image 4" descr="preencoded.png">    </p:cNvPr>
          <p:cNvPicPr>
            <a:picLocks noChangeAspect="1"/>
          </p:cNvPicPr>
          <p:nvPr/>
        </p:nvPicPr>
        <p:blipFill>
          <a:blip r:embed="rId5"/>
          <a:stretch>
            <a:fillRect/>
          </a:stretch>
        </p:blipFill>
        <p:spPr>
          <a:xfrm>
            <a:off x="3648151" y="1868119"/>
            <a:ext cx="241402" cy="241402"/>
          </a:xfrm>
          <a:prstGeom prst="rect">
            <a:avLst/>
          </a:prstGeom>
        </p:spPr>
      </p:pic>
      <p:sp>
        <p:nvSpPr>
          <p:cNvPr id="15" name="Text 8"/>
          <p:cNvSpPr/>
          <p:nvPr/>
        </p:nvSpPr>
        <p:spPr>
          <a:xfrm>
            <a:off x="351739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Other industries</a:t>
            </a:r>
            <a:endParaRPr lang="en-US" sz="1600" dirty="0"/>
          </a:p>
        </p:txBody>
      </p:sp>
      <p:sp>
        <p:nvSpPr>
          <p:cNvPr id="16" name="Text 9"/>
          <p:cNvSpPr/>
          <p:nvPr/>
        </p:nvSpPr>
        <p:spPr>
          <a:xfrm>
            <a:off x="3517392" y="2834640"/>
            <a:ext cx="2164080" cy="27432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anything that writes logs</a:t>
            </a:r>
            <a:endParaRPr lang="en-US" sz="1300" dirty="0"/>
          </a:p>
        </p:txBody>
      </p:sp>
      <p:sp>
        <p:nvSpPr>
          <p:cNvPr id="17" name="Shape 10"/>
          <p:cNvSpPr/>
          <p:nvPr/>
        </p:nvSpPr>
        <p:spPr>
          <a:xfrm>
            <a:off x="6065520" y="1463040"/>
            <a:ext cx="2621280" cy="1783080"/>
          </a:xfrm>
          <a:prstGeom prst="roundRect">
            <a:avLst>
              <a:gd name="adj" fmla="val 7179"/>
            </a:avLst>
          </a:prstGeom>
          <a:solidFill>
            <a:srgbClr val="F0F2F5"/>
          </a:solidFill>
          <a:ln/>
        </p:spPr>
      </p:sp>
      <p:pic>
        <p:nvPicPr>
          <p:cNvPr id="18" name="Image 5" descr="preencoded.png">    </p:cNvPr>
          <p:cNvPicPr>
            <a:picLocks noChangeAspect="1"/>
          </p:cNvPicPr>
          <p:nvPr/>
        </p:nvPicPr>
        <p:blipFill>
          <a:blip r:embed="rId6"/>
          <a:stretch>
            <a:fillRect/>
          </a:stretch>
        </p:blipFill>
        <p:spPr>
          <a:xfrm>
            <a:off x="6321552" y="1737360"/>
            <a:ext cx="502920" cy="502920"/>
          </a:xfrm>
          <a:prstGeom prst="rect">
            <a:avLst/>
          </a:prstGeom>
        </p:spPr>
      </p:pic>
      <p:pic>
        <p:nvPicPr>
          <p:cNvPr id="19" name="Image 6" descr="preencoded.png">    </p:cNvPr>
          <p:cNvPicPr>
            <a:picLocks noChangeAspect="1"/>
          </p:cNvPicPr>
          <p:nvPr/>
        </p:nvPicPr>
        <p:blipFill>
          <a:blip r:embed="rId7"/>
          <a:stretch>
            <a:fillRect/>
          </a:stretch>
        </p:blipFill>
        <p:spPr>
          <a:xfrm>
            <a:off x="6452311" y="1868119"/>
            <a:ext cx="241402" cy="241402"/>
          </a:xfrm>
          <a:prstGeom prst="rect">
            <a:avLst/>
          </a:prstGeom>
        </p:spPr>
      </p:pic>
      <p:sp>
        <p:nvSpPr>
          <p:cNvPr id="20" name="Text 11"/>
          <p:cNvSpPr/>
          <p:nvPr/>
        </p:nvSpPr>
        <p:spPr>
          <a:xfrm>
            <a:off x="6321552" y="2423160"/>
            <a:ext cx="2164080" cy="411480"/>
          </a:xfrm>
          <a:prstGeom prst="rect">
            <a:avLst/>
          </a:prstGeom>
          <a:noFill/>
          <a:ln/>
        </p:spPr>
        <p:txBody>
          <a:bodyPr wrap="square" lIns="0" tIns="0" rIns="0" bIns="0" rtlCol="0" anchor="t"/>
          <a:lstStyle/>
          <a:p>
            <a:pPr indent="0" marL="0">
              <a:buNone/>
            </a:pPr>
            <a:r>
              <a:rPr lang="en-US" sz="1600" b="1" dirty="0">
                <a:solidFill>
                  <a:srgbClr val="11121D"/>
                </a:solidFill>
                <a:latin typeface="Avenir Next" pitchFamily="34" charset="0"/>
                <a:ea typeface="Avenir Next" pitchFamily="34" charset="-122"/>
                <a:cs typeface="Avenir Next" pitchFamily="34" charset="-120"/>
              </a:rPr>
              <a:t>A product</a:t>
            </a:r>
            <a:endParaRPr lang="en-US" sz="1600" dirty="0"/>
          </a:p>
        </p:txBody>
      </p:sp>
      <p:sp>
        <p:nvSpPr>
          <p:cNvPr id="21" name="Text 12"/>
          <p:cNvSpPr/>
          <p:nvPr/>
        </p:nvSpPr>
        <p:spPr>
          <a:xfrm>
            <a:off x="6321552" y="2834640"/>
            <a:ext cx="2164080" cy="274320"/>
          </a:xfrm>
          <a:prstGeom prst="rect">
            <a:avLst/>
          </a:prstGeom>
          <a:noFill/>
          <a:ln/>
        </p:spPr>
        <p:txBody>
          <a:bodyPr wrap="square" lIns="0" tIns="0" rIns="0" bIns="0" rtlCol="0" anchor="t"/>
          <a:lstStyle/>
          <a:p>
            <a:pPr indent="0" marL="0">
              <a:buNone/>
            </a:pPr>
            <a:r>
              <a:rPr lang="en-US" sz="1300" dirty="0">
                <a:solidFill>
                  <a:srgbClr val="3A3F55"/>
                </a:solidFill>
                <a:latin typeface="Avenir Next" pitchFamily="34" charset="0"/>
                <a:ea typeface="Avenir Next" pitchFamily="34" charset="-122"/>
                <a:cs typeface="Avenir Next" pitchFamily="34" charset="-120"/>
              </a:rPr>
              <a:t>a self-hosted log copilot</a:t>
            </a:r>
            <a:endParaRPr lang="en-US" sz="1300" dirty="0"/>
          </a:p>
        </p:txBody>
      </p:sp>
      <p:pic>
        <p:nvPicPr>
          <p:cNvPr id="22" name="Image 7" descr="preencoded.png">    </p:cNvPr>
          <p:cNvPicPr>
            <a:picLocks noChangeAspect="1"/>
          </p:cNvPicPr>
          <p:nvPr/>
        </p:nvPicPr>
        <p:blipFill>
          <a:blip r:embed="rId8"/>
          <a:stretch>
            <a:fillRect/>
          </a:stretch>
        </p:blipFill>
        <p:spPr>
          <a:xfrm>
            <a:off x="457200" y="3429000"/>
            <a:ext cx="8229600" cy="1097280"/>
          </a:xfrm>
          <a:prstGeom prst="rect">
            <a:avLst/>
          </a:prstGeom>
        </p:spPr>
      </p:pic>
      <p:sp>
        <p:nvSpPr>
          <p:cNvPr id="23" name="Text 13"/>
          <p:cNvSpPr/>
          <p:nvPr/>
        </p:nvSpPr>
        <p:spPr>
          <a:xfrm>
            <a:off x="777240" y="3520440"/>
            <a:ext cx="2468880" cy="502920"/>
          </a:xfrm>
          <a:prstGeom prst="rect">
            <a:avLst/>
          </a:prstGeom>
          <a:noFill/>
          <a:ln/>
        </p:spPr>
        <p:txBody>
          <a:bodyPr wrap="square" lIns="0" tIns="0" rIns="0" bIns="0" rtlCol="0" anchor="ctr"/>
          <a:lstStyle/>
          <a:p>
            <a:pPr indent="0" marL="0">
              <a:buNone/>
            </a:pPr>
            <a:r>
              <a:rPr lang="en-US" sz="2800" b="1" dirty="0">
                <a:solidFill>
                  <a:srgbClr val="FFFFFF"/>
                </a:solidFill>
                <a:latin typeface="Avenir Next" pitchFamily="34" charset="0"/>
                <a:ea typeface="Avenir Next" pitchFamily="34" charset="-122"/>
                <a:cs typeface="Avenir Next" pitchFamily="34" charset="-120"/>
              </a:rPr>
              <a:t>10</a:t>
            </a:r>
            <a:endParaRPr lang="en-US" sz="2800" dirty="0"/>
          </a:p>
        </p:txBody>
      </p:sp>
      <p:sp>
        <p:nvSpPr>
          <p:cNvPr id="24" name="Text 14"/>
          <p:cNvSpPr/>
          <p:nvPr/>
        </p:nvSpPr>
        <p:spPr>
          <a:xfrm>
            <a:off x="777240" y="4023360"/>
            <a:ext cx="2468880" cy="365760"/>
          </a:xfrm>
          <a:prstGeom prst="rect">
            <a:avLst/>
          </a:prstGeom>
          <a:noFill/>
          <a:ln/>
        </p:spPr>
        <p:txBody>
          <a:bodyPr wrap="square" lIns="0" tIns="0" rIns="0" bIns="0" rtlCol="0" anchor="ctr"/>
          <a:lstStyle/>
          <a:p>
            <a:pPr indent="0" marL="0">
              <a:buNone/>
            </a:pPr>
            <a:r>
              <a:rPr lang="en-US" sz="1200" dirty="0">
                <a:solidFill>
                  <a:srgbClr val="EDE7FF"/>
                </a:solidFill>
                <a:latin typeface="Avenir Next" pitchFamily="34" charset="0"/>
                <a:ea typeface="Avenir Next" pitchFamily="34" charset="-122"/>
                <a:cs typeface="Avenir Next" pitchFamily="34" charset="-120"/>
              </a:rPr>
              <a:t>log types, no code change</a:t>
            </a:r>
            <a:endParaRPr lang="en-US" sz="1200" dirty="0"/>
          </a:p>
        </p:txBody>
      </p:sp>
      <p:sp>
        <p:nvSpPr>
          <p:cNvPr id="25" name="Text 15"/>
          <p:cNvSpPr/>
          <p:nvPr/>
        </p:nvSpPr>
        <p:spPr>
          <a:xfrm>
            <a:off x="3520440" y="3520440"/>
            <a:ext cx="2468880" cy="502920"/>
          </a:xfrm>
          <a:prstGeom prst="rect">
            <a:avLst/>
          </a:prstGeom>
          <a:noFill/>
          <a:ln/>
        </p:spPr>
        <p:txBody>
          <a:bodyPr wrap="square" lIns="0" tIns="0" rIns="0" bIns="0" rtlCol="0" anchor="ctr"/>
          <a:lstStyle/>
          <a:p>
            <a:pPr indent="0" marL="0">
              <a:buNone/>
            </a:pPr>
            <a:r>
              <a:rPr lang="en-US" sz="2800" b="1" dirty="0">
                <a:solidFill>
                  <a:srgbClr val="FFFFFF"/>
                </a:solidFill>
                <a:latin typeface="Avenir Next" pitchFamily="34" charset="0"/>
                <a:ea typeface="Avenir Next" pitchFamily="34" charset="-122"/>
                <a:cs typeface="Avenir Next" pitchFamily="34" charset="-120"/>
              </a:rPr>
              <a:t>11.2 M</a:t>
            </a:r>
            <a:endParaRPr lang="en-US" sz="2800" dirty="0"/>
          </a:p>
        </p:txBody>
      </p:sp>
      <p:sp>
        <p:nvSpPr>
          <p:cNvPr id="26" name="Text 16"/>
          <p:cNvSpPr/>
          <p:nvPr/>
        </p:nvSpPr>
        <p:spPr>
          <a:xfrm>
            <a:off x="3520440" y="4023360"/>
            <a:ext cx="2468880" cy="365760"/>
          </a:xfrm>
          <a:prstGeom prst="rect">
            <a:avLst/>
          </a:prstGeom>
          <a:noFill/>
          <a:ln/>
        </p:spPr>
        <p:txBody>
          <a:bodyPr wrap="square" lIns="0" tIns="0" rIns="0" bIns="0" rtlCol="0" anchor="ctr"/>
          <a:lstStyle/>
          <a:p>
            <a:pPr indent="0" marL="0">
              <a:buNone/>
            </a:pPr>
            <a:r>
              <a:rPr lang="en-US" sz="1200" dirty="0">
                <a:solidFill>
                  <a:srgbClr val="EDE7FF"/>
                </a:solidFill>
                <a:latin typeface="Avenir Next" pitchFamily="34" charset="0"/>
                <a:ea typeface="Avenir Next" pitchFamily="34" charset="-122"/>
                <a:cs typeface="Avenir Next" pitchFamily="34" charset="-120"/>
              </a:rPr>
              <a:t>lines loaded in 47 s</a:t>
            </a:r>
            <a:endParaRPr lang="en-US" sz="1200" dirty="0"/>
          </a:p>
        </p:txBody>
      </p:sp>
      <p:sp>
        <p:nvSpPr>
          <p:cNvPr id="27" name="Text 17"/>
          <p:cNvSpPr/>
          <p:nvPr/>
        </p:nvSpPr>
        <p:spPr>
          <a:xfrm>
            <a:off x="6263640" y="3520440"/>
            <a:ext cx="2468880" cy="502920"/>
          </a:xfrm>
          <a:prstGeom prst="rect">
            <a:avLst/>
          </a:prstGeom>
          <a:noFill/>
          <a:ln/>
        </p:spPr>
        <p:txBody>
          <a:bodyPr wrap="square" lIns="0" tIns="0" rIns="0" bIns="0" rtlCol="0" anchor="ctr"/>
          <a:lstStyle/>
          <a:p>
            <a:pPr indent="0" marL="0">
              <a:buNone/>
            </a:pPr>
            <a:r>
              <a:rPr lang="en-US" sz="2800" b="1" dirty="0">
                <a:solidFill>
                  <a:srgbClr val="FFFFFF"/>
                </a:solidFill>
                <a:latin typeface="Avenir Next" pitchFamily="34" charset="0"/>
                <a:ea typeface="Avenir Next" pitchFamily="34" charset="-122"/>
                <a:cs typeface="Avenir Next" pitchFamily="34" charset="-120"/>
              </a:rPr>
              <a:t>1 B</a:t>
            </a:r>
            <a:endParaRPr lang="en-US" sz="2800" dirty="0"/>
          </a:p>
        </p:txBody>
      </p:sp>
      <p:sp>
        <p:nvSpPr>
          <p:cNvPr id="28" name="Text 18"/>
          <p:cNvSpPr/>
          <p:nvPr/>
        </p:nvSpPr>
        <p:spPr>
          <a:xfrm>
            <a:off x="6263640" y="4023360"/>
            <a:ext cx="2468880" cy="365760"/>
          </a:xfrm>
          <a:prstGeom prst="rect">
            <a:avLst/>
          </a:prstGeom>
          <a:noFill/>
          <a:ln/>
        </p:spPr>
        <p:txBody>
          <a:bodyPr wrap="square" lIns="0" tIns="0" rIns="0" bIns="0" rtlCol="0" anchor="ctr"/>
          <a:lstStyle/>
          <a:p>
            <a:pPr indent="0" marL="0">
              <a:buNone/>
            </a:pPr>
            <a:r>
              <a:rPr lang="en-US" sz="1200" dirty="0">
                <a:solidFill>
                  <a:srgbClr val="EDE7FF"/>
                </a:solidFill>
                <a:latin typeface="Avenir Next" pitchFamily="34" charset="0"/>
                <a:ea typeface="Avenir Next" pitchFamily="34" charset="-122"/>
                <a:cs typeface="Avenir Next" pitchFamily="34" charset="-120"/>
              </a:rPr>
              <a:t>remote rows, in place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57200"/>
            <a:ext cx="8229600" cy="4206240"/>
          </a:xfrm>
          <a:prstGeom prst="rect">
            <a:avLst/>
          </a:prstGeom>
        </p:spPr>
      </p:pic>
      <p:sp>
        <p:nvSpPr>
          <p:cNvPr id="3" name="Text 0"/>
          <p:cNvSpPr/>
          <p:nvPr/>
        </p:nvSpPr>
        <p:spPr>
          <a:xfrm>
            <a:off x="914400" y="86868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Avenir Next" pitchFamily="34" charset="0"/>
                <a:ea typeface="Avenir Next" pitchFamily="34" charset="-122"/>
                <a:cs typeface="Avenir Next" pitchFamily="34" charset="-120"/>
              </a:rPr>
              <a:t>Try it in two commands</a:t>
            </a:r>
            <a:endParaRPr lang="en-US" sz="3400" dirty="0"/>
          </a:p>
        </p:txBody>
      </p:sp>
      <p:sp>
        <p:nvSpPr>
          <p:cNvPr id="4" name="Shape 1"/>
          <p:cNvSpPr/>
          <p:nvPr/>
        </p:nvSpPr>
        <p:spPr>
          <a:xfrm>
            <a:off x="914400" y="1737360"/>
            <a:ext cx="7315200" cy="1325880"/>
          </a:xfrm>
          <a:prstGeom prst="roundRect">
            <a:avLst>
              <a:gd name="adj" fmla="val 9655"/>
            </a:avLst>
          </a:prstGeom>
          <a:solidFill>
            <a:srgbClr val="FFFFFF">
              <a:alpha val="12000"/>
            </a:srgbClr>
          </a:solidFill>
          <a:ln/>
        </p:spPr>
      </p:sp>
      <p:sp>
        <p:nvSpPr>
          <p:cNvPr id="5" name="Text 2"/>
          <p:cNvSpPr/>
          <p:nvPr/>
        </p:nvSpPr>
        <p:spPr>
          <a:xfrm>
            <a:off x="1188720" y="1783080"/>
            <a:ext cx="6858000" cy="1234440"/>
          </a:xfrm>
          <a:prstGeom prst="rect">
            <a:avLst/>
          </a:prstGeom>
          <a:noFill/>
          <a:ln/>
        </p:spPr>
        <p:txBody>
          <a:bodyPr wrap="square" lIns="0" tIns="0" rIns="0" bIns="0" rtlCol="0" anchor="ctr"/>
          <a:lstStyle/>
          <a:p>
            <a:pPr indent="0" marL="0">
              <a:buNone/>
            </a:pPr>
            <a:r>
              <a:rPr lang="en-US" sz="1800" dirty="0">
                <a:solidFill>
                  <a:srgbClr val="FFFFFF"/>
                </a:solidFill>
                <a:latin typeface="Menlo" pitchFamily="34" charset="0"/>
                <a:ea typeface="Menlo" pitchFamily="34" charset="-122"/>
                <a:cs typeface="Menlo" pitchFamily="34" charset="-120"/>
              </a:rPr>
              <a:t>docker compose up -d</a:t>
            </a:r>
            <a:endParaRPr lang="en-US" sz="1800" dirty="0"/>
          </a:p>
          <a:p>
            <a:pPr indent="0" marL="0">
              <a:buNone/>
            </a:pPr>
            <a:r>
              <a:rPr lang="en-US" sz="1800" dirty="0">
                <a:solidFill>
                  <a:srgbClr val="FFFFFF"/>
                </a:solidFill>
                <a:latin typeface="Menlo" pitchFamily="34" charset="0"/>
                <a:ea typeface="Menlo" pitchFamily="34" charset="-122"/>
                <a:cs typeface="Menlo" pitchFamily="34" charset="-120"/>
              </a:rPr>
              <a:t>claude</a:t>
            </a:r>
            <a:endParaRPr lang="en-US" sz="1800" dirty="0"/>
          </a:p>
          <a:p>
            <a:pPr indent="0" marL="0">
              <a:buNone/>
            </a:pPr>
            <a:r>
              <a:rPr lang="en-US" sz="1800" dirty="0">
                <a:solidFill>
                  <a:srgbClr val="FFFFFF"/>
                </a:solidFill>
                <a:latin typeface="Menlo" pitchFamily="34" charset="0"/>
                <a:ea typeface="Menlo" pitchFamily="34" charset="-122"/>
                <a:cs typeface="Menlo" pitchFamily="34" charset="-120"/>
              </a:rPr>
              <a:t>&gt; Load the base corpus</a:t>
            </a:r>
            <a:endParaRPr lang="en-US" sz="1800" dirty="0"/>
          </a:p>
        </p:txBody>
      </p:sp>
      <p:sp>
        <p:nvSpPr>
          <p:cNvPr id="6" name="Text 3"/>
          <p:cNvSpPr/>
          <p:nvPr/>
        </p:nvSpPr>
        <p:spPr>
          <a:xfrm>
            <a:off x="914400" y="3657600"/>
            <a:ext cx="7315200" cy="365760"/>
          </a:xfrm>
          <a:prstGeom prst="rect">
            <a:avLst/>
          </a:prstGeom>
          <a:noFill/>
          <a:ln/>
        </p:spPr>
        <p:txBody>
          <a:bodyPr wrap="square" lIns="0" tIns="0" rIns="0" bIns="0" rtlCol="0" anchor="ctr"/>
          <a:lstStyle/>
          <a:p>
            <a:pPr indent="0" marL="0">
              <a:buNone/>
            </a:pPr>
            <a:r>
              <a:rPr lang="en-US" sz="1400" b="1" dirty="0">
                <a:solidFill>
                  <a:srgbClr val="EDE7FF"/>
                </a:solidFill>
                <a:latin typeface="Avenir Next" pitchFamily="34" charset="0"/>
                <a:ea typeface="Avenir Next" pitchFamily="34" charset="-122"/>
                <a:cs typeface="Avenir Next" pitchFamily="34" charset="-120"/>
              </a:rPr>
              <a:t>github.com/aircode610/making-sense-of-logs-schubki-ai-hackathon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Sense of Logs</dc:title>
  <dc:subject>PptxGenJS Presentation</dc:subject>
  <dc:creator>Amirali &amp; Konark</dc:creator>
  <cp:lastModifiedBy>Amirali &amp; Konark</cp:lastModifiedBy>
  <cp:revision>1</cp:revision>
  <dcterms:created xsi:type="dcterms:W3CDTF">2026-10-18T18:26:54Z</dcterms:created>
  <dcterms:modified xsi:type="dcterms:W3CDTF">2026-10-18T18:26:54Z</dcterms:modified>
</cp:coreProperties>
</file>
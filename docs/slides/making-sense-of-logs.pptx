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seconds per answer</c:v>
                </c:pt>
              </c:strCache>
            </c:strRef>
          </c:tx>
          <c:spPr>
            <a:solidFill>
              <a:srgbClr val="6A4BD8"/>
            </a:solidFill>
            <a:effectLst/>
          </c:spPr>
          <c:invertIfNegative val="0"/>
          <c:dLbls>
            <c:numFmt formatCode="0.0 &quot;s&quot;" sourceLinked="0"/>
            <c:txPr>
              <a:bodyPr/>
              <a:lstStyle/>
              <a:p>
                <a:pPr>
                  <a:defRPr b="0" i="0" strike="noStrike" sz="1200" u="none">
                    <a:solidFill>
                      <a:srgbClr val="11121D"/>
                    </a:solidFill>
                    <a:latin typeface="Arial"/>
                  </a:defRPr>
                </a:pPr>
              </a:p>
            </c:txPr>
            <c:showLegendKey val="0"/>
            <c:showVal val="1"/>
            <c:showCatName val="0"/>
            <c:showSerName val="0"/>
            <c:showPercent val="0"/>
            <c:showBubbleSize val="0"/>
            <c:showLeaderLines val="0"/>
          </c:dLbls>
          <c:cat>
            <c:multiLvlStrRef>
              <c:f>Sheet1!$A$2:$A$3</c:f>
              <c:multiLvlStrCache>
                <c:ptCount val="2"/>
                <c:lvl>
                  <c:pt idx="0">
                    <c:v>With our MCP server</c:v>
                  </c:pt>
                  <c:pt idx="1">
                    <c:v>Plain, grepping raw files</c:v>
                  </c:pt>
                </c:lvl>
              </c:multiLvlStrCache>
            </c:multiLvlStrRef>
          </c:cat>
          <c:val>
            <c:numRef>
              <c:f>Sheet1!$B$2:$B$3</c:f>
              <c:numCache>
                <c:formatCode>General</c:formatCode>
                <c:ptCount val="2"/>
                <c:pt idx="0">
                  <c:v>13</c:v>
                </c:pt>
                <c:pt idx="1">
                  <c:v>70.9</c:v>
                </c:pt>
              </c:numCache>
            </c:numRef>
          </c:val>
        </c:ser>
        <c:dLbls>
          <c:numFmt formatCode="0.0 &quot;s&quot;" sourceLinked="0"/>
          <c:txPr>
            <a:bodyPr/>
            <a:lstStyle/>
            <a:p>
              <a:pPr>
                <a:defRPr b="0" i="0" strike="noStrike" sz="1200" u="none">
                  <a:solidFill>
                    <a:srgbClr val="11121D"/>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3A3F55"/>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We built an assistant that answers questions about millions of log lines, for three people who need different things: the engineer who fixes, the team lead who plans, and the manager who decides. Every number it says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0:15–0:40. The client's problem. Three people, three questions, the same logs. Engineers grep, team leads count in spreadsheets, managers decide by gut. And you cannot just hand the logs to an AI: millions of lines do not fit, and a model that makes up numbers is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0:40–1:00. Even when you can read them, raw logs mislead. BGL has 855 thousand FATAL lines but they come from a few thousand bursts. Rank by severity and only one of the top ten is a real alert. And when plain Claude Code greps the raw files itself, it got 70 percent of its claims right in our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1:00–1:20. Our solution splits the work. The database does what databases are good at: searching and counting every line. Jev already knows which kinds of messages are real faults. Claude only picks tools and explains. Setup is two commands and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1:20–2:10 LIVE DEMO in Claude Code: /mcp__logs__worked_investigation with topic 'what deserves attention in November 2005'. The same problem, but each role gets different evidence: the engineer one occurrence and what happened around it, the lead recurrence by team with a disputed owner, the manager a computed ranking and a decision. Not one answer at three lengths. Backup: docs/investigation/report.html.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2:10–2:35. Why it is more accurate: numbers come from the database. Every number traces to a query, and Verify re-runs it. We count bursts, not lines. Jev pushes real faults to the top. On 50 questions with known answers, a blind judge preferred us 13 to 2 on the brief's data, with fewer wrong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2:35–2:55. Why it is faster: the database does the reading. In our pilot, Claude Code with our server answered in 13 seconds on average; plain Claude Code grepping the raw files took 71, and got more wrong. The whole investigation spent 1.8 seconds in the database. Most of the time is the AI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2:55–3:15. It fits three routines a company already has: the incident, the weekly review, the monthly planning. It uses the tools people have, keeps the logs on their machine, reads their own log formats, and maps problems to their teams, with access per team enforced by the database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3:15–3:35. Why it is cheaper. Reading all of BGL with a large model is around 177 million tokens, every time. Jev judges each kind of message once: 1,126 patterns in 20 seconds for about two cents, stored in the database and reused by every answer. That one step moved real alerts in the top ten from one to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3:35–3:55. Performance comes from SereneDB's engine. The inverted index counts a full-text search over 4.7 million lines in 7 milliseconds, and group-bys come straight from the index without scanning rows. Data loads inside the database. Timelines use ASOF joins, rankings use ROLLUP and PIVOT. Remote Parquet on S3 is read in place, and an on-demand index pays for itself after four searches.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Loading. One sentence to Claude starts it, and every step runs inside SereneDB: the file is streamed in, its format detected from 76 known formats, parsed with SQL into typed columns, reduced to 1,126 kinds of message, judged once by Jev in SQL, and indexed. The base corpus is ready in 72 seconds; a new 21 thousand line file in 1.6. Because the expensive work happens once at load, every later answer is fast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3:55–4:05. Now the technical part. Our MCP server offers all four kinds of MCP features: tools, prompts, resources and completions.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4:05–4:15. Forty-four tools grouped by the question they answer. You never name a tool; Claude picks it. Every result carries its SQL, scope, exact total and a truncation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4:15–4:25. Prompts are slash commands: one per role, plus a three-role investigation and the whole-corpus counts the brief asks for. Resources attach context with @, including the full evidence of the session beyond the 50-row tool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4:25–4:35. Connecting is one line. Loading works for the base corpus and for any log file. Access can be limited per team by the database itself, not by the prompt. And every session can be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4:35–4:45. What goes beyond the brief: your own log files with no code, a Verify button on every number, judgments computed once inside the database, a billion rows read in place, team access enforced by the database, and an evaluation the client can re-run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4:45–4:50. Every answer comes with its proof: the session report on the left, the evaluation dashboard on the right. Both open offline from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4:50–4:57. Nothing in the code is specific to one dataset: ten log types load without code changes, eleven million HDFS lines load in 47 seconds, and a billion remote rows are queried in place. That makes it a product: a self-hosted log copilot for the Mittelstand and beyond.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4:57–5:00. Two commands and one sentence, and your logs answer back.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1.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1.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394960" y="411480"/>
            <a:ext cx="3291840" cy="4297680"/>
          </a:xfrm>
          <a:prstGeom prst="rect">
            <a:avLst/>
          </a:prstGeom>
        </p:spPr>
      </p:pic>
      <p:sp>
        <p:nvSpPr>
          <p:cNvPr id="3" name="Text 0"/>
          <p:cNvSpPr/>
          <p:nvPr/>
        </p:nvSpPr>
        <p:spPr>
          <a:xfrm>
            <a:off x="5715000" y="777240"/>
            <a:ext cx="2743200" cy="548640"/>
          </a:xfrm>
          <a:prstGeom prst="rect">
            <a:avLst/>
          </a:prstGeom>
          <a:noFill/>
          <a:ln/>
        </p:spPr>
        <p:txBody>
          <a:bodyPr wrap="square" lIns="0" tIns="0" rIns="0" bIns="0" rtlCol="0" anchor="ctr"/>
          <a:lstStyle/>
          <a:p>
            <a:pPr indent="0" marL="0">
              <a:buNone/>
            </a:pPr>
            <a:r>
              <a:rPr lang="en-US" sz="3200" b="1" dirty="0">
                <a:solidFill>
                  <a:srgbClr val="FFFFFF"/>
                </a:solidFill>
                <a:latin typeface="Avenir Next" pitchFamily="34" charset="0"/>
                <a:ea typeface="Avenir Next" pitchFamily="34" charset="-122"/>
                <a:cs typeface="Avenir Next" pitchFamily="34" charset="-120"/>
              </a:rPr>
              <a:t>5 M</a:t>
            </a:r>
            <a:endParaRPr lang="en-US" sz="3200" dirty="0"/>
          </a:p>
        </p:txBody>
      </p:sp>
      <p:sp>
        <p:nvSpPr>
          <p:cNvPr id="4" name="Text 1"/>
          <p:cNvSpPr/>
          <p:nvPr/>
        </p:nvSpPr>
        <p:spPr>
          <a:xfrm>
            <a:off x="5715000" y="1325880"/>
            <a:ext cx="2743200" cy="32004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log lines, BGL + OpenStack</a:t>
            </a:r>
            <a:endParaRPr lang="en-US" sz="1200" dirty="0"/>
          </a:p>
        </p:txBody>
      </p:sp>
      <p:sp>
        <p:nvSpPr>
          <p:cNvPr id="5" name="Text 2"/>
          <p:cNvSpPr/>
          <p:nvPr/>
        </p:nvSpPr>
        <p:spPr>
          <a:xfrm>
            <a:off x="5715000" y="2057400"/>
            <a:ext cx="2743200" cy="548640"/>
          </a:xfrm>
          <a:prstGeom prst="rect">
            <a:avLst/>
          </a:prstGeom>
          <a:noFill/>
          <a:ln/>
        </p:spPr>
        <p:txBody>
          <a:bodyPr wrap="square" lIns="0" tIns="0" rIns="0" bIns="0" rtlCol="0" anchor="ctr"/>
          <a:lstStyle/>
          <a:p>
            <a:pPr indent="0" marL="0">
              <a:buNone/>
            </a:pPr>
            <a:r>
              <a:rPr lang="en-US" sz="3200" b="1" dirty="0">
                <a:solidFill>
                  <a:srgbClr val="FFFFFF"/>
                </a:solidFill>
                <a:latin typeface="Avenir Next" pitchFamily="34" charset="0"/>
                <a:ea typeface="Avenir Next" pitchFamily="34" charset="-122"/>
                <a:cs typeface="Avenir Next" pitchFamily="34" charset="-120"/>
              </a:rPr>
              <a:t>44</a:t>
            </a:r>
            <a:endParaRPr lang="en-US" sz="3200" dirty="0"/>
          </a:p>
        </p:txBody>
      </p:sp>
      <p:sp>
        <p:nvSpPr>
          <p:cNvPr id="6" name="Text 3"/>
          <p:cNvSpPr/>
          <p:nvPr/>
        </p:nvSpPr>
        <p:spPr>
          <a:xfrm>
            <a:off x="5715000" y="2606040"/>
            <a:ext cx="2743200" cy="32004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MCP tools for Claude</a:t>
            </a:r>
            <a:endParaRPr lang="en-US" sz="1200" dirty="0"/>
          </a:p>
        </p:txBody>
      </p:sp>
      <p:sp>
        <p:nvSpPr>
          <p:cNvPr id="7" name="Text 4"/>
          <p:cNvSpPr/>
          <p:nvPr/>
        </p:nvSpPr>
        <p:spPr>
          <a:xfrm>
            <a:off x="5715000" y="3337560"/>
            <a:ext cx="2743200" cy="548640"/>
          </a:xfrm>
          <a:prstGeom prst="rect">
            <a:avLst/>
          </a:prstGeom>
          <a:noFill/>
          <a:ln/>
        </p:spPr>
        <p:txBody>
          <a:bodyPr wrap="square" lIns="0" tIns="0" rIns="0" bIns="0" rtlCol="0" anchor="ctr"/>
          <a:lstStyle/>
          <a:p>
            <a:pPr indent="0" marL="0">
              <a:buNone/>
            </a:pPr>
            <a:r>
              <a:rPr lang="en-US" sz="3200" b="1" dirty="0">
                <a:solidFill>
                  <a:srgbClr val="FFFFFF"/>
                </a:solidFill>
                <a:latin typeface="Avenir Next" pitchFamily="34" charset="0"/>
                <a:ea typeface="Avenir Next" pitchFamily="34" charset="-122"/>
                <a:cs typeface="Avenir Next" pitchFamily="34" charset="-120"/>
              </a:rPr>
              <a:t>62 / 62</a:t>
            </a:r>
            <a:endParaRPr lang="en-US" sz="3200" dirty="0"/>
          </a:p>
        </p:txBody>
      </p:sp>
      <p:sp>
        <p:nvSpPr>
          <p:cNvPr id="8" name="Text 5"/>
          <p:cNvSpPr/>
          <p:nvPr/>
        </p:nvSpPr>
        <p:spPr>
          <a:xfrm>
            <a:off x="5715000" y="3886200"/>
            <a:ext cx="2743200" cy="32004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numbers traced to a query</a:t>
            </a:r>
            <a:endParaRPr lang="en-US" sz="1200" dirty="0"/>
          </a:p>
        </p:txBody>
      </p:sp>
      <p:pic>
        <p:nvPicPr>
          <p:cNvPr id="9" name="Image 1" descr="preencoded.png">    </p:cNvPr>
          <p:cNvPicPr>
            <a:picLocks noChangeAspect="1"/>
          </p:cNvPicPr>
          <p:nvPr/>
        </p:nvPicPr>
        <p:blipFill>
          <a:blip r:embed="rId2"/>
          <a:stretch>
            <a:fillRect/>
          </a:stretch>
        </p:blipFill>
        <p:spPr>
          <a:xfrm>
            <a:off x="457200" y="548640"/>
            <a:ext cx="384048" cy="384048"/>
          </a:xfrm>
          <a:prstGeom prst="rect">
            <a:avLst/>
          </a:prstGeom>
        </p:spPr>
      </p:pic>
      <p:sp>
        <p:nvSpPr>
          <p:cNvPr id="10" name="Text 6"/>
          <p:cNvSpPr/>
          <p:nvPr/>
        </p:nvSpPr>
        <p:spPr>
          <a:xfrm>
            <a:off x="960120" y="566928"/>
            <a:ext cx="4297680" cy="347472"/>
          </a:xfrm>
          <a:prstGeom prst="rect">
            <a:avLst/>
          </a:prstGeom>
          <a:noFill/>
          <a:ln/>
        </p:spPr>
        <p:txBody>
          <a:bodyPr wrap="square" lIns="0" tIns="0" rIns="0" bIns="0" rtlCol="0" anchor="ctr"/>
          <a:lstStyle/>
          <a:p>
            <a:pPr indent="0" marL="0">
              <a:buNone/>
            </a:pPr>
            <a:r>
              <a:rPr lang="en-US" sz="1100" dirty="0">
                <a:solidFill>
                  <a:srgbClr val="6B7386"/>
                </a:solidFill>
                <a:latin typeface="Avenir Next" pitchFamily="34" charset="0"/>
                <a:ea typeface="Avenir Next" pitchFamily="34" charset="-122"/>
                <a:cs typeface="Avenir Next" pitchFamily="34" charset="-120"/>
              </a:rPr>
              <a:t>SereneDB challenge · SchubKI National AI Hackathon 2026</a:t>
            </a:r>
            <a:endParaRPr lang="en-US" sz="1100" dirty="0"/>
          </a:p>
        </p:txBody>
      </p:sp>
      <p:sp>
        <p:nvSpPr>
          <p:cNvPr id="11" name="Text 7"/>
          <p:cNvSpPr/>
          <p:nvPr/>
        </p:nvSpPr>
        <p:spPr>
          <a:xfrm>
            <a:off x="457200" y="1188720"/>
            <a:ext cx="4846320" cy="1280160"/>
          </a:xfrm>
          <a:prstGeom prst="rect">
            <a:avLst/>
          </a:prstGeom>
          <a:noFill/>
          <a:ln/>
        </p:spPr>
        <p:txBody>
          <a:bodyPr wrap="square" lIns="0" tIns="0" rIns="0" bIns="0" rtlCol="0" anchor="ctr"/>
          <a:lstStyle/>
          <a:p>
            <a:pPr indent="0" marL="0">
              <a:buNone/>
            </a:pPr>
            <a:r>
              <a:rPr lang="en-US" sz="3800" b="1" dirty="0">
                <a:solidFill>
                  <a:srgbClr val="11121D"/>
                </a:solidFill>
                <a:latin typeface="Avenir Next" pitchFamily="34" charset="0"/>
                <a:ea typeface="Avenir Next" pitchFamily="34" charset="-122"/>
                <a:cs typeface="Avenir Next" pitchFamily="34" charset="-120"/>
              </a:rPr>
              <a:t>Making Sense</a:t>
            </a:r>
            <a:endParaRPr lang="en-US" sz="3800" dirty="0"/>
          </a:p>
          <a:p>
            <a:pPr indent="0" marL="0">
              <a:buNone/>
            </a:pPr>
            <a:r>
              <a:rPr lang="en-US" sz="3800" b="1" dirty="0">
                <a:solidFill>
                  <a:srgbClr val="11121D"/>
                </a:solidFill>
                <a:latin typeface="Avenir Next" pitchFamily="34" charset="0"/>
                <a:ea typeface="Avenir Next" pitchFamily="34" charset="-122"/>
                <a:cs typeface="Avenir Next" pitchFamily="34" charset="-120"/>
              </a:rPr>
              <a:t>of Logs</a:t>
            </a:r>
            <a:endParaRPr lang="en-US" sz="3800" dirty="0"/>
          </a:p>
        </p:txBody>
      </p:sp>
      <p:sp>
        <p:nvSpPr>
          <p:cNvPr id="12" name="Text 8"/>
          <p:cNvSpPr/>
          <p:nvPr/>
        </p:nvSpPr>
        <p:spPr>
          <a:xfrm>
            <a:off x="457200" y="2651760"/>
            <a:ext cx="4663440" cy="1188720"/>
          </a:xfrm>
          <a:prstGeom prst="rect">
            <a:avLst/>
          </a:prstGeom>
          <a:noFill/>
          <a:ln/>
        </p:spPr>
        <p:txBody>
          <a:bodyPr wrap="square" lIns="0" tIns="0" rIns="0" bIns="0" rtlCol="0" anchor="t"/>
          <a:lstStyle/>
          <a:p>
            <a:pPr indent="0" marL="0">
              <a:buNone/>
            </a:pPr>
            <a:r>
              <a:rPr lang="en-US" sz="1400" dirty="0">
                <a:solidFill>
                  <a:srgbClr val="3A3F55"/>
                </a:solidFill>
                <a:latin typeface="Avenir Next" pitchFamily="34" charset="0"/>
                <a:ea typeface="Avenir Next" pitchFamily="34" charset="-122"/>
                <a:cs typeface="Avenir Next" pitchFamily="34" charset="-120"/>
              </a:rPr>
              <a:t>Ask your logs a question in plain words. The engineer, the team lead and the manager each get the answer they need, and every number is checked against the query that produced it.</a:t>
            </a:r>
            <a:endParaRPr lang="en-US" sz="1400" dirty="0"/>
          </a:p>
        </p:txBody>
      </p:sp>
      <p:sp>
        <p:nvSpPr>
          <p:cNvPr id="13" name="Text 9"/>
          <p:cNvSpPr/>
          <p:nvPr/>
        </p:nvSpPr>
        <p:spPr>
          <a:xfrm>
            <a:off x="457200" y="4160520"/>
            <a:ext cx="4572000" cy="274320"/>
          </a:xfrm>
          <a:prstGeom prst="rect">
            <a:avLst/>
          </a:prstGeom>
          <a:noFill/>
          <a:ln/>
        </p:spPr>
        <p:txBody>
          <a:bodyPr wrap="square" lIns="0" tIns="0" rIns="0" bIns="0" rtlCol="0" anchor="ctr"/>
          <a:lstStyle/>
          <a:p>
            <a:pPr indent="0" marL="0">
              <a:buNone/>
            </a:pPr>
            <a:r>
              <a:rPr lang="en-US" sz="1200" b="1" dirty="0">
                <a:solidFill>
                  <a:srgbClr val="11121D"/>
                </a:solidFill>
                <a:latin typeface="Avenir Next" pitchFamily="34" charset="0"/>
                <a:ea typeface="Avenir Next" pitchFamily="34" charset="-122"/>
                <a:cs typeface="Avenir Next" pitchFamily="34" charset="-120"/>
              </a:rPr>
              <a:t>Amirali &amp; Konark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The problem</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2</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PROBLEM</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Logs hold the answers, but nobody can read them</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Three people ask about the same logs. Today each of them works by hand.</a:t>
            </a:r>
            <a:endParaRPr lang="en-US" sz="1250" dirty="0"/>
          </a:p>
        </p:txBody>
      </p:sp>
      <p:sp>
        <p:nvSpPr>
          <p:cNvPr id="8" name="Shape 5"/>
          <p:cNvSpPr/>
          <p:nvPr/>
        </p:nvSpPr>
        <p:spPr>
          <a:xfrm>
            <a:off x="457200" y="1508760"/>
            <a:ext cx="2606040" cy="2331720"/>
          </a:xfrm>
          <a:prstGeom prst="roundRect">
            <a:avLst>
              <a:gd name="adj" fmla="val 5490"/>
            </a:avLst>
          </a:prstGeom>
          <a:solidFill>
            <a:srgbClr val="F0F2F5"/>
          </a:solidFill>
          <a:ln/>
        </p:spPr>
      </p:sp>
      <p:pic>
        <p:nvPicPr>
          <p:cNvPr id="9" name="Image 1" descr="preencoded.png">    </p:cNvPr>
          <p:cNvPicPr>
            <a:picLocks noChangeAspect="1"/>
          </p:cNvPicPr>
          <p:nvPr/>
        </p:nvPicPr>
        <p:blipFill>
          <a:blip r:embed="rId2"/>
          <a:stretch>
            <a:fillRect/>
          </a:stretch>
        </p:blipFill>
        <p:spPr>
          <a:xfrm>
            <a:off x="685800" y="1719072"/>
            <a:ext cx="457200" cy="457200"/>
          </a:xfrm>
          <a:prstGeom prst="rect">
            <a:avLst/>
          </a:prstGeom>
        </p:spPr>
      </p:pic>
      <p:pic>
        <p:nvPicPr>
          <p:cNvPr id="10" name="Image 2" descr="preencoded.png">    </p:cNvPr>
          <p:cNvPicPr>
            <a:picLocks noChangeAspect="1"/>
          </p:cNvPicPr>
          <p:nvPr/>
        </p:nvPicPr>
        <p:blipFill>
          <a:blip r:embed="rId3"/>
          <a:stretch>
            <a:fillRect/>
          </a:stretch>
        </p:blipFill>
        <p:spPr>
          <a:xfrm>
            <a:off x="804672" y="1837944"/>
            <a:ext cx="219456" cy="219456"/>
          </a:xfrm>
          <a:prstGeom prst="rect">
            <a:avLst/>
          </a:prstGeom>
        </p:spPr>
      </p:pic>
      <p:sp>
        <p:nvSpPr>
          <p:cNvPr id="11" name="Text 6"/>
          <p:cNvSpPr/>
          <p:nvPr/>
        </p:nvSpPr>
        <p:spPr>
          <a:xfrm>
            <a:off x="1280160" y="1737360"/>
            <a:ext cx="1645920" cy="41148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Engineer</a:t>
            </a:r>
            <a:endParaRPr lang="en-US" sz="1600" dirty="0"/>
          </a:p>
        </p:txBody>
      </p:sp>
      <p:sp>
        <p:nvSpPr>
          <p:cNvPr id="12" name="Text 7"/>
          <p:cNvSpPr/>
          <p:nvPr/>
        </p:nvSpPr>
        <p:spPr>
          <a:xfrm>
            <a:off x="685800" y="2331720"/>
            <a:ext cx="2194560" cy="548640"/>
          </a:xfrm>
          <a:prstGeom prst="rect">
            <a:avLst/>
          </a:prstGeom>
          <a:noFill/>
          <a:ln/>
        </p:spPr>
        <p:txBody>
          <a:bodyPr wrap="square" lIns="0" tIns="0" rIns="0" bIns="0" rtlCol="0" anchor="t"/>
          <a:lstStyle/>
          <a:p>
            <a:pPr indent="0" marL="0">
              <a:buNone/>
            </a:pPr>
            <a:r>
              <a:rPr lang="en-US" sz="1200" i="1" dirty="0">
                <a:solidFill>
                  <a:srgbClr val="3E318C"/>
                </a:solidFill>
                <a:latin typeface="Avenir Next" pitchFamily="34" charset="0"/>
                <a:ea typeface="Avenir Next" pitchFamily="34" charset="-122"/>
                <a:cs typeface="Avenir Next" pitchFamily="34" charset="-120"/>
              </a:rPr>
              <a:t>“What failed, and what happened just before?”</a:t>
            </a:r>
            <a:endParaRPr lang="en-US" sz="1200" dirty="0"/>
          </a:p>
        </p:txBody>
      </p:sp>
      <p:sp>
        <p:nvSpPr>
          <p:cNvPr id="13" name="Text 8"/>
          <p:cNvSpPr/>
          <p:nvPr/>
        </p:nvSpPr>
        <p:spPr>
          <a:xfrm>
            <a:off x="685800" y="2926080"/>
            <a:ext cx="2194560" cy="82296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Greps across millions of lines while the system is down, then pieces the timeline together by hand.</a:t>
            </a:r>
            <a:endParaRPr lang="en-US" sz="1100" dirty="0"/>
          </a:p>
        </p:txBody>
      </p:sp>
      <p:sp>
        <p:nvSpPr>
          <p:cNvPr id="14" name="Shape 9"/>
          <p:cNvSpPr/>
          <p:nvPr/>
        </p:nvSpPr>
        <p:spPr>
          <a:xfrm>
            <a:off x="3246120" y="1508760"/>
            <a:ext cx="2606040" cy="2331720"/>
          </a:xfrm>
          <a:prstGeom prst="roundRect">
            <a:avLst>
              <a:gd name="adj" fmla="val 5490"/>
            </a:avLst>
          </a:prstGeom>
          <a:solidFill>
            <a:srgbClr val="F0F2F5"/>
          </a:solidFill>
          <a:ln/>
        </p:spPr>
      </p:sp>
      <p:pic>
        <p:nvPicPr>
          <p:cNvPr id="15" name="Image 3" descr="preencoded.png">    </p:cNvPr>
          <p:cNvPicPr>
            <a:picLocks noChangeAspect="1"/>
          </p:cNvPicPr>
          <p:nvPr/>
        </p:nvPicPr>
        <p:blipFill>
          <a:blip r:embed="rId4"/>
          <a:stretch>
            <a:fillRect/>
          </a:stretch>
        </p:blipFill>
        <p:spPr>
          <a:xfrm>
            <a:off x="3474720" y="1719072"/>
            <a:ext cx="457200" cy="457200"/>
          </a:xfrm>
          <a:prstGeom prst="rect">
            <a:avLst/>
          </a:prstGeom>
        </p:spPr>
      </p:pic>
      <p:pic>
        <p:nvPicPr>
          <p:cNvPr id="16" name="Image 4" descr="preencoded.png">    </p:cNvPr>
          <p:cNvPicPr>
            <a:picLocks noChangeAspect="1"/>
          </p:cNvPicPr>
          <p:nvPr/>
        </p:nvPicPr>
        <p:blipFill>
          <a:blip r:embed="rId5"/>
          <a:stretch>
            <a:fillRect/>
          </a:stretch>
        </p:blipFill>
        <p:spPr>
          <a:xfrm>
            <a:off x="3593592" y="1837944"/>
            <a:ext cx="219456" cy="219456"/>
          </a:xfrm>
          <a:prstGeom prst="rect">
            <a:avLst/>
          </a:prstGeom>
        </p:spPr>
      </p:pic>
      <p:sp>
        <p:nvSpPr>
          <p:cNvPr id="17" name="Text 10"/>
          <p:cNvSpPr/>
          <p:nvPr/>
        </p:nvSpPr>
        <p:spPr>
          <a:xfrm>
            <a:off x="4069080" y="1737360"/>
            <a:ext cx="1645920" cy="41148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Team lead</a:t>
            </a:r>
            <a:endParaRPr lang="en-US" sz="1600" dirty="0"/>
          </a:p>
        </p:txBody>
      </p:sp>
      <p:sp>
        <p:nvSpPr>
          <p:cNvPr id="18" name="Text 11"/>
          <p:cNvSpPr/>
          <p:nvPr/>
        </p:nvSpPr>
        <p:spPr>
          <a:xfrm>
            <a:off x="3474720" y="2331720"/>
            <a:ext cx="2194560" cy="548640"/>
          </a:xfrm>
          <a:prstGeom prst="rect">
            <a:avLst/>
          </a:prstGeom>
          <a:noFill/>
          <a:ln/>
        </p:spPr>
        <p:txBody>
          <a:bodyPr wrap="square" lIns="0" tIns="0" rIns="0" bIns="0" rtlCol="0" anchor="t"/>
          <a:lstStyle/>
          <a:p>
            <a:pPr indent="0" marL="0">
              <a:buNone/>
            </a:pPr>
            <a:r>
              <a:rPr lang="en-US" sz="1200" i="1" dirty="0">
                <a:solidFill>
                  <a:srgbClr val="3E318C"/>
                </a:solidFill>
                <a:latin typeface="Avenir Next" pitchFamily="34" charset="0"/>
                <a:ea typeface="Avenir Next" pitchFamily="34" charset="-122"/>
                <a:cs typeface="Avenir Next" pitchFamily="34" charset="-120"/>
              </a:rPr>
              <a:t>“What keeps coming back, and whose is it?”</a:t>
            </a:r>
            <a:endParaRPr lang="en-US" sz="1200" dirty="0"/>
          </a:p>
        </p:txBody>
      </p:sp>
      <p:sp>
        <p:nvSpPr>
          <p:cNvPr id="19" name="Text 12"/>
          <p:cNvSpPr/>
          <p:nvPr/>
        </p:nvSpPr>
        <p:spPr>
          <a:xfrm>
            <a:off x="3474720" y="2926080"/>
            <a:ext cx="2194560" cy="82296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Counts in spreadsheets. One noisy storm looks like a thousand incidents.</a:t>
            </a:r>
            <a:endParaRPr lang="en-US" sz="1100" dirty="0"/>
          </a:p>
        </p:txBody>
      </p:sp>
      <p:sp>
        <p:nvSpPr>
          <p:cNvPr id="20" name="Shape 13"/>
          <p:cNvSpPr/>
          <p:nvPr/>
        </p:nvSpPr>
        <p:spPr>
          <a:xfrm>
            <a:off x="6035040" y="1508760"/>
            <a:ext cx="2606040" cy="2331720"/>
          </a:xfrm>
          <a:prstGeom prst="roundRect">
            <a:avLst>
              <a:gd name="adj" fmla="val 5490"/>
            </a:avLst>
          </a:prstGeom>
          <a:solidFill>
            <a:srgbClr val="F0F2F5"/>
          </a:solidFill>
          <a:ln/>
        </p:spPr>
      </p:sp>
      <p:pic>
        <p:nvPicPr>
          <p:cNvPr id="21" name="Image 5" descr="preencoded.png">    </p:cNvPr>
          <p:cNvPicPr>
            <a:picLocks noChangeAspect="1"/>
          </p:cNvPicPr>
          <p:nvPr/>
        </p:nvPicPr>
        <p:blipFill>
          <a:blip r:embed="rId6"/>
          <a:stretch>
            <a:fillRect/>
          </a:stretch>
        </p:blipFill>
        <p:spPr>
          <a:xfrm>
            <a:off x="6263640" y="1719072"/>
            <a:ext cx="457200" cy="457200"/>
          </a:xfrm>
          <a:prstGeom prst="rect">
            <a:avLst/>
          </a:prstGeom>
        </p:spPr>
      </p:pic>
      <p:pic>
        <p:nvPicPr>
          <p:cNvPr id="22" name="Image 6" descr="preencoded.png">    </p:cNvPr>
          <p:cNvPicPr>
            <a:picLocks noChangeAspect="1"/>
          </p:cNvPicPr>
          <p:nvPr/>
        </p:nvPicPr>
        <p:blipFill>
          <a:blip r:embed="rId7"/>
          <a:stretch>
            <a:fillRect/>
          </a:stretch>
        </p:blipFill>
        <p:spPr>
          <a:xfrm>
            <a:off x="6382512" y="1837944"/>
            <a:ext cx="219456" cy="219456"/>
          </a:xfrm>
          <a:prstGeom prst="rect">
            <a:avLst/>
          </a:prstGeom>
        </p:spPr>
      </p:pic>
      <p:sp>
        <p:nvSpPr>
          <p:cNvPr id="23" name="Text 14"/>
          <p:cNvSpPr/>
          <p:nvPr/>
        </p:nvSpPr>
        <p:spPr>
          <a:xfrm>
            <a:off x="6858000" y="1737360"/>
            <a:ext cx="1645920" cy="41148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Manager</a:t>
            </a:r>
            <a:endParaRPr lang="en-US" sz="1600" dirty="0"/>
          </a:p>
        </p:txBody>
      </p:sp>
      <p:sp>
        <p:nvSpPr>
          <p:cNvPr id="24" name="Text 15"/>
          <p:cNvSpPr/>
          <p:nvPr/>
        </p:nvSpPr>
        <p:spPr>
          <a:xfrm>
            <a:off x="6263640" y="2331720"/>
            <a:ext cx="2194560" cy="548640"/>
          </a:xfrm>
          <a:prstGeom prst="rect">
            <a:avLst/>
          </a:prstGeom>
          <a:noFill/>
          <a:ln/>
        </p:spPr>
        <p:txBody>
          <a:bodyPr wrap="square" lIns="0" tIns="0" rIns="0" bIns="0" rtlCol="0" anchor="t"/>
          <a:lstStyle/>
          <a:p>
            <a:pPr indent="0" marL="0">
              <a:buNone/>
            </a:pPr>
            <a:r>
              <a:rPr lang="en-US" sz="1200" i="1" dirty="0">
                <a:solidFill>
                  <a:srgbClr val="3E318C"/>
                </a:solidFill>
                <a:latin typeface="Avenir Next" pitchFamily="34" charset="0"/>
                <a:ea typeface="Avenir Next" pitchFamily="34" charset="-122"/>
                <a:cs typeface="Avenir Next" pitchFamily="34" charset="-120"/>
              </a:rPr>
              <a:t>“What do we fix first?”</a:t>
            </a:r>
            <a:endParaRPr lang="en-US" sz="1200" dirty="0"/>
          </a:p>
        </p:txBody>
      </p:sp>
      <p:sp>
        <p:nvSpPr>
          <p:cNvPr id="25" name="Text 16"/>
          <p:cNvSpPr/>
          <p:nvPr/>
        </p:nvSpPr>
        <p:spPr>
          <a:xfrm>
            <a:off x="6263640" y="2926080"/>
            <a:ext cx="2194560" cy="82296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Priorities set by whoever is loudest, not by measured frequency, spread and trend.</a:t>
            </a:r>
            <a:endParaRPr lang="en-US" sz="1100" dirty="0"/>
          </a:p>
        </p:txBody>
      </p:sp>
      <p:sp>
        <p:nvSpPr>
          <p:cNvPr id="26" name="Shape 17"/>
          <p:cNvSpPr/>
          <p:nvPr/>
        </p:nvSpPr>
        <p:spPr>
          <a:xfrm>
            <a:off x="457200" y="3977640"/>
            <a:ext cx="8229600" cy="566928"/>
          </a:xfrm>
          <a:prstGeom prst="roundRect">
            <a:avLst>
              <a:gd name="adj" fmla="val 22581"/>
            </a:avLst>
          </a:prstGeom>
          <a:solidFill>
            <a:srgbClr val="F1ECFD"/>
          </a:solidFill>
          <a:ln/>
        </p:spPr>
      </p:sp>
      <p:sp>
        <p:nvSpPr>
          <p:cNvPr id="27" name="Text 18"/>
          <p:cNvSpPr/>
          <p:nvPr/>
        </p:nvSpPr>
        <p:spPr>
          <a:xfrm>
            <a:off x="640080" y="4005072"/>
            <a:ext cx="7863840" cy="512064"/>
          </a:xfrm>
          <a:prstGeom prst="rect">
            <a:avLst/>
          </a:prstGeom>
          <a:noFill/>
          <a:ln/>
        </p:spPr>
        <p:txBody>
          <a:bodyPr wrap="square" lIns="0" tIns="0" rIns="0" bIns="0" rtlCol="0" anchor="ctr"/>
          <a:lstStyle/>
          <a:p>
            <a:pPr indent="0" marL="0">
              <a:buNone/>
            </a:pPr>
            <a:r>
              <a:rPr lang="en-US" sz="1200" b="1" dirty="0">
                <a:solidFill>
                  <a:srgbClr val="3E318C"/>
                </a:solidFill>
                <a:latin typeface="Avenir Next" pitchFamily="34" charset="0"/>
                <a:ea typeface="Avenir Next" pitchFamily="34" charset="-122"/>
                <a:cs typeface="Avenir Next" pitchFamily="34" charset="-120"/>
              </a:rPr>
              <a:t>Why an AI chatbot alone does not fix it: </a:t>
            </a:r>
            <a:pPr indent="0" marL="0">
              <a:buNone/>
            </a:pPr>
            <a:r>
              <a:rPr lang="en-US" sz="1200" dirty="0">
                <a:solidFill>
                  <a:srgbClr val="11121D"/>
                </a:solidFill>
                <a:latin typeface="Avenir Next" pitchFamily="34" charset="0"/>
                <a:ea typeface="Avenir Next" pitchFamily="34" charset="-122"/>
                <a:cs typeface="Avenir Next" pitchFamily="34" charset="-120"/>
              </a:rPr>
              <a:t>4.7 M lines do not fit in a prompt, and a model that guesses numbers is worse than no answer.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The problem</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3</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PROBLEM</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Raw logs mislead, even when you can read them</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Measured on the brief's BGL supercomputer logs.</a:t>
            </a:r>
            <a:endParaRPr lang="en-US" sz="1250" dirty="0"/>
          </a:p>
        </p:txBody>
      </p:sp>
      <p:sp>
        <p:nvSpPr>
          <p:cNvPr id="8" name="Shape 5"/>
          <p:cNvSpPr/>
          <p:nvPr/>
        </p:nvSpPr>
        <p:spPr>
          <a:xfrm>
            <a:off x="457200" y="1554480"/>
            <a:ext cx="2606040" cy="2651760"/>
          </a:xfrm>
          <a:prstGeom prst="roundRect">
            <a:avLst>
              <a:gd name="adj" fmla="val 4912"/>
            </a:avLst>
          </a:prstGeom>
          <a:solidFill>
            <a:srgbClr val="FFFFFF"/>
          </a:solidFill>
          <a:ln w="12700">
            <a:solidFill>
              <a:srgbClr val="E3E6EC"/>
            </a:solidFill>
            <a:prstDash val="solid"/>
          </a:ln>
        </p:spPr>
      </p:sp>
      <p:sp>
        <p:nvSpPr>
          <p:cNvPr id="9" name="Text 6"/>
          <p:cNvSpPr/>
          <p:nvPr/>
        </p:nvSpPr>
        <p:spPr>
          <a:xfrm>
            <a:off x="685800" y="1783080"/>
            <a:ext cx="2194560" cy="594360"/>
          </a:xfrm>
          <a:prstGeom prst="rect">
            <a:avLst/>
          </a:prstGeom>
          <a:noFill/>
          <a:ln/>
        </p:spPr>
        <p:txBody>
          <a:bodyPr wrap="square" lIns="0" tIns="0" rIns="0" bIns="0" rtlCol="0" anchor="ctr"/>
          <a:lstStyle/>
          <a:p>
            <a:pPr indent="0" marL="0">
              <a:buNone/>
            </a:pPr>
            <a:r>
              <a:rPr lang="en-US" sz="3400" b="1" dirty="0">
                <a:solidFill>
                  <a:srgbClr val="11121D"/>
                </a:solidFill>
                <a:latin typeface="Avenir Next" pitchFamily="34" charset="0"/>
                <a:ea typeface="Avenir Next" pitchFamily="34" charset="-122"/>
                <a:cs typeface="Avenir Next" pitchFamily="34" charset="-120"/>
              </a:rPr>
              <a:t>855,501</a:t>
            </a:r>
            <a:endParaRPr lang="en-US" sz="3400" dirty="0"/>
          </a:p>
        </p:txBody>
      </p:sp>
      <p:sp>
        <p:nvSpPr>
          <p:cNvPr id="10" name="Text 7"/>
          <p:cNvSpPr/>
          <p:nvPr/>
        </p:nvSpPr>
        <p:spPr>
          <a:xfrm>
            <a:off x="685800" y="2377440"/>
            <a:ext cx="2194560" cy="274320"/>
          </a:xfrm>
          <a:prstGeom prst="rect">
            <a:avLst/>
          </a:prstGeom>
          <a:noFill/>
          <a:ln/>
        </p:spPr>
        <p:txBody>
          <a:bodyPr wrap="square" lIns="0" tIns="0" rIns="0" bIns="0" rtlCol="0" anchor="ctr"/>
          <a:lstStyle/>
          <a:p>
            <a:pPr indent="0" marL="0">
              <a:buNone/>
            </a:pPr>
            <a:r>
              <a:rPr lang="en-US" sz="1300" b="1" dirty="0">
                <a:solidFill>
                  <a:srgbClr val="6A4BD8"/>
                </a:solidFill>
                <a:latin typeface="Avenir Next" pitchFamily="34" charset="0"/>
                <a:ea typeface="Avenir Next" pitchFamily="34" charset="-122"/>
                <a:cs typeface="Avenir Next" pitchFamily="34" charset="-120"/>
              </a:rPr>
              <a:t>FATAL lines</a:t>
            </a:r>
            <a:endParaRPr lang="en-US" sz="1300" dirty="0"/>
          </a:p>
        </p:txBody>
      </p:sp>
      <p:sp>
        <p:nvSpPr>
          <p:cNvPr id="11" name="Text 8"/>
          <p:cNvSpPr/>
          <p:nvPr/>
        </p:nvSpPr>
        <p:spPr>
          <a:xfrm>
            <a:off x="685800" y="2743200"/>
            <a:ext cx="2194560" cy="132588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but only 36,714 bursts of recurring problems over all 4.7 M lines. Lines are not incidents.</a:t>
            </a:r>
            <a:endParaRPr lang="en-US" sz="1150" dirty="0"/>
          </a:p>
        </p:txBody>
      </p:sp>
      <p:sp>
        <p:nvSpPr>
          <p:cNvPr id="12" name="Shape 9"/>
          <p:cNvSpPr/>
          <p:nvPr/>
        </p:nvSpPr>
        <p:spPr>
          <a:xfrm>
            <a:off x="3246120" y="1554480"/>
            <a:ext cx="2606040" cy="2651760"/>
          </a:xfrm>
          <a:prstGeom prst="roundRect">
            <a:avLst>
              <a:gd name="adj" fmla="val 4912"/>
            </a:avLst>
          </a:prstGeom>
          <a:solidFill>
            <a:srgbClr val="FFFFFF"/>
          </a:solidFill>
          <a:ln w="12700">
            <a:solidFill>
              <a:srgbClr val="E3E6EC"/>
            </a:solidFill>
            <a:prstDash val="solid"/>
          </a:ln>
        </p:spPr>
      </p:sp>
      <p:sp>
        <p:nvSpPr>
          <p:cNvPr id="13" name="Text 10"/>
          <p:cNvSpPr/>
          <p:nvPr/>
        </p:nvSpPr>
        <p:spPr>
          <a:xfrm>
            <a:off x="3474720" y="1783080"/>
            <a:ext cx="2194560" cy="594360"/>
          </a:xfrm>
          <a:prstGeom prst="rect">
            <a:avLst/>
          </a:prstGeom>
          <a:noFill/>
          <a:ln/>
        </p:spPr>
        <p:txBody>
          <a:bodyPr wrap="square" lIns="0" tIns="0" rIns="0" bIns="0" rtlCol="0" anchor="ctr"/>
          <a:lstStyle/>
          <a:p>
            <a:pPr indent="0" marL="0">
              <a:buNone/>
            </a:pPr>
            <a:r>
              <a:rPr lang="en-US" sz="3400" b="1" dirty="0">
                <a:solidFill>
                  <a:srgbClr val="11121D"/>
                </a:solidFill>
                <a:latin typeface="Avenir Next" pitchFamily="34" charset="0"/>
                <a:ea typeface="Avenir Next" pitchFamily="34" charset="-122"/>
                <a:cs typeface="Avenir Next" pitchFamily="34" charset="-120"/>
              </a:rPr>
              <a:t>1 / 10</a:t>
            </a:r>
            <a:endParaRPr lang="en-US" sz="3400" dirty="0"/>
          </a:p>
        </p:txBody>
      </p:sp>
      <p:sp>
        <p:nvSpPr>
          <p:cNvPr id="14" name="Text 11"/>
          <p:cNvSpPr/>
          <p:nvPr/>
        </p:nvSpPr>
        <p:spPr>
          <a:xfrm>
            <a:off x="3474720" y="2377440"/>
            <a:ext cx="2194560" cy="274320"/>
          </a:xfrm>
          <a:prstGeom prst="rect">
            <a:avLst/>
          </a:prstGeom>
          <a:noFill/>
          <a:ln/>
        </p:spPr>
        <p:txBody>
          <a:bodyPr wrap="square" lIns="0" tIns="0" rIns="0" bIns="0" rtlCol="0" anchor="ctr"/>
          <a:lstStyle/>
          <a:p>
            <a:pPr indent="0" marL="0">
              <a:buNone/>
            </a:pPr>
            <a:r>
              <a:rPr lang="en-US" sz="1300" b="1" dirty="0">
                <a:solidFill>
                  <a:srgbClr val="6A4BD8"/>
                </a:solidFill>
                <a:latin typeface="Avenir Next" pitchFamily="34" charset="0"/>
                <a:ea typeface="Avenir Next" pitchFamily="34" charset="-122"/>
                <a:cs typeface="Avenir Next" pitchFamily="34" charset="-120"/>
              </a:rPr>
              <a:t>real alerts</a:t>
            </a:r>
            <a:endParaRPr lang="en-US" sz="1300" dirty="0"/>
          </a:p>
        </p:txBody>
      </p:sp>
      <p:sp>
        <p:nvSpPr>
          <p:cNvPr id="15" name="Text 12"/>
          <p:cNvSpPr/>
          <p:nvPr/>
        </p:nvSpPr>
        <p:spPr>
          <a:xfrm>
            <a:off x="3474720" y="2743200"/>
            <a:ext cx="2194560" cy="132588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in the top 10 when you rank by log level. The loudest messages are routine register dumps.</a:t>
            </a:r>
            <a:endParaRPr lang="en-US" sz="1150" dirty="0"/>
          </a:p>
        </p:txBody>
      </p:sp>
      <p:sp>
        <p:nvSpPr>
          <p:cNvPr id="16" name="Shape 13"/>
          <p:cNvSpPr/>
          <p:nvPr/>
        </p:nvSpPr>
        <p:spPr>
          <a:xfrm>
            <a:off x="6035040" y="1554480"/>
            <a:ext cx="2606040" cy="2651760"/>
          </a:xfrm>
          <a:prstGeom prst="roundRect">
            <a:avLst>
              <a:gd name="adj" fmla="val 4912"/>
            </a:avLst>
          </a:prstGeom>
          <a:solidFill>
            <a:srgbClr val="FFFFFF"/>
          </a:solidFill>
          <a:ln w="12700">
            <a:solidFill>
              <a:srgbClr val="E3E6EC"/>
            </a:solidFill>
            <a:prstDash val="solid"/>
          </a:ln>
        </p:spPr>
      </p:sp>
      <p:sp>
        <p:nvSpPr>
          <p:cNvPr id="17" name="Text 14"/>
          <p:cNvSpPr/>
          <p:nvPr/>
        </p:nvSpPr>
        <p:spPr>
          <a:xfrm>
            <a:off x="6263640" y="1783080"/>
            <a:ext cx="2194560" cy="594360"/>
          </a:xfrm>
          <a:prstGeom prst="rect">
            <a:avLst/>
          </a:prstGeom>
          <a:noFill/>
          <a:ln/>
        </p:spPr>
        <p:txBody>
          <a:bodyPr wrap="square" lIns="0" tIns="0" rIns="0" bIns="0" rtlCol="0" anchor="ctr"/>
          <a:lstStyle/>
          <a:p>
            <a:pPr indent="0" marL="0">
              <a:buNone/>
            </a:pPr>
            <a:r>
              <a:rPr lang="en-US" sz="3400" b="1" dirty="0">
                <a:solidFill>
                  <a:srgbClr val="C2410C"/>
                </a:solidFill>
                <a:latin typeface="Avenir Next" pitchFamily="34" charset="0"/>
                <a:ea typeface="Avenir Next" pitchFamily="34" charset="-122"/>
                <a:cs typeface="Avenir Next" pitchFamily="34" charset="-120"/>
              </a:rPr>
              <a:t>69.6 %</a:t>
            </a:r>
            <a:endParaRPr lang="en-US" sz="3400" dirty="0"/>
          </a:p>
        </p:txBody>
      </p:sp>
      <p:sp>
        <p:nvSpPr>
          <p:cNvPr id="18" name="Text 15"/>
          <p:cNvSpPr/>
          <p:nvPr/>
        </p:nvSpPr>
        <p:spPr>
          <a:xfrm>
            <a:off x="6263640" y="2377440"/>
            <a:ext cx="2194560" cy="274320"/>
          </a:xfrm>
          <a:prstGeom prst="rect">
            <a:avLst/>
          </a:prstGeom>
          <a:noFill/>
          <a:ln/>
        </p:spPr>
        <p:txBody>
          <a:bodyPr wrap="square" lIns="0" tIns="0" rIns="0" bIns="0" rtlCol="0" anchor="ctr"/>
          <a:lstStyle/>
          <a:p>
            <a:pPr indent="0" marL="0">
              <a:buNone/>
            </a:pPr>
            <a:r>
              <a:rPr lang="en-US" sz="1300" b="1" dirty="0">
                <a:solidFill>
                  <a:srgbClr val="6A4BD8"/>
                </a:solidFill>
                <a:latin typeface="Avenir Next" pitchFamily="34" charset="0"/>
                <a:ea typeface="Avenir Next" pitchFamily="34" charset="-122"/>
                <a:cs typeface="Avenir Next" pitchFamily="34" charset="-120"/>
              </a:rPr>
              <a:t>claims correct</a:t>
            </a:r>
            <a:endParaRPr lang="en-US" sz="1300" dirty="0"/>
          </a:p>
        </p:txBody>
      </p:sp>
      <p:sp>
        <p:nvSpPr>
          <p:cNvPr id="19" name="Text 16"/>
          <p:cNvSpPr/>
          <p:nvPr/>
        </p:nvSpPr>
        <p:spPr>
          <a:xfrm>
            <a:off x="6263640" y="2743200"/>
            <a:ext cx="2194560" cy="132588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when plain Claude Code greps the raw files itself (pilot, 3 questions). With our server: 94.3 %.</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The solution</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4</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SOLUTION</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The database counts, the AI explains</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A question goes in. Evidence comes from SereneDB. The answer is written for the role and checked.</a:t>
            </a:r>
            <a:endParaRPr lang="en-US" sz="1250" dirty="0"/>
          </a:p>
        </p:txBody>
      </p:sp>
      <p:sp>
        <p:nvSpPr>
          <p:cNvPr id="8" name="Shape 5"/>
          <p:cNvSpPr/>
          <p:nvPr/>
        </p:nvSpPr>
        <p:spPr>
          <a:xfrm>
            <a:off x="457200" y="1554480"/>
            <a:ext cx="1536192" cy="2331720"/>
          </a:xfrm>
          <a:prstGeom prst="roundRect">
            <a:avLst>
              <a:gd name="adj" fmla="val 8333"/>
            </a:avLst>
          </a:prstGeom>
          <a:solidFill>
            <a:srgbClr val="F0F2F5"/>
          </a:solidFill>
          <a:ln/>
        </p:spPr>
      </p:sp>
      <p:pic>
        <p:nvPicPr>
          <p:cNvPr id="9" name="Image 1" descr="preencoded.png">    </p:cNvPr>
          <p:cNvPicPr>
            <a:picLocks noChangeAspect="1"/>
          </p:cNvPicPr>
          <p:nvPr/>
        </p:nvPicPr>
        <p:blipFill>
          <a:blip r:embed="rId2"/>
          <a:stretch>
            <a:fillRect/>
          </a:stretch>
        </p:blipFill>
        <p:spPr>
          <a:xfrm>
            <a:off x="640080" y="1737360"/>
            <a:ext cx="438912" cy="438912"/>
          </a:xfrm>
          <a:prstGeom prst="rect">
            <a:avLst/>
          </a:prstGeom>
        </p:spPr>
      </p:pic>
      <p:pic>
        <p:nvPicPr>
          <p:cNvPr id="10" name="Image 2" descr="preencoded.png">    </p:cNvPr>
          <p:cNvPicPr>
            <a:picLocks noChangeAspect="1"/>
          </p:cNvPicPr>
          <p:nvPr/>
        </p:nvPicPr>
        <p:blipFill>
          <a:blip r:embed="rId3"/>
          <a:stretch>
            <a:fillRect/>
          </a:stretch>
        </p:blipFill>
        <p:spPr>
          <a:xfrm>
            <a:off x="754197" y="1851477"/>
            <a:ext cx="210678" cy="210678"/>
          </a:xfrm>
          <a:prstGeom prst="rect">
            <a:avLst/>
          </a:prstGeom>
        </p:spPr>
      </p:pic>
      <p:sp>
        <p:nvSpPr>
          <p:cNvPr id="11" name="Text 6"/>
          <p:cNvSpPr/>
          <p:nvPr/>
        </p:nvSpPr>
        <p:spPr>
          <a:xfrm>
            <a:off x="640080" y="2286000"/>
            <a:ext cx="1280160" cy="320040"/>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1 · Ask</a:t>
            </a:r>
            <a:endParaRPr lang="en-US" sz="1300" dirty="0"/>
          </a:p>
        </p:txBody>
      </p:sp>
      <p:sp>
        <p:nvSpPr>
          <p:cNvPr id="12" name="Text 7"/>
          <p:cNvSpPr/>
          <p:nvPr/>
        </p:nvSpPr>
        <p:spPr>
          <a:xfrm>
            <a:off x="640080" y="2633472"/>
            <a:ext cx="1243584" cy="118872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In plain words, in Claude Code (or any MCP client).</a:t>
            </a:r>
            <a:endParaRPr lang="en-US" sz="1050" dirty="0"/>
          </a:p>
        </p:txBody>
      </p:sp>
      <p:sp>
        <p:nvSpPr>
          <p:cNvPr id="13" name="Text 8"/>
          <p:cNvSpPr/>
          <p:nvPr/>
        </p:nvSpPr>
        <p:spPr>
          <a:xfrm>
            <a:off x="1956816" y="237744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14" name="Shape 9"/>
          <p:cNvSpPr/>
          <p:nvPr/>
        </p:nvSpPr>
        <p:spPr>
          <a:xfrm>
            <a:off x="2130552" y="1554480"/>
            <a:ext cx="1536192" cy="2331720"/>
          </a:xfrm>
          <a:prstGeom prst="roundRect">
            <a:avLst>
              <a:gd name="adj" fmla="val 8333"/>
            </a:avLst>
          </a:prstGeom>
          <a:solidFill>
            <a:srgbClr val="F0F2F5"/>
          </a:solidFill>
          <a:ln/>
        </p:spPr>
      </p:sp>
      <p:pic>
        <p:nvPicPr>
          <p:cNvPr id="15" name="Image 3" descr="preencoded.png">    </p:cNvPr>
          <p:cNvPicPr>
            <a:picLocks noChangeAspect="1"/>
          </p:cNvPicPr>
          <p:nvPr/>
        </p:nvPicPr>
        <p:blipFill>
          <a:blip r:embed="rId4"/>
          <a:stretch>
            <a:fillRect/>
          </a:stretch>
        </p:blipFill>
        <p:spPr>
          <a:xfrm>
            <a:off x="2313432" y="1737360"/>
            <a:ext cx="438912" cy="438912"/>
          </a:xfrm>
          <a:prstGeom prst="rect">
            <a:avLst/>
          </a:prstGeom>
        </p:spPr>
      </p:pic>
      <p:pic>
        <p:nvPicPr>
          <p:cNvPr id="16" name="Image 4" descr="preencoded.png">    </p:cNvPr>
          <p:cNvPicPr>
            <a:picLocks noChangeAspect="1"/>
          </p:cNvPicPr>
          <p:nvPr/>
        </p:nvPicPr>
        <p:blipFill>
          <a:blip r:embed="rId5"/>
          <a:stretch>
            <a:fillRect/>
          </a:stretch>
        </p:blipFill>
        <p:spPr>
          <a:xfrm>
            <a:off x="2427549" y="1851477"/>
            <a:ext cx="210678" cy="210678"/>
          </a:xfrm>
          <a:prstGeom prst="rect">
            <a:avLst/>
          </a:prstGeom>
        </p:spPr>
      </p:pic>
      <p:sp>
        <p:nvSpPr>
          <p:cNvPr id="17" name="Text 10"/>
          <p:cNvSpPr/>
          <p:nvPr/>
        </p:nvSpPr>
        <p:spPr>
          <a:xfrm>
            <a:off x="2313432" y="2286000"/>
            <a:ext cx="1280160" cy="320040"/>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2 · Pick tools</a:t>
            </a:r>
            <a:endParaRPr lang="en-US" sz="1300" dirty="0"/>
          </a:p>
        </p:txBody>
      </p:sp>
      <p:sp>
        <p:nvSpPr>
          <p:cNvPr id="18" name="Text 11"/>
          <p:cNvSpPr/>
          <p:nvPr/>
        </p:nvSpPr>
        <p:spPr>
          <a:xfrm>
            <a:off x="2313432" y="2633472"/>
            <a:ext cx="1243584" cy="118872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Claude chooses from 44 safe, fixed queries. It never writes SQL.</a:t>
            </a:r>
            <a:endParaRPr lang="en-US" sz="1050" dirty="0"/>
          </a:p>
        </p:txBody>
      </p:sp>
      <p:sp>
        <p:nvSpPr>
          <p:cNvPr id="19" name="Text 12"/>
          <p:cNvSpPr/>
          <p:nvPr/>
        </p:nvSpPr>
        <p:spPr>
          <a:xfrm>
            <a:off x="3630168" y="237744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20" name="Shape 13"/>
          <p:cNvSpPr/>
          <p:nvPr/>
        </p:nvSpPr>
        <p:spPr>
          <a:xfrm>
            <a:off x="3803904" y="1554480"/>
            <a:ext cx="1536192" cy="2331720"/>
          </a:xfrm>
          <a:prstGeom prst="roundRect">
            <a:avLst>
              <a:gd name="adj" fmla="val 8333"/>
            </a:avLst>
          </a:prstGeom>
          <a:solidFill>
            <a:srgbClr val="F0F2F5"/>
          </a:solidFill>
          <a:ln/>
        </p:spPr>
      </p:sp>
      <p:pic>
        <p:nvPicPr>
          <p:cNvPr id="21" name="Image 5" descr="preencoded.png">    </p:cNvPr>
          <p:cNvPicPr>
            <a:picLocks noChangeAspect="1"/>
          </p:cNvPicPr>
          <p:nvPr/>
        </p:nvPicPr>
        <p:blipFill>
          <a:blip r:embed="rId6"/>
          <a:stretch>
            <a:fillRect/>
          </a:stretch>
        </p:blipFill>
        <p:spPr>
          <a:xfrm>
            <a:off x="3986784" y="1737360"/>
            <a:ext cx="438912" cy="438912"/>
          </a:xfrm>
          <a:prstGeom prst="rect">
            <a:avLst/>
          </a:prstGeom>
        </p:spPr>
      </p:pic>
      <p:pic>
        <p:nvPicPr>
          <p:cNvPr id="22" name="Image 6" descr="preencoded.png">    </p:cNvPr>
          <p:cNvPicPr>
            <a:picLocks noChangeAspect="1"/>
          </p:cNvPicPr>
          <p:nvPr/>
        </p:nvPicPr>
        <p:blipFill>
          <a:blip r:embed="rId7"/>
          <a:stretch>
            <a:fillRect/>
          </a:stretch>
        </p:blipFill>
        <p:spPr>
          <a:xfrm>
            <a:off x="4100901" y="1851477"/>
            <a:ext cx="210678" cy="210678"/>
          </a:xfrm>
          <a:prstGeom prst="rect">
            <a:avLst/>
          </a:prstGeom>
        </p:spPr>
      </p:pic>
      <p:sp>
        <p:nvSpPr>
          <p:cNvPr id="23" name="Text 14"/>
          <p:cNvSpPr/>
          <p:nvPr/>
        </p:nvSpPr>
        <p:spPr>
          <a:xfrm>
            <a:off x="3986784" y="2286000"/>
            <a:ext cx="1280160" cy="320040"/>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3 · SereneDB</a:t>
            </a:r>
            <a:endParaRPr lang="en-US" sz="1300" dirty="0"/>
          </a:p>
        </p:txBody>
      </p:sp>
      <p:sp>
        <p:nvSpPr>
          <p:cNvPr id="24" name="Text 15"/>
          <p:cNvSpPr/>
          <p:nvPr/>
        </p:nvSpPr>
        <p:spPr>
          <a:xfrm>
            <a:off x="3986784" y="2633472"/>
            <a:ext cx="1243584" cy="118872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Searches and counts every line: full text, timelines, trends, rankings.</a:t>
            </a:r>
            <a:endParaRPr lang="en-US" sz="1050" dirty="0"/>
          </a:p>
        </p:txBody>
      </p:sp>
      <p:sp>
        <p:nvSpPr>
          <p:cNvPr id="25" name="Text 16"/>
          <p:cNvSpPr/>
          <p:nvPr/>
        </p:nvSpPr>
        <p:spPr>
          <a:xfrm>
            <a:off x="5303520" y="237744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26" name="Shape 17"/>
          <p:cNvSpPr/>
          <p:nvPr/>
        </p:nvSpPr>
        <p:spPr>
          <a:xfrm>
            <a:off x="5477256" y="1554480"/>
            <a:ext cx="1536192" cy="2331720"/>
          </a:xfrm>
          <a:prstGeom prst="roundRect">
            <a:avLst>
              <a:gd name="adj" fmla="val 8333"/>
            </a:avLst>
          </a:prstGeom>
          <a:solidFill>
            <a:srgbClr val="F0F2F5"/>
          </a:solidFill>
          <a:ln/>
        </p:spPr>
      </p:sp>
      <p:pic>
        <p:nvPicPr>
          <p:cNvPr id="27" name="Image 7" descr="preencoded.png">    </p:cNvPr>
          <p:cNvPicPr>
            <a:picLocks noChangeAspect="1"/>
          </p:cNvPicPr>
          <p:nvPr/>
        </p:nvPicPr>
        <p:blipFill>
          <a:blip r:embed="rId8"/>
          <a:stretch>
            <a:fillRect/>
          </a:stretch>
        </p:blipFill>
        <p:spPr>
          <a:xfrm>
            <a:off x="5660136" y="1737360"/>
            <a:ext cx="438912" cy="438912"/>
          </a:xfrm>
          <a:prstGeom prst="rect">
            <a:avLst/>
          </a:prstGeom>
        </p:spPr>
      </p:pic>
      <p:pic>
        <p:nvPicPr>
          <p:cNvPr id="28" name="Image 8" descr="preencoded.png">    </p:cNvPr>
          <p:cNvPicPr>
            <a:picLocks noChangeAspect="1"/>
          </p:cNvPicPr>
          <p:nvPr/>
        </p:nvPicPr>
        <p:blipFill>
          <a:blip r:embed="rId9"/>
          <a:stretch>
            <a:fillRect/>
          </a:stretch>
        </p:blipFill>
        <p:spPr>
          <a:xfrm>
            <a:off x="5774253" y="1851477"/>
            <a:ext cx="210678" cy="210678"/>
          </a:xfrm>
          <a:prstGeom prst="rect">
            <a:avLst/>
          </a:prstGeom>
        </p:spPr>
      </p:pic>
      <p:sp>
        <p:nvSpPr>
          <p:cNvPr id="29" name="Text 18"/>
          <p:cNvSpPr/>
          <p:nvPr/>
        </p:nvSpPr>
        <p:spPr>
          <a:xfrm>
            <a:off x="5660136" y="2286000"/>
            <a:ext cx="1280160" cy="320040"/>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4 · Jev</a:t>
            </a:r>
            <a:endParaRPr lang="en-US" sz="1300" dirty="0"/>
          </a:p>
        </p:txBody>
      </p:sp>
      <p:sp>
        <p:nvSpPr>
          <p:cNvPr id="30" name="Text 19"/>
          <p:cNvSpPr/>
          <p:nvPr/>
        </p:nvSpPr>
        <p:spPr>
          <a:xfrm>
            <a:off x="5660136" y="2633472"/>
            <a:ext cx="1243584" cy="118872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Already knows which kinds of messages are real faults.</a:t>
            </a:r>
            <a:endParaRPr lang="en-US" sz="1050" dirty="0"/>
          </a:p>
        </p:txBody>
      </p:sp>
      <p:sp>
        <p:nvSpPr>
          <p:cNvPr id="31" name="Text 20"/>
          <p:cNvSpPr/>
          <p:nvPr/>
        </p:nvSpPr>
        <p:spPr>
          <a:xfrm>
            <a:off x="6976872" y="237744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32" name="Shape 21"/>
          <p:cNvSpPr/>
          <p:nvPr/>
        </p:nvSpPr>
        <p:spPr>
          <a:xfrm>
            <a:off x="7150608" y="1554480"/>
            <a:ext cx="1536192" cy="2331720"/>
          </a:xfrm>
          <a:prstGeom prst="roundRect">
            <a:avLst>
              <a:gd name="adj" fmla="val 8333"/>
            </a:avLst>
          </a:prstGeom>
          <a:solidFill>
            <a:srgbClr val="F1ECFD"/>
          </a:solidFill>
          <a:ln/>
        </p:spPr>
      </p:sp>
      <p:pic>
        <p:nvPicPr>
          <p:cNvPr id="33" name="Image 9" descr="preencoded.png">    </p:cNvPr>
          <p:cNvPicPr>
            <a:picLocks noChangeAspect="1"/>
          </p:cNvPicPr>
          <p:nvPr/>
        </p:nvPicPr>
        <p:blipFill>
          <a:blip r:embed="rId10"/>
          <a:stretch>
            <a:fillRect/>
          </a:stretch>
        </p:blipFill>
        <p:spPr>
          <a:xfrm>
            <a:off x="7333488" y="1737360"/>
            <a:ext cx="438912" cy="438912"/>
          </a:xfrm>
          <a:prstGeom prst="rect">
            <a:avLst/>
          </a:prstGeom>
        </p:spPr>
      </p:pic>
      <p:pic>
        <p:nvPicPr>
          <p:cNvPr id="34" name="Image 10" descr="preencoded.png">    </p:cNvPr>
          <p:cNvPicPr>
            <a:picLocks noChangeAspect="1"/>
          </p:cNvPicPr>
          <p:nvPr/>
        </p:nvPicPr>
        <p:blipFill>
          <a:blip r:embed="rId11"/>
          <a:stretch>
            <a:fillRect/>
          </a:stretch>
        </p:blipFill>
        <p:spPr>
          <a:xfrm>
            <a:off x="7447605" y="1851477"/>
            <a:ext cx="210678" cy="210678"/>
          </a:xfrm>
          <a:prstGeom prst="rect">
            <a:avLst/>
          </a:prstGeom>
        </p:spPr>
      </p:pic>
      <p:sp>
        <p:nvSpPr>
          <p:cNvPr id="35" name="Text 22"/>
          <p:cNvSpPr/>
          <p:nvPr/>
        </p:nvSpPr>
        <p:spPr>
          <a:xfrm>
            <a:off x="7333488" y="2286000"/>
            <a:ext cx="1280160" cy="320040"/>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5 · Answer</a:t>
            </a:r>
            <a:endParaRPr lang="en-US" sz="1300" dirty="0"/>
          </a:p>
        </p:txBody>
      </p:sp>
      <p:sp>
        <p:nvSpPr>
          <p:cNvPr id="36" name="Text 23"/>
          <p:cNvSpPr/>
          <p:nvPr/>
        </p:nvSpPr>
        <p:spPr>
          <a:xfrm>
            <a:off x="7333488" y="2633472"/>
            <a:ext cx="1243584" cy="118872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Facts, a labelled hypothesis, unknowns and a next step. Every number is linked to its query.</a:t>
            </a:r>
            <a:endParaRPr lang="en-US" sz="1050" dirty="0"/>
          </a:p>
        </p:txBody>
      </p:sp>
      <p:sp>
        <p:nvSpPr>
          <p:cNvPr id="37" name="Text 24"/>
          <p:cNvSpPr/>
          <p:nvPr/>
        </p:nvSpPr>
        <p:spPr>
          <a:xfrm>
            <a:off x="457200" y="4069080"/>
            <a:ext cx="8229600" cy="365760"/>
          </a:xfrm>
          <a:prstGeom prst="rect">
            <a:avLst/>
          </a:prstGeom>
          <a:noFill/>
          <a:ln/>
        </p:spPr>
        <p:txBody>
          <a:bodyPr wrap="square" lIns="0" tIns="0" rIns="0" bIns="0" rtlCol="0" anchor="ctr"/>
          <a:lstStyle/>
          <a:p>
            <a:pPr indent="0" marL="0">
              <a:buNone/>
            </a:pPr>
            <a:r>
              <a:rPr lang="en-US" sz="1200" b="1" dirty="0">
                <a:solidFill>
                  <a:srgbClr val="11121D"/>
                </a:solidFill>
                <a:latin typeface="Avenir Next" pitchFamily="34" charset="0"/>
                <a:ea typeface="Avenir Next" pitchFamily="34" charset="-122"/>
                <a:cs typeface="Avenir Next" pitchFamily="34" charset="-120"/>
              </a:rPr>
              <a:t>Setup: </a:t>
            </a:r>
            <a:pPr indent="0" marL="0">
              <a:buNone/>
            </a:pPr>
            <a:r>
              <a:rPr lang="en-US" sz="1200" dirty="0">
                <a:solidFill>
                  <a:srgbClr val="3E318C"/>
                </a:solidFill>
                <a:latin typeface="Menlo" pitchFamily="34" charset="0"/>
                <a:ea typeface="Menlo" pitchFamily="34" charset="-122"/>
                <a:cs typeface="Menlo" pitchFamily="34" charset="-120"/>
              </a:rPr>
              <a:t>docker compose up -d  ·  claude  ·  “Load the base corpus”</a:t>
            </a:r>
            <a:pPr indent="0" marL="0">
              <a:buNone/>
            </a:pPr>
            <a:r>
              <a:rPr lang="en-US" sz="1200" dirty="0">
                <a:solidFill>
                  <a:srgbClr val="3A3F55"/>
                </a:solidFill>
                <a:latin typeface="Avenir Next" pitchFamily="34" charset="0"/>
                <a:ea typeface="Avenir Next" pitchFamily="34" charset="-122"/>
                <a:cs typeface="Avenir Next" pitchFamily="34" charset="-120"/>
              </a:rPr>
              <a:t>  →  5 M lines ready in 72 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The solution</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5</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DEMO</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One problem, three different answers</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BGL supercomputer, November 2005: the top-ranked problem, seen by each role.</a:t>
            </a:r>
            <a:endParaRPr lang="en-US" sz="1250" dirty="0"/>
          </a:p>
        </p:txBody>
      </p:sp>
      <p:sp>
        <p:nvSpPr>
          <p:cNvPr id="8" name="Shape 5"/>
          <p:cNvSpPr/>
          <p:nvPr/>
        </p:nvSpPr>
        <p:spPr>
          <a:xfrm>
            <a:off x="457200" y="1481328"/>
            <a:ext cx="2606040" cy="3090672"/>
          </a:xfrm>
          <a:prstGeom prst="roundRect">
            <a:avLst>
              <a:gd name="adj" fmla="val 4912"/>
            </a:avLst>
          </a:prstGeom>
          <a:solidFill>
            <a:srgbClr val="FFFFFF"/>
          </a:solidFill>
          <a:ln w="12700">
            <a:solidFill>
              <a:srgbClr val="E3E6EC"/>
            </a:solidFill>
            <a:prstDash val="solid"/>
          </a:ln>
        </p:spPr>
      </p:sp>
      <p:pic>
        <p:nvPicPr>
          <p:cNvPr id="9" name="Image 1" descr="preencoded.png">    </p:cNvPr>
          <p:cNvPicPr>
            <a:picLocks noChangeAspect="1"/>
          </p:cNvPicPr>
          <p:nvPr/>
        </p:nvPicPr>
        <p:blipFill>
          <a:blip r:embed="rId2"/>
          <a:stretch>
            <a:fillRect/>
          </a:stretch>
        </p:blipFill>
        <p:spPr>
          <a:xfrm>
            <a:off x="685800" y="1645920"/>
            <a:ext cx="548640" cy="54864"/>
          </a:xfrm>
          <a:prstGeom prst="rect">
            <a:avLst/>
          </a:prstGeom>
        </p:spPr>
      </p:pic>
      <p:sp>
        <p:nvSpPr>
          <p:cNvPr id="10" name="Text 6"/>
          <p:cNvSpPr/>
          <p:nvPr/>
        </p:nvSpPr>
        <p:spPr>
          <a:xfrm>
            <a:off x="685800" y="1755648"/>
            <a:ext cx="2194560" cy="32004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Engineer</a:t>
            </a:r>
            <a:endParaRPr lang="en-US" sz="1600" dirty="0"/>
          </a:p>
        </p:txBody>
      </p:sp>
      <p:sp>
        <p:nvSpPr>
          <p:cNvPr id="11" name="Text 7"/>
          <p:cNvSpPr/>
          <p:nvPr/>
        </p:nvSpPr>
        <p:spPr>
          <a:xfrm>
            <a:off x="685800" y="2057400"/>
            <a:ext cx="2194560" cy="256032"/>
          </a:xfrm>
          <a:prstGeom prst="rect">
            <a:avLst/>
          </a:prstGeom>
          <a:noFill/>
          <a:ln/>
        </p:spPr>
        <p:txBody>
          <a:bodyPr wrap="square" lIns="0" tIns="0" rIns="0" bIns="0" rtlCol="0" anchor="ctr"/>
          <a:lstStyle/>
          <a:p>
            <a:pPr indent="0" marL="0">
              <a:buNone/>
            </a:pPr>
            <a:r>
              <a:rPr lang="en-US" sz="1050" i="1" dirty="0">
                <a:solidFill>
                  <a:srgbClr val="6B7386"/>
                </a:solidFill>
                <a:latin typeface="Avenir Next" pitchFamily="34" charset="0"/>
                <a:ea typeface="Avenir Next" pitchFamily="34" charset="-122"/>
                <a:cs typeface="Avenir Next" pitchFamily="34" charset="-120"/>
              </a:rPr>
              <a:t>What failed, before and after?</a:t>
            </a:r>
            <a:endParaRPr lang="en-US" sz="1050" dirty="0"/>
          </a:p>
        </p:txBody>
      </p:sp>
      <p:sp>
        <p:nvSpPr>
          <p:cNvPr id="12" name="Text 8"/>
          <p:cNvSpPr/>
          <p:nvPr/>
        </p:nvSpPr>
        <p:spPr>
          <a:xfrm>
            <a:off x="640080" y="2359152"/>
            <a:ext cx="2286000" cy="1463040"/>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New fault “Link has been severed”: 12,996 lines on 1,024 nodes</a:t>
            </a:r>
            <a:endParaRPr lang="en-US" sz="1000" dirty="0"/>
          </a:p>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First burst hit 504 nodes in 4 minutes; 21 minutes earlier, 64 job launches failed</a:t>
            </a:r>
            <a:endParaRPr lang="en-US" sz="1000" dirty="0"/>
          </a:p>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Every line points to one host: 172.16.96.116</a:t>
            </a:r>
            <a:endParaRPr lang="en-US" sz="1000" dirty="0"/>
          </a:p>
        </p:txBody>
      </p:sp>
      <p:sp>
        <p:nvSpPr>
          <p:cNvPr id="13" name="Shape 9"/>
          <p:cNvSpPr/>
          <p:nvPr/>
        </p:nvSpPr>
        <p:spPr>
          <a:xfrm>
            <a:off x="594360" y="3886200"/>
            <a:ext cx="2331720" cy="548640"/>
          </a:xfrm>
          <a:prstGeom prst="roundRect">
            <a:avLst>
              <a:gd name="adj" fmla="val 23333"/>
            </a:avLst>
          </a:prstGeom>
          <a:solidFill>
            <a:srgbClr val="F1ECFD"/>
          </a:solidFill>
          <a:ln/>
        </p:spPr>
      </p:sp>
      <p:sp>
        <p:nvSpPr>
          <p:cNvPr id="14" name="Text 10"/>
          <p:cNvSpPr/>
          <p:nvPr/>
        </p:nvSpPr>
        <p:spPr>
          <a:xfrm>
            <a:off x="685800" y="3904488"/>
            <a:ext cx="2148840" cy="512064"/>
          </a:xfrm>
          <a:prstGeom prst="rect">
            <a:avLst/>
          </a:prstGeom>
          <a:noFill/>
          <a:ln/>
        </p:spPr>
        <p:txBody>
          <a:bodyPr wrap="square" lIns="0" tIns="0" rIns="0" bIns="0" rtlCol="0" anchor="ctr"/>
          <a:lstStyle/>
          <a:p>
            <a:pPr indent="0" marL="0">
              <a:buNone/>
            </a:pPr>
            <a:r>
              <a:rPr lang="en-US" sz="1000" b="1" dirty="0">
                <a:solidFill>
                  <a:srgbClr val="3E318C"/>
                </a:solidFill>
                <a:latin typeface="Avenir Next" pitchFamily="34" charset="0"/>
                <a:ea typeface="Avenir Next" pitchFamily="34" charset="-122"/>
                <a:cs typeface="Avenir Next" pitchFamily="34" charset="-120"/>
              </a:rPr>
              <a:t>Next check: that host's log, 05:30–05:40</a:t>
            </a:r>
            <a:endParaRPr lang="en-US" sz="1000" dirty="0"/>
          </a:p>
        </p:txBody>
      </p:sp>
      <p:sp>
        <p:nvSpPr>
          <p:cNvPr id="15" name="Shape 11"/>
          <p:cNvSpPr/>
          <p:nvPr/>
        </p:nvSpPr>
        <p:spPr>
          <a:xfrm>
            <a:off x="3246120" y="1481328"/>
            <a:ext cx="2606040" cy="3090672"/>
          </a:xfrm>
          <a:prstGeom prst="roundRect">
            <a:avLst>
              <a:gd name="adj" fmla="val 4912"/>
            </a:avLst>
          </a:prstGeom>
          <a:solidFill>
            <a:srgbClr val="FFFFFF"/>
          </a:solidFill>
          <a:ln w="12700">
            <a:solidFill>
              <a:srgbClr val="E3E6EC"/>
            </a:solidFill>
            <a:prstDash val="solid"/>
          </a:ln>
        </p:spPr>
      </p:sp>
      <p:pic>
        <p:nvPicPr>
          <p:cNvPr id="16" name="Image 2" descr="preencoded.png">    </p:cNvPr>
          <p:cNvPicPr>
            <a:picLocks noChangeAspect="1"/>
          </p:cNvPicPr>
          <p:nvPr/>
        </p:nvPicPr>
        <p:blipFill>
          <a:blip r:embed="rId3"/>
          <a:stretch>
            <a:fillRect/>
          </a:stretch>
        </p:blipFill>
        <p:spPr>
          <a:xfrm>
            <a:off x="3474720" y="1645920"/>
            <a:ext cx="548640" cy="54864"/>
          </a:xfrm>
          <a:prstGeom prst="rect">
            <a:avLst/>
          </a:prstGeom>
        </p:spPr>
      </p:pic>
      <p:sp>
        <p:nvSpPr>
          <p:cNvPr id="17" name="Text 12"/>
          <p:cNvSpPr/>
          <p:nvPr/>
        </p:nvSpPr>
        <p:spPr>
          <a:xfrm>
            <a:off x="3474720" y="1755648"/>
            <a:ext cx="2194560" cy="32004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Team lead</a:t>
            </a:r>
            <a:endParaRPr lang="en-US" sz="1600" dirty="0"/>
          </a:p>
        </p:txBody>
      </p:sp>
      <p:sp>
        <p:nvSpPr>
          <p:cNvPr id="18" name="Text 13"/>
          <p:cNvSpPr/>
          <p:nvPr/>
        </p:nvSpPr>
        <p:spPr>
          <a:xfrm>
            <a:off x="3474720" y="2057400"/>
            <a:ext cx="2194560" cy="256032"/>
          </a:xfrm>
          <a:prstGeom prst="rect">
            <a:avLst/>
          </a:prstGeom>
          <a:noFill/>
          <a:ln/>
        </p:spPr>
        <p:txBody>
          <a:bodyPr wrap="square" lIns="0" tIns="0" rIns="0" bIns="0" rtlCol="0" anchor="ctr"/>
          <a:lstStyle/>
          <a:p>
            <a:pPr indent="0" marL="0">
              <a:buNone/>
            </a:pPr>
            <a:r>
              <a:rPr lang="en-US" sz="1050" i="1" dirty="0">
                <a:solidFill>
                  <a:srgbClr val="6B7386"/>
                </a:solidFill>
                <a:latin typeface="Avenir Next" pitchFamily="34" charset="0"/>
                <a:ea typeface="Avenir Next" pitchFamily="34" charset="-122"/>
                <a:cs typeface="Avenir Next" pitchFamily="34" charset="-120"/>
              </a:rPr>
              <a:t>What recurs, and whose is it?</a:t>
            </a:r>
            <a:endParaRPr lang="en-US" sz="1050" dirty="0"/>
          </a:p>
        </p:txBody>
      </p:sp>
      <p:sp>
        <p:nvSpPr>
          <p:cNvPr id="19" name="Text 14"/>
          <p:cNvSpPr/>
          <p:nvPr/>
        </p:nvSpPr>
        <p:spPr>
          <a:xfrm>
            <a:off x="3429000" y="2359152"/>
            <a:ext cx="2286000" cy="1463040"/>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451 problem bursts: node-platform 283, hpc-workloads 106, cluster-control 62</a:t>
            </a:r>
            <a:endParaRPr lang="en-US" sz="1000" dirty="0"/>
          </a:p>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The new fault: 31 bursts; its owner is disputed between two teams</a:t>
            </a:r>
            <a:endParaRPr lang="en-US" sz="1000" dirty="0"/>
          </a:p>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Weekly problem bursts 69.6 → 119.3</a:t>
            </a:r>
            <a:endParaRPr lang="en-US" sz="1000" dirty="0"/>
          </a:p>
        </p:txBody>
      </p:sp>
      <p:sp>
        <p:nvSpPr>
          <p:cNvPr id="20" name="Shape 15"/>
          <p:cNvSpPr/>
          <p:nvPr/>
        </p:nvSpPr>
        <p:spPr>
          <a:xfrm>
            <a:off x="3383280" y="3886200"/>
            <a:ext cx="2331720" cy="548640"/>
          </a:xfrm>
          <a:prstGeom prst="roundRect">
            <a:avLst>
              <a:gd name="adj" fmla="val 23333"/>
            </a:avLst>
          </a:prstGeom>
          <a:solidFill>
            <a:srgbClr val="F1ECFD"/>
          </a:solidFill>
          <a:ln/>
        </p:spPr>
      </p:sp>
      <p:sp>
        <p:nvSpPr>
          <p:cNvPr id="21" name="Text 16"/>
          <p:cNvSpPr/>
          <p:nvPr/>
        </p:nvSpPr>
        <p:spPr>
          <a:xfrm>
            <a:off x="3474720" y="3904488"/>
            <a:ext cx="2148840" cy="512064"/>
          </a:xfrm>
          <a:prstGeom prst="rect">
            <a:avLst/>
          </a:prstGeom>
          <a:noFill/>
          <a:ln/>
        </p:spPr>
        <p:txBody>
          <a:bodyPr wrap="square" lIns="0" tIns="0" rIns="0" bIns="0" rtlCol="0" anchor="ctr"/>
          <a:lstStyle/>
          <a:p>
            <a:pPr indent="0" marL="0">
              <a:buNone/>
            </a:pPr>
            <a:r>
              <a:rPr lang="en-US" sz="1000" b="1" dirty="0">
                <a:solidFill>
                  <a:srgbClr val="3E318C"/>
                </a:solidFill>
                <a:latin typeface="Avenir Next" pitchFamily="34" charset="0"/>
                <a:ea typeface="Avenir Next" pitchFamily="34" charset="-122"/>
                <a:cs typeface="Avenir Next" pitchFamily="34" charset="-120"/>
              </a:rPr>
              <a:t>Next step: both teams triage it together</a:t>
            </a:r>
            <a:endParaRPr lang="en-US" sz="1000" dirty="0"/>
          </a:p>
        </p:txBody>
      </p:sp>
      <p:sp>
        <p:nvSpPr>
          <p:cNvPr id="22" name="Shape 17"/>
          <p:cNvSpPr/>
          <p:nvPr/>
        </p:nvSpPr>
        <p:spPr>
          <a:xfrm>
            <a:off x="6035040" y="1481328"/>
            <a:ext cx="2606040" cy="3090672"/>
          </a:xfrm>
          <a:prstGeom prst="roundRect">
            <a:avLst>
              <a:gd name="adj" fmla="val 4912"/>
            </a:avLst>
          </a:prstGeom>
          <a:solidFill>
            <a:srgbClr val="FFFFFF"/>
          </a:solidFill>
          <a:ln w="12700">
            <a:solidFill>
              <a:srgbClr val="E3E6EC"/>
            </a:solidFill>
            <a:prstDash val="solid"/>
          </a:ln>
        </p:spPr>
      </p:sp>
      <p:pic>
        <p:nvPicPr>
          <p:cNvPr id="23" name="Image 3" descr="preencoded.png">    </p:cNvPr>
          <p:cNvPicPr>
            <a:picLocks noChangeAspect="1"/>
          </p:cNvPicPr>
          <p:nvPr/>
        </p:nvPicPr>
        <p:blipFill>
          <a:blip r:embed="rId4"/>
          <a:stretch>
            <a:fillRect/>
          </a:stretch>
        </p:blipFill>
        <p:spPr>
          <a:xfrm>
            <a:off x="6263640" y="1645920"/>
            <a:ext cx="548640" cy="54864"/>
          </a:xfrm>
          <a:prstGeom prst="rect">
            <a:avLst/>
          </a:prstGeom>
        </p:spPr>
      </p:pic>
      <p:sp>
        <p:nvSpPr>
          <p:cNvPr id="24" name="Text 18"/>
          <p:cNvSpPr/>
          <p:nvPr/>
        </p:nvSpPr>
        <p:spPr>
          <a:xfrm>
            <a:off x="6263640" y="1755648"/>
            <a:ext cx="2194560" cy="32004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Manager</a:t>
            </a:r>
            <a:endParaRPr lang="en-US" sz="1600" dirty="0"/>
          </a:p>
        </p:txBody>
      </p:sp>
      <p:sp>
        <p:nvSpPr>
          <p:cNvPr id="25" name="Text 19"/>
          <p:cNvSpPr/>
          <p:nvPr/>
        </p:nvSpPr>
        <p:spPr>
          <a:xfrm>
            <a:off x="6263640" y="2057400"/>
            <a:ext cx="2194560" cy="256032"/>
          </a:xfrm>
          <a:prstGeom prst="rect">
            <a:avLst/>
          </a:prstGeom>
          <a:noFill/>
          <a:ln/>
        </p:spPr>
        <p:txBody>
          <a:bodyPr wrap="square" lIns="0" tIns="0" rIns="0" bIns="0" rtlCol="0" anchor="ctr"/>
          <a:lstStyle/>
          <a:p>
            <a:pPr indent="0" marL="0">
              <a:buNone/>
            </a:pPr>
            <a:r>
              <a:rPr lang="en-US" sz="1050" i="1" dirty="0">
                <a:solidFill>
                  <a:srgbClr val="6B7386"/>
                </a:solidFill>
                <a:latin typeface="Avenir Next" pitchFamily="34" charset="0"/>
                <a:ea typeface="Avenir Next" pitchFamily="34" charset="-122"/>
                <a:cs typeface="Avenir Next" pitchFamily="34" charset="-120"/>
              </a:rPr>
              <a:t>What do we fix first?</a:t>
            </a:r>
            <a:endParaRPr lang="en-US" sz="1050" dirty="0"/>
          </a:p>
        </p:txBody>
      </p:sp>
      <p:sp>
        <p:nvSpPr>
          <p:cNvPr id="26" name="Text 20"/>
          <p:cNvSpPr/>
          <p:nvPr/>
        </p:nvSpPr>
        <p:spPr>
          <a:xfrm>
            <a:off x="6217920" y="2359152"/>
            <a:ext cx="2286000" cy="1463040"/>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Computed rank 1: the new fault (score 97.8)</a:t>
            </a:r>
            <a:endParaRPr lang="en-US" sz="1000" dirty="0"/>
          </a:p>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Ranks 2 and 3: two kernel faults (93.6, 90.5)</a:t>
            </a:r>
            <a:endParaRPr lang="en-US" sz="1000" dirty="0"/>
          </a:p>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hpc-workloads: 9 → 106 bursts vs the month before</a:t>
            </a:r>
            <a:endParaRPr lang="en-US" sz="1000" dirty="0"/>
          </a:p>
        </p:txBody>
      </p:sp>
      <p:sp>
        <p:nvSpPr>
          <p:cNvPr id="27" name="Shape 21"/>
          <p:cNvSpPr/>
          <p:nvPr/>
        </p:nvSpPr>
        <p:spPr>
          <a:xfrm>
            <a:off x="6172200" y="3886200"/>
            <a:ext cx="2331720" cy="548640"/>
          </a:xfrm>
          <a:prstGeom prst="roundRect">
            <a:avLst>
              <a:gd name="adj" fmla="val 23333"/>
            </a:avLst>
          </a:prstGeom>
          <a:solidFill>
            <a:srgbClr val="F1ECFD"/>
          </a:solidFill>
          <a:ln/>
        </p:spPr>
      </p:sp>
      <p:sp>
        <p:nvSpPr>
          <p:cNvPr id="28" name="Text 22"/>
          <p:cNvSpPr/>
          <p:nvPr/>
        </p:nvSpPr>
        <p:spPr>
          <a:xfrm>
            <a:off x="6263640" y="3904488"/>
            <a:ext cx="2148840" cy="512064"/>
          </a:xfrm>
          <a:prstGeom prst="rect">
            <a:avLst/>
          </a:prstGeom>
          <a:noFill/>
          <a:ln/>
        </p:spPr>
        <p:txBody>
          <a:bodyPr wrap="square" lIns="0" tIns="0" rIns="0" bIns="0" rtlCol="0" anchor="ctr"/>
          <a:lstStyle/>
          <a:p>
            <a:pPr indent="0" marL="0">
              <a:buNone/>
            </a:pPr>
            <a:r>
              <a:rPr lang="en-US" sz="1000" b="1" dirty="0">
                <a:solidFill>
                  <a:srgbClr val="3E318C"/>
                </a:solidFill>
                <a:latin typeface="Avenir Next" pitchFamily="34" charset="0"/>
                <a:ea typeface="Avenir Next" pitchFamily="34" charset="-122"/>
                <a:cs typeface="Avenir Next" pitchFamily="34" charset="-120"/>
              </a:rPr>
              <a:t>Decision: name one owner now. Cost and downtime are not in the logs.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The solution</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6</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WHY IT IS MORE ACCURATE</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Numbers come from the database, not the model</a:t>
            </a:r>
            <a:endParaRPr lang="en-US" sz="2600" dirty="0"/>
          </a:p>
        </p:txBody>
      </p:sp>
      <p:sp>
        <p:nvSpPr>
          <p:cNvPr id="7" name="Shape 4"/>
          <p:cNvSpPr/>
          <p:nvPr/>
        </p:nvSpPr>
        <p:spPr>
          <a:xfrm>
            <a:off x="457200" y="1234440"/>
            <a:ext cx="2468880" cy="1554480"/>
          </a:xfrm>
          <a:prstGeom prst="roundRect">
            <a:avLst>
              <a:gd name="adj" fmla="val 8235"/>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40080" y="1417320"/>
            <a:ext cx="384048" cy="384048"/>
          </a:xfrm>
          <a:prstGeom prst="rect">
            <a:avLst/>
          </a:prstGeom>
        </p:spPr>
      </p:pic>
      <p:pic>
        <p:nvPicPr>
          <p:cNvPr id="9" name="Image 2" descr="preencoded.png">    </p:cNvPr>
          <p:cNvPicPr>
            <a:picLocks noChangeAspect="1"/>
          </p:cNvPicPr>
          <p:nvPr/>
        </p:nvPicPr>
        <p:blipFill>
          <a:blip r:embed="rId3"/>
          <a:stretch>
            <a:fillRect/>
          </a:stretch>
        </p:blipFill>
        <p:spPr>
          <a:xfrm>
            <a:off x="739932" y="1517172"/>
            <a:ext cx="184343" cy="184343"/>
          </a:xfrm>
          <a:prstGeom prst="rect">
            <a:avLst/>
          </a:prstGeom>
        </p:spPr>
      </p:pic>
      <p:sp>
        <p:nvSpPr>
          <p:cNvPr id="10" name="Text 5"/>
          <p:cNvSpPr/>
          <p:nvPr/>
        </p:nvSpPr>
        <p:spPr>
          <a:xfrm>
            <a:off x="1143000" y="1417320"/>
            <a:ext cx="1691640" cy="384048"/>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Every number traced</a:t>
            </a:r>
            <a:endParaRPr lang="en-US" sz="1250" dirty="0"/>
          </a:p>
        </p:txBody>
      </p:sp>
      <p:sp>
        <p:nvSpPr>
          <p:cNvPr id="11" name="Text 6"/>
          <p:cNvSpPr/>
          <p:nvPr/>
        </p:nvSpPr>
        <p:spPr>
          <a:xfrm>
            <a:off x="640080" y="1892808"/>
            <a:ext cx="2148840" cy="868680"/>
          </a:xfrm>
          <a:prstGeom prst="rect">
            <a:avLst/>
          </a:prstGeom>
          <a:noFill/>
          <a:ln/>
        </p:spPr>
        <p:txBody>
          <a:bodyPr wrap="square" lIns="0" tIns="0" rIns="0" bIns="0" rtlCol="0" anchor="t"/>
          <a:lstStyle/>
          <a:p>
            <a:pPr indent="0" marL="0">
              <a:buNone/>
            </a:pPr>
            <a:r>
              <a:rPr lang="en-US" sz="1000" dirty="0">
                <a:solidFill>
                  <a:srgbClr val="3A3F55"/>
                </a:solidFill>
                <a:latin typeface="Avenir Next" pitchFamily="34" charset="0"/>
                <a:ea typeface="Avenir Next" pitchFamily="34" charset="-122"/>
                <a:cs typeface="Avenir Next" pitchFamily="34" charset="-120"/>
              </a:rPr>
              <a:t>62 of 62 numbers in the worked investigation are found in a tool result. A Verify button re-runs each query: 17 of 17 give the same result.</a:t>
            </a:r>
            <a:endParaRPr lang="en-US" sz="1000" dirty="0"/>
          </a:p>
        </p:txBody>
      </p:sp>
      <p:sp>
        <p:nvSpPr>
          <p:cNvPr id="12" name="Shape 7"/>
          <p:cNvSpPr/>
          <p:nvPr/>
        </p:nvSpPr>
        <p:spPr>
          <a:xfrm>
            <a:off x="3063240" y="1234440"/>
            <a:ext cx="2468880" cy="1554480"/>
          </a:xfrm>
          <a:prstGeom prst="roundRect">
            <a:avLst>
              <a:gd name="adj" fmla="val 8235"/>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246120" y="1417320"/>
            <a:ext cx="384048" cy="384048"/>
          </a:xfrm>
          <a:prstGeom prst="rect">
            <a:avLst/>
          </a:prstGeom>
        </p:spPr>
      </p:pic>
      <p:pic>
        <p:nvPicPr>
          <p:cNvPr id="14" name="Image 4" descr="preencoded.png">    </p:cNvPr>
          <p:cNvPicPr>
            <a:picLocks noChangeAspect="1"/>
          </p:cNvPicPr>
          <p:nvPr/>
        </p:nvPicPr>
        <p:blipFill>
          <a:blip r:embed="rId5"/>
          <a:stretch>
            <a:fillRect/>
          </a:stretch>
        </p:blipFill>
        <p:spPr>
          <a:xfrm>
            <a:off x="3345972" y="1517172"/>
            <a:ext cx="184343" cy="184343"/>
          </a:xfrm>
          <a:prstGeom prst="rect">
            <a:avLst/>
          </a:prstGeom>
        </p:spPr>
      </p:pic>
      <p:sp>
        <p:nvSpPr>
          <p:cNvPr id="15" name="Text 8"/>
          <p:cNvSpPr/>
          <p:nvPr/>
        </p:nvSpPr>
        <p:spPr>
          <a:xfrm>
            <a:off x="3749040" y="1417320"/>
            <a:ext cx="1691640" cy="384048"/>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Bursts, not lines</a:t>
            </a:r>
            <a:endParaRPr lang="en-US" sz="1250" dirty="0"/>
          </a:p>
        </p:txBody>
      </p:sp>
      <p:sp>
        <p:nvSpPr>
          <p:cNvPr id="16" name="Text 9"/>
          <p:cNvSpPr/>
          <p:nvPr/>
        </p:nvSpPr>
        <p:spPr>
          <a:xfrm>
            <a:off x="3246120" y="1892808"/>
            <a:ext cx="2148840" cy="868680"/>
          </a:xfrm>
          <a:prstGeom prst="rect">
            <a:avLst/>
          </a:prstGeom>
          <a:noFill/>
          <a:ln/>
        </p:spPr>
        <p:txBody>
          <a:bodyPr wrap="square" lIns="0" tIns="0" rIns="0" bIns="0" rtlCol="0" anchor="t"/>
          <a:lstStyle/>
          <a:p>
            <a:pPr indent="0" marL="0">
              <a:buNone/>
            </a:pPr>
            <a:r>
              <a:rPr lang="en-US" sz="1000" dirty="0">
                <a:solidFill>
                  <a:srgbClr val="3A3F55"/>
                </a:solidFill>
                <a:latin typeface="Avenir Next" pitchFamily="34" charset="0"/>
                <a:ea typeface="Avenir Next" pitchFamily="34" charset="-122"/>
                <a:cs typeface="Avenir Next" pitchFamily="34" charset="-120"/>
              </a:rPr>
              <a:t>Tools count recurrences and affected nodes, so a storm of 12,996 lines reads as 31 bursts, not 12,996 incidents.</a:t>
            </a:r>
            <a:endParaRPr lang="en-US" sz="1000" dirty="0"/>
          </a:p>
        </p:txBody>
      </p:sp>
      <p:sp>
        <p:nvSpPr>
          <p:cNvPr id="17" name="Shape 10"/>
          <p:cNvSpPr/>
          <p:nvPr/>
        </p:nvSpPr>
        <p:spPr>
          <a:xfrm>
            <a:off x="457200" y="2926080"/>
            <a:ext cx="2468880" cy="1554480"/>
          </a:xfrm>
          <a:prstGeom prst="roundRect">
            <a:avLst>
              <a:gd name="adj" fmla="val 8235"/>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40080" y="3108960"/>
            <a:ext cx="384048" cy="384048"/>
          </a:xfrm>
          <a:prstGeom prst="rect">
            <a:avLst/>
          </a:prstGeom>
        </p:spPr>
      </p:pic>
      <p:pic>
        <p:nvPicPr>
          <p:cNvPr id="19" name="Image 6" descr="preencoded.png">    </p:cNvPr>
          <p:cNvPicPr>
            <a:picLocks noChangeAspect="1"/>
          </p:cNvPicPr>
          <p:nvPr/>
        </p:nvPicPr>
        <p:blipFill>
          <a:blip r:embed="rId7"/>
          <a:stretch>
            <a:fillRect/>
          </a:stretch>
        </p:blipFill>
        <p:spPr>
          <a:xfrm>
            <a:off x="739932" y="3208812"/>
            <a:ext cx="184343" cy="184343"/>
          </a:xfrm>
          <a:prstGeom prst="rect">
            <a:avLst/>
          </a:prstGeom>
        </p:spPr>
      </p:pic>
      <p:sp>
        <p:nvSpPr>
          <p:cNvPr id="20" name="Text 11"/>
          <p:cNvSpPr/>
          <p:nvPr/>
        </p:nvSpPr>
        <p:spPr>
          <a:xfrm>
            <a:off x="1143000" y="3108960"/>
            <a:ext cx="1691640" cy="384048"/>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Real faults first</a:t>
            </a:r>
            <a:endParaRPr lang="en-US" sz="1250" dirty="0"/>
          </a:p>
        </p:txBody>
      </p:sp>
      <p:sp>
        <p:nvSpPr>
          <p:cNvPr id="21" name="Text 12"/>
          <p:cNvSpPr/>
          <p:nvPr/>
        </p:nvSpPr>
        <p:spPr>
          <a:xfrm>
            <a:off x="640080" y="3584448"/>
            <a:ext cx="2148840" cy="868680"/>
          </a:xfrm>
          <a:prstGeom prst="rect">
            <a:avLst/>
          </a:prstGeom>
          <a:noFill/>
          <a:ln/>
        </p:spPr>
        <p:txBody>
          <a:bodyPr wrap="square" lIns="0" tIns="0" rIns="0" bIns="0" rtlCol="0" anchor="t"/>
          <a:lstStyle/>
          <a:p>
            <a:pPr indent="0" marL="0">
              <a:buNone/>
            </a:pPr>
            <a:r>
              <a:rPr lang="en-US" sz="1000" dirty="0">
                <a:solidFill>
                  <a:srgbClr val="3A3F55"/>
                </a:solidFill>
                <a:latin typeface="Avenir Next" pitchFamily="34" charset="0"/>
                <a:ea typeface="Avenir Next" pitchFamily="34" charset="-122"/>
                <a:cs typeface="Avenir Next" pitchFamily="34" charset="-120"/>
              </a:rPr>
              <a:t>Jev's judgment per kind of message lifts real alerts in the top 10 from 1 to 5.</a:t>
            </a:r>
            <a:endParaRPr lang="en-US" sz="1000" dirty="0"/>
          </a:p>
        </p:txBody>
      </p:sp>
      <p:sp>
        <p:nvSpPr>
          <p:cNvPr id="22" name="Shape 13"/>
          <p:cNvSpPr/>
          <p:nvPr/>
        </p:nvSpPr>
        <p:spPr>
          <a:xfrm>
            <a:off x="3063240" y="2926080"/>
            <a:ext cx="2468880" cy="1554480"/>
          </a:xfrm>
          <a:prstGeom prst="roundRect">
            <a:avLst>
              <a:gd name="adj" fmla="val 8235"/>
            </a:avLst>
          </a:prstGeom>
          <a:solidFill>
            <a:srgbClr val="F0F2F5"/>
          </a:solidFill>
          <a:ln/>
        </p:spPr>
      </p:sp>
      <p:pic>
        <p:nvPicPr>
          <p:cNvPr id="23" name="Image 7" descr="preencoded.png">    </p:cNvPr>
          <p:cNvPicPr>
            <a:picLocks noChangeAspect="1"/>
          </p:cNvPicPr>
          <p:nvPr/>
        </p:nvPicPr>
        <p:blipFill>
          <a:blip r:embed="rId8"/>
          <a:stretch>
            <a:fillRect/>
          </a:stretch>
        </p:blipFill>
        <p:spPr>
          <a:xfrm>
            <a:off x="3246120" y="3108960"/>
            <a:ext cx="384048" cy="384048"/>
          </a:xfrm>
          <a:prstGeom prst="rect">
            <a:avLst/>
          </a:prstGeom>
        </p:spPr>
      </p:pic>
      <p:pic>
        <p:nvPicPr>
          <p:cNvPr id="24" name="Image 8" descr="preencoded.png">    </p:cNvPr>
          <p:cNvPicPr>
            <a:picLocks noChangeAspect="1"/>
          </p:cNvPicPr>
          <p:nvPr/>
        </p:nvPicPr>
        <p:blipFill>
          <a:blip r:embed="rId9"/>
          <a:stretch>
            <a:fillRect/>
          </a:stretch>
        </p:blipFill>
        <p:spPr>
          <a:xfrm>
            <a:off x="3345972" y="3208812"/>
            <a:ext cx="184343" cy="184343"/>
          </a:xfrm>
          <a:prstGeom prst="rect">
            <a:avLst/>
          </a:prstGeom>
        </p:spPr>
      </p:pic>
      <p:sp>
        <p:nvSpPr>
          <p:cNvPr id="25" name="Text 14"/>
          <p:cNvSpPr/>
          <p:nvPr/>
        </p:nvSpPr>
        <p:spPr>
          <a:xfrm>
            <a:off x="3749040" y="3108960"/>
            <a:ext cx="1691640" cy="384048"/>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Facts vs guesses</a:t>
            </a:r>
            <a:endParaRPr lang="en-US" sz="1250" dirty="0"/>
          </a:p>
        </p:txBody>
      </p:sp>
      <p:sp>
        <p:nvSpPr>
          <p:cNvPr id="26" name="Text 15"/>
          <p:cNvSpPr/>
          <p:nvPr/>
        </p:nvSpPr>
        <p:spPr>
          <a:xfrm>
            <a:off x="3246120" y="3584448"/>
            <a:ext cx="2148840" cy="868680"/>
          </a:xfrm>
          <a:prstGeom prst="rect">
            <a:avLst/>
          </a:prstGeom>
          <a:noFill/>
          <a:ln/>
        </p:spPr>
        <p:txBody>
          <a:bodyPr wrap="square" lIns="0" tIns="0" rIns="0" bIns="0" rtlCol="0" anchor="t"/>
          <a:lstStyle/>
          <a:p>
            <a:pPr indent="0" marL="0">
              <a:buNone/>
            </a:pPr>
            <a:r>
              <a:rPr lang="en-US" sz="1000" dirty="0">
                <a:solidFill>
                  <a:srgbClr val="3A3F55"/>
                </a:solidFill>
                <a:latin typeface="Avenir Next" pitchFamily="34" charset="0"/>
                <a:ea typeface="Avenir Next" pitchFamily="34" charset="-122"/>
                <a:cs typeface="Avenir Next" pitchFamily="34" charset="-120"/>
              </a:rPr>
              <a:t>Facts, a labelled hypothesis, what the logs do not show, and a next step, every time.</a:t>
            </a:r>
            <a:endParaRPr lang="en-US" sz="1000" dirty="0"/>
          </a:p>
        </p:txBody>
      </p:sp>
      <p:sp>
        <p:nvSpPr>
          <p:cNvPr id="27" name="Shape 16"/>
          <p:cNvSpPr/>
          <p:nvPr/>
        </p:nvSpPr>
        <p:spPr>
          <a:xfrm>
            <a:off x="5806440" y="1234440"/>
            <a:ext cx="2880360" cy="3246120"/>
          </a:xfrm>
          <a:prstGeom prst="roundRect">
            <a:avLst>
              <a:gd name="adj" fmla="val 4444"/>
            </a:avLst>
          </a:prstGeom>
          <a:solidFill>
            <a:srgbClr val="F1ECFD"/>
          </a:solidFill>
          <a:ln/>
        </p:spPr>
      </p:sp>
      <p:sp>
        <p:nvSpPr>
          <p:cNvPr id="28" name="Text 17"/>
          <p:cNvSpPr/>
          <p:nvPr/>
        </p:nvSpPr>
        <p:spPr>
          <a:xfrm>
            <a:off x="5989320" y="1371600"/>
            <a:ext cx="2560320" cy="274320"/>
          </a:xfrm>
          <a:prstGeom prst="rect">
            <a:avLst/>
          </a:prstGeom>
          <a:noFill/>
          <a:ln/>
        </p:spPr>
        <p:txBody>
          <a:bodyPr wrap="square" lIns="0" tIns="0" rIns="0" bIns="0" rtlCol="0" anchor="ctr"/>
          <a:lstStyle/>
          <a:p>
            <a:pPr indent="0" marL="0">
              <a:buNone/>
            </a:pPr>
            <a:r>
              <a:rPr lang="en-US" sz="1100" b="1" dirty="0">
                <a:solidFill>
                  <a:srgbClr val="3E318C"/>
                </a:solidFill>
                <a:latin typeface="Avenir Next" pitchFamily="34" charset="0"/>
                <a:ea typeface="Avenir Next" pitchFamily="34" charset="-122"/>
                <a:cs typeface="Avenir Next" pitchFamily="34" charset="-120"/>
              </a:rPr>
              <a:t>Measured on 50 golden questions</a:t>
            </a:r>
            <a:endParaRPr lang="en-US" sz="1100" dirty="0"/>
          </a:p>
        </p:txBody>
      </p:sp>
      <p:sp>
        <p:nvSpPr>
          <p:cNvPr id="29" name="Text 18"/>
          <p:cNvSpPr/>
          <p:nvPr/>
        </p:nvSpPr>
        <p:spPr>
          <a:xfrm>
            <a:off x="5989320" y="1691640"/>
            <a:ext cx="2560320" cy="5029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13 – 2</a:t>
            </a:r>
            <a:endParaRPr lang="en-US" sz="3000" dirty="0"/>
          </a:p>
        </p:txBody>
      </p:sp>
      <p:sp>
        <p:nvSpPr>
          <p:cNvPr id="30" name="Text 19"/>
          <p:cNvSpPr/>
          <p:nvPr/>
        </p:nvSpPr>
        <p:spPr>
          <a:xfrm>
            <a:off x="5989320" y="2194560"/>
            <a:ext cx="2560320" cy="5029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wins vs the brief's reference agent on BGL + OpenStack (blind Opus judge)</a:t>
            </a:r>
            <a:endParaRPr lang="en-US" sz="1100" dirty="0"/>
          </a:p>
        </p:txBody>
      </p:sp>
      <p:sp>
        <p:nvSpPr>
          <p:cNvPr id="31" name="Text 20"/>
          <p:cNvSpPr/>
          <p:nvPr/>
        </p:nvSpPr>
        <p:spPr>
          <a:xfrm>
            <a:off x="5989320" y="2788920"/>
            <a:ext cx="2560320" cy="5029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53 vs 69</a:t>
            </a:r>
            <a:endParaRPr lang="en-US" sz="3000" dirty="0"/>
          </a:p>
        </p:txBody>
      </p:sp>
      <p:sp>
        <p:nvSpPr>
          <p:cNvPr id="32" name="Text 21"/>
          <p:cNvSpPr/>
          <p:nvPr/>
        </p:nvSpPr>
        <p:spPr>
          <a:xfrm>
            <a:off x="5989320" y="3291840"/>
            <a:ext cx="2560320" cy="5029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wrong claims over 50 answers, checked against frozen answer keys</a:t>
            </a:r>
            <a:endParaRPr lang="en-US" sz="1100" dirty="0"/>
          </a:p>
        </p:txBody>
      </p:sp>
      <p:sp>
        <p:nvSpPr>
          <p:cNvPr id="33" name="Text 22"/>
          <p:cNvSpPr/>
          <p:nvPr/>
        </p:nvSpPr>
        <p:spPr>
          <a:xfrm>
            <a:off x="5989320" y="4023360"/>
            <a:ext cx="2560320" cy="274320"/>
          </a:xfrm>
          <a:prstGeom prst="rect">
            <a:avLst/>
          </a:prstGeom>
          <a:noFill/>
          <a:ln/>
        </p:spPr>
        <p:txBody>
          <a:bodyPr wrap="square" lIns="0" tIns="0" rIns="0" bIns="0" rtlCol="0" anchor="ctr"/>
          <a:lstStyle/>
          <a:p>
            <a:pPr indent="0" marL="0">
              <a:buNone/>
            </a:pPr>
            <a:r>
              <a:rPr lang="en-US" sz="950" dirty="0">
                <a:solidFill>
                  <a:srgbClr val="6B7386"/>
                </a:solidFill>
                <a:latin typeface="Avenir Next" pitchFamily="34" charset="0"/>
                <a:ea typeface="Avenir Next" pitchFamily="34" charset="-122"/>
                <a:cs typeface="Avenir Next" pitchFamily="34" charset="-120"/>
              </a:rPr>
              <a:t>Full results: docs/dashboard.html</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The solution</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7</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WHY IT IS FASTER</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The database does the reading</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Claude reads a few results instead of grepping millions of lines.</a:t>
            </a:r>
            <a:endParaRPr lang="en-US" sz="1250" dirty="0"/>
          </a:p>
        </p:txBody>
      </p:sp>
      <p:sp>
        <p:nvSpPr>
          <p:cNvPr id="8" name="Shape 5"/>
          <p:cNvSpPr/>
          <p:nvPr/>
        </p:nvSpPr>
        <p:spPr>
          <a:xfrm>
            <a:off x="457200" y="1508760"/>
            <a:ext cx="4023360" cy="3017520"/>
          </a:xfrm>
          <a:prstGeom prst="roundRect">
            <a:avLst>
              <a:gd name="adj" fmla="val 4242"/>
            </a:avLst>
          </a:prstGeom>
          <a:solidFill>
            <a:srgbClr val="FFFFFF"/>
          </a:solidFill>
          <a:ln w="12700">
            <a:solidFill>
              <a:srgbClr val="E3E6EC"/>
            </a:solidFill>
            <a:prstDash val="solid"/>
          </a:ln>
        </p:spPr>
      </p:sp>
      <p:sp>
        <p:nvSpPr>
          <p:cNvPr id="9" name="Text 6"/>
          <p:cNvSpPr/>
          <p:nvPr/>
        </p:nvSpPr>
        <p:spPr>
          <a:xfrm>
            <a:off x="640080" y="1645920"/>
            <a:ext cx="3657600" cy="274320"/>
          </a:xfrm>
          <a:prstGeom prst="rect">
            <a:avLst/>
          </a:prstGeom>
          <a:noFill/>
          <a:ln/>
        </p:spPr>
        <p:txBody>
          <a:bodyPr wrap="square" lIns="0" tIns="0" rIns="0" bIns="0" rtlCol="0" anchor="ctr"/>
          <a:lstStyle/>
          <a:p>
            <a:pPr indent="0" marL="0">
              <a:buNone/>
            </a:pPr>
            <a:r>
              <a:rPr lang="en-US" sz="1100" b="1" dirty="0">
                <a:solidFill>
                  <a:srgbClr val="11121D"/>
                </a:solidFill>
                <a:latin typeface="Avenir Next" pitchFamily="34" charset="0"/>
                <a:ea typeface="Avenir Next" pitchFamily="34" charset="-122"/>
                <a:cs typeface="Avenir Next" pitchFamily="34" charset="-120"/>
              </a:rPr>
              <a:t>Claude Code, same model, same questions (pilot, 3 questions)</a:t>
            </a:r>
            <a:endParaRPr lang="en-US" sz="1100" dirty="0"/>
          </a:p>
        </p:txBody>
      </p:sp>
      <p:graphicFrame>
        <p:nvGraphicFramePr>
          <p:cNvPr id="10" name="Chart 0" descr=""/>
          <p:cNvGraphicFramePr/>
          <p:nvPr/>
        </p:nvGraphicFramePr>
        <p:xfrm>
          <a:off x="548640" y="1965960"/>
          <a:ext cx="3840480" cy="1645920"/>
        </p:xfrm>
        <a:graphic xmlns:a="http://schemas.openxmlformats.org/drawingml/2006/main">
          <a:graphicData uri="http://schemas.openxmlformats.org/drawingml/2006/chart">
            <c:chart xmlns:c="http://schemas.openxmlformats.org/drawingml/2006/chart" r:id="rId2"/>
          </a:graphicData>
        </a:graphic>
      </p:graphicFrame>
      <p:sp>
        <p:nvSpPr>
          <p:cNvPr id="11" name="Text 7"/>
          <p:cNvSpPr/>
          <p:nvPr/>
        </p:nvSpPr>
        <p:spPr>
          <a:xfrm>
            <a:off x="640080" y="3703320"/>
            <a:ext cx="3657600" cy="68580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Mean seconds per answer.</a:t>
            </a:r>
            <a:endParaRPr lang="en-US" sz="1100" dirty="0"/>
          </a:p>
          <a:p>
            <a:pPr indent="0" marL="0">
              <a:buNone/>
            </a:pPr>
            <a:r>
              <a:rPr lang="en-US" sz="1100" dirty="0">
                <a:solidFill>
                  <a:srgbClr val="3A3F55"/>
                </a:solidFill>
                <a:latin typeface="Avenir Next" pitchFamily="34" charset="0"/>
                <a:ea typeface="Avenir Next" pitchFamily="34" charset="-122"/>
                <a:cs typeface="Avenir Next" pitchFamily="34" charset="-120"/>
              </a:rPr>
              <a:t>Claims correct: 94.3 % vs 69.6 %.</a:t>
            </a:r>
            <a:endParaRPr lang="en-US" sz="1100" dirty="0"/>
          </a:p>
        </p:txBody>
      </p:sp>
      <p:sp>
        <p:nvSpPr>
          <p:cNvPr id="12" name="Text 8"/>
          <p:cNvSpPr/>
          <p:nvPr/>
        </p:nvSpPr>
        <p:spPr>
          <a:xfrm>
            <a:off x="4754880" y="1508760"/>
            <a:ext cx="3931920" cy="5029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1.8 s</a:t>
            </a:r>
            <a:endParaRPr lang="en-US" sz="3000" dirty="0"/>
          </a:p>
        </p:txBody>
      </p:sp>
      <p:sp>
        <p:nvSpPr>
          <p:cNvPr id="13" name="Text 9"/>
          <p:cNvSpPr/>
          <p:nvPr/>
        </p:nvSpPr>
        <p:spPr>
          <a:xfrm>
            <a:off x="4754880" y="2011680"/>
            <a:ext cx="3931920" cy="5029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of database time for all 20 tool calls of the worked investigation</a:t>
            </a:r>
            <a:endParaRPr lang="en-US" sz="1100" dirty="0"/>
          </a:p>
        </p:txBody>
      </p:sp>
      <p:sp>
        <p:nvSpPr>
          <p:cNvPr id="14" name="Text 10"/>
          <p:cNvSpPr/>
          <p:nvPr/>
        </p:nvSpPr>
        <p:spPr>
          <a:xfrm>
            <a:off x="4754880" y="2514600"/>
            <a:ext cx="3931920" cy="5029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7 ms</a:t>
            </a:r>
            <a:endParaRPr lang="en-US" sz="3000" dirty="0"/>
          </a:p>
        </p:txBody>
      </p:sp>
      <p:sp>
        <p:nvSpPr>
          <p:cNvPr id="15" name="Text 11"/>
          <p:cNvSpPr/>
          <p:nvPr/>
        </p:nvSpPr>
        <p:spPr>
          <a:xfrm>
            <a:off x="4754880" y="3017520"/>
            <a:ext cx="3931920" cy="5029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to count 121,498 full-text matches over 4.7 M lines (inverted index, no scan)</a:t>
            </a:r>
            <a:endParaRPr lang="en-US" sz="1100" dirty="0"/>
          </a:p>
        </p:txBody>
      </p:sp>
      <p:sp>
        <p:nvSpPr>
          <p:cNvPr id="16" name="Text 12"/>
          <p:cNvSpPr/>
          <p:nvPr/>
        </p:nvSpPr>
        <p:spPr>
          <a:xfrm>
            <a:off x="4754880" y="3520440"/>
            <a:ext cx="3931920" cy="5029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~90 %</a:t>
            </a:r>
            <a:endParaRPr lang="en-US" sz="3000" dirty="0"/>
          </a:p>
        </p:txBody>
      </p:sp>
      <p:sp>
        <p:nvSpPr>
          <p:cNvPr id="17" name="Text 13"/>
          <p:cNvSpPr/>
          <p:nvPr/>
        </p:nvSpPr>
        <p:spPr>
          <a:xfrm>
            <a:off x="4754880" y="4023360"/>
            <a:ext cx="3931920" cy="5029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of an answer's time is the AI writing; SereneDB is under 1 s per answer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In the company</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8</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HOW IT FITS THE COMPANY</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It plugs into routines that already exist</a:t>
            </a:r>
            <a:endParaRPr lang="en-US" sz="2600" dirty="0"/>
          </a:p>
        </p:txBody>
      </p:sp>
      <p:sp>
        <p:nvSpPr>
          <p:cNvPr id="7" name="Shape 4"/>
          <p:cNvSpPr/>
          <p:nvPr/>
        </p:nvSpPr>
        <p:spPr>
          <a:xfrm>
            <a:off x="457200" y="1234440"/>
            <a:ext cx="2606040" cy="1783080"/>
          </a:xfrm>
          <a:prstGeom prst="roundRect">
            <a:avLst>
              <a:gd name="adj" fmla="val 7179"/>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58368" y="1417320"/>
            <a:ext cx="402336" cy="402336"/>
          </a:xfrm>
          <a:prstGeom prst="rect">
            <a:avLst/>
          </a:prstGeom>
        </p:spPr>
      </p:pic>
      <p:pic>
        <p:nvPicPr>
          <p:cNvPr id="9" name="Image 2" descr="preencoded.png">    </p:cNvPr>
          <p:cNvPicPr>
            <a:picLocks noChangeAspect="1"/>
          </p:cNvPicPr>
          <p:nvPr/>
        </p:nvPicPr>
        <p:blipFill>
          <a:blip r:embed="rId3"/>
          <a:stretch>
            <a:fillRect/>
          </a:stretch>
        </p:blipFill>
        <p:spPr>
          <a:xfrm>
            <a:off x="762975" y="1521927"/>
            <a:ext cx="193121" cy="193121"/>
          </a:xfrm>
          <a:prstGeom prst="rect">
            <a:avLst/>
          </a:prstGeom>
        </p:spPr>
      </p:pic>
      <p:sp>
        <p:nvSpPr>
          <p:cNvPr id="10" name="Text 5"/>
          <p:cNvSpPr/>
          <p:nvPr/>
        </p:nvSpPr>
        <p:spPr>
          <a:xfrm>
            <a:off x="1188720" y="1417320"/>
            <a:ext cx="1783080" cy="402336"/>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On-call incident</a:t>
            </a:r>
            <a:endParaRPr lang="en-US" sz="1300" dirty="0"/>
          </a:p>
        </p:txBody>
      </p:sp>
      <p:sp>
        <p:nvSpPr>
          <p:cNvPr id="11" name="Text 6"/>
          <p:cNvSpPr/>
          <p:nvPr/>
        </p:nvSpPr>
        <p:spPr>
          <a:xfrm>
            <a:off x="658368" y="1920240"/>
            <a:ext cx="2240280" cy="105156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The engineer asks during the outage and gets the failure, its neighbours and a next check in about 13–44 s, instead of a manual search.</a:t>
            </a:r>
            <a:endParaRPr lang="en-US" sz="1050" dirty="0"/>
          </a:p>
        </p:txBody>
      </p:sp>
      <p:sp>
        <p:nvSpPr>
          <p:cNvPr id="12" name="Shape 7"/>
          <p:cNvSpPr/>
          <p:nvPr/>
        </p:nvSpPr>
        <p:spPr>
          <a:xfrm>
            <a:off x="3246120" y="1234440"/>
            <a:ext cx="2606040" cy="1783080"/>
          </a:xfrm>
          <a:prstGeom prst="roundRect">
            <a:avLst>
              <a:gd name="adj" fmla="val 7179"/>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447288" y="1417320"/>
            <a:ext cx="402336" cy="402336"/>
          </a:xfrm>
          <a:prstGeom prst="rect">
            <a:avLst/>
          </a:prstGeom>
        </p:spPr>
      </p:pic>
      <p:pic>
        <p:nvPicPr>
          <p:cNvPr id="14" name="Image 4" descr="preencoded.png">    </p:cNvPr>
          <p:cNvPicPr>
            <a:picLocks noChangeAspect="1"/>
          </p:cNvPicPr>
          <p:nvPr/>
        </p:nvPicPr>
        <p:blipFill>
          <a:blip r:embed="rId5"/>
          <a:stretch>
            <a:fillRect/>
          </a:stretch>
        </p:blipFill>
        <p:spPr>
          <a:xfrm>
            <a:off x="3551895" y="1521927"/>
            <a:ext cx="193121" cy="193121"/>
          </a:xfrm>
          <a:prstGeom prst="rect">
            <a:avLst/>
          </a:prstGeom>
        </p:spPr>
      </p:pic>
      <p:sp>
        <p:nvSpPr>
          <p:cNvPr id="15" name="Text 8"/>
          <p:cNvSpPr/>
          <p:nvPr/>
        </p:nvSpPr>
        <p:spPr>
          <a:xfrm>
            <a:off x="3977640" y="1417320"/>
            <a:ext cx="1783080" cy="402336"/>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Weekly team review</a:t>
            </a:r>
            <a:endParaRPr lang="en-US" sz="1300" dirty="0"/>
          </a:p>
        </p:txBody>
      </p:sp>
      <p:sp>
        <p:nvSpPr>
          <p:cNvPr id="16" name="Text 9"/>
          <p:cNvSpPr/>
          <p:nvPr/>
        </p:nvSpPr>
        <p:spPr>
          <a:xfrm>
            <a:off x="3447288" y="1920240"/>
            <a:ext cx="2240280" cy="105156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The lead opens recurring problems by team and trend for a stated period, ready for the meeting.</a:t>
            </a:r>
            <a:endParaRPr lang="en-US" sz="1050" dirty="0"/>
          </a:p>
        </p:txBody>
      </p:sp>
      <p:sp>
        <p:nvSpPr>
          <p:cNvPr id="17" name="Shape 10"/>
          <p:cNvSpPr/>
          <p:nvPr/>
        </p:nvSpPr>
        <p:spPr>
          <a:xfrm>
            <a:off x="6035040" y="1234440"/>
            <a:ext cx="2606040" cy="1783080"/>
          </a:xfrm>
          <a:prstGeom prst="roundRect">
            <a:avLst>
              <a:gd name="adj" fmla="val 7179"/>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236208" y="1417320"/>
            <a:ext cx="402336" cy="402336"/>
          </a:xfrm>
          <a:prstGeom prst="rect">
            <a:avLst/>
          </a:prstGeom>
        </p:spPr>
      </p:pic>
      <p:pic>
        <p:nvPicPr>
          <p:cNvPr id="19" name="Image 6" descr="preencoded.png">    </p:cNvPr>
          <p:cNvPicPr>
            <a:picLocks noChangeAspect="1"/>
          </p:cNvPicPr>
          <p:nvPr/>
        </p:nvPicPr>
        <p:blipFill>
          <a:blip r:embed="rId7"/>
          <a:stretch>
            <a:fillRect/>
          </a:stretch>
        </p:blipFill>
        <p:spPr>
          <a:xfrm>
            <a:off x="6340815" y="1521927"/>
            <a:ext cx="193121" cy="193121"/>
          </a:xfrm>
          <a:prstGeom prst="rect">
            <a:avLst/>
          </a:prstGeom>
        </p:spPr>
      </p:pic>
      <p:sp>
        <p:nvSpPr>
          <p:cNvPr id="20" name="Text 11"/>
          <p:cNvSpPr/>
          <p:nvPr/>
        </p:nvSpPr>
        <p:spPr>
          <a:xfrm>
            <a:off x="6766560" y="1417320"/>
            <a:ext cx="1783080" cy="402336"/>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Monthly planning</a:t>
            </a:r>
            <a:endParaRPr lang="en-US" sz="1300" dirty="0"/>
          </a:p>
        </p:txBody>
      </p:sp>
      <p:sp>
        <p:nvSpPr>
          <p:cNvPr id="21" name="Text 12"/>
          <p:cNvSpPr/>
          <p:nvPr/>
        </p:nvSpPr>
        <p:spPr>
          <a:xfrm>
            <a:off x="6236208" y="1920240"/>
            <a:ext cx="2240280" cy="105156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The manager gets a computed ranking with owners and a decision. It never invents cost or downtime.</a:t>
            </a:r>
            <a:endParaRPr lang="en-US" sz="1050" dirty="0"/>
          </a:p>
        </p:txBody>
      </p:sp>
      <p:sp>
        <p:nvSpPr>
          <p:cNvPr id="22" name="Shape 13"/>
          <p:cNvSpPr/>
          <p:nvPr/>
        </p:nvSpPr>
        <p:spPr>
          <a:xfrm>
            <a:off x="457200" y="3200400"/>
            <a:ext cx="4069080" cy="594360"/>
          </a:xfrm>
          <a:prstGeom prst="roundRect">
            <a:avLst>
              <a:gd name="adj" fmla="val 21538"/>
            </a:avLst>
          </a:prstGeom>
          <a:solidFill>
            <a:srgbClr val="FFFFFF"/>
          </a:solidFill>
          <a:ln w="12700">
            <a:solidFill>
              <a:srgbClr val="E3E6EC"/>
            </a:solidFill>
            <a:prstDash val="solid"/>
          </a:ln>
        </p:spPr>
      </p:sp>
      <p:sp>
        <p:nvSpPr>
          <p:cNvPr id="23" name="Text 14"/>
          <p:cNvSpPr/>
          <p:nvPr/>
        </p:nvSpPr>
        <p:spPr>
          <a:xfrm>
            <a:off x="640080" y="3200400"/>
            <a:ext cx="3749040" cy="594360"/>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Tools they already use  </a:t>
            </a:r>
            <a:pPr indent="0" marL="0">
              <a:buNone/>
            </a:pPr>
            <a:r>
              <a:rPr lang="en-US" sz="1050" dirty="0">
                <a:solidFill>
                  <a:srgbClr val="3A3F55"/>
                </a:solidFill>
                <a:latin typeface="Avenir Next" pitchFamily="34" charset="0"/>
                <a:ea typeface="Avenir Next" pitchFamily="34" charset="-122"/>
                <a:cs typeface="Avenir Next" pitchFamily="34" charset="-120"/>
              </a:rPr>
              <a:t>Claude Code, Claude Desktop or any MCP client.</a:t>
            </a:r>
            <a:endParaRPr lang="en-US" sz="1050" dirty="0"/>
          </a:p>
        </p:txBody>
      </p:sp>
      <p:sp>
        <p:nvSpPr>
          <p:cNvPr id="24" name="Shape 15"/>
          <p:cNvSpPr/>
          <p:nvPr/>
        </p:nvSpPr>
        <p:spPr>
          <a:xfrm>
            <a:off x="4617720" y="3200400"/>
            <a:ext cx="4069080" cy="594360"/>
          </a:xfrm>
          <a:prstGeom prst="roundRect">
            <a:avLst>
              <a:gd name="adj" fmla="val 21538"/>
            </a:avLst>
          </a:prstGeom>
          <a:solidFill>
            <a:srgbClr val="FFFFFF"/>
          </a:solidFill>
          <a:ln w="12700">
            <a:solidFill>
              <a:srgbClr val="E3E6EC"/>
            </a:solidFill>
            <a:prstDash val="solid"/>
          </a:ln>
        </p:spPr>
      </p:sp>
      <p:sp>
        <p:nvSpPr>
          <p:cNvPr id="25" name="Text 16"/>
          <p:cNvSpPr/>
          <p:nvPr/>
        </p:nvSpPr>
        <p:spPr>
          <a:xfrm>
            <a:off x="4800600" y="3200400"/>
            <a:ext cx="3749040" cy="594360"/>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Their data stays home  </a:t>
            </a:r>
            <a:pPr indent="0" marL="0">
              <a:buNone/>
            </a:pPr>
            <a:r>
              <a:rPr lang="en-US" sz="1050" dirty="0">
                <a:solidFill>
                  <a:srgbClr val="3A3F55"/>
                </a:solidFill>
                <a:latin typeface="Avenir Next" pitchFamily="34" charset="0"/>
                <a:ea typeface="Avenir Next" pitchFamily="34" charset="-122"/>
                <a:cs typeface="Avenir Next" pitchFamily="34" charset="-120"/>
              </a:rPr>
              <a:t>SereneDB runs locally in Docker; only tool results reach the AI.</a:t>
            </a:r>
            <a:endParaRPr lang="en-US" sz="1050" dirty="0"/>
          </a:p>
        </p:txBody>
      </p:sp>
      <p:sp>
        <p:nvSpPr>
          <p:cNvPr id="26" name="Shape 17"/>
          <p:cNvSpPr/>
          <p:nvPr/>
        </p:nvSpPr>
        <p:spPr>
          <a:xfrm>
            <a:off x="457200" y="3886200"/>
            <a:ext cx="4069080" cy="594360"/>
          </a:xfrm>
          <a:prstGeom prst="roundRect">
            <a:avLst>
              <a:gd name="adj" fmla="val 21538"/>
            </a:avLst>
          </a:prstGeom>
          <a:solidFill>
            <a:srgbClr val="FFFFFF"/>
          </a:solidFill>
          <a:ln w="12700">
            <a:solidFill>
              <a:srgbClr val="E3E6EC"/>
            </a:solidFill>
            <a:prstDash val="solid"/>
          </a:ln>
        </p:spPr>
      </p:sp>
      <p:sp>
        <p:nvSpPr>
          <p:cNvPr id="27" name="Text 18"/>
          <p:cNvSpPr/>
          <p:nvPr/>
        </p:nvSpPr>
        <p:spPr>
          <a:xfrm>
            <a:off x="640080" y="3886200"/>
            <a:ext cx="3749040" cy="594360"/>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Their own logs  </a:t>
            </a:r>
            <a:pPr indent="0" marL="0">
              <a:buNone/>
            </a:pPr>
            <a:r>
              <a:rPr lang="en-US" sz="1050" dirty="0">
                <a:solidFill>
                  <a:srgbClr val="3A3F55"/>
                </a:solidFill>
                <a:latin typeface="Avenir Next" pitchFamily="34" charset="0"/>
                <a:ea typeface="Avenir Next" pitchFamily="34" charset="-122"/>
                <a:cs typeface="Avenir Next" pitchFamily="34" charset="-120"/>
              </a:rPr>
              <a:t>Any file; the format is detected from 76 known formats in seconds.</a:t>
            </a:r>
            <a:endParaRPr lang="en-US" sz="1050" dirty="0"/>
          </a:p>
        </p:txBody>
      </p:sp>
      <p:sp>
        <p:nvSpPr>
          <p:cNvPr id="28" name="Shape 19"/>
          <p:cNvSpPr/>
          <p:nvPr/>
        </p:nvSpPr>
        <p:spPr>
          <a:xfrm>
            <a:off x="4617720" y="3886200"/>
            <a:ext cx="4069080" cy="594360"/>
          </a:xfrm>
          <a:prstGeom prst="roundRect">
            <a:avLst>
              <a:gd name="adj" fmla="val 21538"/>
            </a:avLst>
          </a:prstGeom>
          <a:solidFill>
            <a:srgbClr val="FFFFFF"/>
          </a:solidFill>
          <a:ln w="12700">
            <a:solidFill>
              <a:srgbClr val="E3E6EC"/>
            </a:solidFill>
            <a:prstDash val="solid"/>
          </a:ln>
        </p:spPr>
      </p:sp>
      <p:sp>
        <p:nvSpPr>
          <p:cNvPr id="29" name="Text 20"/>
          <p:cNvSpPr/>
          <p:nvPr/>
        </p:nvSpPr>
        <p:spPr>
          <a:xfrm>
            <a:off x="4800600" y="3886200"/>
            <a:ext cx="3749040" cy="594360"/>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Their org chart  </a:t>
            </a:r>
            <a:pPr indent="0" marL="0">
              <a:buNone/>
            </a:pPr>
            <a:r>
              <a:rPr lang="en-US" sz="1050" dirty="0">
                <a:solidFill>
                  <a:srgbClr val="3A3F55"/>
                </a:solidFill>
                <a:latin typeface="Avenir Next" pitchFamily="34" charset="0"/>
                <a:ea typeface="Avenir Next" pitchFamily="34" charset="-122"/>
                <a:cs typeface="Avenir Next" pitchFamily="34" charset="-120"/>
              </a:rPr>
              <a:t>An ownership table maps components to teams; access per team is enforced by the database.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Cost</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9</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CHEAPER THAN THE ALTERNATIVES</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Judge each kind of message once, not every line</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Jev is a small model that gives typed, calibrated judgments. It runs inside SereneDB with one SQL call.</a:t>
            </a:r>
            <a:endParaRPr lang="en-US" sz="1250" dirty="0"/>
          </a:p>
        </p:txBody>
      </p:sp>
      <p:sp>
        <p:nvSpPr>
          <p:cNvPr id="8" name="Shape 5"/>
          <p:cNvSpPr/>
          <p:nvPr/>
        </p:nvSpPr>
        <p:spPr>
          <a:xfrm>
            <a:off x="457200" y="1554480"/>
            <a:ext cx="4023360" cy="2971800"/>
          </a:xfrm>
          <a:prstGeom prst="roundRect">
            <a:avLst>
              <a:gd name="adj" fmla="val 4308"/>
            </a:avLst>
          </a:prstGeom>
          <a:solidFill>
            <a:srgbClr val="FFFFFF"/>
          </a:solidFill>
          <a:ln w="12700">
            <a:solidFill>
              <a:srgbClr val="E3E6EC"/>
            </a:solidFill>
            <a:prstDash val="solid"/>
          </a:ln>
        </p:spPr>
      </p:sp>
      <p:sp>
        <p:nvSpPr>
          <p:cNvPr id="9" name="Text 6"/>
          <p:cNvSpPr/>
          <p:nvPr/>
        </p:nvSpPr>
        <p:spPr>
          <a:xfrm>
            <a:off x="640080" y="1691640"/>
            <a:ext cx="3657600" cy="274320"/>
          </a:xfrm>
          <a:prstGeom prst="rect">
            <a:avLst/>
          </a:prstGeom>
          <a:noFill/>
          <a:ln/>
        </p:spPr>
        <p:txBody>
          <a:bodyPr wrap="square" lIns="0" tIns="0" rIns="0" bIns="0" rtlCol="0" anchor="ctr"/>
          <a:lstStyle/>
          <a:p>
            <a:pPr indent="0" marL="0">
              <a:buNone/>
            </a:pPr>
            <a:r>
              <a:rPr lang="en-US" sz="1200" b="1" dirty="0">
                <a:solidFill>
                  <a:srgbClr val="11121D"/>
                </a:solidFill>
                <a:latin typeface="Avenir Next" pitchFamily="34" charset="0"/>
                <a:ea typeface="Avenir Next" pitchFamily="34" charset="-122"/>
                <a:cs typeface="Avenir Next" pitchFamily="34" charset="-120"/>
              </a:rPr>
              <a:t>Reading BGL once with an LLM</a:t>
            </a:r>
            <a:endParaRPr lang="en-US" sz="1200" dirty="0"/>
          </a:p>
        </p:txBody>
      </p:sp>
      <p:sp>
        <p:nvSpPr>
          <p:cNvPr id="10" name="Text 7"/>
          <p:cNvSpPr/>
          <p:nvPr/>
        </p:nvSpPr>
        <p:spPr>
          <a:xfrm>
            <a:off x="640080" y="2011680"/>
            <a:ext cx="3657600" cy="548640"/>
          </a:xfrm>
          <a:prstGeom prst="rect">
            <a:avLst/>
          </a:prstGeom>
          <a:noFill/>
          <a:ln/>
        </p:spPr>
        <p:txBody>
          <a:bodyPr wrap="square" lIns="0" tIns="0" rIns="0" bIns="0" rtlCol="0" anchor="ctr"/>
          <a:lstStyle/>
          <a:p>
            <a:pPr indent="0" marL="0">
              <a:buNone/>
            </a:pPr>
            <a:r>
              <a:rPr lang="en-US" sz="3200" b="1" dirty="0">
                <a:solidFill>
                  <a:srgbClr val="C2410C"/>
                </a:solidFill>
                <a:latin typeface="Avenir Next" pitchFamily="34" charset="0"/>
                <a:ea typeface="Avenir Next" pitchFamily="34" charset="-122"/>
                <a:cs typeface="Avenir Next" pitchFamily="34" charset="-120"/>
              </a:rPr>
              <a:t>≈ 177 M</a:t>
            </a:r>
            <a:endParaRPr lang="en-US" sz="3200" dirty="0"/>
          </a:p>
        </p:txBody>
      </p:sp>
      <p:sp>
        <p:nvSpPr>
          <p:cNvPr id="11" name="Text 8"/>
          <p:cNvSpPr/>
          <p:nvPr/>
        </p:nvSpPr>
        <p:spPr>
          <a:xfrm>
            <a:off x="640080" y="2560320"/>
            <a:ext cx="3657600" cy="68580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input tokens (709 MB ÷ ~4 bytes per token, an estimate), and again for every new question or new day of logs.</a:t>
            </a:r>
            <a:endParaRPr lang="en-US" sz="1100" dirty="0"/>
          </a:p>
        </p:txBody>
      </p:sp>
      <p:sp>
        <p:nvSpPr>
          <p:cNvPr id="12" name="Text 9"/>
          <p:cNvSpPr/>
          <p:nvPr/>
        </p:nvSpPr>
        <p:spPr>
          <a:xfrm>
            <a:off x="640080" y="3291840"/>
            <a:ext cx="3657600" cy="274320"/>
          </a:xfrm>
          <a:prstGeom prst="rect">
            <a:avLst/>
          </a:prstGeom>
          <a:noFill/>
          <a:ln/>
        </p:spPr>
        <p:txBody>
          <a:bodyPr wrap="square" lIns="0" tIns="0" rIns="0" bIns="0" rtlCol="0" anchor="ctr"/>
          <a:lstStyle/>
          <a:p>
            <a:pPr indent="0" marL="0">
              <a:buNone/>
            </a:pPr>
            <a:r>
              <a:rPr lang="en-US" sz="1200" b="1" dirty="0">
                <a:solidFill>
                  <a:srgbClr val="11121D"/>
                </a:solidFill>
                <a:latin typeface="Avenir Next" pitchFamily="34" charset="0"/>
                <a:ea typeface="Avenir Next" pitchFamily="34" charset="-122"/>
                <a:cs typeface="Avenir Next" pitchFamily="34" charset="-120"/>
              </a:rPr>
              <a:t>Jev on the 1,126 kinds of message</a:t>
            </a:r>
            <a:endParaRPr lang="en-US" sz="1200" dirty="0"/>
          </a:p>
        </p:txBody>
      </p:sp>
      <p:sp>
        <p:nvSpPr>
          <p:cNvPr id="13" name="Text 10"/>
          <p:cNvSpPr/>
          <p:nvPr/>
        </p:nvSpPr>
        <p:spPr>
          <a:xfrm>
            <a:off x="640080" y="3584448"/>
            <a:ext cx="3657600" cy="548640"/>
          </a:xfrm>
          <a:prstGeom prst="rect">
            <a:avLst/>
          </a:prstGeom>
          <a:noFill/>
          <a:ln/>
        </p:spPr>
        <p:txBody>
          <a:bodyPr wrap="square" lIns="0" tIns="0" rIns="0" bIns="0" rtlCol="0" anchor="t"/>
          <a:lstStyle/>
          <a:p>
            <a:pPr indent="0" marL="0">
              <a:buNone/>
            </a:pPr>
            <a:r>
              <a:rPr lang="en-US" sz="1200" b="1" dirty="0">
                <a:solidFill>
                  <a:srgbClr val="15803D"/>
                </a:solidFill>
                <a:latin typeface="Avenir Next" pitchFamily="34" charset="0"/>
                <a:ea typeface="Avenir Next" pitchFamily="34" charset="-122"/>
                <a:cs typeface="Avenir Next" pitchFamily="34" charset="-120"/>
              </a:rPr>
              <a:t>≈ 0.5 M tokens · 20 s · ≈ $0.02</a:t>
            </a:r>
            <a:pPr indent="0" marL="0">
              <a:buNone/>
            </a:pPr>
            <a:r>
              <a:rPr lang="en-US" sz="1200" dirty="0">
                <a:solidFill>
                  <a:srgbClr val="3A3F55"/>
                </a:solidFill>
                <a:latin typeface="Avenir Next" pitchFamily="34" charset="0"/>
                <a:ea typeface="Avenir Next" pitchFamily="34" charset="-122"/>
                <a:cs typeface="Avenir Next" pitchFamily="34" charset="-120"/>
              </a:rPr>
              <a:t>  once, stored, reused by every answer</a:t>
            </a:r>
            <a:endParaRPr lang="en-US" sz="1200" dirty="0"/>
          </a:p>
        </p:txBody>
      </p:sp>
      <p:sp>
        <p:nvSpPr>
          <p:cNvPr id="14" name="Shape 11"/>
          <p:cNvSpPr/>
          <p:nvPr/>
        </p:nvSpPr>
        <p:spPr>
          <a:xfrm>
            <a:off x="4754880" y="1554480"/>
            <a:ext cx="3931920" cy="667512"/>
          </a:xfrm>
          <a:prstGeom prst="roundRect">
            <a:avLst>
              <a:gd name="adj" fmla="val 19178"/>
            </a:avLst>
          </a:prstGeom>
          <a:solidFill>
            <a:srgbClr val="F1ECFD"/>
          </a:solidFill>
          <a:ln/>
        </p:spPr>
      </p:sp>
      <p:sp>
        <p:nvSpPr>
          <p:cNvPr id="15" name="Text 12"/>
          <p:cNvSpPr/>
          <p:nvPr/>
        </p:nvSpPr>
        <p:spPr>
          <a:xfrm>
            <a:off x="4937760" y="1554480"/>
            <a:ext cx="3611880" cy="667512"/>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Measured, not decorative</a:t>
            </a:r>
            <a:endParaRPr lang="en-US" sz="1050" dirty="0"/>
          </a:p>
          <a:p>
            <a:pPr indent="0" marL="0">
              <a:buNone/>
            </a:pPr>
            <a:r>
              <a:rPr lang="en-US" sz="1050" dirty="0">
                <a:solidFill>
                  <a:srgbClr val="3A3F55"/>
                </a:solidFill>
                <a:latin typeface="Avenir Next" pitchFamily="34" charset="0"/>
                <a:ea typeface="Avenir Next" pitchFamily="34" charset="-122"/>
                <a:cs typeface="Avenir Next" pitchFamily="34" charset="-120"/>
              </a:rPr>
              <a:t>Real alerts in the priority top 10: 1 → 5 after Jev's judgment.</a:t>
            </a:r>
            <a:endParaRPr lang="en-US" sz="1050" dirty="0"/>
          </a:p>
        </p:txBody>
      </p:sp>
      <p:sp>
        <p:nvSpPr>
          <p:cNvPr id="16" name="Shape 13"/>
          <p:cNvSpPr/>
          <p:nvPr/>
        </p:nvSpPr>
        <p:spPr>
          <a:xfrm>
            <a:off x="4754880" y="2313432"/>
            <a:ext cx="3931920" cy="667512"/>
          </a:xfrm>
          <a:prstGeom prst="roundRect">
            <a:avLst>
              <a:gd name="adj" fmla="val 19178"/>
            </a:avLst>
          </a:prstGeom>
          <a:solidFill>
            <a:srgbClr val="F0F2F5"/>
          </a:solidFill>
          <a:ln/>
        </p:spPr>
      </p:sp>
      <p:sp>
        <p:nvSpPr>
          <p:cNvPr id="17" name="Text 14"/>
          <p:cNvSpPr/>
          <p:nvPr/>
        </p:nvSpPr>
        <p:spPr>
          <a:xfrm>
            <a:off x="4937760" y="2313432"/>
            <a:ext cx="3611880" cy="667512"/>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No model at question time</a:t>
            </a:r>
            <a:endParaRPr lang="en-US" sz="1050" dirty="0"/>
          </a:p>
          <a:p>
            <a:pPr indent="0" marL="0">
              <a:buNone/>
            </a:pPr>
            <a:r>
              <a:rPr lang="en-US" sz="1050" dirty="0">
                <a:solidFill>
                  <a:srgbClr val="3A3F55"/>
                </a:solidFill>
                <a:latin typeface="Avenir Next" pitchFamily="34" charset="0"/>
                <a:ea typeface="Avenir Next" pitchFamily="34" charset="-122"/>
                <a:cs typeface="Avenir Next" pitchFamily="34" charset="-120"/>
              </a:rPr>
              <a:t>Tools read the stored judgments, so answering needs no extra classification calls.</a:t>
            </a:r>
            <a:endParaRPr lang="en-US" sz="1050" dirty="0"/>
          </a:p>
        </p:txBody>
      </p:sp>
      <p:sp>
        <p:nvSpPr>
          <p:cNvPr id="18" name="Shape 15"/>
          <p:cNvSpPr/>
          <p:nvPr/>
        </p:nvSpPr>
        <p:spPr>
          <a:xfrm>
            <a:off x="4754880" y="3072384"/>
            <a:ext cx="3931920" cy="667512"/>
          </a:xfrm>
          <a:prstGeom prst="roundRect">
            <a:avLst>
              <a:gd name="adj" fmla="val 19178"/>
            </a:avLst>
          </a:prstGeom>
          <a:solidFill>
            <a:srgbClr val="F1ECFD"/>
          </a:solidFill>
          <a:ln/>
        </p:spPr>
      </p:sp>
      <p:sp>
        <p:nvSpPr>
          <p:cNvPr id="19" name="Text 16"/>
          <p:cNvSpPr/>
          <p:nvPr/>
        </p:nvSpPr>
        <p:spPr>
          <a:xfrm>
            <a:off x="4937760" y="3072384"/>
            <a:ext cx="3611880" cy="667512"/>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Probabilities, not vibes</a:t>
            </a:r>
            <a:endParaRPr lang="en-US" sz="1050" dirty="0"/>
          </a:p>
          <a:p>
            <a:pPr indent="0" marL="0">
              <a:buNone/>
            </a:pPr>
            <a:r>
              <a:rPr lang="en-US" sz="1050" dirty="0">
                <a:solidFill>
                  <a:srgbClr val="3A3F55"/>
                </a:solidFill>
                <a:latin typeface="Avenir Next" pitchFamily="34" charset="0"/>
                <a:ea typeface="Avenir Next" pitchFamily="34" charset="-122"/>
                <a:cs typeface="Avenir Next" pitchFamily="34" charset="-120"/>
              </a:rPr>
              <a:t>Each judgment and each fact's support is a calibrated probability, never self-reported confidence.</a:t>
            </a:r>
            <a:endParaRPr lang="en-US" sz="1050" dirty="0"/>
          </a:p>
        </p:txBody>
      </p:sp>
      <p:sp>
        <p:nvSpPr>
          <p:cNvPr id="20" name="Shape 17"/>
          <p:cNvSpPr/>
          <p:nvPr/>
        </p:nvSpPr>
        <p:spPr>
          <a:xfrm>
            <a:off x="4754880" y="3831336"/>
            <a:ext cx="3931920" cy="667512"/>
          </a:xfrm>
          <a:prstGeom prst="roundRect">
            <a:avLst>
              <a:gd name="adj" fmla="val 19178"/>
            </a:avLst>
          </a:prstGeom>
          <a:solidFill>
            <a:srgbClr val="F0F2F5"/>
          </a:solidFill>
          <a:ln/>
        </p:spPr>
      </p:sp>
      <p:sp>
        <p:nvSpPr>
          <p:cNvPr id="21" name="Text 18"/>
          <p:cNvSpPr/>
          <p:nvPr/>
        </p:nvSpPr>
        <p:spPr>
          <a:xfrm>
            <a:off x="4937760" y="3831336"/>
            <a:ext cx="3611880" cy="667512"/>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Pennies per answer</a:t>
            </a:r>
            <a:endParaRPr lang="en-US" sz="1050" dirty="0"/>
          </a:p>
          <a:p>
            <a:pPr indent="0" marL="0">
              <a:buNone/>
            </a:pPr>
            <a:r>
              <a:rPr lang="en-US" sz="1050" dirty="0">
                <a:solidFill>
                  <a:srgbClr val="3A3F55"/>
                </a:solidFill>
                <a:latin typeface="Avenir Next" pitchFamily="34" charset="0"/>
                <a:ea typeface="Avenir Next" pitchFamily="34" charset="-122"/>
                <a:cs typeface="Avenir Next" pitchFamily="34" charset="-120"/>
              </a:rPr>
              <a:t>Claude Code + our server: about $0.07 per answer in the pilot.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Performance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10</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PERFORMANCE</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Built on SereneDB's search-analytics engine</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Every feature below is used by a tool, and every number is measured on the base corpus.</a:t>
            </a:r>
            <a:endParaRPr lang="en-US" sz="1250" dirty="0"/>
          </a:p>
        </p:txBody>
      </p:sp>
      <p:sp>
        <p:nvSpPr>
          <p:cNvPr id="8" name="Shape 5"/>
          <p:cNvSpPr/>
          <p:nvPr/>
        </p:nvSpPr>
        <p:spPr>
          <a:xfrm>
            <a:off x="457200" y="1508760"/>
            <a:ext cx="4069080" cy="896112"/>
          </a:xfrm>
          <a:prstGeom prst="roundRect">
            <a:avLst>
              <a:gd name="adj" fmla="val 14286"/>
            </a:avLst>
          </a:prstGeom>
          <a:solidFill>
            <a:srgbClr val="FFFFFF"/>
          </a:solidFill>
          <a:ln w="12700">
            <a:solidFill>
              <a:srgbClr val="E3E6EC"/>
            </a:solidFill>
            <a:prstDash val="solid"/>
          </a:ln>
        </p:spPr>
      </p:sp>
      <p:sp>
        <p:nvSpPr>
          <p:cNvPr id="9" name="Text 6"/>
          <p:cNvSpPr/>
          <p:nvPr/>
        </p:nvSpPr>
        <p:spPr>
          <a:xfrm>
            <a:off x="640080" y="1508760"/>
            <a:ext cx="2240280" cy="896112"/>
          </a:xfrm>
          <a:prstGeom prst="rect">
            <a:avLst/>
          </a:prstGeom>
          <a:noFill/>
          <a:ln/>
        </p:spPr>
        <p:txBody>
          <a:bodyPr wrap="square" lIns="0" tIns="0" rIns="0" bIns="0" rtlCol="0" anchor="ctr"/>
          <a:lstStyle/>
          <a:p>
            <a:pPr indent="0" marL="0">
              <a:buNone/>
            </a:pPr>
            <a:r>
              <a:rPr lang="en-US" sz="1050" b="1" dirty="0">
                <a:solidFill>
                  <a:srgbClr val="11121D"/>
                </a:solidFill>
                <a:latin typeface="Avenir Next" pitchFamily="34" charset="0"/>
                <a:ea typeface="Avenir Next" pitchFamily="34" charset="-122"/>
                <a:cs typeface="Avenir Next" pitchFamily="34" charset="-120"/>
              </a:rPr>
              <a:t>Inverted index + BM25</a:t>
            </a:r>
            <a:endParaRPr lang="en-US" sz="1050" dirty="0"/>
          </a:p>
          <a:p>
            <a:pPr indent="0" marL="0">
              <a:buNone/>
            </a:pPr>
            <a:r>
              <a:rPr lang="en-US" sz="1050" dirty="0">
                <a:solidFill>
                  <a:srgbClr val="6B7386"/>
                </a:solidFill>
                <a:latin typeface="Avenir Next" pitchFamily="34" charset="0"/>
                <a:ea typeface="Avenir Next" pitchFamily="34" charset="-122"/>
                <a:cs typeface="Avenir Next" pitchFamily="34" charset="-120"/>
              </a:rPr>
              <a:t>full-text, phrase, fuzzy, top-k</a:t>
            </a:r>
            <a:endParaRPr lang="en-US" sz="1050" dirty="0"/>
          </a:p>
        </p:txBody>
      </p:sp>
      <p:sp>
        <p:nvSpPr>
          <p:cNvPr id="10" name="Text 7"/>
          <p:cNvSpPr/>
          <p:nvPr/>
        </p:nvSpPr>
        <p:spPr>
          <a:xfrm>
            <a:off x="2926080" y="1508760"/>
            <a:ext cx="1508760" cy="896112"/>
          </a:xfrm>
          <a:prstGeom prst="rect">
            <a:avLst/>
          </a:prstGeom>
          <a:noFill/>
          <a:ln/>
        </p:spPr>
        <p:txBody>
          <a:bodyPr wrap="square" lIns="0" tIns="0" rIns="0" bIns="0" rtlCol="0" anchor="ctr"/>
          <a:lstStyle/>
          <a:p>
            <a:pPr indent="0" marL="0">
              <a:buNone/>
            </a:pPr>
            <a:r>
              <a:rPr lang="en-US" sz="2000" b="1" dirty="0">
                <a:solidFill>
                  <a:srgbClr val="6A4BD8"/>
                </a:solidFill>
                <a:latin typeface="Avenir Next" pitchFamily="34" charset="0"/>
                <a:ea typeface="Avenir Next" pitchFamily="34" charset="-122"/>
                <a:cs typeface="Avenir Next" pitchFamily="34" charset="-120"/>
              </a:rPr>
              <a:t>7 ms</a:t>
            </a:r>
            <a:endParaRPr lang="en-US" sz="2000" dirty="0"/>
          </a:p>
          <a:p>
            <a:pPr indent="0" marL="0">
              <a:buNone/>
            </a:pPr>
            <a:r>
              <a:rPr lang="en-US" sz="900" dirty="0">
                <a:solidFill>
                  <a:srgbClr val="3A3F55"/>
                </a:solidFill>
                <a:latin typeface="Avenir Next" pitchFamily="34" charset="0"/>
                <a:ea typeface="Avenir Next" pitchFamily="34" charset="-122"/>
                <a:cs typeface="Avenir Next" pitchFamily="34" charset="-120"/>
              </a:rPr>
              <a:t>count over 4.7 M lines</a:t>
            </a:r>
            <a:endParaRPr lang="en-US" sz="2000" dirty="0"/>
          </a:p>
        </p:txBody>
      </p:sp>
      <p:sp>
        <p:nvSpPr>
          <p:cNvPr id="11" name="Shape 8"/>
          <p:cNvSpPr/>
          <p:nvPr/>
        </p:nvSpPr>
        <p:spPr>
          <a:xfrm>
            <a:off x="4617720" y="1508760"/>
            <a:ext cx="4069080" cy="896112"/>
          </a:xfrm>
          <a:prstGeom prst="roundRect">
            <a:avLst>
              <a:gd name="adj" fmla="val 14286"/>
            </a:avLst>
          </a:prstGeom>
          <a:solidFill>
            <a:srgbClr val="F0F2F5"/>
          </a:solidFill>
          <a:ln/>
        </p:spPr>
      </p:sp>
      <p:sp>
        <p:nvSpPr>
          <p:cNvPr id="12" name="Text 9"/>
          <p:cNvSpPr/>
          <p:nvPr/>
        </p:nvSpPr>
        <p:spPr>
          <a:xfrm>
            <a:off x="4800600" y="1508760"/>
            <a:ext cx="2240280" cy="896112"/>
          </a:xfrm>
          <a:prstGeom prst="rect">
            <a:avLst/>
          </a:prstGeom>
          <a:noFill/>
          <a:ln/>
        </p:spPr>
        <p:txBody>
          <a:bodyPr wrap="square" lIns="0" tIns="0" rIns="0" bIns="0" rtlCol="0" anchor="ctr"/>
          <a:lstStyle/>
          <a:p>
            <a:pPr indent="0" marL="0">
              <a:buNone/>
            </a:pPr>
            <a:r>
              <a:rPr lang="en-US" sz="1050" b="1" dirty="0">
                <a:solidFill>
                  <a:srgbClr val="11121D"/>
                </a:solidFill>
                <a:latin typeface="Avenir Next" pitchFamily="34" charset="0"/>
                <a:ea typeface="Avenir Next" pitchFamily="34" charset="-122"/>
                <a:cs typeface="Avenir Next" pitchFamily="34" charset="-120"/>
              </a:rPr>
              <a:t>Counts from the term dictionary</a:t>
            </a:r>
            <a:endParaRPr lang="en-US" sz="1050" dirty="0"/>
          </a:p>
          <a:p>
            <a:pPr indent="0" marL="0">
              <a:buNone/>
            </a:pPr>
            <a:r>
              <a:rPr lang="en-US" sz="1050" dirty="0">
                <a:solidFill>
                  <a:srgbClr val="6B7386"/>
                </a:solidFill>
                <a:latin typeface="Avenir Next" pitchFamily="34" charset="0"/>
                <a:ea typeface="Avenir Next" pitchFamily="34" charset="-122"/>
                <a:cs typeface="Avenir Next" pitchFamily="34" charset="-120"/>
              </a:rPr>
              <a:t>group-bys without scanning rows</a:t>
            </a:r>
            <a:endParaRPr lang="en-US" sz="1050" dirty="0"/>
          </a:p>
        </p:txBody>
      </p:sp>
      <p:sp>
        <p:nvSpPr>
          <p:cNvPr id="13" name="Text 10"/>
          <p:cNvSpPr/>
          <p:nvPr/>
        </p:nvSpPr>
        <p:spPr>
          <a:xfrm>
            <a:off x="7086600" y="1508760"/>
            <a:ext cx="1508760" cy="896112"/>
          </a:xfrm>
          <a:prstGeom prst="rect">
            <a:avLst/>
          </a:prstGeom>
          <a:noFill/>
          <a:ln/>
        </p:spPr>
        <p:txBody>
          <a:bodyPr wrap="square" lIns="0" tIns="0" rIns="0" bIns="0" rtlCol="0" anchor="ctr"/>
          <a:lstStyle/>
          <a:p>
            <a:pPr indent="0" marL="0">
              <a:buNone/>
            </a:pPr>
            <a:r>
              <a:rPr lang="en-US" sz="2000" b="1" dirty="0">
                <a:solidFill>
                  <a:srgbClr val="6A4BD8"/>
                </a:solidFill>
                <a:latin typeface="Avenir Next" pitchFamily="34" charset="0"/>
                <a:ea typeface="Avenir Next" pitchFamily="34" charset="-122"/>
                <a:cs typeface="Avenir Next" pitchFamily="34" charset="-120"/>
              </a:rPr>
              <a:t>3–39 ms</a:t>
            </a:r>
            <a:endParaRPr lang="en-US" sz="2000" dirty="0"/>
          </a:p>
          <a:p>
            <a:pPr indent="0" marL="0">
              <a:buNone/>
            </a:pPr>
            <a:r>
              <a:rPr lang="en-US" sz="900" dirty="0">
                <a:solidFill>
                  <a:srgbClr val="3A3F55"/>
                </a:solidFill>
                <a:latin typeface="Avenir Next" pitchFamily="34" charset="0"/>
                <a:ea typeface="Avenir Next" pitchFamily="34" charset="-122"/>
                <a:cs typeface="Avenir Next" pitchFamily="34" charset="-120"/>
              </a:rPr>
              <a:t>whole-corpus breakdowns</a:t>
            </a:r>
            <a:endParaRPr lang="en-US" sz="2000" dirty="0"/>
          </a:p>
        </p:txBody>
      </p:sp>
      <p:sp>
        <p:nvSpPr>
          <p:cNvPr id="14" name="Shape 11"/>
          <p:cNvSpPr/>
          <p:nvPr/>
        </p:nvSpPr>
        <p:spPr>
          <a:xfrm>
            <a:off x="457200" y="2514600"/>
            <a:ext cx="4069080" cy="896112"/>
          </a:xfrm>
          <a:prstGeom prst="roundRect">
            <a:avLst>
              <a:gd name="adj" fmla="val 14286"/>
            </a:avLst>
          </a:prstGeom>
          <a:solidFill>
            <a:srgbClr val="FFFFFF"/>
          </a:solidFill>
          <a:ln w="12700">
            <a:solidFill>
              <a:srgbClr val="E3E6EC"/>
            </a:solidFill>
            <a:prstDash val="solid"/>
          </a:ln>
        </p:spPr>
      </p:sp>
      <p:sp>
        <p:nvSpPr>
          <p:cNvPr id="15" name="Text 12"/>
          <p:cNvSpPr/>
          <p:nvPr/>
        </p:nvSpPr>
        <p:spPr>
          <a:xfrm>
            <a:off x="640080" y="2514600"/>
            <a:ext cx="2240280" cy="896112"/>
          </a:xfrm>
          <a:prstGeom prst="rect">
            <a:avLst/>
          </a:prstGeom>
          <a:noFill/>
          <a:ln/>
        </p:spPr>
        <p:txBody>
          <a:bodyPr wrap="square" lIns="0" tIns="0" rIns="0" bIns="0" rtlCol="0" anchor="ctr"/>
          <a:lstStyle/>
          <a:p>
            <a:pPr indent="0" marL="0">
              <a:buNone/>
            </a:pPr>
            <a:r>
              <a:rPr lang="en-US" sz="1050" b="1" dirty="0">
                <a:solidFill>
                  <a:srgbClr val="11121D"/>
                </a:solidFill>
                <a:latin typeface="Avenir Next" pitchFamily="34" charset="0"/>
                <a:ea typeface="Avenir Next" pitchFamily="34" charset="-122"/>
                <a:cs typeface="Avenir Next" pitchFamily="34" charset="-120"/>
              </a:rPr>
              <a:t>SQL-native load</a:t>
            </a:r>
            <a:endParaRPr lang="en-US" sz="1050" dirty="0"/>
          </a:p>
          <a:p>
            <a:pPr indent="0" marL="0">
              <a:buNone/>
            </a:pPr>
            <a:r>
              <a:rPr lang="en-US" sz="1050" dirty="0">
                <a:solidFill>
                  <a:srgbClr val="6B7386"/>
                </a:solidFill>
                <a:latin typeface="Avenir Next" pitchFamily="34" charset="0"/>
                <a:ea typeface="Avenir Next" pitchFamily="34" charset="-122"/>
                <a:cs typeface="Avenir Next" pitchFamily="34" charset="-120"/>
              </a:rPr>
              <a:t>read_csv + regex parse inside SereneDB</a:t>
            </a:r>
            <a:endParaRPr lang="en-US" sz="1050" dirty="0"/>
          </a:p>
        </p:txBody>
      </p:sp>
      <p:sp>
        <p:nvSpPr>
          <p:cNvPr id="16" name="Text 13"/>
          <p:cNvSpPr/>
          <p:nvPr/>
        </p:nvSpPr>
        <p:spPr>
          <a:xfrm>
            <a:off x="2926080" y="2514600"/>
            <a:ext cx="1508760" cy="896112"/>
          </a:xfrm>
          <a:prstGeom prst="rect">
            <a:avLst/>
          </a:prstGeom>
          <a:noFill/>
          <a:ln/>
        </p:spPr>
        <p:txBody>
          <a:bodyPr wrap="square" lIns="0" tIns="0" rIns="0" bIns="0" rtlCol="0" anchor="ctr"/>
          <a:lstStyle/>
          <a:p>
            <a:pPr indent="0" marL="0">
              <a:buNone/>
            </a:pPr>
            <a:r>
              <a:rPr lang="en-US" sz="2000" b="1" dirty="0">
                <a:solidFill>
                  <a:srgbClr val="6A4BD8"/>
                </a:solidFill>
                <a:latin typeface="Avenir Next" pitchFamily="34" charset="0"/>
                <a:ea typeface="Avenir Next" pitchFamily="34" charset="-122"/>
                <a:cs typeface="Avenir Next" pitchFamily="34" charset="-120"/>
              </a:rPr>
              <a:t>18 s</a:t>
            </a:r>
            <a:endParaRPr lang="en-US" sz="2000" dirty="0"/>
          </a:p>
          <a:p>
            <a:pPr indent="0" marL="0">
              <a:buNone/>
            </a:pPr>
            <a:r>
              <a:rPr lang="en-US" sz="900" dirty="0">
                <a:solidFill>
                  <a:srgbClr val="3A3F55"/>
                </a:solidFill>
                <a:latin typeface="Avenir Next" pitchFamily="34" charset="0"/>
                <a:ea typeface="Avenir Next" pitchFamily="34" charset="-122"/>
                <a:cs typeface="Avenir Next" pitchFamily="34" charset="-120"/>
              </a:rPr>
              <a:t>4.7 M BGL lines loaded</a:t>
            </a:r>
            <a:endParaRPr lang="en-US" sz="2000" dirty="0"/>
          </a:p>
        </p:txBody>
      </p:sp>
      <p:sp>
        <p:nvSpPr>
          <p:cNvPr id="17" name="Shape 14"/>
          <p:cNvSpPr/>
          <p:nvPr/>
        </p:nvSpPr>
        <p:spPr>
          <a:xfrm>
            <a:off x="4617720" y="2514600"/>
            <a:ext cx="4069080" cy="896112"/>
          </a:xfrm>
          <a:prstGeom prst="roundRect">
            <a:avLst>
              <a:gd name="adj" fmla="val 14286"/>
            </a:avLst>
          </a:prstGeom>
          <a:solidFill>
            <a:srgbClr val="F0F2F5"/>
          </a:solidFill>
          <a:ln/>
        </p:spPr>
      </p:sp>
      <p:sp>
        <p:nvSpPr>
          <p:cNvPr id="18" name="Text 15"/>
          <p:cNvSpPr/>
          <p:nvPr/>
        </p:nvSpPr>
        <p:spPr>
          <a:xfrm>
            <a:off x="4800600" y="2514600"/>
            <a:ext cx="2240280" cy="896112"/>
          </a:xfrm>
          <a:prstGeom prst="rect">
            <a:avLst/>
          </a:prstGeom>
          <a:noFill/>
          <a:ln/>
        </p:spPr>
        <p:txBody>
          <a:bodyPr wrap="square" lIns="0" tIns="0" rIns="0" bIns="0" rtlCol="0" anchor="ctr"/>
          <a:lstStyle/>
          <a:p>
            <a:pPr indent="0" marL="0">
              <a:buNone/>
            </a:pPr>
            <a:r>
              <a:rPr lang="en-US" sz="1050" b="1" dirty="0">
                <a:solidFill>
                  <a:srgbClr val="11121D"/>
                </a:solidFill>
                <a:latin typeface="Avenir Next" pitchFamily="34" charset="0"/>
                <a:ea typeface="Avenir Next" pitchFamily="34" charset="-122"/>
                <a:cs typeface="Avenir Next" pitchFamily="34" charset="-120"/>
              </a:rPr>
              <a:t>ASOF join · ROLLUP · PIVOT</a:t>
            </a:r>
            <a:endParaRPr lang="en-US" sz="1050" dirty="0"/>
          </a:p>
          <a:p>
            <a:pPr indent="0" marL="0">
              <a:buNone/>
            </a:pPr>
            <a:r>
              <a:rPr lang="en-US" sz="1050" dirty="0">
                <a:solidFill>
                  <a:srgbClr val="6B7386"/>
                </a:solidFill>
                <a:latin typeface="Avenir Next" pitchFamily="34" charset="0"/>
                <a:ea typeface="Avenir Next" pitchFamily="34" charset="-122"/>
                <a:cs typeface="Avenir Next" pitchFamily="34" charset="-120"/>
              </a:rPr>
              <a:t>precursors, subtotals, team × week</a:t>
            </a:r>
            <a:endParaRPr lang="en-US" sz="1050" dirty="0"/>
          </a:p>
        </p:txBody>
      </p:sp>
      <p:sp>
        <p:nvSpPr>
          <p:cNvPr id="19" name="Text 16"/>
          <p:cNvSpPr/>
          <p:nvPr/>
        </p:nvSpPr>
        <p:spPr>
          <a:xfrm>
            <a:off x="7086600" y="2514600"/>
            <a:ext cx="1508760" cy="896112"/>
          </a:xfrm>
          <a:prstGeom prst="rect">
            <a:avLst/>
          </a:prstGeom>
          <a:noFill/>
          <a:ln/>
        </p:spPr>
        <p:txBody>
          <a:bodyPr wrap="square" lIns="0" tIns="0" rIns="0" bIns="0" rtlCol="0" anchor="ctr"/>
          <a:lstStyle/>
          <a:p>
            <a:pPr indent="0" marL="0">
              <a:buNone/>
            </a:pPr>
            <a:r>
              <a:rPr lang="en-US" sz="2000" b="1" dirty="0">
                <a:solidFill>
                  <a:srgbClr val="6A4BD8"/>
                </a:solidFill>
                <a:latin typeface="Avenir Next" pitchFamily="34" charset="0"/>
                <a:ea typeface="Avenir Next" pitchFamily="34" charset="-122"/>
                <a:cs typeface="Avenir Next" pitchFamily="34" charset="-120"/>
              </a:rPr>
              <a:t>&lt; 100 ms</a:t>
            </a:r>
            <a:endParaRPr lang="en-US" sz="2000" dirty="0"/>
          </a:p>
          <a:p>
            <a:pPr indent="0" marL="0">
              <a:buNone/>
            </a:pPr>
            <a:r>
              <a:rPr lang="en-US" sz="900" dirty="0">
                <a:solidFill>
                  <a:srgbClr val="3A3F55"/>
                </a:solidFill>
                <a:latin typeface="Avenir Next" pitchFamily="34" charset="0"/>
                <a:ea typeface="Avenir Next" pitchFamily="34" charset="-122"/>
                <a:cs typeface="Avenir Next" pitchFamily="34" charset="-120"/>
              </a:rPr>
              <a:t>per analytics tool</a:t>
            </a:r>
            <a:endParaRPr lang="en-US" sz="2000" dirty="0"/>
          </a:p>
        </p:txBody>
      </p:sp>
      <p:sp>
        <p:nvSpPr>
          <p:cNvPr id="20" name="Shape 17"/>
          <p:cNvSpPr/>
          <p:nvPr/>
        </p:nvSpPr>
        <p:spPr>
          <a:xfrm>
            <a:off x="457200" y="3520440"/>
            <a:ext cx="4069080" cy="896112"/>
          </a:xfrm>
          <a:prstGeom prst="roundRect">
            <a:avLst>
              <a:gd name="adj" fmla="val 14286"/>
            </a:avLst>
          </a:prstGeom>
          <a:solidFill>
            <a:srgbClr val="FFFFFF"/>
          </a:solidFill>
          <a:ln w="12700">
            <a:solidFill>
              <a:srgbClr val="E3E6EC"/>
            </a:solidFill>
            <a:prstDash val="solid"/>
          </a:ln>
        </p:spPr>
      </p:sp>
      <p:sp>
        <p:nvSpPr>
          <p:cNvPr id="21" name="Text 18"/>
          <p:cNvSpPr/>
          <p:nvPr/>
        </p:nvSpPr>
        <p:spPr>
          <a:xfrm>
            <a:off x="640080" y="3520440"/>
            <a:ext cx="2240280" cy="896112"/>
          </a:xfrm>
          <a:prstGeom prst="rect">
            <a:avLst/>
          </a:prstGeom>
          <a:noFill/>
          <a:ln/>
        </p:spPr>
        <p:txBody>
          <a:bodyPr wrap="square" lIns="0" tIns="0" rIns="0" bIns="0" rtlCol="0" anchor="ctr"/>
          <a:lstStyle/>
          <a:p>
            <a:pPr indent="0" marL="0">
              <a:buNone/>
            </a:pPr>
            <a:r>
              <a:rPr lang="en-US" sz="1050" b="1" dirty="0">
                <a:solidFill>
                  <a:srgbClr val="11121D"/>
                </a:solidFill>
                <a:latin typeface="Avenir Next" pitchFamily="34" charset="0"/>
                <a:ea typeface="Avenir Next" pitchFamily="34" charset="-122"/>
                <a:cs typeface="Avenir Next" pitchFamily="34" charset="-120"/>
              </a:rPr>
              <a:t>Remote Parquet over S3</a:t>
            </a:r>
            <a:endParaRPr lang="en-US" sz="1050" dirty="0"/>
          </a:p>
          <a:p>
            <a:pPr indent="0" marL="0">
              <a:buNone/>
            </a:pPr>
            <a:r>
              <a:rPr lang="en-US" sz="1050" dirty="0">
                <a:solidFill>
                  <a:srgbClr val="6B7386"/>
                </a:solidFill>
                <a:latin typeface="Avenir Next" pitchFamily="34" charset="0"/>
                <a:ea typeface="Avenir Next" pitchFamily="34" charset="-122"/>
                <a:cs typeface="Avenir Next" pitchFamily="34" charset="-120"/>
              </a:rPr>
              <a:t>row-group pruning, read in place</a:t>
            </a:r>
            <a:endParaRPr lang="en-US" sz="1050" dirty="0"/>
          </a:p>
        </p:txBody>
      </p:sp>
      <p:sp>
        <p:nvSpPr>
          <p:cNvPr id="22" name="Text 19"/>
          <p:cNvSpPr/>
          <p:nvPr/>
        </p:nvSpPr>
        <p:spPr>
          <a:xfrm>
            <a:off x="2926080" y="3520440"/>
            <a:ext cx="1508760" cy="896112"/>
          </a:xfrm>
          <a:prstGeom prst="rect">
            <a:avLst/>
          </a:prstGeom>
          <a:noFill/>
          <a:ln/>
        </p:spPr>
        <p:txBody>
          <a:bodyPr wrap="square" lIns="0" tIns="0" rIns="0" bIns="0" rtlCol="0" anchor="ctr"/>
          <a:lstStyle/>
          <a:p>
            <a:pPr indent="0" marL="0">
              <a:buNone/>
            </a:pPr>
            <a:r>
              <a:rPr lang="en-US" sz="2000" b="1" dirty="0">
                <a:solidFill>
                  <a:srgbClr val="6A4BD8"/>
                </a:solidFill>
                <a:latin typeface="Avenir Next" pitchFamily="34" charset="0"/>
                <a:ea typeface="Avenir Next" pitchFamily="34" charset="-122"/>
                <a:cs typeface="Avenir Next" pitchFamily="34" charset="-120"/>
              </a:rPr>
              <a:t>2.8 s</a:t>
            </a:r>
            <a:endParaRPr lang="en-US" sz="2000" dirty="0"/>
          </a:p>
          <a:p>
            <a:pPr indent="0" marL="0">
              <a:buNone/>
            </a:pPr>
            <a:r>
              <a:rPr lang="en-US" sz="900" dirty="0">
                <a:solidFill>
                  <a:srgbClr val="3A3F55"/>
                </a:solidFill>
                <a:latin typeface="Avenir Next" pitchFamily="34" charset="0"/>
                <a:ea typeface="Avenir Next" pitchFamily="34" charset="-122"/>
                <a:cs typeface="Avenir Next" pitchFamily="34" charset="-120"/>
              </a:rPr>
              <a:t>10 of 1,624 row groups</a:t>
            </a:r>
            <a:endParaRPr lang="en-US" sz="2000" dirty="0"/>
          </a:p>
        </p:txBody>
      </p:sp>
      <p:sp>
        <p:nvSpPr>
          <p:cNvPr id="23" name="Shape 20"/>
          <p:cNvSpPr/>
          <p:nvPr/>
        </p:nvSpPr>
        <p:spPr>
          <a:xfrm>
            <a:off x="4617720" y="3520440"/>
            <a:ext cx="4069080" cy="896112"/>
          </a:xfrm>
          <a:prstGeom prst="roundRect">
            <a:avLst>
              <a:gd name="adj" fmla="val 14286"/>
            </a:avLst>
          </a:prstGeom>
          <a:solidFill>
            <a:srgbClr val="F0F2F5"/>
          </a:solidFill>
          <a:ln/>
        </p:spPr>
      </p:sp>
      <p:sp>
        <p:nvSpPr>
          <p:cNvPr id="24" name="Text 21"/>
          <p:cNvSpPr/>
          <p:nvPr/>
        </p:nvSpPr>
        <p:spPr>
          <a:xfrm>
            <a:off x="4800600" y="3520440"/>
            <a:ext cx="2240280" cy="896112"/>
          </a:xfrm>
          <a:prstGeom prst="rect">
            <a:avLst/>
          </a:prstGeom>
          <a:noFill/>
          <a:ln/>
        </p:spPr>
        <p:txBody>
          <a:bodyPr wrap="square" lIns="0" tIns="0" rIns="0" bIns="0" rtlCol="0" anchor="ctr"/>
          <a:lstStyle/>
          <a:p>
            <a:pPr indent="0" marL="0">
              <a:buNone/>
            </a:pPr>
            <a:r>
              <a:rPr lang="en-US" sz="1050" b="1" dirty="0">
                <a:solidFill>
                  <a:srgbClr val="11121D"/>
                </a:solidFill>
                <a:latin typeface="Avenir Next" pitchFamily="34" charset="0"/>
                <a:ea typeface="Avenir Next" pitchFamily="34" charset="-122"/>
                <a:cs typeface="Avenir Next" pitchFamily="34" charset="-120"/>
              </a:rPr>
              <a:t>On-demand index</a:t>
            </a:r>
            <a:endParaRPr lang="en-US" sz="1050" dirty="0"/>
          </a:p>
          <a:p>
            <a:pPr indent="0" marL="0">
              <a:buNone/>
            </a:pPr>
            <a:r>
              <a:rPr lang="en-US" sz="1050" dirty="0">
                <a:solidFill>
                  <a:srgbClr val="6B7386"/>
                </a:solidFill>
                <a:latin typeface="Avenir Next" pitchFamily="34" charset="0"/>
                <a:ea typeface="Avenir Next" pitchFamily="34" charset="-122"/>
                <a:cs typeface="Avenir Next" pitchFamily="34" charset="-120"/>
              </a:rPr>
              <a:t>index a remote slice, search it</a:t>
            </a:r>
            <a:endParaRPr lang="en-US" sz="1050" dirty="0"/>
          </a:p>
        </p:txBody>
      </p:sp>
      <p:sp>
        <p:nvSpPr>
          <p:cNvPr id="25" name="Text 22"/>
          <p:cNvSpPr/>
          <p:nvPr/>
        </p:nvSpPr>
        <p:spPr>
          <a:xfrm>
            <a:off x="7086600" y="3520440"/>
            <a:ext cx="1508760" cy="896112"/>
          </a:xfrm>
          <a:prstGeom prst="rect">
            <a:avLst/>
          </a:prstGeom>
          <a:noFill/>
          <a:ln/>
        </p:spPr>
        <p:txBody>
          <a:bodyPr wrap="square" lIns="0" tIns="0" rIns="0" bIns="0" rtlCol="0" anchor="ctr"/>
          <a:lstStyle/>
          <a:p>
            <a:pPr indent="0" marL="0">
              <a:buNone/>
            </a:pPr>
            <a:r>
              <a:rPr lang="en-US" sz="2000" b="1" dirty="0">
                <a:solidFill>
                  <a:srgbClr val="6A4BD8"/>
                </a:solidFill>
                <a:latin typeface="Avenir Next" pitchFamily="34" charset="0"/>
                <a:ea typeface="Avenir Next" pitchFamily="34" charset="-122"/>
                <a:cs typeface="Avenir Next" pitchFamily="34" charset="-120"/>
              </a:rPr>
              <a:t>0.94 ms</a:t>
            </a:r>
            <a:endParaRPr lang="en-US" sz="2000" dirty="0"/>
          </a:p>
          <a:p>
            <a:pPr indent="0" marL="0">
              <a:buNone/>
            </a:pPr>
            <a:r>
              <a:rPr lang="en-US" sz="900" dirty="0">
                <a:solidFill>
                  <a:srgbClr val="3A3F55"/>
                </a:solidFill>
                <a:latin typeface="Avenir Next" pitchFamily="34" charset="0"/>
                <a:ea typeface="Avenir Next" pitchFamily="34" charset="-122"/>
                <a:cs typeface="Avenir Next" pitchFamily="34" charset="-120"/>
              </a:rPr>
              <a:t>vs 281 ms scan; pays off after 4 searches</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Performance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11</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LOADING</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Loading is where the work happens, once</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“Load the base corpus” or “Load ~/app.log”: every step runs inside SereneDB, so answering later is cheap.</a:t>
            </a:r>
            <a:endParaRPr lang="en-US" sz="1250" dirty="0"/>
          </a:p>
        </p:txBody>
      </p:sp>
      <p:sp>
        <p:nvSpPr>
          <p:cNvPr id="8" name="Shape 5"/>
          <p:cNvSpPr/>
          <p:nvPr/>
        </p:nvSpPr>
        <p:spPr>
          <a:xfrm>
            <a:off x="457200" y="1508760"/>
            <a:ext cx="1298448" cy="2011680"/>
          </a:xfrm>
          <a:prstGeom prst="roundRect">
            <a:avLst>
              <a:gd name="adj" fmla="val 9859"/>
            </a:avLst>
          </a:prstGeom>
          <a:solidFill>
            <a:srgbClr val="F0F2F5"/>
          </a:solidFill>
          <a:ln/>
        </p:spPr>
      </p:sp>
      <p:pic>
        <p:nvPicPr>
          <p:cNvPr id="9" name="Image 1" descr="preencoded.png">    </p:cNvPr>
          <p:cNvPicPr>
            <a:picLocks noChangeAspect="1"/>
          </p:cNvPicPr>
          <p:nvPr/>
        </p:nvPicPr>
        <p:blipFill>
          <a:blip r:embed="rId2"/>
          <a:stretch>
            <a:fillRect/>
          </a:stretch>
        </p:blipFill>
        <p:spPr>
          <a:xfrm>
            <a:off x="603504" y="1664208"/>
            <a:ext cx="384048" cy="384048"/>
          </a:xfrm>
          <a:prstGeom prst="rect">
            <a:avLst/>
          </a:prstGeom>
        </p:spPr>
      </p:pic>
      <p:pic>
        <p:nvPicPr>
          <p:cNvPr id="10" name="Image 2" descr="preencoded.png">    </p:cNvPr>
          <p:cNvPicPr>
            <a:picLocks noChangeAspect="1"/>
          </p:cNvPicPr>
          <p:nvPr/>
        </p:nvPicPr>
        <p:blipFill>
          <a:blip r:embed="rId3"/>
          <a:stretch>
            <a:fillRect/>
          </a:stretch>
        </p:blipFill>
        <p:spPr>
          <a:xfrm>
            <a:off x="703356" y="1764060"/>
            <a:ext cx="184343" cy="184343"/>
          </a:xfrm>
          <a:prstGeom prst="rect">
            <a:avLst/>
          </a:prstGeom>
        </p:spPr>
      </p:pic>
      <p:sp>
        <p:nvSpPr>
          <p:cNvPr id="11" name="Text 6"/>
          <p:cNvSpPr/>
          <p:nvPr/>
        </p:nvSpPr>
        <p:spPr>
          <a:xfrm>
            <a:off x="603504" y="2121408"/>
            <a:ext cx="1097280" cy="274320"/>
          </a:xfrm>
          <a:prstGeom prst="rect">
            <a:avLst/>
          </a:prstGeom>
          <a:noFill/>
          <a:ln/>
        </p:spPr>
        <p:txBody>
          <a:bodyPr wrap="square" lIns="0" tIns="0" rIns="0" bIns="0" rtlCol="0" anchor="ctr"/>
          <a:lstStyle/>
          <a:p>
            <a:pPr indent="0" marL="0">
              <a:buNone/>
            </a:pPr>
            <a:r>
              <a:rPr lang="en-US" sz="1100" b="1" dirty="0">
                <a:solidFill>
                  <a:srgbClr val="11121D"/>
                </a:solidFill>
                <a:latin typeface="Avenir Next" pitchFamily="34" charset="0"/>
                <a:ea typeface="Avenir Next" pitchFamily="34" charset="-122"/>
                <a:cs typeface="Avenir Next" pitchFamily="34" charset="-120"/>
              </a:rPr>
              <a:t>1 · Stream in</a:t>
            </a:r>
            <a:endParaRPr lang="en-US" sz="1100" dirty="0"/>
          </a:p>
        </p:txBody>
      </p:sp>
      <p:sp>
        <p:nvSpPr>
          <p:cNvPr id="12" name="Text 7"/>
          <p:cNvSpPr/>
          <p:nvPr/>
        </p:nvSpPr>
        <p:spPr>
          <a:xfrm>
            <a:off x="603504" y="2395728"/>
            <a:ext cx="1078992" cy="777240"/>
          </a:xfrm>
          <a:prstGeom prst="rect">
            <a:avLst/>
          </a:prstGeom>
          <a:noFill/>
          <a:ln/>
        </p:spPr>
        <p:txBody>
          <a:bodyPr wrap="square" lIns="0" tIns="0" rIns="0" bIns="0" rtlCol="0" anchor="t"/>
          <a:lstStyle/>
          <a:p>
            <a:pPr indent="0" marL="0">
              <a:buNone/>
            </a:pPr>
            <a:r>
              <a:rPr lang="en-US" sz="850" dirty="0">
                <a:solidFill>
                  <a:srgbClr val="3A3F55"/>
                </a:solidFill>
                <a:latin typeface="Avenir Next" pitchFamily="34" charset="0"/>
                <a:ea typeface="Avenir Next" pitchFamily="34" charset="-122"/>
                <a:cs typeface="Avenir Next" pitchFamily="34" charset="-120"/>
              </a:rPr>
              <a:t>COPY FROM STDIN from anywhere on disk, or the brief's Zenodo links</a:t>
            </a:r>
            <a:endParaRPr lang="en-US" sz="850" dirty="0"/>
          </a:p>
        </p:txBody>
      </p:sp>
      <p:sp>
        <p:nvSpPr>
          <p:cNvPr id="13" name="Text 8"/>
          <p:cNvSpPr/>
          <p:nvPr/>
        </p:nvSpPr>
        <p:spPr>
          <a:xfrm>
            <a:off x="603504" y="3182112"/>
            <a:ext cx="1078992" cy="274320"/>
          </a:xfrm>
          <a:prstGeom prst="rect">
            <a:avLst/>
          </a:prstGeom>
          <a:noFill/>
          <a:ln/>
        </p:spPr>
        <p:txBody>
          <a:bodyPr wrap="square" lIns="0" tIns="0" rIns="0" bIns="0" rtlCol="0" anchor="t"/>
          <a:lstStyle/>
          <a:p>
            <a:pPr indent="0" marL="0">
              <a:buNone/>
            </a:pPr>
            <a:r>
              <a:rPr lang="en-US" sz="800" b="1" dirty="0">
                <a:solidFill>
                  <a:srgbClr val="6A4BD8"/>
                </a:solidFill>
                <a:latin typeface="Avenir Next" pitchFamily="34" charset="0"/>
                <a:ea typeface="Avenir Next" pitchFamily="34" charset="-122"/>
                <a:cs typeface="Avenir Next" pitchFamily="34" charset="-120"/>
              </a:rPr>
              <a:t>SereneDB COPY</a:t>
            </a:r>
            <a:endParaRPr lang="en-US" sz="800" dirty="0"/>
          </a:p>
        </p:txBody>
      </p:sp>
      <p:sp>
        <p:nvSpPr>
          <p:cNvPr id="14" name="Shape 9"/>
          <p:cNvSpPr/>
          <p:nvPr/>
        </p:nvSpPr>
        <p:spPr>
          <a:xfrm>
            <a:off x="1847088" y="1508760"/>
            <a:ext cx="1298448" cy="2011680"/>
          </a:xfrm>
          <a:prstGeom prst="roundRect">
            <a:avLst>
              <a:gd name="adj" fmla="val 9859"/>
            </a:avLst>
          </a:prstGeom>
          <a:solidFill>
            <a:srgbClr val="F0F2F5"/>
          </a:solidFill>
          <a:ln/>
        </p:spPr>
      </p:sp>
      <p:pic>
        <p:nvPicPr>
          <p:cNvPr id="15" name="Image 3" descr="preencoded.png">    </p:cNvPr>
          <p:cNvPicPr>
            <a:picLocks noChangeAspect="1"/>
          </p:cNvPicPr>
          <p:nvPr/>
        </p:nvPicPr>
        <p:blipFill>
          <a:blip r:embed="rId4"/>
          <a:stretch>
            <a:fillRect/>
          </a:stretch>
        </p:blipFill>
        <p:spPr>
          <a:xfrm>
            <a:off x="1993392" y="1664208"/>
            <a:ext cx="384048" cy="384048"/>
          </a:xfrm>
          <a:prstGeom prst="rect">
            <a:avLst/>
          </a:prstGeom>
        </p:spPr>
      </p:pic>
      <p:pic>
        <p:nvPicPr>
          <p:cNvPr id="16" name="Image 4" descr="preencoded.png">    </p:cNvPr>
          <p:cNvPicPr>
            <a:picLocks noChangeAspect="1"/>
          </p:cNvPicPr>
          <p:nvPr/>
        </p:nvPicPr>
        <p:blipFill>
          <a:blip r:embed="rId5"/>
          <a:stretch>
            <a:fillRect/>
          </a:stretch>
        </p:blipFill>
        <p:spPr>
          <a:xfrm>
            <a:off x="2093244" y="1764060"/>
            <a:ext cx="184343" cy="184343"/>
          </a:xfrm>
          <a:prstGeom prst="rect">
            <a:avLst/>
          </a:prstGeom>
        </p:spPr>
      </p:pic>
      <p:sp>
        <p:nvSpPr>
          <p:cNvPr id="17" name="Text 10"/>
          <p:cNvSpPr/>
          <p:nvPr/>
        </p:nvSpPr>
        <p:spPr>
          <a:xfrm>
            <a:off x="1993392" y="2121408"/>
            <a:ext cx="1097280" cy="274320"/>
          </a:xfrm>
          <a:prstGeom prst="rect">
            <a:avLst/>
          </a:prstGeom>
          <a:noFill/>
          <a:ln/>
        </p:spPr>
        <p:txBody>
          <a:bodyPr wrap="square" lIns="0" tIns="0" rIns="0" bIns="0" rtlCol="0" anchor="ctr"/>
          <a:lstStyle/>
          <a:p>
            <a:pPr indent="0" marL="0">
              <a:buNone/>
            </a:pPr>
            <a:r>
              <a:rPr lang="en-US" sz="1100" b="1" dirty="0">
                <a:solidFill>
                  <a:srgbClr val="11121D"/>
                </a:solidFill>
                <a:latin typeface="Avenir Next" pitchFamily="34" charset="0"/>
                <a:ea typeface="Avenir Next" pitchFamily="34" charset="-122"/>
                <a:cs typeface="Avenir Next" pitchFamily="34" charset="-120"/>
              </a:rPr>
              <a:t>2 · Detect</a:t>
            </a:r>
            <a:endParaRPr lang="en-US" sz="1100" dirty="0"/>
          </a:p>
        </p:txBody>
      </p:sp>
      <p:sp>
        <p:nvSpPr>
          <p:cNvPr id="18" name="Text 11"/>
          <p:cNvSpPr/>
          <p:nvPr/>
        </p:nvSpPr>
        <p:spPr>
          <a:xfrm>
            <a:off x="1993392" y="2395728"/>
            <a:ext cx="1078992" cy="777240"/>
          </a:xfrm>
          <a:prstGeom prst="rect">
            <a:avLst/>
          </a:prstGeom>
          <a:noFill/>
          <a:ln/>
        </p:spPr>
        <p:txBody>
          <a:bodyPr wrap="square" lIns="0" tIns="0" rIns="0" bIns="0" rtlCol="0" anchor="t"/>
          <a:lstStyle/>
          <a:p>
            <a:pPr indent="0" marL="0">
              <a:buNone/>
            </a:pPr>
            <a:r>
              <a:rPr lang="en-US" sz="850" dirty="0">
                <a:solidFill>
                  <a:srgbClr val="3A3F55"/>
                </a:solidFill>
                <a:latin typeface="Avenir Next" pitchFamily="34" charset="0"/>
                <a:ea typeface="Avenir Next" pitchFamily="34" charset="-122"/>
                <a:cs typeface="Avenir Next" pitchFamily="34" charset="-120"/>
              </a:rPr>
              <a:t>76 lnav formats scored on a 2,000-line sample; loaded only at ≥ 95 %</a:t>
            </a:r>
            <a:endParaRPr lang="en-US" sz="850" dirty="0"/>
          </a:p>
        </p:txBody>
      </p:sp>
      <p:sp>
        <p:nvSpPr>
          <p:cNvPr id="19" name="Text 12"/>
          <p:cNvSpPr/>
          <p:nvPr/>
        </p:nvSpPr>
        <p:spPr>
          <a:xfrm>
            <a:off x="1993392" y="3182112"/>
            <a:ext cx="1078992" cy="274320"/>
          </a:xfrm>
          <a:prstGeom prst="rect">
            <a:avLst/>
          </a:prstGeom>
          <a:noFill/>
          <a:ln/>
        </p:spPr>
        <p:txBody>
          <a:bodyPr wrap="square" lIns="0" tIns="0" rIns="0" bIns="0" rtlCol="0" anchor="t"/>
          <a:lstStyle/>
          <a:p>
            <a:pPr indent="0" marL="0">
              <a:buNone/>
            </a:pPr>
            <a:r>
              <a:rPr lang="en-US" sz="800" b="1" dirty="0">
                <a:solidFill>
                  <a:srgbClr val="6A4BD8"/>
                </a:solidFill>
                <a:latin typeface="Avenir Next" pitchFamily="34" charset="0"/>
                <a:ea typeface="Avenir Next" pitchFamily="34" charset="-122"/>
                <a:cs typeface="Avenir Next" pitchFamily="34" charset="-120"/>
              </a:rPr>
              <a:t>SQL regex scoring</a:t>
            </a:r>
            <a:endParaRPr lang="en-US" sz="800" dirty="0"/>
          </a:p>
        </p:txBody>
      </p:sp>
      <p:sp>
        <p:nvSpPr>
          <p:cNvPr id="20" name="Shape 13"/>
          <p:cNvSpPr/>
          <p:nvPr/>
        </p:nvSpPr>
        <p:spPr>
          <a:xfrm>
            <a:off x="3236976" y="1508760"/>
            <a:ext cx="1298448" cy="2011680"/>
          </a:xfrm>
          <a:prstGeom prst="roundRect">
            <a:avLst>
              <a:gd name="adj" fmla="val 9859"/>
            </a:avLst>
          </a:prstGeom>
          <a:solidFill>
            <a:srgbClr val="F0F2F5"/>
          </a:solidFill>
          <a:ln/>
        </p:spPr>
      </p:sp>
      <p:pic>
        <p:nvPicPr>
          <p:cNvPr id="21" name="Image 5" descr="preencoded.png">    </p:cNvPr>
          <p:cNvPicPr>
            <a:picLocks noChangeAspect="1"/>
          </p:cNvPicPr>
          <p:nvPr/>
        </p:nvPicPr>
        <p:blipFill>
          <a:blip r:embed="rId6"/>
          <a:stretch>
            <a:fillRect/>
          </a:stretch>
        </p:blipFill>
        <p:spPr>
          <a:xfrm>
            <a:off x="3383280" y="1664208"/>
            <a:ext cx="384048" cy="384048"/>
          </a:xfrm>
          <a:prstGeom prst="rect">
            <a:avLst/>
          </a:prstGeom>
        </p:spPr>
      </p:pic>
      <p:pic>
        <p:nvPicPr>
          <p:cNvPr id="22" name="Image 6" descr="preencoded.png">    </p:cNvPr>
          <p:cNvPicPr>
            <a:picLocks noChangeAspect="1"/>
          </p:cNvPicPr>
          <p:nvPr/>
        </p:nvPicPr>
        <p:blipFill>
          <a:blip r:embed="rId7"/>
          <a:stretch>
            <a:fillRect/>
          </a:stretch>
        </p:blipFill>
        <p:spPr>
          <a:xfrm>
            <a:off x="3483132" y="1764060"/>
            <a:ext cx="184343" cy="184343"/>
          </a:xfrm>
          <a:prstGeom prst="rect">
            <a:avLst/>
          </a:prstGeom>
        </p:spPr>
      </p:pic>
      <p:sp>
        <p:nvSpPr>
          <p:cNvPr id="23" name="Text 14"/>
          <p:cNvSpPr/>
          <p:nvPr/>
        </p:nvSpPr>
        <p:spPr>
          <a:xfrm>
            <a:off x="3383280" y="2121408"/>
            <a:ext cx="1097280" cy="274320"/>
          </a:xfrm>
          <a:prstGeom prst="rect">
            <a:avLst/>
          </a:prstGeom>
          <a:noFill/>
          <a:ln/>
        </p:spPr>
        <p:txBody>
          <a:bodyPr wrap="square" lIns="0" tIns="0" rIns="0" bIns="0" rtlCol="0" anchor="ctr"/>
          <a:lstStyle/>
          <a:p>
            <a:pPr indent="0" marL="0">
              <a:buNone/>
            </a:pPr>
            <a:r>
              <a:rPr lang="en-US" sz="1100" b="1" dirty="0">
                <a:solidFill>
                  <a:srgbClr val="11121D"/>
                </a:solidFill>
                <a:latin typeface="Avenir Next" pitchFamily="34" charset="0"/>
                <a:ea typeface="Avenir Next" pitchFamily="34" charset="-122"/>
                <a:cs typeface="Avenir Next" pitchFamily="34" charset="-120"/>
              </a:rPr>
              <a:t>3 · Parse</a:t>
            </a:r>
            <a:endParaRPr lang="en-US" sz="1100" dirty="0"/>
          </a:p>
        </p:txBody>
      </p:sp>
      <p:sp>
        <p:nvSpPr>
          <p:cNvPr id="24" name="Text 15"/>
          <p:cNvSpPr/>
          <p:nvPr/>
        </p:nvSpPr>
        <p:spPr>
          <a:xfrm>
            <a:off x="3383280" y="2395728"/>
            <a:ext cx="1078992" cy="777240"/>
          </a:xfrm>
          <a:prstGeom prst="rect">
            <a:avLst/>
          </a:prstGeom>
          <a:noFill/>
          <a:ln/>
        </p:spPr>
        <p:txBody>
          <a:bodyPr wrap="square" lIns="0" tIns="0" rIns="0" bIns="0" rtlCol="0" anchor="t"/>
          <a:lstStyle/>
          <a:p>
            <a:pPr indent="0" marL="0">
              <a:buNone/>
            </a:pPr>
            <a:r>
              <a:rPr lang="en-US" sz="850" dirty="0">
                <a:solidFill>
                  <a:srgbClr val="3A3F55"/>
                </a:solidFill>
                <a:latin typeface="Avenir Next" pitchFamily="34" charset="0"/>
                <a:ea typeface="Avenir Next" pitchFamily="34" charset="-122"/>
                <a:cs typeface="Avenir Next" pitchFamily="34" charset="-120"/>
              </a:rPr>
              <a:t>regex + strptime into typed columns; ids, IPs, paths extracted</a:t>
            </a:r>
            <a:endParaRPr lang="en-US" sz="850" dirty="0"/>
          </a:p>
        </p:txBody>
      </p:sp>
      <p:sp>
        <p:nvSpPr>
          <p:cNvPr id="25" name="Text 16"/>
          <p:cNvSpPr/>
          <p:nvPr/>
        </p:nvSpPr>
        <p:spPr>
          <a:xfrm>
            <a:off x="3383280" y="3182112"/>
            <a:ext cx="1078992" cy="274320"/>
          </a:xfrm>
          <a:prstGeom prst="rect">
            <a:avLst/>
          </a:prstGeom>
          <a:noFill/>
          <a:ln/>
        </p:spPr>
        <p:txBody>
          <a:bodyPr wrap="square" lIns="0" tIns="0" rIns="0" bIns="0" rtlCol="0" anchor="t"/>
          <a:lstStyle/>
          <a:p>
            <a:pPr indent="0" marL="0">
              <a:buNone/>
            </a:pPr>
            <a:r>
              <a:rPr lang="en-US" sz="800" b="1" dirty="0">
                <a:solidFill>
                  <a:srgbClr val="6A4BD8"/>
                </a:solidFill>
                <a:latin typeface="Avenir Next" pitchFamily="34" charset="0"/>
                <a:ea typeface="Avenir Next" pitchFamily="34" charset="-122"/>
                <a:cs typeface="Avenir Next" pitchFamily="34" charset="-120"/>
              </a:rPr>
              <a:t>read_csv · regexp</a:t>
            </a:r>
            <a:endParaRPr lang="en-US" sz="800" dirty="0"/>
          </a:p>
        </p:txBody>
      </p:sp>
      <p:sp>
        <p:nvSpPr>
          <p:cNvPr id="26" name="Shape 17"/>
          <p:cNvSpPr/>
          <p:nvPr/>
        </p:nvSpPr>
        <p:spPr>
          <a:xfrm>
            <a:off x="4626864" y="1508760"/>
            <a:ext cx="1298448" cy="2011680"/>
          </a:xfrm>
          <a:prstGeom prst="roundRect">
            <a:avLst>
              <a:gd name="adj" fmla="val 9859"/>
            </a:avLst>
          </a:prstGeom>
          <a:solidFill>
            <a:srgbClr val="F0F2F5"/>
          </a:solidFill>
          <a:ln/>
        </p:spPr>
      </p:sp>
      <p:pic>
        <p:nvPicPr>
          <p:cNvPr id="27" name="Image 7" descr="preencoded.png">    </p:cNvPr>
          <p:cNvPicPr>
            <a:picLocks noChangeAspect="1"/>
          </p:cNvPicPr>
          <p:nvPr/>
        </p:nvPicPr>
        <p:blipFill>
          <a:blip r:embed="rId8"/>
          <a:stretch>
            <a:fillRect/>
          </a:stretch>
        </p:blipFill>
        <p:spPr>
          <a:xfrm>
            <a:off x="4773168" y="1664208"/>
            <a:ext cx="384048" cy="384048"/>
          </a:xfrm>
          <a:prstGeom prst="rect">
            <a:avLst/>
          </a:prstGeom>
        </p:spPr>
      </p:pic>
      <p:pic>
        <p:nvPicPr>
          <p:cNvPr id="28" name="Image 8" descr="preencoded.png">    </p:cNvPr>
          <p:cNvPicPr>
            <a:picLocks noChangeAspect="1"/>
          </p:cNvPicPr>
          <p:nvPr/>
        </p:nvPicPr>
        <p:blipFill>
          <a:blip r:embed="rId9"/>
          <a:stretch>
            <a:fillRect/>
          </a:stretch>
        </p:blipFill>
        <p:spPr>
          <a:xfrm>
            <a:off x="4873020" y="1764060"/>
            <a:ext cx="184343" cy="184343"/>
          </a:xfrm>
          <a:prstGeom prst="rect">
            <a:avLst/>
          </a:prstGeom>
        </p:spPr>
      </p:pic>
      <p:sp>
        <p:nvSpPr>
          <p:cNvPr id="29" name="Text 18"/>
          <p:cNvSpPr/>
          <p:nvPr/>
        </p:nvSpPr>
        <p:spPr>
          <a:xfrm>
            <a:off x="4773168" y="2121408"/>
            <a:ext cx="1097280" cy="274320"/>
          </a:xfrm>
          <a:prstGeom prst="rect">
            <a:avLst/>
          </a:prstGeom>
          <a:noFill/>
          <a:ln/>
        </p:spPr>
        <p:txBody>
          <a:bodyPr wrap="square" lIns="0" tIns="0" rIns="0" bIns="0" rtlCol="0" anchor="ctr"/>
          <a:lstStyle/>
          <a:p>
            <a:pPr indent="0" marL="0">
              <a:buNone/>
            </a:pPr>
            <a:r>
              <a:rPr lang="en-US" sz="1100" b="1" dirty="0">
                <a:solidFill>
                  <a:srgbClr val="11121D"/>
                </a:solidFill>
                <a:latin typeface="Avenir Next" pitchFamily="34" charset="0"/>
                <a:ea typeface="Avenir Next" pitchFamily="34" charset="-122"/>
                <a:cs typeface="Avenir Next" pitchFamily="34" charset="-120"/>
              </a:rPr>
              <a:t>4 · Patterns</a:t>
            </a:r>
            <a:endParaRPr lang="en-US" sz="1100" dirty="0"/>
          </a:p>
        </p:txBody>
      </p:sp>
      <p:sp>
        <p:nvSpPr>
          <p:cNvPr id="30" name="Text 19"/>
          <p:cNvSpPr/>
          <p:nvPr/>
        </p:nvSpPr>
        <p:spPr>
          <a:xfrm>
            <a:off x="4773168" y="2395728"/>
            <a:ext cx="1078992" cy="777240"/>
          </a:xfrm>
          <a:prstGeom prst="rect">
            <a:avLst/>
          </a:prstGeom>
          <a:noFill/>
          <a:ln/>
        </p:spPr>
        <p:txBody>
          <a:bodyPr wrap="square" lIns="0" tIns="0" rIns="0" bIns="0" rtlCol="0" anchor="t"/>
          <a:lstStyle/>
          <a:p>
            <a:pPr indent="0" marL="0">
              <a:buNone/>
            </a:pPr>
            <a:r>
              <a:rPr lang="en-US" sz="850" dirty="0">
                <a:solidFill>
                  <a:srgbClr val="3A3F55"/>
                </a:solidFill>
                <a:latin typeface="Avenir Next" pitchFamily="34" charset="0"/>
                <a:ea typeface="Avenir Next" pitchFamily="34" charset="-122"/>
                <a:cs typeface="Avenir Next" pitchFamily="34" charset="-120"/>
              </a:rPr>
              <a:t>numbers / ids masked → 1,126 kinds of message; bursts by window LAG</a:t>
            </a:r>
            <a:endParaRPr lang="en-US" sz="850" dirty="0"/>
          </a:p>
        </p:txBody>
      </p:sp>
      <p:sp>
        <p:nvSpPr>
          <p:cNvPr id="31" name="Text 20"/>
          <p:cNvSpPr/>
          <p:nvPr/>
        </p:nvSpPr>
        <p:spPr>
          <a:xfrm>
            <a:off x="4773168" y="3182112"/>
            <a:ext cx="1078992" cy="274320"/>
          </a:xfrm>
          <a:prstGeom prst="rect">
            <a:avLst/>
          </a:prstGeom>
          <a:noFill/>
          <a:ln/>
        </p:spPr>
        <p:txBody>
          <a:bodyPr wrap="square" lIns="0" tIns="0" rIns="0" bIns="0" rtlCol="0" anchor="t"/>
          <a:lstStyle/>
          <a:p>
            <a:pPr indent="0" marL="0">
              <a:buNone/>
            </a:pPr>
            <a:r>
              <a:rPr lang="en-US" sz="800" b="1" dirty="0">
                <a:solidFill>
                  <a:srgbClr val="6A4BD8"/>
                </a:solidFill>
                <a:latin typeface="Avenir Next" pitchFamily="34" charset="0"/>
                <a:ea typeface="Avenir Next" pitchFamily="34" charset="-122"/>
                <a:cs typeface="Avenir Next" pitchFamily="34" charset="-120"/>
              </a:rPr>
              <a:t>window functions</a:t>
            </a:r>
            <a:endParaRPr lang="en-US" sz="800" dirty="0"/>
          </a:p>
        </p:txBody>
      </p:sp>
      <p:sp>
        <p:nvSpPr>
          <p:cNvPr id="32" name="Shape 21"/>
          <p:cNvSpPr/>
          <p:nvPr/>
        </p:nvSpPr>
        <p:spPr>
          <a:xfrm>
            <a:off x="6016752" y="1508760"/>
            <a:ext cx="1298448" cy="2011680"/>
          </a:xfrm>
          <a:prstGeom prst="roundRect">
            <a:avLst>
              <a:gd name="adj" fmla="val 9859"/>
            </a:avLst>
          </a:prstGeom>
          <a:solidFill>
            <a:srgbClr val="F1ECFD"/>
          </a:solidFill>
          <a:ln/>
        </p:spPr>
      </p:sp>
      <p:pic>
        <p:nvPicPr>
          <p:cNvPr id="33" name="Image 9" descr="preencoded.png">    </p:cNvPr>
          <p:cNvPicPr>
            <a:picLocks noChangeAspect="1"/>
          </p:cNvPicPr>
          <p:nvPr/>
        </p:nvPicPr>
        <p:blipFill>
          <a:blip r:embed="rId10"/>
          <a:stretch>
            <a:fillRect/>
          </a:stretch>
        </p:blipFill>
        <p:spPr>
          <a:xfrm>
            <a:off x="6163056" y="1664208"/>
            <a:ext cx="384048" cy="384048"/>
          </a:xfrm>
          <a:prstGeom prst="rect">
            <a:avLst/>
          </a:prstGeom>
        </p:spPr>
      </p:pic>
      <p:pic>
        <p:nvPicPr>
          <p:cNvPr id="34" name="Image 10" descr="preencoded.png">    </p:cNvPr>
          <p:cNvPicPr>
            <a:picLocks noChangeAspect="1"/>
          </p:cNvPicPr>
          <p:nvPr/>
        </p:nvPicPr>
        <p:blipFill>
          <a:blip r:embed="rId11"/>
          <a:stretch>
            <a:fillRect/>
          </a:stretch>
        </p:blipFill>
        <p:spPr>
          <a:xfrm>
            <a:off x="6262908" y="1764060"/>
            <a:ext cx="184343" cy="184343"/>
          </a:xfrm>
          <a:prstGeom prst="rect">
            <a:avLst/>
          </a:prstGeom>
        </p:spPr>
      </p:pic>
      <p:sp>
        <p:nvSpPr>
          <p:cNvPr id="35" name="Text 22"/>
          <p:cNvSpPr/>
          <p:nvPr/>
        </p:nvSpPr>
        <p:spPr>
          <a:xfrm>
            <a:off x="6163056" y="2121408"/>
            <a:ext cx="1097280" cy="274320"/>
          </a:xfrm>
          <a:prstGeom prst="rect">
            <a:avLst/>
          </a:prstGeom>
          <a:noFill/>
          <a:ln/>
        </p:spPr>
        <p:txBody>
          <a:bodyPr wrap="square" lIns="0" tIns="0" rIns="0" bIns="0" rtlCol="0" anchor="ctr"/>
          <a:lstStyle/>
          <a:p>
            <a:pPr indent="0" marL="0">
              <a:buNone/>
            </a:pPr>
            <a:r>
              <a:rPr lang="en-US" sz="1100" b="1" dirty="0">
                <a:solidFill>
                  <a:srgbClr val="11121D"/>
                </a:solidFill>
                <a:latin typeface="Avenir Next" pitchFamily="34" charset="0"/>
                <a:ea typeface="Avenir Next" pitchFamily="34" charset="-122"/>
                <a:cs typeface="Avenir Next" pitchFamily="34" charset="-120"/>
              </a:rPr>
              <a:t>5 · Jev judges</a:t>
            </a:r>
            <a:endParaRPr lang="en-US" sz="1100" dirty="0"/>
          </a:p>
        </p:txBody>
      </p:sp>
      <p:sp>
        <p:nvSpPr>
          <p:cNvPr id="36" name="Text 23"/>
          <p:cNvSpPr/>
          <p:nvPr/>
        </p:nvSpPr>
        <p:spPr>
          <a:xfrm>
            <a:off x="6163056" y="2395728"/>
            <a:ext cx="1078992" cy="777240"/>
          </a:xfrm>
          <a:prstGeom prst="rect">
            <a:avLst/>
          </a:prstGeom>
          <a:noFill/>
          <a:ln/>
        </p:spPr>
        <p:txBody>
          <a:bodyPr wrap="square" lIns="0" tIns="0" rIns="0" bIns="0" rtlCol="0" anchor="t"/>
          <a:lstStyle/>
          <a:p>
            <a:pPr indent="0" marL="0">
              <a:buNone/>
            </a:pPr>
            <a:r>
              <a:rPr lang="en-US" sz="850" dirty="0">
                <a:solidFill>
                  <a:srgbClr val="3A3F55"/>
                </a:solidFill>
                <a:latin typeface="Avenir Next" pitchFamily="34" charset="0"/>
                <a:ea typeface="Avenir Next" pitchFamily="34" charset="-122"/>
                <a:cs typeface="Avenir Next" pitchFamily="34" charset="-120"/>
              </a:rPr>
              <a:t>real fault or routine? owner area? one call per pattern</a:t>
            </a:r>
            <a:endParaRPr lang="en-US" sz="850" dirty="0"/>
          </a:p>
        </p:txBody>
      </p:sp>
      <p:sp>
        <p:nvSpPr>
          <p:cNvPr id="37" name="Text 24"/>
          <p:cNvSpPr/>
          <p:nvPr/>
        </p:nvSpPr>
        <p:spPr>
          <a:xfrm>
            <a:off x="6163056" y="3182112"/>
            <a:ext cx="1078992" cy="274320"/>
          </a:xfrm>
          <a:prstGeom prst="rect">
            <a:avLst/>
          </a:prstGeom>
          <a:noFill/>
          <a:ln/>
        </p:spPr>
        <p:txBody>
          <a:bodyPr wrap="square" lIns="0" tIns="0" rIns="0" bIns="0" rtlCol="0" anchor="t"/>
          <a:lstStyle/>
          <a:p>
            <a:pPr indent="0" marL="0">
              <a:buNone/>
            </a:pPr>
            <a:r>
              <a:rPr lang="en-US" sz="800" b="1" dirty="0">
                <a:solidFill>
                  <a:srgbClr val="6A4BD8"/>
                </a:solidFill>
                <a:latin typeface="Avenir Next" pitchFamily="34" charset="0"/>
                <a:ea typeface="Avenir Next" pitchFamily="34" charset="-122"/>
                <a:cs typeface="Avenir Next" pitchFamily="34" charset="-120"/>
              </a:rPr>
              <a:t>ai_system_one in SQL</a:t>
            </a:r>
            <a:endParaRPr lang="en-US" sz="800" dirty="0"/>
          </a:p>
        </p:txBody>
      </p:sp>
      <p:sp>
        <p:nvSpPr>
          <p:cNvPr id="38" name="Shape 25"/>
          <p:cNvSpPr/>
          <p:nvPr/>
        </p:nvSpPr>
        <p:spPr>
          <a:xfrm>
            <a:off x="7406640" y="1508760"/>
            <a:ext cx="1298448" cy="2011680"/>
          </a:xfrm>
          <a:prstGeom prst="roundRect">
            <a:avLst>
              <a:gd name="adj" fmla="val 9859"/>
            </a:avLst>
          </a:prstGeom>
          <a:solidFill>
            <a:srgbClr val="F0F2F5"/>
          </a:solidFill>
          <a:ln/>
        </p:spPr>
      </p:sp>
      <p:pic>
        <p:nvPicPr>
          <p:cNvPr id="39" name="Image 11" descr="preencoded.png">    </p:cNvPr>
          <p:cNvPicPr>
            <a:picLocks noChangeAspect="1"/>
          </p:cNvPicPr>
          <p:nvPr/>
        </p:nvPicPr>
        <p:blipFill>
          <a:blip r:embed="rId12"/>
          <a:stretch>
            <a:fillRect/>
          </a:stretch>
        </p:blipFill>
        <p:spPr>
          <a:xfrm>
            <a:off x="7552944" y="1664208"/>
            <a:ext cx="384048" cy="384048"/>
          </a:xfrm>
          <a:prstGeom prst="rect">
            <a:avLst/>
          </a:prstGeom>
        </p:spPr>
      </p:pic>
      <p:pic>
        <p:nvPicPr>
          <p:cNvPr id="40" name="Image 12" descr="preencoded.png">    </p:cNvPr>
          <p:cNvPicPr>
            <a:picLocks noChangeAspect="1"/>
          </p:cNvPicPr>
          <p:nvPr/>
        </p:nvPicPr>
        <p:blipFill>
          <a:blip r:embed="rId13"/>
          <a:stretch>
            <a:fillRect/>
          </a:stretch>
        </p:blipFill>
        <p:spPr>
          <a:xfrm>
            <a:off x="7652796" y="1764060"/>
            <a:ext cx="184343" cy="184343"/>
          </a:xfrm>
          <a:prstGeom prst="rect">
            <a:avLst/>
          </a:prstGeom>
        </p:spPr>
      </p:pic>
      <p:sp>
        <p:nvSpPr>
          <p:cNvPr id="41" name="Text 26"/>
          <p:cNvSpPr/>
          <p:nvPr/>
        </p:nvSpPr>
        <p:spPr>
          <a:xfrm>
            <a:off x="7552944" y="2121408"/>
            <a:ext cx="1097280" cy="274320"/>
          </a:xfrm>
          <a:prstGeom prst="rect">
            <a:avLst/>
          </a:prstGeom>
          <a:noFill/>
          <a:ln/>
        </p:spPr>
        <p:txBody>
          <a:bodyPr wrap="square" lIns="0" tIns="0" rIns="0" bIns="0" rtlCol="0" anchor="ctr"/>
          <a:lstStyle/>
          <a:p>
            <a:pPr indent="0" marL="0">
              <a:buNone/>
            </a:pPr>
            <a:r>
              <a:rPr lang="en-US" sz="1100" b="1" dirty="0">
                <a:solidFill>
                  <a:srgbClr val="11121D"/>
                </a:solidFill>
                <a:latin typeface="Avenir Next" pitchFamily="34" charset="0"/>
                <a:ea typeface="Avenir Next" pitchFamily="34" charset="-122"/>
                <a:cs typeface="Avenir Next" pitchFamily="34" charset="-120"/>
              </a:rPr>
              <a:t>6 · Index</a:t>
            </a:r>
            <a:endParaRPr lang="en-US" sz="1100" dirty="0"/>
          </a:p>
        </p:txBody>
      </p:sp>
      <p:sp>
        <p:nvSpPr>
          <p:cNvPr id="42" name="Text 27"/>
          <p:cNvSpPr/>
          <p:nvPr/>
        </p:nvSpPr>
        <p:spPr>
          <a:xfrm>
            <a:off x="7552944" y="2395728"/>
            <a:ext cx="1078992" cy="777240"/>
          </a:xfrm>
          <a:prstGeom prst="rect">
            <a:avLst/>
          </a:prstGeom>
          <a:noFill/>
          <a:ln/>
        </p:spPr>
        <p:txBody>
          <a:bodyPr wrap="square" lIns="0" tIns="0" rIns="0" bIns="0" rtlCol="0" anchor="t"/>
          <a:lstStyle/>
          <a:p>
            <a:pPr indent="0" marL="0">
              <a:buNone/>
            </a:pPr>
            <a:r>
              <a:rPr lang="en-US" sz="850" dirty="0">
                <a:solidFill>
                  <a:srgbClr val="3A3F55"/>
                </a:solidFill>
                <a:latin typeface="Avenir Next" pitchFamily="34" charset="0"/>
                <a:ea typeface="Avenir Next" pitchFamily="34" charset="-122"/>
                <a:cs typeface="Avenir Next" pitchFamily="34" charset="-120"/>
              </a:rPr>
              <a:t>one inverted index (BM25, phrase, fuzzy) + time-sorted storage</a:t>
            </a:r>
            <a:endParaRPr lang="en-US" sz="850" dirty="0"/>
          </a:p>
        </p:txBody>
      </p:sp>
      <p:sp>
        <p:nvSpPr>
          <p:cNvPr id="43" name="Text 28"/>
          <p:cNvSpPr/>
          <p:nvPr/>
        </p:nvSpPr>
        <p:spPr>
          <a:xfrm>
            <a:off x="7552944" y="3182112"/>
            <a:ext cx="1078992" cy="274320"/>
          </a:xfrm>
          <a:prstGeom prst="rect">
            <a:avLst/>
          </a:prstGeom>
          <a:noFill/>
          <a:ln/>
        </p:spPr>
        <p:txBody>
          <a:bodyPr wrap="square" lIns="0" tIns="0" rIns="0" bIns="0" rtlCol="0" anchor="t"/>
          <a:lstStyle/>
          <a:p>
            <a:pPr indent="0" marL="0">
              <a:buNone/>
            </a:pPr>
            <a:r>
              <a:rPr lang="en-US" sz="800" b="1" dirty="0">
                <a:solidFill>
                  <a:srgbClr val="6A4BD8"/>
                </a:solidFill>
                <a:latin typeface="Avenir Next" pitchFamily="34" charset="0"/>
                <a:ea typeface="Avenir Next" pitchFamily="34" charset="-122"/>
                <a:cs typeface="Avenir Next" pitchFamily="34" charset="-120"/>
              </a:rPr>
              <a:t>inverted index · zonemaps</a:t>
            </a:r>
            <a:endParaRPr lang="en-US" sz="800" dirty="0"/>
          </a:p>
        </p:txBody>
      </p:sp>
      <p:sp>
        <p:nvSpPr>
          <p:cNvPr id="44" name="Shape 29"/>
          <p:cNvSpPr/>
          <p:nvPr/>
        </p:nvSpPr>
        <p:spPr>
          <a:xfrm>
            <a:off x="457200" y="3657600"/>
            <a:ext cx="1984248" cy="868680"/>
          </a:xfrm>
          <a:prstGeom prst="roundRect">
            <a:avLst>
              <a:gd name="adj" fmla="val 14737"/>
            </a:avLst>
          </a:prstGeom>
          <a:solidFill>
            <a:srgbClr val="FFFFFF"/>
          </a:solidFill>
          <a:ln w="12700">
            <a:solidFill>
              <a:srgbClr val="E3E6EC"/>
            </a:solidFill>
            <a:prstDash val="solid"/>
          </a:ln>
        </p:spPr>
      </p:sp>
      <p:sp>
        <p:nvSpPr>
          <p:cNvPr id="45" name="Text 30"/>
          <p:cNvSpPr/>
          <p:nvPr/>
        </p:nvSpPr>
        <p:spPr>
          <a:xfrm>
            <a:off x="621792" y="3712464"/>
            <a:ext cx="1737360" cy="384048"/>
          </a:xfrm>
          <a:prstGeom prst="rect">
            <a:avLst/>
          </a:prstGeom>
          <a:noFill/>
          <a:ln/>
        </p:spPr>
        <p:txBody>
          <a:bodyPr wrap="square" lIns="0" tIns="0" rIns="0" bIns="0" rtlCol="0" anchor="ctr"/>
          <a:lstStyle/>
          <a:p>
            <a:pPr indent="0" marL="0">
              <a:buNone/>
            </a:pPr>
            <a:r>
              <a:rPr lang="en-US" sz="1800" b="1" dirty="0">
                <a:solidFill>
                  <a:srgbClr val="6A4BD8"/>
                </a:solidFill>
                <a:latin typeface="Avenir Next" pitchFamily="34" charset="0"/>
                <a:ea typeface="Avenir Next" pitchFamily="34" charset="-122"/>
                <a:cs typeface="Avenir Next" pitchFamily="34" charset="-120"/>
              </a:rPr>
              <a:t>72 s</a:t>
            </a:r>
            <a:endParaRPr lang="en-US" sz="1800" dirty="0"/>
          </a:p>
        </p:txBody>
      </p:sp>
      <p:sp>
        <p:nvSpPr>
          <p:cNvPr id="46" name="Text 31"/>
          <p:cNvSpPr/>
          <p:nvPr/>
        </p:nvSpPr>
        <p:spPr>
          <a:xfrm>
            <a:off x="621792" y="4096512"/>
            <a:ext cx="1737360" cy="384048"/>
          </a:xfrm>
          <a:prstGeom prst="rect">
            <a:avLst/>
          </a:prstGeom>
          <a:noFill/>
          <a:ln/>
        </p:spPr>
        <p:txBody>
          <a:bodyPr wrap="square" lIns="0" tIns="0" rIns="0" bIns="0" rtlCol="0" anchor="t"/>
          <a:lstStyle/>
          <a:p>
            <a:pPr indent="0" marL="0">
              <a:buNone/>
            </a:pPr>
            <a:r>
              <a:rPr lang="en-US" sz="900" dirty="0">
                <a:solidFill>
                  <a:srgbClr val="3A3F55"/>
                </a:solidFill>
                <a:latin typeface="Avenir Next" pitchFamily="34" charset="0"/>
                <a:ea typeface="Avenir Next" pitchFamily="34" charset="-122"/>
                <a:cs typeface="Avenir Next" pitchFamily="34" charset="-120"/>
              </a:rPr>
              <a:t>clean clone → BGL + OpenStack ready (5 M lines)</a:t>
            </a:r>
            <a:endParaRPr lang="en-US" sz="900" dirty="0"/>
          </a:p>
        </p:txBody>
      </p:sp>
      <p:sp>
        <p:nvSpPr>
          <p:cNvPr id="47" name="Shape 32"/>
          <p:cNvSpPr/>
          <p:nvPr/>
        </p:nvSpPr>
        <p:spPr>
          <a:xfrm>
            <a:off x="2551176" y="3657600"/>
            <a:ext cx="1984248" cy="868680"/>
          </a:xfrm>
          <a:prstGeom prst="roundRect">
            <a:avLst>
              <a:gd name="adj" fmla="val 14737"/>
            </a:avLst>
          </a:prstGeom>
          <a:solidFill>
            <a:srgbClr val="FFFFFF"/>
          </a:solidFill>
          <a:ln w="12700">
            <a:solidFill>
              <a:srgbClr val="E3E6EC"/>
            </a:solidFill>
            <a:prstDash val="solid"/>
          </a:ln>
        </p:spPr>
      </p:sp>
      <p:sp>
        <p:nvSpPr>
          <p:cNvPr id="48" name="Text 33"/>
          <p:cNvSpPr/>
          <p:nvPr/>
        </p:nvSpPr>
        <p:spPr>
          <a:xfrm>
            <a:off x="2715768" y="3712464"/>
            <a:ext cx="1737360" cy="384048"/>
          </a:xfrm>
          <a:prstGeom prst="rect">
            <a:avLst/>
          </a:prstGeom>
          <a:noFill/>
          <a:ln/>
        </p:spPr>
        <p:txBody>
          <a:bodyPr wrap="square" lIns="0" tIns="0" rIns="0" bIns="0" rtlCol="0" anchor="ctr"/>
          <a:lstStyle/>
          <a:p>
            <a:pPr indent="0" marL="0">
              <a:buNone/>
            </a:pPr>
            <a:r>
              <a:rPr lang="en-US" sz="1800" b="1" dirty="0">
                <a:solidFill>
                  <a:srgbClr val="6A4BD8"/>
                </a:solidFill>
                <a:latin typeface="Avenir Next" pitchFamily="34" charset="0"/>
                <a:ea typeface="Avenir Next" pitchFamily="34" charset="-122"/>
                <a:cs typeface="Avenir Next" pitchFamily="34" charset="-120"/>
              </a:rPr>
              <a:t>18 s</a:t>
            </a:r>
            <a:endParaRPr lang="en-US" sz="1800" dirty="0"/>
          </a:p>
        </p:txBody>
      </p:sp>
      <p:sp>
        <p:nvSpPr>
          <p:cNvPr id="49" name="Text 34"/>
          <p:cNvSpPr/>
          <p:nvPr/>
        </p:nvSpPr>
        <p:spPr>
          <a:xfrm>
            <a:off x="2715768" y="4096512"/>
            <a:ext cx="1737360" cy="384048"/>
          </a:xfrm>
          <a:prstGeom prst="rect">
            <a:avLst/>
          </a:prstGeom>
          <a:noFill/>
          <a:ln/>
        </p:spPr>
        <p:txBody>
          <a:bodyPr wrap="square" lIns="0" tIns="0" rIns="0" bIns="0" rtlCol="0" anchor="t"/>
          <a:lstStyle/>
          <a:p>
            <a:pPr indent="0" marL="0">
              <a:buNone/>
            </a:pPr>
            <a:r>
              <a:rPr lang="en-US" sz="900" dirty="0">
                <a:solidFill>
                  <a:srgbClr val="3A3F55"/>
                </a:solidFill>
                <a:latin typeface="Avenir Next" pitchFamily="34" charset="0"/>
                <a:ea typeface="Avenir Next" pitchFamily="34" charset="-122"/>
                <a:cs typeface="Avenir Next" pitchFamily="34" charset="-120"/>
              </a:rPr>
              <a:t>4.7 M BGL lines parsed + indexed in SQL</a:t>
            </a:r>
            <a:endParaRPr lang="en-US" sz="900" dirty="0"/>
          </a:p>
        </p:txBody>
      </p:sp>
      <p:sp>
        <p:nvSpPr>
          <p:cNvPr id="50" name="Shape 35"/>
          <p:cNvSpPr/>
          <p:nvPr/>
        </p:nvSpPr>
        <p:spPr>
          <a:xfrm>
            <a:off x="4645152" y="3657600"/>
            <a:ext cx="1984248" cy="868680"/>
          </a:xfrm>
          <a:prstGeom prst="roundRect">
            <a:avLst>
              <a:gd name="adj" fmla="val 14737"/>
            </a:avLst>
          </a:prstGeom>
          <a:solidFill>
            <a:srgbClr val="FFFFFF"/>
          </a:solidFill>
          <a:ln w="12700">
            <a:solidFill>
              <a:srgbClr val="E3E6EC"/>
            </a:solidFill>
            <a:prstDash val="solid"/>
          </a:ln>
        </p:spPr>
      </p:sp>
      <p:sp>
        <p:nvSpPr>
          <p:cNvPr id="51" name="Text 36"/>
          <p:cNvSpPr/>
          <p:nvPr/>
        </p:nvSpPr>
        <p:spPr>
          <a:xfrm>
            <a:off x="4809744" y="3712464"/>
            <a:ext cx="1737360" cy="384048"/>
          </a:xfrm>
          <a:prstGeom prst="rect">
            <a:avLst/>
          </a:prstGeom>
          <a:noFill/>
          <a:ln/>
        </p:spPr>
        <p:txBody>
          <a:bodyPr wrap="square" lIns="0" tIns="0" rIns="0" bIns="0" rtlCol="0" anchor="ctr"/>
          <a:lstStyle/>
          <a:p>
            <a:pPr indent="0" marL="0">
              <a:buNone/>
            </a:pPr>
            <a:r>
              <a:rPr lang="en-US" sz="1800" b="1" dirty="0">
                <a:solidFill>
                  <a:srgbClr val="6A4BD8"/>
                </a:solidFill>
                <a:latin typeface="Avenir Next" pitchFamily="34" charset="0"/>
                <a:ea typeface="Avenir Next" pitchFamily="34" charset="-122"/>
                <a:cs typeface="Avenir Next" pitchFamily="34" charset="-120"/>
              </a:rPr>
              <a:t>20 s · $0.02</a:t>
            </a:r>
            <a:endParaRPr lang="en-US" sz="1800" dirty="0"/>
          </a:p>
        </p:txBody>
      </p:sp>
      <p:sp>
        <p:nvSpPr>
          <p:cNvPr id="52" name="Text 37"/>
          <p:cNvSpPr/>
          <p:nvPr/>
        </p:nvSpPr>
        <p:spPr>
          <a:xfrm>
            <a:off x="4809744" y="4096512"/>
            <a:ext cx="1737360" cy="384048"/>
          </a:xfrm>
          <a:prstGeom prst="rect">
            <a:avLst/>
          </a:prstGeom>
          <a:noFill/>
          <a:ln/>
        </p:spPr>
        <p:txBody>
          <a:bodyPr wrap="square" lIns="0" tIns="0" rIns="0" bIns="0" rtlCol="0" anchor="t"/>
          <a:lstStyle/>
          <a:p>
            <a:pPr indent="0" marL="0">
              <a:buNone/>
            </a:pPr>
            <a:r>
              <a:rPr lang="en-US" sz="900" dirty="0">
                <a:solidFill>
                  <a:srgbClr val="3A3F55"/>
                </a:solidFill>
                <a:latin typeface="Avenir Next" pitchFamily="34" charset="0"/>
                <a:ea typeface="Avenir Next" pitchFamily="34" charset="-122"/>
                <a:cs typeface="Avenir Next" pitchFamily="34" charset="-120"/>
              </a:rPr>
              <a:t>Jev judges all 1,126 BGL patterns</a:t>
            </a:r>
            <a:endParaRPr lang="en-US" sz="900" dirty="0"/>
          </a:p>
        </p:txBody>
      </p:sp>
      <p:sp>
        <p:nvSpPr>
          <p:cNvPr id="53" name="Shape 38"/>
          <p:cNvSpPr/>
          <p:nvPr/>
        </p:nvSpPr>
        <p:spPr>
          <a:xfrm>
            <a:off x="6739128" y="3657600"/>
            <a:ext cx="1984248" cy="868680"/>
          </a:xfrm>
          <a:prstGeom prst="roundRect">
            <a:avLst>
              <a:gd name="adj" fmla="val 14737"/>
            </a:avLst>
          </a:prstGeom>
          <a:solidFill>
            <a:srgbClr val="FFFFFF"/>
          </a:solidFill>
          <a:ln w="12700">
            <a:solidFill>
              <a:srgbClr val="E3E6EC"/>
            </a:solidFill>
            <a:prstDash val="solid"/>
          </a:ln>
        </p:spPr>
      </p:sp>
      <p:sp>
        <p:nvSpPr>
          <p:cNvPr id="54" name="Text 39"/>
          <p:cNvSpPr/>
          <p:nvPr/>
        </p:nvSpPr>
        <p:spPr>
          <a:xfrm>
            <a:off x="6903720" y="3712464"/>
            <a:ext cx="1737360" cy="384048"/>
          </a:xfrm>
          <a:prstGeom prst="rect">
            <a:avLst/>
          </a:prstGeom>
          <a:noFill/>
          <a:ln/>
        </p:spPr>
        <p:txBody>
          <a:bodyPr wrap="square" lIns="0" tIns="0" rIns="0" bIns="0" rtlCol="0" anchor="ctr"/>
          <a:lstStyle/>
          <a:p>
            <a:pPr indent="0" marL="0">
              <a:buNone/>
            </a:pPr>
            <a:r>
              <a:rPr lang="en-US" sz="1800" b="1" dirty="0">
                <a:solidFill>
                  <a:srgbClr val="6A4BD8"/>
                </a:solidFill>
                <a:latin typeface="Avenir Next" pitchFamily="34" charset="0"/>
                <a:ea typeface="Avenir Next" pitchFamily="34" charset="-122"/>
                <a:cs typeface="Avenir Next" pitchFamily="34" charset="-120"/>
              </a:rPr>
              <a:t>1.6 s</a:t>
            </a:r>
            <a:endParaRPr lang="en-US" sz="1800" dirty="0"/>
          </a:p>
        </p:txBody>
      </p:sp>
      <p:sp>
        <p:nvSpPr>
          <p:cNvPr id="55" name="Text 40"/>
          <p:cNvSpPr/>
          <p:nvPr/>
        </p:nvSpPr>
        <p:spPr>
          <a:xfrm>
            <a:off x="6903720" y="4096512"/>
            <a:ext cx="1737360" cy="384048"/>
          </a:xfrm>
          <a:prstGeom prst="rect">
            <a:avLst/>
          </a:prstGeom>
          <a:noFill/>
          <a:ln/>
        </p:spPr>
        <p:txBody>
          <a:bodyPr wrap="square" lIns="0" tIns="0" rIns="0" bIns="0" rtlCol="0" anchor="t"/>
          <a:lstStyle/>
          <a:p>
            <a:pPr indent="0" marL="0">
              <a:buNone/>
            </a:pPr>
            <a:r>
              <a:rPr lang="en-US" sz="900" dirty="0">
                <a:solidFill>
                  <a:srgbClr val="3A3F55"/>
                </a:solidFill>
                <a:latin typeface="Avenir Next" pitchFamily="34" charset="0"/>
                <a:ea typeface="Avenir Next" pitchFamily="34" charset="-122"/>
                <a:cs typeface="Avenir Next" pitchFamily="34" charset="-120"/>
              </a:rPr>
              <a:t>a new 21 k-line file, format auto-detected</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Technical · MCP</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12</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TECHNICAL · MCP</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One MCP server, four ways to use it</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MCP is how Claude discovers and calls our functions. Ours offers all four kinds of MCP features.</a:t>
            </a:r>
            <a:endParaRPr lang="en-US" sz="1250" dirty="0"/>
          </a:p>
        </p:txBody>
      </p:sp>
      <p:sp>
        <p:nvSpPr>
          <p:cNvPr id="8" name="Shape 5"/>
          <p:cNvSpPr/>
          <p:nvPr/>
        </p:nvSpPr>
        <p:spPr>
          <a:xfrm>
            <a:off x="457200" y="1463040"/>
            <a:ext cx="4069080" cy="1463040"/>
          </a:xfrm>
          <a:prstGeom prst="roundRect">
            <a:avLst>
              <a:gd name="adj" fmla="val 8750"/>
            </a:avLst>
          </a:prstGeom>
          <a:solidFill>
            <a:srgbClr val="F0F2F5"/>
          </a:solidFill>
          <a:ln/>
        </p:spPr>
      </p:sp>
      <p:pic>
        <p:nvPicPr>
          <p:cNvPr id="9" name="Image 1" descr="preencoded.png">    </p:cNvPr>
          <p:cNvPicPr>
            <a:picLocks noChangeAspect="1"/>
          </p:cNvPicPr>
          <p:nvPr/>
        </p:nvPicPr>
        <p:blipFill>
          <a:blip r:embed="rId2"/>
          <a:stretch>
            <a:fillRect/>
          </a:stretch>
        </p:blipFill>
        <p:spPr>
          <a:xfrm>
            <a:off x="658368" y="1664208"/>
            <a:ext cx="457200" cy="457200"/>
          </a:xfrm>
          <a:prstGeom prst="rect">
            <a:avLst/>
          </a:prstGeom>
        </p:spPr>
      </p:pic>
      <p:pic>
        <p:nvPicPr>
          <p:cNvPr id="10" name="Image 2" descr="preencoded.png">    </p:cNvPr>
          <p:cNvPicPr>
            <a:picLocks noChangeAspect="1"/>
          </p:cNvPicPr>
          <p:nvPr/>
        </p:nvPicPr>
        <p:blipFill>
          <a:blip r:embed="rId3"/>
          <a:stretch>
            <a:fillRect/>
          </a:stretch>
        </p:blipFill>
        <p:spPr>
          <a:xfrm>
            <a:off x="777240" y="1783080"/>
            <a:ext cx="219456" cy="219456"/>
          </a:xfrm>
          <a:prstGeom prst="rect">
            <a:avLst/>
          </a:prstGeom>
        </p:spPr>
      </p:pic>
      <p:sp>
        <p:nvSpPr>
          <p:cNvPr id="11" name="Text 6"/>
          <p:cNvSpPr/>
          <p:nvPr/>
        </p:nvSpPr>
        <p:spPr>
          <a:xfrm>
            <a:off x="1280160" y="1664208"/>
            <a:ext cx="3017520" cy="45720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44 tools</a:t>
            </a:r>
            <a:endParaRPr lang="en-US" sz="1600" dirty="0"/>
          </a:p>
        </p:txBody>
      </p:sp>
      <p:sp>
        <p:nvSpPr>
          <p:cNvPr id="12" name="Text 7"/>
          <p:cNvSpPr/>
          <p:nvPr/>
        </p:nvSpPr>
        <p:spPr>
          <a:xfrm>
            <a:off x="658368" y="2194560"/>
            <a:ext cx="3703320" cy="41148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Search, count, timelines, patterns, priorities, ownership and setup. Claude picks them from their descriptions.</a:t>
            </a:r>
            <a:endParaRPr lang="en-US" sz="1050" dirty="0"/>
          </a:p>
        </p:txBody>
      </p:sp>
      <p:sp>
        <p:nvSpPr>
          <p:cNvPr id="13" name="Text 8"/>
          <p:cNvSpPr/>
          <p:nvPr/>
        </p:nvSpPr>
        <p:spPr>
          <a:xfrm>
            <a:off x="658368" y="2606040"/>
            <a:ext cx="3703320" cy="256032"/>
          </a:xfrm>
          <a:prstGeom prst="rect">
            <a:avLst/>
          </a:prstGeom>
          <a:noFill/>
          <a:ln/>
        </p:spPr>
        <p:txBody>
          <a:bodyPr wrap="square" lIns="0" tIns="0" rIns="0" bIns="0" rtlCol="0" anchor="ctr"/>
          <a:lstStyle/>
          <a:p>
            <a:pPr indent="0" marL="0">
              <a:buNone/>
            </a:pPr>
            <a:r>
              <a:rPr lang="en-US" sz="1000" dirty="0">
                <a:solidFill>
                  <a:srgbClr val="6A4BD8"/>
                </a:solidFill>
                <a:latin typeface="Menlo" pitchFamily="34" charset="0"/>
                <a:ea typeface="Menlo" pitchFamily="34" charset="-122"/>
                <a:cs typeface="Menlo" pitchFamily="34" charset="-120"/>
              </a:rPr>
              <a:t>Just ask in plain words</a:t>
            </a:r>
            <a:endParaRPr lang="en-US" sz="1000" dirty="0"/>
          </a:p>
        </p:txBody>
      </p:sp>
      <p:sp>
        <p:nvSpPr>
          <p:cNvPr id="14" name="Shape 9"/>
          <p:cNvSpPr/>
          <p:nvPr/>
        </p:nvSpPr>
        <p:spPr>
          <a:xfrm>
            <a:off x="4617720" y="1463040"/>
            <a:ext cx="4069080" cy="1463040"/>
          </a:xfrm>
          <a:prstGeom prst="roundRect">
            <a:avLst>
              <a:gd name="adj" fmla="val 8750"/>
            </a:avLst>
          </a:prstGeom>
          <a:solidFill>
            <a:srgbClr val="F0F2F5"/>
          </a:solidFill>
          <a:ln/>
        </p:spPr>
      </p:sp>
      <p:pic>
        <p:nvPicPr>
          <p:cNvPr id="15" name="Image 3" descr="preencoded.png">    </p:cNvPr>
          <p:cNvPicPr>
            <a:picLocks noChangeAspect="1"/>
          </p:cNvPicPr>
          <p:nvPr/>
        </p:nvPicPr>
        <p:blipFill>
          <a:blip r:embed="rId4"/>
          <a:stretch>
            <a:fillRect/>
          </a:stretch>
        </p:blipFill>
        <p:spPr>
          <a:xfrm>
            <a:off x="4818888" y="1664208"/>
            <a:ext cx="457200" cy="457200"/>
          </a:xfrm>
          <a:prstGeom prst="rect">
            <a:avLst/>
          </a:prstGeom>
        </p:spPr>
      </p:pic>
      <p:pic>
        <p:nvPicPr>
          <p:cNvPr id="16" name="Image 4" descr="preencoded.png">    </p:cNvPr>
          <p:cNvPicPr>
            <a:picLocks noChangeAspect="1"/>
          </p:cNvPicPr>
          <p:nvPr/>
        </p:nvPicPr>
        <p:blipFill>
          <a:blip r:embed="rId5"/>
          <a:stretch>
            <a:fillRect/>
          </a:stretch>
        </p:blipFill>
        <p:spPr>
          <a:xfrm>
            <a:off x="4937760" y="1783080"/>
            <a:ext cx="219456" cy="219456"/>
          </a:xfrm>
          <a:prstGeom prst="rect">
            <a:avLst/>
          </a:prstGeom>
        </p:spPr>
      </p:pic>
      <p:sp>
        <p:nvSpPr>
          <p:cNvPr id="17" name="Text 10"/>
          <p:cNvSpPr/>
          <p:nvPr/>
        </p:nvSpPr>
        <p:spPr>
          <a:xfrm>
            <a:off x="5440680" y="1664208"/>
            <a:ext cx="3017520" cy="45720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5 prompts</a:t>
            </a:r>
            <a:endParaRPr lang="en-US" sz="1600" dirty="0"/>
          </a:p>
        </p:txBody>
      </p:sp>
      <p:sp>
        <p:nvSpPr>
          <p:cNvPr id="18" name="Text 11"/>
          <p:cNvSpPr/>
          <p:nvPr/>
        </p:nvSpPr>
        <p:spPr>
          <a:xfrm>
            <a:off x="4818888" y="2194560"/>
            <a:ext cx="3703320" cy="41148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Ready-made playbooks: one per role, a three-role investigation and whole-corpus counts.</a:t>
            </a:r>
            <a:endParaRPr lang="en-US" sz="1050" dirty="0"/>
          </a:p>
        </p:txBody>
      </p:sp>
      <p:sp>
        <p:nvSpPr>
          <p:cNvPr id="19" name="Text 12"/>
          <p:cNvSpPr/>
          <p:nvPr/>
        </p:nvSpPr>
        <p:spPr>
          <a:xfrm>
            <a:off x="4818888" y="2606040"/>
            <a:ext cx="3703320" cy="256032"/>
          </a:xfrm>
          <a:prstGeom prst="rect">
            <a:avLst/>
          </a:prstGeom>
          <a:noFill/>
          <a:ln/>
        </p:spPr>
        <p:txBody>
          <a:bodyPr wrap="square" lIns="0" tIns="0" rIns="0" bIns="0" rtlCol="0" anchor="ctr"/>
          <a:lstStyle/>
          <a:p>
            <a:pPr indent="0" marL="0">
              <a:buNone/>
            </a:pPr>
            <a:r>
              <a:rPr lang="en-US" sz="1000" dirty="0">
                <a:solidFill>
                  <a:srgbClr val="6A4BD8"/>
                </a:solidFill>
                <a:latin typeface="Menlo" pitchFamily="34" charset="0"/>
                <a:ea typeface="Menlo" pitchFamily="34" charset="-122"/>
                <a:cs typeface="Menlo" pitchFamily="34" charset="-120"/>
              </a:rPr>
              <a:t>/mcp__logs__set_priorities</a:t>
            </a:r>
            <a:endParaRPr lang="en-US" sz="1000" dirty="0"/>
          </a:p>
        </p:txBody>
      </p:sp>
      <p:sp>
        <p:nvSpPr>
          <p:cNvPr id="20" name="Shape 13"/>
          <p:cNvSpPr/>
          <p:nvPr/>
        </p:nvSpPr>
        <p:spPr>
          <a:xfrm>
            <a:off x="457200" y="3063240"/>
            <a:ext cx="4069080" cy="1463040"/>
          </a:xfrm>
          <a:prstGeom prst="roundRect">
            <a:avLst>
              <a:gd name="adj" fmla="val 8750"/>
            </a:avLst>
          </a:prstGeom>
          <a:solidFill>
            <a:srgbClr val="F0F2F5"/>
          </a:solidFill>
          <a:ln/>
        </p:spPr>
      </p:sp>
      <p:pic>
        <p:nvPicPr>
          <p:cNvPr id="21" name="Image 5" descr="preencoded.png">    </p:cNvPr>
          <p:cNvPicPr>
            <a:picLocks noChangeAspect="1"/>
          </p:cNvPicPr>
          <p:nvPr/>
        </p:nvPicPr>
        <p:blipFill>
          <a:blip r:embed="rId6"/>
          <a:stretch>
            <a:fillRect/>
          </a:stretch>
        </p:blipFill>
        <p:spPr>
          <a:xfrm>
            <a:off x="658368" y="3264408"/>
            <a:ext cx="457200" cy="457200"/>
          </a:xfrm>
          <a:prstGeom prst="rect">
            <a:avLst/>
          </a:prstGeom>
        </p:spPr>
      </p:pic>
      <p:pic>
        <p:nvPicPr>
          <p:cNvPr id="22" name="Image 6" descr="preencoded.png">    </p:cNvPr>
          <p:cNvPicPr>
            <a:picLocks noChangeAspect="1"/>
          </p:cNvPicPr>
          <p:nvPr/>
        </p:nvPicPr>
        <p:blipFill>
          <a:blip r:embed="rId7"/>
          <a:stretch>
            <a:fillRect/>
          </a:stretch>
        </p:blipFill>
        <p:spPr>
          <a:xfrm>
            <a:off x="777240" y="3383280"/>
            <a:ext cx="219456" cy="219456"/>
          </a:xfrm>
          <a:prstGeom prst="rect">
            <a:avLst/>
          </a:prstGeom>
        </p:spPr>
      </p:pic>
      <p:sp>
        <p:nvSpPr>
          <p:cNvPr id="23" name="Text 14"/>
          <p:cNvSpPr/>
          <p:nvPr/>
        </p:nvSpPr>
        <p:spPr>
          <a:xfrm>
            <a:off x="1280160" y="3264408"/>
            <a:ext cx="3017520" cy="45720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6 resources</a:t>
            </a:r>
            <a:endParaRPr lang="en-US" sz="1600" dirty="0"/>
          </a:p>
        </p:txBody>
      </p:sp>
      <p:sp>
        <p:nvSpPr>
          <p:cNvPr id="24" name="Text 15"/>
          <p:cNvSpPr/>
          <p:nvPr/>
        </p:nvSpPr>
        <p:spPr>
          <a:xfrm>
            <a:off x="658368" y="3794760"/>
            <a:ext cx="3703320" cy="41148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Read-only context: datasets, glossary, field guide, ownership and the session's full evidence.</a:t>
            </a:r>
            <a:endParaRPr lang="en-US" sz="1050" dirty="0"/>
          </a:p>
        </p:txBody>
      </p:sp>
      <p:sp>
        <p:nvSpPr>
          <p:cNvPr id="25" name="Text 16"/>
          <p:cNvSpPr/>
          <p:nvPr/>
        </p:nvSpPr>
        <p:spPr>
          <a:xfrm>
            <a:off x="658368" y="4206240"/>
            <a:ext cx="3703320" cy="256032"/>
          </a:xfrm>
          <a:prstGeom prst="rect">
            <a:avLst/>
          </a:prstGeom>
          <a:noFill/>
          <a:ln/>
        </p:spPr>
        <p:txBody>
          <a:bodyPr wrap="square" lIns="0" tIns="0" rIns="0" bIns="0" rtlCol="0" anchor="ctr"/>
          <a:lstStyle/>
          <a:p>
            <a:pPr indent="0" marL="0">
              <a:buNone/>
            </a:pPr>
            <a:r>
              <a:rPr lang="en-US" sz="1000" dirty="0">
                <a:solidFill>
                  <a:srgbClr val="6A4BD8"/>
                </a:solidFill>
                <a:latin typeface="Menlo" pitchFamily="34" charset="0"/>
                <a:ea typeface="Menlo" pitchFamily="34" charset="-122"/>
                <a:cs typeface="Menlo" pitchFamily="34" charset="-120"/>
              </a:rPr>
              <a:t>@logs:logs://ownership/bgl</a:t>
            </a:r>
            <a:endParaRPr lang="en-US" sz="1000" dirty="0"/>
          </a:p>
        </p:txBody>
      </p:sp>
      <p:sp>
        <p:nvSpPr>
          <p:cNvPr id="26" name="Shape 17"/>
          <p:cNvSpPr/>
          <p:nvPr/>
        </p:nvSpPr>
        <p:spPr>
          <a:xfrm>
            <a:off x="4617720" y="3063240"/>
            <a:ext cx="4069080" cy="1463040"/>
          </a:xfrm>
          <a:prstGeom prst="roundRect">
            <a:avLst>
              <a:gd name="adj" fmla="val 8750"/>
            </a:avLst>
          </a:prstGeom>
          <a:solidFill>
            <a:srgbClr val="F0F2F5"/>
          </a:solidFill>
          <a:ln/>
        </p:spPr>
      </p:sp>
      <p:pic>
        <p:nvPicPr>
          <p:cNvPr id="27" name="Image 7" descr="preencoded.png">    </p:cNvPr>
          <p:cNvPicPr>
            <a:picLocks noChangeAspect="1"/>
          </p:cNvPicPr>
          <p:nvPr/>
        </p:nvPicPr>
        <p:blipFill>
          <a:blip r:embed="rId8"/>
          <a:stretch>
            <a:fillRect/>
          </a:stretch>
        </p:blipFill>
        <p:spPr>
          <a:xfrm>
            <a:off x="4818888" y="3264408"/>
            <a:ext cx="457200" cy="457200"/>
          </a:xfrm>
          <a:prstGeom prst="rect">
            <a:avLst/>
          </a:prstGeom>
        </p:spPr>
      </p:pic>
      <p:pic>
        <p:nvPicPr>
          <p:cNvPr id="28" name="Image 8" descr="preencoded.png">    </p:cNvPr>
          <p:cNvPicPr>
            <a:picLocks noChangeAspect="1"/>
          </p:cNvPicPr>
          <p:nvPr/>
        </p:nvPicPr>
        <p:blipFill>
          <a:blip r:embed="rId9"/>
          <a:stretch>
            <a:fillRect/>
          </a:stretch>
        </p:blipFill>
        <p:spPr>
          <a:xfrm>
            <a:off x="4937760" y="3383280"/>
            <a:ext cx="219456" cy="219456"/>
          </a:xfrm>
          <a:prstGeom prst="rect">
            <a:avLst/>
          </a:prstGeom>
        </p:spPr>
      </p:pic>
      <p:sp>
        <p:nvSpPr>
          <p:cNvPr id="29" name="Text 18"/>
          <p:cNvSpPr/>
          <p:nvPr/>
        </p:nvSpPr>
        <p:spPr>
          <a:xfrm>
            <a:off x="5440680" y="3264408"/>
            <a:ext cx="3017520" cy="45720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Completions</a:t>
            </a:r>
            <a:endParaRPr lang="en-US" sz="1600" dirty="0"/>
          </a:p>
        </p:txBody>
      </p:sp>
      <p:sp>
        <p:nvSpPr>
          <p:cNvPr id="30" name="Text 19"/>
          <p:cNvSpPr/>
          <p:nvPr/>
        </p:nvSpPr>
        <p:spPr>
          <a:xfrm>
            <a:off x="4818888" y="3794760"/>
            <a:ext cx="3703320" cy="41148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Prompt arguments complete with real values from the data: datasets, components, teams.</a:t>
            </a:r>
            <a:endParaRPr lang="en-US" sz="1050" dirty="0"/>
          </a:p>
        </p:txBody>
      </p:sp>
      <p:sp>
        <p:nvSpPr>
          <p:cNvPr id="31" name="Text 20"/>
          <p:cNvSpPr/>
          <p:nvPr/>
        </p:nvSpPr>
        <p:spPr>
          <a:xfrm>
            <a:off x="4818888" y="4206240"/>
            <a:ext cx="3703320" cy="256032"/>
          </a:xfrm>
          <a:prstGeom prst="rect">
            <a:avLst/>
          </a:prstGeom>
          <a:noFill/>
          <a:ln/>
        </p:spPr>
        <p:txBody>
          <a:bodyPr wrap="square" lIns="0" tIns="0" rIns="0" bIns="0" rtlCol="0" anchor="ctr"/>
          <a:lstStyle/>
          <a:p>
            <a:pPr indent="0" marL="0">
              <a:buNone/>
            </a:pPr>
            <a:r>
              <a:rPr lang="en-US" sz="1000" dirty="0">
                <a:solidFill>
                  <a:srgbClr val="6A4BD8"/>
                </a:solidFill>
                <a:latin typeface="Menlo" pitchFamily="34" charset="0"/>
                <a:ea typeface="Menlo" pitchFamily="34" charset="-122"/>
                <a:cs typeface="Menlo" pitchFamily="34" charset="-120"/>
              </a:rPr>
              <a:t>Tab inside a prompt argument</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Technical · MCP</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13</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TECHNICAL · MCP TOOLS</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44 tools, grouped by the question they answer</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Each description says when to use it, when not to, what it returns and which tool comes next.</a:t>
            </a:r>
            <a:endParaRPr lang="en-US" sz="1250" dirty="0"/>
          </a:p>
        </p:txBody>
      </p:sp>
      <p:sp>
        <p:nvSpPr>
          <p:cNvPr id="8" name="Shape 5"/>
          <p:cNvSpPr/>
          <p:nvPr/>
        </p:nvSpPr>
        <p:spPr>
          <a:xfrm>
            <a:off x="457200" y="1463040"/>
            <a:ext cx="1143000" cy="347472"/>
          </a:xfrm>
          <a:prstGeom prst="roundRect">
            <a:avLst>
              <a:gd name="adj" fmla="val 50000"/>
            </a:avLst>
          </a:prstGeom>
          <a:solidFill>
            <a:srgbClr val="F1ECFD"/>
          </a:solidFill>
          <a:ln/>
        </p:spPr>
      </p:sp>
      <p:sp>
        <p:nvSpPr>
          <p:cNvPr id="9" name="Text 6"/>
          <p:cNvSpPr/>
          <p:nvPr/>
        </p:nvSpPr>
        <p:spPr>
          <a:xfrm>
            <a:off x="457200" y="1463040"/>
            <a:ext cx="1143000" cy="347472"/>
          </a:xfrm>
          <a:prstGeom prst="rect">
            <a:avLst/>
          </a:prstGeom>
          <a:noFill/>
          <a:ln/>
        </p:spPr>
        <p:txBody>
          <a:bodyPr wrap="square" lIns="0" tIns="0" rIns="0" bIns="0" rtlCol="0" anchor="ctr"/>
          <a:lstStyle/>
          <a:p>
            <a:pPr algn="ctr" indent="0" marL="0">
              <a:buNone/>
            </a:pPr>
            <a:r>
              <a:rPr lang="en-US" sz="1050" b="1" dirty="0">
                <a:solidFill>
                  <a:srgbClr val="3E318C"/>
                </a:solidFill>
                <a:latin typeface="Avenir Next" pitchFamily="34" charset="0"/>
                <a:ea typeface="Avenir Next" pitchFamily="34" charset="-122"/>
                <a:cs typeface="Avenir Next" pitchFamily="34" charset="-120"/>
              </a:rPr>
              <a:t>Set up</a:t>
            </a:r>
            <a:endParaRPr lang="en-US" sz="1050" dirty="0"/>
          </a:p>
        </p:txBody>
      </p:sp>
      <p:sp>
        <p:nvSpPr>
          <p:cNvPr id="10" name="Text 7"/>
          <p:cNvSpPr/>
          <p:nvPr/>
        </p:nvSpPr>
        <p:spPr>
          <a:xfrm>
            <a:off x="1737360" y="1463040"/>
            <a:ext cx="5074920" cy="347472"/>
          </a:xfrm>
          <a:prstGeom prst="rect">
            <a:avLst/>
          </a:prstGeom>
          <a:noFill/>
          <a:ln/>
        </p:spPr>
        <p:txBody>
          <a:bodyPr wrap="square" lIns="0" tIns="0" rIns="0" bIns="0" rtlCol="0" anchor="ctr"/>
          <a:lstStyle/>
          <a:p>
            <a:pPr indent="0" marL="0">
              <a:buNone/>
            </a:pPr>
            <a:r>
              <a:rPr lang="en-US" sz="850" dirty="0">
                <a:solidFill>
                  <a:srgbClr val="3A3F55"/>
                </a:solidFill>
                <a:latin typeface="Menlo" pitchFamily="34" charset="0"/>
                <a:ea typeface="Menlo" pitchFamily="34" charset="-122"/>
                <a:cs typeface="Menlo" pitchFamily="34" charset="-120"/>
              </a:rPr>
              <a:t>setup_status · load_logs · use_dataset · remove_dataset</a:t>
            </a:r>
            <a:endParaRPr lang="en-US" sz="850" dirty="0"/>
          </a:p>
        </p:txBody>
      </p:sp>
      <p:sp>
        <p:nvSpPr>
          <p:cNvPr id="11" name="Text 8"/>
          <p:cNvSpPr/>
          <p:nvPr/>
        </p:nvSpPr>
        <p:spPr>
          <a:xfrm>
            <a:off x="6858000" y="1463040"/>
            <a:ext cx="1828800" cy="347472"/>
          </a:xfrm>
          <a:prstGeom prst="rect">
            <a:avLst/>
          </a:prstGeom>
          <a:noFill/>
          <a:ln/>
        </p:spPr>
        <p:txBody>
          <a:bodyPr wrap="square" lIns="0" tIns="0" rIns="0" bIns="0" rtlCol="0" anchor="ctr"/>
          <a:lstStyle/>
          <a:p>
            <a:pPr indent="0" marL="0">
              <a:buNone/>
            </a:pPr>
            <a:r>
              <a:rPr lang="en-US" sz="950" i="1" dirty="0">
                <a:solidFill>
                  <a:srgbClr val="6B7386"/>
                </a:solidFill>
                <a:latin typeface="Avenir Next" pitchFamily="34" charset="0"/>
                <a:ea typeface="Avenir Next" pitchFamily="34" charset="-122"/>
                <a:cs typeface="Avenir Next" pitchFamily="34" charset="-120"/>
              </a:rPr>
              <a:t>Load my log file ~/app.log</a:t>
            </a:r>
            <a:endParaRPr lang="en-US" sz="950" dirty="0"/>
          </a:p>
        </p:txBody>
      </p:sp>
      <p:sp>
        <p:nvSpPr>
          <p:cNvPr id="12" name="Shape 9"/>
          <p:cNvSpPr/>
          <p:nvPr/>
        </p:nvSpPr>
        <p:spPr>
          <a:xfrm>
            <a:off x="457200" y="1892808"/>
            <a:ext cx="1143000" cy="347472"/>
          </a:xfrm>
          <a:prstGeom prst="roundRect">
            <a:avLst>
              <a:gd name="adj" fmla="val 50000"/>
            </a:avLst>
          </a:prstGeom>
          <a:solidFill>
            <a:srgbClr val="E6DDFB"/>
          </a:solidFill>
          <a:ln/>
        </p:spPr>
      </p:sp>
      <p:sp>
        <p:nvSpPr>
          <p:cNvPr id="13" name="Text 10"/>
          <p:cNvSpPr/>
          <p:nvPr/>
        </p:nvSpPr>
        <p:spPr>
          <a:xfrm>
            <a:off x="457200" y="1892808"/>
            <a:ext cx="1143000" cy="347472"/>
          </a:xfrm>
          <a:prstGeom prst="rect">
            <a:avLst/>
          </a:prstGeom>
          <a:noFill/>
          <a:ln/>
        </p:spPr>
        <p:txBody>
          <a:bodyPr wrap="square" lIns="0" tIns="0" rIns="0" bIns="0" rtlCol="0" anchor="ctr"/>
          <a:lstStyle/>
          <a:p>
            <a:pPr algn="ctr" indent="0" marL="0">
              <a:buNone/>
            </a:pPr>
            <a:r>
              <a:rPr lang="en-US" sz="1050" b="1" dirty="0">
                <a:solidFill>
                  <a:srgbClr val="3E318C"/>
                </a:solidFill>
                <a:latin typeface="Avenir Next" pitchFamily="34" charset="0"/>
                <a:ea typeface="Avenir Next" pitchFamily="34" charset="-122"/>
                <a:cs typeface="Avenir Next" pitchFamily="34" charset="-120"/>
              </a:rPr>
              <a:t>Find</a:t>
            </a:r>
            <a:endParaRPr lang="en-US" sz="1050" dirty="0"/>
          </a:p>
        </p:txBody>
      </p:sp>
      <p:sp>
        <p:nvSpPr>
          <p:cNvPr id="14" name="Text 11"/>
          <p:cNvSpPr/>
          <p:nvPr/>
        </p:nvSpPr>
        <p:spPr>
          <a:xfrm>
            <a:off x="1737360" y="1892808"/>
            <a:ext cx="5074920" cy="347472"/>
          </a:xfrm>
          <a:prstGeom prst="rect">
            <a:avLst/>
          </a:prstGeom>
          <a:noFill/>
          <a:ln/>
        </p:spPr>
        <p:txBody>
          <a:bodyPr wrap="square" lIns="0" tIns="0" rIns="0" bIns="0" rtlCol="0" anchor="ctr"/>
          <a:lstStyle/>
          <a:p>
            <a:pPr indent="0" marL="0">
              <a:buNone/>
            </a:pPr>
            <a:r>
              <a:rPr lang="en-US" sz="850" dirty="0">
                <a:solidFill>
                  <a:srgbClr val="3A3F55"/>
                </a:solidFill>
                <a:latin typeface="Menlo" pitchFamily="34" charset="0"/>
                <a:ea typeface="Menlo" pitchFamily="34" charset="-122"/>
                <a:cs typeface="Menlo" pitchFamily="34" charset="-120"/>
              </a:rPr>
              <a:t>search_logs · get_context · find_patterns · suggest_terms · facet</a:t>
            </a:r>
            <a:endParaRPr lang="en-US" sz="850" dirty="0"/>
          </a:p>
        </p:txBody>
      </p:sp>
      <p:sp>
        <p:nvSpPr>
          <p:cNvPr id="15" name="Text 12"/>
          <p:cNvSpPr/>
          <p:nvPr/>
        </p:nvSpPr>
        <p:spPr>
          <a:xfrm>
            <a:off x="6858000" y="1892808"/>
            <a:ext cx="1828800" cy="347472"/>
          </a:xfrm>
          <a:prstGeom prst="rect">
            <a:avLst/>
          </a:prstGeom>
          <a:noFill/>
          <a:ln/>
        </p:spPr>
        <p:txBody>
          <a:bodyPr wrap="square" lIns="0" tIns="0" rIns="0" bIns="0" rtlCol="0" anchor="ctr"/>
          <a:lstStyle/>
          <a:p>
            <a:pPr indent="0" marL="0">
              <a:buNone/>
            </a:pPr>
            <a:r>
              <a:rPr lang="en-US" sz="950" i="1" dirty="0">
                <a:solidFill>
                  <a:srgbClr val="6B7386"/>
                </a:solidFill>
                <a:latin typeface="Avenir Next" pitchFamily="34" charset="0"/>
                <a:ea typeface="Avenir Next" pitchFamily="34" charset="-122"/>
                <a:cs typeface="Avenir Next" pitchFamily="34" charset="-120"/>
              </a:rPr>
              <a:t>What failed on R43 at 13:56?</a:t>
            </a:r>
            <a:endParaRPr lang="en-US" sz="950" dirty="0"/>
          </a:p>
        </p:txBody>
      </p:sp>
      <p:sp>
        <p:nvSpPr>
          <p:cNvPr id="16" name="Shape 13"/>
          <p:cNvSpPr/>
          <p:nvPr/>
        </p:nvSpPr>
        <p:spPr>
          <a:xfrm>
            <a:off x="457200" y="2322576"/>
            <a:ext cx="1143000" cy="347472"/>
          </a:xfrm>
          <a:prstGeom prst="roundRect">
            <a:avLst>
              <a:gd name="adj" fmla="val 50000"/>
            </a:avLst>
          </a:prstGeom>
          <a:solidFill>
            <a:srgbClr val="F1ECFD"/>
          </a:solidFill>
          <a:ln/>
        </p:spPr>
      </p:sp>
      <p:sp>
        <p:nvSpPr>
          <p:cNvPr id="17" name="Text 14"/>
          <p:cNvSpPr/>
          <p:nvPr/>
        </p:nvSpPr>
        <p:spPr>
          <a:xfrm>
            <a:off x="457200" y="2322576"/>
            <a:ext cx="1143000" cy="347472"/>
          </a:xfrm>
          <a:prstGeom prst="rect">
            <a:avLst/>
          </a:prstGeom>
          <a:noFill/>
          <a:ln/>
        </p:spPr>
        <p:txBody>
          <a:bodyPr wrap="square" lIns="0" tIns="0" rIns="0" bIns="0" rtlCol="0" anchor="ctr"/>
          <a:lstStyle/>
          <a:p>
            <a:pPr algn="ctr" indent="0" marL="0">
              <a:buNone/>
            </a:pPr>
            <a:r>
              <a:rPr lang="en-US" sz="1050" b="1" dirty="0">
                <a:solidFill>
                  <a:srgbClr val="3E318C"/>
                </a:solidFill>
                <a:latin typeface="Avenir Next" pitchFamily="34" charset="0"/>
                <a:ea typeface="Avenir Next" pitchFamily="34" charset="-122"/>
                <a:cs typeface="Avenir Next" pitchFamily="34" charset="-120"/>
              </a:rPr>
              <a:t>Count</a:t>
            </a:r>
            <a:endParaRPr lang="en-US" sz="1050" dirty="0"/>
          </a:p>
        </p:txBody>
      </p:sp>
      <p:sp>
        <p:nvSpPr>
          <p:cNvPr id="18" name="Text 15"/>
          <p:cNvSpPr/>
          <p:nvPr/>
        </p:nvSpPr>
        <p:spPr>
          <a:xfrm>
            <a:off x="1737360" y="2322576"/>
            <a:ext cx="5074920" cy="347472"/>
          </a:xfrm>
          <a:prstGeom prst="rect">
            <a:avLst/>
          </a:prstGeom>
          <a:noFill/>
          <a:ln/>
        </p:spPr>
        <p:txBody>
          <a:bodyPr wrap="square" lIns="0" tIns="0" rIns="0" bIns="0" rtlCol="0" anchor="ctr"/>
          <a:lstStyle/>
          <a:p>
            <a:pPr indent="0" marL="0">
              <a:buNone/>
            </a:pPr>
            <a:r>
              <a:rPr lang="en-US" sz="850" dirty="0">
                <a:solidFill>
                  <a:srgbClr val="3A3F55"/>
                </a:solidFill>
                <a:latin typeface="Menlo" pitchFamily="34" charset="0"/>
                <a:ea typeface="Menlo" pitchFamily="34" charset="-122"/>
                <a:cs typeface="Menlo" pitchFamily="34" charset="-120"/>
              </a:rPr>
              <a:t>count_by · trend · facet · rollup · heatmap · rate_vs_baseline</a:t>
            </a:r>
            <a:endParaRPr lang="en-US" sz="850" dirty="0"/>
          </a:p>
        </p:txBody>
      </p:sp>
      <p:sp>
        <p:nvSpPr>
          <p:cNvPr id="19" name="Text 16"/>
          <p:cNvSpPr/>
          <p:nvPr/>
        </p:nvSpPr>
        <p:spPr>
          <a:xfrm>
            <a:off x="6858000" y="2322576"/>
            <a:ext cx="1828800" cy="347472"/>
          </a:xfrm>
          <a:prstGeom prst="rect">
            <a:avLst/>
          </a:prstGeom>
          <a:noFill/>
          <a:ln/>
        </p:spPr>
        <p:txBody>
          <a:bodyPr wrap="square" lIns="0" tIns="0" rIns="0" bIns="0" rtlCol="0" anchor="ctr"/>
          <a:lstStyle/>
          <a:p>
            <a:pPr indent="0" marL="0">
              <a:buNone/>
            </a:pPr>
            <a:r>
              <a:rPr lang="en-US" sz="950" i="1" dirty="0">
                <a:solidFill>
                  <a:srgbClr val="6B7386"/>
                </a:solidFill>
                <a:latin typeface="Avenir Next" pitchFamily="34" charset="0"/>
                <a:ea typeface="Avenir Next" pitchFamily="34" charset="-122"/>
                <a:cs typeface="Avenir Next" pitchFamily="34" charset="-120"/>
              </a:rPr>
              <a:t>Errors per team, week over week?</a:t>
            </a:r>
            <a:endParaRPr lang="en-US" sz="950" dirty="0"/>
          </a:p>
        </p:txBody>
      </p:sp>
      <p:sp>
        <p:nvSpPr>
          <p:cNvPr id="20" name="Shape 17"/>
          <p:cNvSpPr/>
          <p:nvPr/>
        </p:nvSpPr>
        <p:spPr>
          <a:xfrm>
            <a:off x="457200" y="2752344"/>
            <a:ext cx="1143000" cy="347472"/>
          </a:xfrm>
          <a:prstGeom prst="roundRect">
            <a:avLst>
              <a:gd name="adj" fmla="val 50000"/>
            </a:avLst>
          </a:prstGeom>
          <a:solidFill>
            <a:srgbClr val="E6DDFB"/>
          </a:solidFill>
          <a:ln/>
        </p:spPr>
      </p:sp>
      <p:sp>
        <p:nvSpPr>
          <p:cNvPr id="21" name="Text 18"/>
          <p:cNvSpPr/>
          <p:nvPr/>
        </p:nvSpPr>
        <p:spPr>
          <a:xfrm>
            <a:off x="457200" y="2752344"/>
            <a:ext cx="1143000" cy="347472"/>
          </a:xfrm>
          <a:prstGeom prst="rect">
            <a:avLst/>
          </a:prstGeom>
          <a:noFill/>
          <a:ln/>
        </p:spPr>
        <p:txBody>
          <a:bodyPr wrap="square" lIns="0" tIns="0" rIns="0" bIns="0" rtlCol="0" anchor="ctr"/>
          <a:lstStyle/>
          <a:p>
            <a:pPr algn="ctr" indent="0" marL="0">
              <a:buNone/>
            </a:pPr>
            <a:r>
              <a:rPr lang="en-US" sz="1050" b="1" dirty="0">
                <a:solidFill>
                  <a:srgbClr val="3E318C"/>
                </a:solidFill>
                <a:latin typeface="Avenir Next" pitchFamily="34" charset="0"/>
                <a:ea typeface="Avenir Next" pitchFamily="34" charset="-122"/>
                <a:cs typeface="Avenir Next" pitchFamily="34" charset="-120"/>
              </a:rPr>
              <a:t>Recurring</a:t>
            </a:r>
            <a:endParaRPr lang="en-US" sz="1050" dirty="0"/>
          </a:p>
        </p:txBody>
      </p:sp>
      <p:sp>
        <p:nvSpPr>
          <p:cNvPr id="22" name="Text 19"/>
          <p:cNvSpPr/>
          <p:nvPr/>
        </p:nvSpPr>
        <p:spPr>
          <a:xfrm>
            <a:off x="1737360" y="2752344"/>
            <a:ext cx="5074920" cy="347472"/>
          </a:xfrm>
          <a:prstGeom prst="rect">
            <a:avLst/>
          </a:prstGeom>
          <a:noFill/>
          <a:ln/>
        </p:spPr>
        <p:txBody>
          <a:bodyPr wrap="square" lIns="0" tIns="0" rIns="0" bIns="0" rtlCol="0" anchor="ctr"/>
          <a:lstStyle/>
          <a:p>
            <a:pPr indent="0" marL="0">
              <a:buNone/>
            </a:pPr>
            <a:r>
              <a:rPr lang="en-US" sz="850" dirty="0">
                <a:solidFill>
                  <a:srgbClr val="3A3F55"/>
                </a:solidFill>
                <a:latin typeface="Menlo" pitchFamily="34" charset="0"/>
                <a:ea typeface="Menlo" pitchFamily="34" charset="-122"/>
                <a:cs typeface="Menlo" pitchFamily="34" charset="-120"/>
              </a:rPr>
              <a:t>top_patterns · pattern_history · whats_new · spread · periodicity</a:t>
            </a:r>
            <a:endParaRPr lang="en-US" sz="850" dirty="0"/>
          </a:p>
        </p:txBody>
      </p:sp>
      <p:sp>
        <p:nvSpPr>
          <p:cNvPr id="23" name="Text 20"/>
          <p:cNvSpPr/>
          <p:nvPr/>
        </p:nvSpPr>
        <p:spPr>
          <a:xfrm>
            <a:off x="6858000" y="2752344"/>
            <a:ext cx="1828800" cy="347472"/>
          </a:xfrm>
          <a:prstGeom prst="rect">
            <a:avLst/>
          </a:prstGeom>
          <a:noFill/>
          <a:ln/>
        </p:spPr>
        <p:txBody>
          <a:bodyPr wrap="square" lIns="0" tIns="0" rIns="0" bIns="0" rtlCol="0" anchor="ctr"/>
          <a:lstStyle/>
          <a:p>
            <a:pPr indent="0" marL="0">
              <a:buNone/>
            </a:pPr>
            <a:r>
              <a:rPr lang="en-US" sz="950" i="1" dirty="0">
                <a:solidFill>
                  <a:srgbClr val="6B7386"/>
                </a:solidFill>
                <a:latin typeface="Avenir Next" pitchFamily="34" charset="0"/>
                <a:ea typeface="Avenir Next" pitchFamily="34" charset="-122"/>
                <a:cs typeface="Avenir Next" pitchFamily="34" charset="-120"/>
              </a:rPr>
              <a:t>What keeps coming back?</a:t>
            </a:r>
            <a:endParaRPr lang="en-US" sz="950" dirty="0"/>
          </a:p>
        </p:txBody>
      </p:sp>
      <p:sp>
        <p:nvSpPr>
          <p:cNvPr id="24" name="Shape 21"/>
          <p:cNvSpPr/>
          <p:nvPr/>
        </p:nvSpPr>
        <p:spPr>
          <a:xfrm>
            <a:off x="457200" y="3182112"/>
            <a:ext cx="1143000" cy="347472"/>
          </a:xfrm>
          <a:prstGeom prst="roundRect">
            <a:avLst>
              <a:gd name="adj" fmla="val 50000"/>
            </a:avLst>
          </a:prstGeom>
          <a:solidFill>
            <a:srgbClr val="F1ECFD"/>
          </a:solidFill>
          <a:ln/>
        </p:spPr>
      </p:sp>
      <p:sp>
        <p:nvSpPr>
          <p:cNvPr id="25" name="Text 22"/>
          <p:cNvSpPr/>
          <p:nvPr/>
        </p:nvSpPr>
        <p:spPr>
          <a:xfrm>
            <a:off x="457200" y="3182112"/>
            <a:ext cx="1143000" cy="347472"/>
          </a:xfrm>
          <a:prstGeom prst="rect">
            <a:avLst/>
          </a:prstGeom>
          <a:noFill/>
          <a:ln/>
        </p:spPr>
        <p:txBody>
          <a:bodyPr wrap="square" lIns="0" tIns="0" rIns="0" bIns="0" rtlCol="0" anchor="ctr"/>
          <a:lstStyle/>
          <a:p>
            <a:pPr algn="ctr" indent="0" marL="0">
              <a:buNone/>
            </a:pPr>
            <a:r>
              <a:rPr lang="en-US" sz="1050" b="1" dirty="0">
                <a:solidFill>
                  <a:srgbClr val="3E318C"/>
                </a:solidFill>
                <a:latin typeface="Avenir Next" pitchFamily="34" charset="0"/>
                <a:ea typeface="Avenir Next" pitchFamily="34" charset="-122"/>
                <a:cs typeface="Avenir Next" pitchFamily="34" charset="-120"/>
              </a:rPr>
              <a:t>Explain</a:t>
            </a:r>
            <a:endParaRPr lang="en-US" sz="1050" dirty="0"/>
          </a:p>
        </p:txBody>
      </p:sp>
      <p:sp>
        <p:nvSpPr>
          <p:cNvPr id="26" name="Text 23"/>
          <p:cNvSpPr/>
          <p:nvPr/>
        </p:nvSpPr>
        <p:spPr>
          <a:xfrm>
            <a:off x="1737360" y="3182112"/>
            <a:ext cx="5074920" cy="347472"/>
          </a:xfrm>
          <a:prstGeom prst="rect">
            <a:avLst/>
          </a:prstGeom>
          <a:noFill/>
          <a:ln/>
        </p:spPr>
        <p:txBody>
          <a:bodyPr wrap="square" lIns="0" tIns="0" rIns="0" bIns="0" rtlCol="0" anchor="ctr"/>
          <a:lstStyle/>
          <a:p>
            <a:pPr indent="0" marL="0">
              <a:buNone/>
            </a:pPr>
            <a:r>
              <a:rPr lang="en-US" sz="850" dirty="0">
                <a:solidFill>
                  <a:srgbClr val="3A3F55"/>
                </a:solidFill>
                <a:latin typeface="Menlo" pitchFamily="34" charset="0"/>
                <a:ea typeface="Menlo" pitchFamily="34" charset="-122"/>
                <a:cs typeface="Menlo" pitchFamily="34" charset="-120"/>
              </a:rPr>
              <a:t>burst_timeline · precursors · request_timeline · value_outliers</a:t>
            </a:r>
            <a:endParaRPr lang="en-US" sz="850" dirty="0"/>
          </a:p>
        </p:txBody>
      </p:sp>
      <p:sp>
        <p:nvSpPr>
          <p:cNvPr id="27" name="Text 24"/>
          <p:cNvSpPr/>
          <p:nvPr/>
        </p:nvSpPr>
        <p:spPr>
          <a:xfrm>
            <a:off x="6858000" y="3182112"/>
            <a:ext cx="1828800" cy="347472"/>
          </a:xfrm>
          <a:prstGeom prst="rect">
            <a:avLst/>
          </a:prstGeom>
          <a:noFill/>
          <a:ln/>
        </p:spPr>
        <p:txBody>
          <a:bodyPr wrap="square" lIns="0" tIns="0" rIns="0" bIns="0" rtlCol="0" anchor="ctr"/>
          <a:lstStyle/>
          <a:p>
            <a:pPr indent="0" marL="0">
              <a:buNone/>
            </a:pPr>
            <a:r>
              <a:rPr lang="en-US" sz="950" i="1" dirty="0">
                <a:solidFill>
                  <a:srgbClr val="6B7386"/>
                </a:solidFill>
                <a:latin typeface="Avenir Next" pitchFamily="34" charset="0"/>
                <a:ea typeface="Avenir Next" pitchFamily="34" charset="-122"/>
                <a:cs typeface="Avenir Next" pitchFamily="34" charset="-120"/>
              </a:rPr>
              <a:t>What happens just before it?</a:t>
            </a:r>
            <a:endParaRPr lang="en-US" sz="950" dirty="0"/>
          </a:p>
        </p:txBody>
      </p:sp>
      <p:sp>
        <p:nvSpPr>
          <p:cNvPr id="28" name="Shape 25"/>
          <p:cNvSpPr/>
          <p:nvPr/>
        </p:nvSpPr>
        <p:spPr>
          <a:xfrm>
            <a:off x="457200" y="3611880"/>
            <a:ext cx="1143000" cy="347472"/>
          </a:xfrm>
          <a:prstGeom prst="roundRect">
            <a:avLst>
              <a:gd name="adj" fmla="val 50000"/>
            </a:avLst>
          </a:prstGeom>
          <a:solidFill>
            <a:srgbClr val="E6DDFB"/>
          </a:solidFill>
          <a:ln/>
        </p:spPr>
      </p:sp>
      <p:sp>
        <p:nvSpPr>
          <p:cNvPr id="29" name="Text 26"/>
          <p:cNvSpPr/>
          <p:nvPr/>
        </p:nvSpPr>
        <p:spPr>
          <a:xfrm>
            <a:off x="457200" y="3611880"/>
            <a:ext cx="1143000" cy="347472"/>
          </a:xfrm>
          <a:prstGeom prst="rect">
            <a:avLst/>
          </a:prstGeom>
          <a:noFill/>
          <a:ln/>
        </p:spPr>
        <p:txBody>
          <a:bodyPr wrap="square" lIns="0" tIns="0" rIns="0" bIns="0" rtlCol="0" anchor="ctr"/>
          <a:lstStyle/>
          <a:p>
            <a:pPr algn="ctr" indent="0" marL="0">
              <a:buNone/>
            </a:pPr>
            <a:r>
              <a:rPr lang="en-US" sz="1050" b="1" dirty="0">
                <a:solidFill>
                  <a:srgbClr val="3E318C"/>
                </a:solidFill>
                <a:latin typeface="Avenir Next" pitchFamily="34" charset="0"/>
                <a:ea typeface="Avenir Next" pitchFamily="34" charset="-122"/>
                <a:cs typeface="Avenir Next" pitchFamily="34" charset="-120"/>
              </a:rPr>
              <a:t>Decide</a:t>
            </a:r>
            <a:endParaRPr lang="en-US" sz="1050" dirty="0"/>
          </a:p>
        </p:txBody>
      </p:sp>
      <p:sp>
        <p:nvSpPr>
          <p:cNvPr id="30" name="Text 27"/>
          <p:cNvSpPr/>
          <p:nvPr/>
        </p:nvSpPr>
        <p:spPr>
          <a:xfrm>
            <a:off x="1737360" y="3611880"/>
            <a:ext cx="5074920" cy="347472"/>
          </a:xfrm>
          <a:prstGeom prst="rect">
            <a:avLst/>
          </a:prstGeom>
          <a:noFill/>
          <a:ln/>
        </p:spPr>
        <p:txBody>
          <a:bodyPr wrap="square" lIns="0" tIns="0" rIns="0" bIns="0" rtlCol="0" anchor="ctr"/>
          <a:lstStyle/>
          <a:p>
            <a:pPr indent="0" marL="0">
              <a:buNone/>
            </a:pPr>
            <a:r>
              <a:rPr lang="en-US" sz="850" dirty="0">
                <a:solidFill>
                  <a:srgbClr val="3A3F55"/>
                </a:solidFill>
                <a:latin typeface="Menlo" pitchFamily="34" charset="0"/>
                <a:ea typeface="Menlo" pitchFamily="34" charset="-122"/>
                <a:cs typeface="Menlo" pitchFamily="34" charset="-120"/>
              </a:rPr>
              <a:t>priority_table · reliability_trend · team_risk · owner_of</a:t>
            </a:r>
            <a:endParaRPr lang="en-US" sz="850" dirty="0"/>
          </a:p>
        </p:txBody>
      </p:sp>
      <p:sp>
        <p:nvSpPr>
          <p:cNvPr id="31" name="Text 28"/>
          <p:cNvSpPr/>
          <p:nvPr/>
        </p:nvSpPr>
        <p:spPr>
          <a:xfrm>
            <a:off x="6858000" y="3611880"/>
            <a:ext cx="1828800" cy="347472"/>
          </a:xfrm>
          <a:prstGeom prst="rect">
            <a:avLst/>
          </a:prstGeom>
          <a:noFill/>
          <a:ln/>
        </p:spPr>
        <p:txBody>
          <a:bodyPr wrap="square" lIns="0" tIns="0" rIns="0" bIns="0" rtlCol="0" anchor="ctr"/>
          <a:lstStyle/>
          <a:p>
            <a:pPr indent="0" marL="0">
              <a:buNone/>
            </a:pPr>
            <a:r>
              <a:rPr lang="en-US" sz="950" i="1" dirty="0">
                <a:solidFill>
                  <a:srgbClr val="6B7386"/>
                </a:solidFill>
                <a:latin typeface="Avenir Next" pitchFamily="34" charset="0"/>
                <a:ea typeface="Avenir Next" pitchFamily="34" charset="-122"/>
                <a:cs typeface="Avenir Next" pitchFamily="34" charset="-120"/>
              </a:rPr>
              <a:t>What first, and who owns it?</a:t>
            </a:r>
            <a:endParaRPr lang="en-US" sz="950" dirty="0"/>
          </a:p>
        </p:txBody>
      </p:sp>
      <p:sp>
        <p:nvSpPr>
          <p:cNvPr id="32" name="Shape 29"/>
          <p:cNvSpPr/>
          <p:nvPr/>
        </p:nvSpPr>
        <p:spPr>
          <a:xfrm>
            <a:off x="457200" y="4041648"/>
            <a:ext cx="1143000" cy="347472"/>
          </a:xfrm>
          <a:prstGeom prst="roundRect">
            <a:avLst>
              <a:gd name="adj" fmla="val 50000"/>
            </a:avLst>
          </a:prstGeom>
          <a:solidFill>
            <a:srgbClr val="F1ECFD"/>
          </a:solidFill>
          <a:ln/>
        </p:spPr>
      </p:sp>
      <p:sp>
        <p:nvSpPr>
          <p:cNvPr id="33" name="Text 30"/>
          <p:cNvSpPr/>
          <p:nvPr/>
        </p:nvSpPr>
        <p:spPr>
          <a:xfrm>
            <a:off x="457200" y="4041648"/>
            <a:ext cx="1143000" cy="347472"/>
          </a:xfrm>
          <a:prstGeom prst="rect">
            <a:avLst/>
          </a:prstGeom>
          <a:noFill/>
          <a:ln/>
        </p:spPr>
        <p:txBody>
          <a:bodyPr wrap="square" lIns="0" tIns="0" rIns="0" bIns="0" rtlCol="0" anchor="ctr"/>
          <a:lstStyle/>
          <a:p>
            <a:pPr algn="ctr" indent="0" marL="0">
              <a:buNone/>
            </a:pPr>
            <a:r>
              <a:rPr lang="en-US" sz="1050" b="1" dirty="0">
                <a:solidFill>
                  <a:srgbClr val="3E318C"/>
                </a:solidFill>
                <a:latin typeface="Avenir Next" pitchFamily="34" charset="0"/>
                <a:ea typeface="Avenir Next" pitchFamily="34" charset="-122"/>
                <a:cs typeface="Avenir Next" pitchFamily="34" charset="-120"/>
              </a:rPr>
              <a:t>Workspace</a:t>
            </a:r>
            <a:endParaRPr lang="en-US" sz="1050" dirty="0"/>
          </a:p>
        </p:txBody>
      </p:sp>
      <p:sp>
        <p:nvSpPr>
          <p:cNvPr id="34" name="Text 31"/>
          <p:cNvSpPr/>
          <p:nvPr/>
        </p:nvSpPr>
        <p:spPr>
          <a:xfrm>
            <a:off x="1737360" y="4041648"/>
            <a:ext cx="5074920" cy="347472"/>
          </a:xfrm>
          <a:prstGeom prst="rect">
            <a:avLst/>
          </a:prstGeom>
          <a:noFill/>
          <a:ln/>
        </p:spPr>
        <p:txBody>
          <a:bodyPr wrap="square" lIns="0" tIns="0" rIns="0" bIns="0" rtlCol="0" anchor="ctr"/>
          <a:lstStyle/>
          <a:p>
            <a:pPr indent="0" marL="0">
              <a:buNone/>
            </a:pPr>
            <a:r>
              <a:rPr lang="en-US" sz="850" dirty="0">
                <a:solidFill>
                  <a:srgbClr val="3A3F55"/>
                </a:solidFill>
                <a:latin typeface="Menlo" pitchFamily="34" charset="0"/>
                <a:ea typeface="Menlo" pitchFamily="34" charset="-122"/>
                <a:cs typeface="Menlo" pitchFamily="34" charset="-120"/>
              </a:rPr>
              <a:t>create_focus_index · index_stats · explain_tool · session_report</a:t>
            </a:r>
            <a:endParaRPr lang="en-US" sz="850" dirty="0"/>
          </a:p>
        </p:txBody>
      </p:sp>
      <p:sp>
        <p:nvSpPr>
          <p:cNvPr id="35" name="Text 32"/>
          <p:cNvSpPr/>
          <p:nvPr/>
        </p:nvSpPr>
        <p:spPr>
          <a:xfrm>
            <a:off x="6858000" y="4041648"/>
            <a:ext cx="1828800" cy="347472"/>
          </a:xfrm>
          <a:prstGeom prst="rect">
            <a:avLst/>
          </a:prstGeom>
          <a:noFill/>
          <a:ln/>
        </p:spPr>
        <p:txBody>
          <a:bodyPr wrap="square" lIns="0" tIns="0" rIns="0" bIns="0" rtlCol="0" anchor="ctr"/>
          <a:lstStyle/>
          <a:p>
            <a:pPr indent="0" marL="0">
              <a:buNone/>
            </a:pPr>
            <a:r>
              <a:rPr lang="en-US" sz="950" i="1" dirty="0">
                <a:solidFill>
                  <a:srgbClr val="6B7386"/>
                </a:solidFill>
                <a:latin typeface="Avenir Next" pitchFamily="34" charset="0"/>
                <a:ea typeface="Avenir Next" pitchFamily="34" charset="-122"/>
                <a:cs typeface="Avenir Next" pitchFamily="34" charset="-120"/>
              </a:rPr>
              <a:t>Index this week for a deep dive</a:t>
            </a:r>
            <a:endParaRPr lang="en-US" sz="950" dirty="0"/>
          </a:p>
        </p:txBody>
      </p:sp>
      <p:sp>
        <p:nvSpPr>
          <p:cNvPr id="36" name="Text 33"/>
          <p:cNvSpPr/>
          <p:nvPr/>
        </p:nvSpPr>
        <p:spPr>
          <a:xfrm>
            <a:off x="457200" y="4480560"/>
            <a:ext cx="8229600" cy="201168"/>
          </a:xfrm>
          <a:prstGeom prst="rect">
            <a:avLst/>
          </a:prstGeom>
          <a:noFill/>
          <a:ln/>
        </p:spPr>
        <p:txBody>
          <a:bodyPr wrap="square" lIns="0" tIns="0" rIns="0" bIns="0" rtlCol="0" anchor="ctr"/>
          <a:lstStyle/>
          <a:p>
            <a:pPr indent="0" marL="0">
              <a:buNone/>
            </a:pPr>
            <a:r>
              <a:rPr lang="en-US" sz="950" b="1" dirty="0">
                <a:solidFill>
                  <a:srgbClr val="11121D"/>
                </a:solidFill>
                <a:latin typeface="Avenir Next" pitchFamily="34" charset="0"/>
                <a:ea typeface="Avenir Next" pitchFamily="34" charset="-122"/>
                <a:cs typeface="Avenir Next" pitchFamily="34" charset="-120"/>
              </a:rPr>
              <a:t>Every result: the SQL that ran, filters, scope, the exact total, and a flag when rows were cut to 50.  Reference: docs/TOOLS.md</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Technical · MCP</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14</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TECHNICAL · PROMPTS, RESOURCES, COMPLETIONS</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How to use them in Claude Code</a:t>
            </a:r>
            <a:endParaRPr lang="en-US" sz="2600" dirty="0"/>
          </a:p>
        </p:txBody>
      </p:sp>
      <p:sp>
        <p:nvSpPr>
          <p:cNvPr id="7" name="Shape 4"/>
          <p:cNvSpPr/>
          <p:nvPr/>
        </p:nvSpPr>
        <p:spPr>
          <a:xfrm>
            <a:off x="457200" y="1188720"/>
            <a:ext cx="4023360" cy="3337560"/>
          </a:xfrm>
          <a:prstGeom prst="roundRect">
            <a:avLst>
              <a:gd name="adj" fmla="val 3836"/>
            </a:avLst>
          </a:prstGeom>
          <a:solidFill>
            <a:srgbClr val="F0F2F5"/>
          </a:solidFill>
          <a:ln/>
        </p:spPr>
      </p:sp>
      <p:sp>
        <p:nvSpPr>
          <p:cNvPr id="8" name="Text 5"/>
          <p:cNvSpPr/>
          <p:nvPr/>
        </p:nvSpPr>
        <p:spPr>
          <a:xfrm>
            <a:off x="640080" y="1298448"/>
            <a:ext cx="3657600" cy="292608"/>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Prompts: type /</a:t>
            </a:r>
            <a:endParaRPr lang="en-US" sz="1300" dirty="0"/>
          </a:p>
        </p:txBody>
      </p:sp>
      <p:sp>
        <p:nvSpPr>
          <p:cNvPr id="9" name="Text 6"/>
          <p:cNvSpPr/>
          <p:nvPr/>
        </p:nvSpPr>
        <p:spPr>
          <a:xfrm>
            <a:off x="640080" y="1691640"/>
            <a:ext cx="3749040" cy="237744"/>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/mcp__logs__investigate_failure</a:t>
            </a:r>
            <a:endParaRPr lang="en-US" sz="950" dirty="0"/>
          </a:p>
        </p:txBody>
      </p:sp>
      <p:sp>
        <p:nvSpPr>
          <p:cNvPr id="10" name="Text 7"/>
          <p:cNvSpPr/>
          <p:nvPr/>
        </p:nvSpPr>
        <p:spPr>
          <a:xfrm>
            <a:off x="640080" y="1920240"/>
            <a:ext cx="3749040" cy="219456"/>
          </a:xfrm>
          <a:prstGeom prst="rect">
            <a:avLst/>
          </a:prstGeom>
          <a:noFill/>
          <a:ln/>
        </p:spPr>
        <p:txBody>
          <a:bodyPr wrap="square" lIns="0" tIns="0" rIns="0" bIns="0" rtlCol="0" anchor="ctr"/>
          <a:lstStyle/>
          <a:p>
            <a:pPr indent="0" marL="0">
              <a:buNone/>
            </a:pPr>
            <a:r>
              <a:rPr lang="en-US" sz="1000" dirty="0">
                <a:solidFill>
                  <a:srgbClr val="3A3F55"/>
                </a:solidFill>
                <a:latin typeface="Avenir Next" pitchFamily="34" charset="0"/>
                <a:ea typeface="Avenir Next" pitchFamily="34" charset="-122"/>
                <a:cs typeface="Avenir Next" pitchFamily="34" charset="-120"/>
              </a:rPr>
              <a:t>engineer playbook</a:t>
            </a:r>
            <a:endParaRPr lang="en-US" sz="1000" dirty="0"/>
          </a:p>
        </p:txBody>
      </p:sp>
      <p:sp>
        <p:nvSpPr>
          <p:cNvPr id="11" name="Text 8"/>
          <p:cNvSpPr/>
          <p:nvPr/>
        </p:nvSpPr>
        <p:spPr>
          <a:xfrm>
            <a:off x="640080" y="2240280"/>
            <a:ext cx="3749040" cy="237744"/>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/mcp__logs__review_recurring_problems</a:t>
            </a:r>
            <a:endParaRPr lang="en-US" sz="950" dirty="0"/>
          </a:p>
        </p:txBody>
      </p:sp>
      <p:sp>
        <p:nvSpPr>
          <p:cNvPr id="12" name="Text 9"/>
          <p:cNvSpPr/>
          <p:nvPr/>
        </p:nvSpPr>
        <p:spPr>
          <a:xfrm>
            <a:off x="640080" y="2468880"/>
            <a:ext cx="3749040" cy="219456"/>
          </a:xfrm>
          <a:prstGeom prst="rect">
            <a:avLst/>
          </a:prstGeom>
          <a:noFill/>
          <a:ln/>
        </p:spPr>
        <p:txBody>
          <a:bodyPr wrap="square" lIns="0" tIns="0" rIns="0" bIns="0" rtlCol="0" anchor="ctr"/>
          <a:lstStyle/>
          <a:p>
            <a:pPr indent="0" marL="0">
              <a:buNone/>
            </a:pPr>
            <a:r>
              <a:rPr lang="en-US" sz="1000" dirty="0">
                <a:solidFill>
                  <a:srgbClr val="3A3F55"/>
                </a:solidFill>
                <a:latin typeface="Avenir Next" pitchFamily="34" charset="0"/>
                <a:ea typeface="Avenir Next" pitchFamily="34" charset="-122"/>
                <a:cs typeface="Avenir Next" pitchFamily="34" charset="-120"/>
              </a:rPr>
              <a:t>team-lead playbook</a:t>
            </a:r>
            <a:endParaRPr lang="en-US" sz="1000" dirty="0"/>
          </a:p>
        </p:txBody>
      </p:sp>
      <p:sp>
        <p:nvSpPr>
          <p:cNvPr id="13" name="Text 10"/>
          <p:cNvSpPr/>
          <p:nvPr/>
        </p:nvSpPr>
        <p:spPr>
          <a:xfrm>
            <a:off x="640080" y="2788920"/>
            <a:ext cx="3749040" cy="237744"/>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/mcp__logs__set_priorities</a:t>
            </a:r>
            <a:endParaRPr lang="en-US" sz="950" dirty="0"/>
          </a:p>
        </p:txBody>
      </p:sp>
      <p:sp>
        <p:nvSpPr>
          <p:cNvPr id="14" name="Text 11"/>
          <p:cNvSpPr/>
          <p:nvPr/>
        </p:nvSpPr>
        <p:spPr>
          <a:xfrm>
            <a:off x="640080" y="3017520"/>
            <a:ext cx="3749040" cy="219456"/>
          </a:xfrm>
          <a:prstGeom prst="rect">
            <a:avLst/>
          </a:prstGeom>
          <a:noFill/>
          <a:ln/>
        </p:spPr>
        <p:txBody>
          <a:bodyPr wrap="square" lIns="0" tIns="0" rIns="0" bIns="0" rtlCol="0" anchor="ctr"/>
          <a:lstStyle/>
          <a:p>
            <a:pPr indent="0" marL="0">
              <a:buNone/>
            </a:pPr>
            <a:r>
              <a:rPr lang="en-US" sz="1000" dirty="0">
                <a:solidFill>
                  <a:srgbClr val="3A3F55"/>
                </a:solidFill>
                <a:latin typeface="Avenir Next" pitchFamily="34" charset="0"/>
                <a:ea typeface="Avenir Next" pitchFamily="34" charset="-122"/>
                <a:cs typeface="Avenir Next" pitchFamily="34" charset="-120"/>
              </a:rPr>
              <a:t>manager playbook</a:t>
            </a:r>
            <a:endParaRPr lang="en-US" sz="1000" dirty="0"/>
          </a:p>
        </p:txBody>
      </p:sp>
      <p:sp>
        <p:nvSpPr>
          <p:cNvPr id="15" name="Text 12"/>
          <p:cNvSpPr/>
          <p:nvPr/>
        </p:nvSpPr>
        <p:spPr>
          <a:xfrm>
            <a:off x="640080" y="3337560"/>
            <a:ext cx="3749040" cy="237744"/>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/mcp__logs__worked_investigation</a:t>
            </a:r>
            <a:endParaRPr lang="en-US" sz="950" dirty="0"/>
          </a:p>
        </p:txBody>
      </p:sp>
      <p:sp>
        <p:nvSpPr>
          <p:cNvPr id="16" name="Text 13"/>
          <p:cNvSpPr/>
          <p:nvPr/>
        </p:nvSpPr>
        <p:spPr>
          <a:xfrm>
            <a:off x="640080" y="3566160"/>
            <a:ext cx="3749040" cy="219456"/>
          </a:xfrm>
          <a:prstGeom prst="rect">
            <a:avLst/>
          </a:prstGeom>
          <a:noFill/>
          <a:ln/>
        </p:spPr>
        <p:txBody>
          <a:bodyPr wrap="square" lIns="0" tIns="0" rIns="0" bIns="0" rtlCol="0" anchor="ctr"/>
          <a:lstStyle/>
          <a:p>
            <a:pPr indent="0" marL="0">
              <a:buNone/>
            </a:pPr>
            <a:r>
              <a:rPr lang="en-US" sz="1000" dirty="0">
                <a:solidFill>
                  <a:srgbClr val="3A3F55"/>
                </a:solidFill>
                <a:latin typeface="Avenir Next" pitchFamily="34" charset="0"/>
                <a:ea typeface="Avenir Next" pitchFamily="34" charset="-122"/>
                <a:cs typeface="Avenir Next" pitchFamily="34" charset="-120"/>
              </a:rPr>
              <a:t>one topic, all three roles</a:t>
            </a:r>
            <a:endParaRPr lang="en-US" sz="1000" dirty="0"/>
          </a:p>
        </p:txBody>
      </p:sp>
      <p:sp>
        <p:nvSpPr>
          <p:cNvPr id="17" name="Text 14"/>
          <p:cNvSpPr/>
          <p:nvPr/>
        </p:nvSpPr>
        <p:spPr>
          <a:xfrm>
            <a:off x="640080" y="3886200"/>
            <a:ext cx="3749040" cy="237744"/>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/mcp__logs__whole_corpus_counts</a:t>
            </a:r>
            <a:endParaRPr lang="en-US" sz="950" dirty="0"/>
          </a:p>
        </p:txBody>
      </p:sp>
      <p:sp>
        <p:nvSpPr>
          <p:cNvPr id="18" name="Text 15"/>
          <p:cNvSpPr/>
          <p:nvPr/>
        </p:nvSpPr>
        <p:spPr>
          <a:xfrm>
            <a:off x="640080" y="4114800"/>
            <a:ext cx="3749040" cy="219456"/>
          </a:xfrm>
          <a:prstGeom prst="rect">
            <a:avLst/>
          </a:prstGeom>
          <a:noFill/>
          <a:ln/>
        </p:spPr>
        <p:txBody>
          <a:bodyPr wrap="square" lIns="0" tIns="0" rIns="0" bIns="0" rtlCol="0" anchor="ctr"/>
          <a:lstStyle/>
          <a:p>
            <a:pPr indent="0" marL="0">
              <a:buNone/>
            </a:pPr>
            <a:r>
              <a:rPr lang="en-US" sz="1000" dirty="0">
                <a:solidFill>
                  <a:srgbClr val="3A3F55"/>
                </a:solidFill>
                <a:latin typeface="Avenir Next" pitchFamily="34" charset="0"/>
                <a:ea typeface="Avenir Next" pitchFamily="34" charset="-122"/>
                <a:cs typeface="Avenir Next" pitchFamily="34" charset="-120"/>
              </a:rPr>
              <a:t>counts over every dataset</a:t>
            </a:r>
            <a:endParaRPr lang="en-US" sz="1000" dirty="0"/>
          </a:p>
        </p:txBody>
      </p:sp>
      <p:sp>
        <p:nvSpPr>
          <p:cNvPr id="19" name="Shape 16"/>
          <p:cNvSpPr/>
          <p:nvPr/>
        </p:nvSpPr>
        <p:spPr>
          <a:xfrm>
            <a:off x="4663440" y="1188720"/>
            <a:ext cx="4023360" cy="2514600"/>
          </a:xfrm>
          <a:prstGeom prst="roundRect">
            <a:avLst>
              <a:gd name="adj" fmla="val 5091"/>
            </a:avLst>
          </a:prstGeom>
          <a:solidFill>
            <a:srgbClr val="F0F2F5"/>
          </a:solidFill>
          <a:ln/>
        </p:spPr>
      </p:sp>
      <p:sp>
        <p:nvSpPr>
          <p:cNvPr id="20" name="Text 17"/>
          <p:cNvSpPr/>
          <p:nvPr/>
        </p:nvSpPr>
        <p:spPr>
          <a:xfrm>
            <a:off x="4846320" y="1298448"/>
            <a:ext cx="3657600" cy="292608"/>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Resources: type @</a:t>
            </a:r>
            <a:endParaRPr lang="en-US" sz="1300" dirty="0"/>
          </a:p>
        </p:txBody>
      </p:sp>
      <p:sp>
        <p:nvSpPr>
          <p:cNvPr id="21" name="Text 18"/>
          <p:cNvSpPr/>
          <p:nvPr/>
        </p:nvSpPr>
        <p:spPr>
          <a:xfrm>
            <a:off x="4846320" y="1664208"/>
            <a:ext cx="2240280" cy="292608"/>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logs://datasets</a:t>
            </a:r>
            <a:endParaRPr lang="en-US" sz="950" dirty="0"/>
          </a:p>
        </p:txBody>
      </p:sp>
      <p:sp>
        <p:nvSpPr>
          <p:cNvPr id="22" name="Text 19"/>
          <p:cNvSpPr/>
          <p:nvPr/>
        </p:nvSpPr>
        <p:spPr>
          <a:xfrm>
            <a:off x="7086600" y="1664208"/>
            <a:ext cx="1508760" cy="292608"/>
          </a:xfrm>
          <a:prstGeom prst="rect">
            <a:avLst/>
          </a:prstGeom>
          <a:noFill/>
          <a:ln/>
        </p:spPr>
        <p:txBody>
          <a:bodyPr wrap="square" lIns="0" tIns="0" rIns="0" bIns="0" rtlCol="0" anchor="ctr"/>
          <a:lstStyle/>
          <a:p>
            <a:pPr indent="0" marL="0">
              <a:buNone/>
            </a:pPr>
            <a:r>
              <a:rPr lang="en-US" sz="950" dirty="0">
                <a:solidFill>
                  <a:srgbClr val="3A3F55"/>
                </a:solidFill>
                <a:latin typeface="Avenir Next" pitchFamily="34" charset="0"/>
                <a:ea typeface="Avenir Next" pitchFamily="34" charset="-122"/>
                <a:cs typeface="Avenir Next" pitchFamily="34" charset="-120"/>
              </a:rPr>
              <a:t>what is loaded</a:t>
            </a:r>
            <a:endParaRPr lang="en-US" sz="950" dirty="0"/>
          </a:p>
        </p:txBody>
      </p:sp>
      <p:sp>
        <p:nvSpPr>
          <p:cNvPr id="23" name="Text 20"/>
          <p:cNvSpPr/>
          <p:nvPr/>
        </p:nvSpPr>
        <p:spPr>
          <a:xfrm>
            <a:off x="4846320" y="1993392"/>
            <a:ext cx="2240280" cy="292608"/>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logs://glossary</a:t>
            </a:r>
            <a:endParaRPr lang="en-US" sz="950" dirty="0"/>
          </a:p>
        </p:txBody>
      </p:sp>
      <p:sp>
        <p:nvSpPr>
          <p:cNvPr id="24" name="Text 21"/>
          <p:cNvSpPr/>
          <p:nvPr/>
        </p:nvSpPr>
        <p:spPr>
          <a:xfrm>
            <a:off x="7086600" y="1993392"/>
            <a:ext cx="1508760" cy="292608"/>
          </a:xfrm>
          <a:prstGeom prst="rect">
            <a:avLst/>
          </a:prstGeom>
          <a:noFill/>
          <a:ln/>
        </p:spPr>
        <p:txBody>
          <a:bodyPr wrap="square" lIns="0" tIns="0" rIns="0" bIns="0" rtlCol="0" anchor="ctr"/>
          <a:lstStyle/>
          <a:p>
            <a:pPr indent="0" marL="0">
              <a:buNone/>
            </a:pPr>
            <a:r>
              <a:rPr lang="en-US" sz="950" dirty="0">
                <a:solidFill>
                  <a:srgbClr val="3A3F55"/>
                </a:solidFill>
                <a:latin typeface="Avenir Next" pitchFamily="34" charset="0"/>
                <a:ea typeface="Avenir Next" pitchFamily="34" charset="-122"/>
                <a:cs typeface="Avenir Next" pitchFamily="34" charset="-120"/>
              </a:rPr>
              <a:t>line, pattern, burst; the rules</a:t>
            </a:r>
            <a:endParaRPr lang="en-US" sz="950" dirty="0"/>
          </a:p>
        </p:txBody>
      </p:sp>
      <p:sp>
        <p:nvSpPr>
          <p:cNvPr id="25" name="Text 22"/>
          <p:cNvSpPr/>
          <p:nvPr/>
        </p:nvSpPr>
        <p:spPr>
          <a:xfrm>
            <a:off x="4846320" y="2322576"/>
            <a:ext cx="2240280" cy="292608"/>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logs://field-guide/{dataset}</a:t>
            </a:r>
            <a:endParaRPr lang="en-US" sz="950" dirty="0"/>
          </a:p>
        </p:txBody>
      </p:sp>
      <p:sp>
        <p:nvSpPr>
          <p:cNvPr id="26" name="Text 23"/>
          <p:cNvSpPr/>
          <p:nvPr/>
        </p:nvSpPr>
        <p:spPr>
          <a:xfrm>
            <a:off x="7086600" y="2322576"/>
            <a:ext cx="1508760" cy="292608"/>
          </a:xfrm>
          <a:prstGeom prst="rect">
            <a:avLst/>
          </a:prstGeom>
          <a:noFill/>
          <a:ln/>
        </p:spPr>
        <p:txBody>
          <a:bodyPr wrap="square" lIns="0" tIns="0" rIns="0" bIns="0" rtlCol="0" anchor="ctr"/>
          <a:lstStyle/>
          <a:p>
            <a:pPr indent="0" marL="0">
              <a:buNone/>
            </a:pPr>
            <a:r>
              <a:rPr lang="en-US" sz="950" dirty="0">
                <a:solidFill>
                  <a:srgbClr val="3A3F55"/>
                </a:solidFill>
                <a:latin typeface="Avenir Next" pitchFamily="34" charset="0"/>
                <a:ea typeface="Avenir Next" pitchFamily="34" charset="-122"/>
                <a:cs typeface="Avenir Next" pitchFamily="34" charset="-120"/>
              </a:rPr>
              <a:t>what each field means</a:t>
            </a:r>
            <a:endParaRPr lang="en-US" sz="950" dirty="0"/>
          </a:p>
        </p:txBody>
      </p:sp>
      <p:sp>
        <p:nvSpPr>
          <p:cNvPr id="27" name="Text 24"/>
          <p:cNvSpPr/>
          <p:nvPr/>
        </p:nvSpPr>
        <p:spPr>
          <a:xfrm>
            <a:off x="4846320" y="2651760"/>
            <a:ext cx="2240280" cy="292608"/>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logs://ownership/{dataset}</a:t>
            </a:r>
            <a:endParaRPr lang="en-US" sz="950" dirty="0"/>
          </a:p>
        </p:txBody>
      </p:sp>
      <p:sp>
        <p:nvSpPr>
          <p:cNvPr id="28" name="Text 25"/>
          <p:cNvSpPr/>
          <p:nvPr/>
        </p:nvSpPr>
        <p:spPr>
          <a:xfrm>
            <a:off x="7086600" y="2651760"/>
            <a:ext cx="1508760" cy="292608"/>
          </a:xfrm>
          <a:prstGeom prst="rect">
            <a:avLst/>
          </a:prstGeom>
          <a:noFill/>
          <a:ln/>
        </p:spPr>
        <p:txBody>
          <a:bodyPr wrap="square" lIns="0" tIns="0" rIns="0" bIns="0" rtlCol="0" anchor="ctr"/>
          <a:lstStyle/>
          <a:p>
            <a:pPr indent="0" marL="0">
              <a:buNone/>
            </a:pPr>
            <a:r>
              <a:rPr lang="en-US" sz="950" dirty="0">
                <a:solidFill>
                  <a:srgbClr val="3A3F55"/>
                </a:solidFill>
                <a:latin typeface="Avenir Next" pitchFamily="34" charset="0"/>
                <a:ea typeface="Avenir Next" pitchFamily="34" charset="-122"/>
                <a:cs typeface="Avenir Next" pitchFamily="34" charset="-120"/>
              </a:rPr>
              <a:t>component → team</a:t>
            </a:r>
            <a:endParaRPr lang="en-US" sz="950" dirty="0"/>
          </a:p>
        </p:txBody>
      </p:sp>
      <p:sp>
        <p:nvSpPr>
          <p:cNvPr id="29" name="Text 26"/>
          <p:cNvSpPr/>
          <p:nvPr/>
        </p:nvSpPr>
        <p:spPr>
          <a:xfrm>
            <a:off x="4846320" y="2980944"/>
            <a:ext cx="2240280" cy="292608"/>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logs://session/latest</a:t>
            </a:r>
            <a:endParaRPr lang="en-US" sz="950" dirty="0"/>
          </a:p>
        </p:txBody>
      </p:sp>
      <p:sp>
        <p:nvSpPr>
          <p:cNvPr id="30" name="Text 27"/>
          <p:cNvSpPr/>
          <p:nvPr/>
        </p:nvSpPr>
        <p:spPr>
          <a:xfrm>
            <a:off x="7086600" y="2980944"/>
            <a:ext cx="1508760" cy="292608"/>
          </a:xfrm>
          <a:prstGeom prst="rect">
            <a:avLst/>
          </a:prstGeom>
          <a:noFill/>
          <a:ln/>
        </p:spPr>
        <p:txBody>
          <a:bodyPr wrap="square" lIns="0" tIns="0" rIns="0" bIns="0" rtlCol="0" anchor="ctr"/>
          <a:lstStyle/>
          <a:p>
            <a:pPr indent="0" marL="0">
              <a:buNone/>
            </a:pPr>
            <a:r>
              <a:rPr lang="en-US" sz="950" dirty="0">
                <a:solidFill>
                  <a:srgbClr val="3A3F55"/>
                </a:solidFill>
                <a:latin typeface="Avenir Next" pitchFamily="34" charset="0"/>
                <a:ea typeface="Avenir Next" pitchFamily="34" charset="-122"/>
                <a:cs typeface="Avenir Next" pitchFamily="34" charset="-120"/>
              </a:rPr>
              <a:t>every query so far</a:t>
            </a:r>
            <a:endParaRPr lang="en-US" sz="950" dirty="0"/>
          </a:p>
        </p:txBody>
      </p:sp>
      <p:sp>
        <p:nvSpPr>
          <p:cNvPr id="31" name="Text 28"/>
          <p:cNvSpPr/>
          <p:nvPr/>
        </p:nvSpPr>
        <p:spPr>
          <a:xfrm>
            <a:off x="4846320" y="3310128"/>
            <a:ext cx="2240280" cy="292608"/>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logs://session/{id}/step/{n}</a:t>
            </a:r>
            <a:endParaRPr lang="en-US" sz="950" dirty="0"/>
          </a:p>
        </p:txBody>
      </p:sp>
      <p:sp>
        <p:nvSpPr>
          <p:cNvPr id="32" name="Text 29"/>
          <p:cNvSpPr/>
          <p:nvPr/>
        </p:nvSpPr>
        <p:spPr>
          <a:xfrm>
            <a:off x="7086600" y="3310128"/>
            <a:ext cx="1508760" cy="292608"/>
          </a:xfrm>
          <a:prstGeom prst="rect">
            <a:avLst/>
          </a:prstGeom>
          <a:noFill/>
          <a:ln/>
        </p:spPr>
        <p:txBody>
          <a:bodyPr wrap="square" lIns="0" tIns="0" rIns="0" bIns="0" rtlCol="0" anchor="ctr"/>
          <a:lstStyle/>
          <a:p>
            <a:pPr indent="0" marL="0">
              <a:buNone/>
            </a:pPr>
            <a:r>
              <a:rPr lang="en-US" sz="950" dirty="0">
                <a:solidFill>
                  <a:srgbClr val="3A3F55"/>
                </a:solidFill>
                <a:latin typeface="Avenir Next" pitchFamily="34" charset="0"/>
                <a:ea typeface="Avenir Next" pitchFamily="34" charset="-122"/>
                <a:cs typeface="Avenir Next" pitchFamily="34" charset="-120"/>
              </a:rPr>
              <a:t>one step in full</a:t>
            </a:r>
            <a:endParaRPr lang="en-US" sz="950" dirty="0"/>
          </a:p>
        </p:txBody>
      </p:sp>
      <p:sp>
        <p:nvSpPr>
          <p:cNvPr id="33" name="Shape 30"/>
          <p:cNvSpPr/>
          <p:nvPr/>
        </p:nvSpPr>
        <p:spPr>
          <a:xfrm>
            <a:off x="4663440" y="3840480"/>
            <a:ext cx="4023360" cy="685800"/>
          </a:xfrm>
          <a:prstGeom prst="roundRect">
            <a:avLst>
              <a:gd name="adj" fmla="val 18667"/>
            </a:avLst>
          </a:prstGeom>
          <a:solidFill>
            <a:srgbClr val="F1ECFD"/>
          </a:solidFill>
          <a:ln/>
        </p:spPr>
      </p:sp>
      <p:sp>
        <p:nvSpPr>
          <p:cNvPr id="34" name="Text 31"/>
          <p:cNvSpPr/>
          <p:nvPr/>
        </p:nvSpPr>
        <p:spPr>
          <a:xfrm>
            <a:off x="4846320" y="3840480"/>
            <a:ext cx="3703320" cy="685800"/>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Completions  </a:t>
            </a:r>
            <a:pPr indent="0" marL="0">
              <a:buNone/>
            </a:pPr>
            <a:r>
              <a:rPr lang="en-US" sz="1050" dirty="0">
                <a:solidFill>
                  <a:srgbClr val="3A3F55"/>
                </a:solidFill>
                <a:latin typeface="Avenir Next" pitchFamily="34" charset="0"/>
                <a:ea typeface="Avenir Next" pitchFamily="34" charset="-122"/>
                <a:cs typeface="Avenir Next" pitchFamily="34" charset="-120"/>
              </a:rPr>
              <a:t>Prompt arguments suggest real datasets, components, teams and levels as you type.</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Technical · MCP</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15</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TECHNICAL · SETUP AND CONTROL</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Connect, load, restrict, verify</a:t>
            </a:r>
            <a:endParaRPr lang="en-US" sz="2600" dirty="0"/>
          </a:p>
        </p:txBody>
      </p:sp>
      <p:sp>
        <p:nvSpPr>
          <p:cNvPr id="7" name="Shape 4"/>
          <p:cNvSpPr/>
          <p:nvPr/>
        </p:nvSpPr>
        <p:spPr>
          <a:xfrm>
            <a:off x="457200" y="1188720"/>
            <a:ext cx="8229600" cy="731520"/>
          </a:xfrm>
          <a:prstGeom prst="roundRect">
            <a:avLst>
              <a:gd name="adj" fmla="val 175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21792" y="1344168"/>
            <a:ext cx="420624" cy="420624"/>
          </a:xfrm>
          <a:prstGeom prst="rect">
            <a:avLst/>
          </a:prstGeom>
        </p:spPr>
      </p:pic>
      <p:pic>
        <p:nvPicPr>
          <p:cNvPr id="9" name="Image 2" descr="preencoded.png">    </p:cNvPr>
          <p:cNvPicPr>
            <a:picLocks noChangeAspect="1"/>
          </p:cNvPicPr>
          <p:nvPr/>
        </p:nvPicPr>
        <p:blipFill>
          <a:blip r:embed="rId3"/>
          <a:stretch>
            <a:fillRect/>
          </a:stretch>
        </p:blipFill>
        <p:spPr>
          <a:xfrm>
            <a:off x="731154" y="1453530"/>
            <a:ext cx="201900" cy="201900"/>
          </a:xfrm>
          <a:prstGeom prst="rect">
            <a:avLst/>
          </a:prstGeom>
        </p:spPr>
      </p:pic>
      <p:sp>
        <p:nvSpPr>
          <p:cNvPr id="10" name="Text 5"/>
          <p:cNvSpPr/>
          <p:nvPr/>
        </p:nvSpPr>
        <p:spPr>
          <a:xfrm>
            <a:off x="1188720" y="1188720"/>
            <a:ext cx="1188720" cy="73152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Connect</a:t>
            </a:r>
            <a:endParaRPr lang="en-US" sz="1400" dirty="0"/>
          </a:p>
        </p:txBody>
      </p:sp>
      <p:sp>
        <p:nvSpPr>
          <p:cNvPr id="11" name="Text 6"/>
          <p:cNvSpPr/>
          <p:nvPr/>
        </p:nvSpPr>
        <p:spPr>
          <a:xfrm>
            <a:off x="2377440" y="1188720"/>
            <a:ext cx="6172200" cy="731520"/>
          </a:xfrm>
          <a:prstGeom prst="rect">
            <a:avLst/>
          </a:prstGeom>
          <a:noFill/>
          <a:ln/>
        </p:spPr>
        <p:txBody>
          <a:bodyPr wrap="square" lIns="0" tIns="0" rIns="0" bIns="0" rtlCol="0" anchor="ctr"/>
          <a:lstStyle/>
          <a:p>
            <a:pPr indent="0" marL="0">
              <a:buNone/>
            </a:pPr>
            <a:r>
              <a:rPr lang="en-US" sz="1050" dirty="0">
                <a:solidFill>
                  <a:srgbClr val="3A3F55"/>
                </a:solidFill>
                <a:latin typeface="Avenir Next" pitchFamily="34" charset="0"/>
                <a:ea typeface="Avenir Next" pitchFamily="34" charset="-122"/>
                <a:cs typeface="Avenir Next" pitchFamily="34" charset="-120"/>
              </a:rPr>
              <a:t>In the repo, run claude (it reads .mcp.json). From anywhere: claude mcp add -s user logs -- uv run … python mcp_server/server.py</a:t>
            </a:r>
            <a:endParaRPr lang="en-US" sz="1050" dirty="0"/>
          </a:p>
        </p:txBody>
      </p:sp>
      <p:sp>
        <p:nvSpPr>
          <p:cNvPr id="12" name="Shape 7"/>
          <p:cNvSpPr/>
          <p:nvPr/>
        </p:nvSpPr>
        <p:spPr>
          <a:xfrm>
            <a:off x="457200" y="2029968"/>
            <a:ext cx="8229600" cy="731520"/>
          </a:xfrm>
          <a:prstGeom prst="roundRect">
            <a:avLst>
              <a:gd name="adj" fmla="val 17500"/>
            </a:avLst>
          </a:prstGeom>
          <a:solidFill>
            <a:srgbClr val="FFFFFF"/>
          </a:solidFill>
          <a:ln w="12700">
            <a:solidFill>
              <a:srgbClr val="E3E6EC"/>
            </a:solidFill>
            <a:prstDash val="solid"/>
          </a:ln>
        </p:spPr>
      </p:sp>
      <p:pic>
        <p:nvPicPr>
          <p:cNvPr id="13" name="Image 3" descr="preencoded.png">    </p:cNvPr>
          <p:cNvPicPr>
            <a:picLocks noChangeAspect="1"/>
          </p:cNvPicPr>
          <p:nvPr/>
        </p:nvPicPr>
        <p:blipFill>
          <a:blip r:embed="rId4"/>
          <a:stretch>
            <a:fillRect/>
          </a:stretch>
        </p:blipFill>
        <p:spPr>
          <a:xfrm>
            <a:off x="621792" y="2185416"/>
            <a:ext cx="420624" cy="420624"/>
          </a:xfrm>
          <a:prstGeom prst="rect">
            <a:avLst/>
          </a:prstGeom>
        </p:spPr>
      </p:pic>
      <p:pic>
        <p:nvPicPr>
          <p:cNvPr id="14" name="Image 4" descr="preencoded.png">    </p:cNvPr>
          <p:cNvPicPr>
            <a:picLocks noChangeAspect="1"/>
          </p:cNvPicPr>
          <p:nvPr/>
        </p:nvPicPr>
        <p:blipFill>
          <a:blip r:embed="rId5"/>
          <a:stretch>
            <a:fillRect/>
          </a:stretch>
        </p:blipFill>
        <p:spPr>
          <a:xfrm>
            <a:off x="731154" y="2294778"/>
            <a:ext cx="201900" cy="201900"/>
          </a:xfrm>
          <a:prstGeom prst="rect">
            <a:avLst/>
          </a:prstGeom>
        </p:spPr>
      </p:pic>
      <p:sp>
        <p:nvSpPr>
          <p:cNvPr id="15" name="Text 8"/>
          <p:cNvSpPr/>
          <p:nvPr/>
        </p:nvSpPr>
        <p:spPr>
          <a:xfrm>
            <a:off x="1188720" y="2029968"/>
            <a:ext cx="1188720" cy="73152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Load</a:t>
            </a:r>
            <a:endParaRPr lang="en-US" sz="1400" dirty="0"/>
          </a:p>
        </p:txBody>
      </p:sp>
      <p:sp>
        <p:nvSpPr>
          <p:cNvPr id="16" name="Text 9"/>
          <p:cNvSpPr/>
          <p:nvPr/>
        </p:nvSpPr>
        <p:spPr>
          <a:xfrm>
            <a:off x="2377440" y="2029968"/>
            <a:ext cx="6172200" cy="731520"/>
          </a:xfrm>
          <a:prstGeom prst="rect">
            <a:avLst/>
          </a:prstGeom>
          <a:noFill/>
          <a:ln/>
        </p:spPr>
        <p:txBody>
          <a:bodyPr wrap="square" lIns="0" tIns="0" rIns="0" bIns="0" rtlCol="0" anchor="ctr"/>
          <a:lstStyle/>
          <a:p>
            <a:pPr indent="0" marL="0">
              <a:buNone/>
            </a:pPr>
            <a:r>
              <a:rPr lang="en-US" sz="1050" dirty="0">
                <a:solidFill>
                  <a:srgbClr val="3A3F55"/>
                </a:solidFill>
                <a:latin typeface="Avenir Next" pitchFamily="34" charset="0"/>
                <a:ea typeface="Avenir Next" pitchFamily="34" charset="-122"/>
                <a:cs typeface="Avenir Next" pitchFamily="34" charset="-120"/>
              </a:rPr>
              <a:t>load_logs('base') = BGL + OpenStack from the brief's Zenodo links in 72 s. load_logs('~/app.log') detects the format from 76 known ones and refuses below 95 % match.</a:t>
            </a:r>
            <a:endParaRPr lang="en-US" sz="1050" dirty="0"/>
          </a:p>
        </p:txBody>
      </p:sp>
      <p:sp>
        <p:nvSpPr>
          <p:cNvPr id="17" name="Shape 10"/>
          <p:cNvSpPr/>
          <p:nvPr/>
        </p:nvSpPr>
        <p:spPr>
          <a:xfrm>
            <a:off x="457200" y="2871216"/>
            <a:ext cx="8229600" cy="731520"/>
          </a:xfrm>
          <a:prstGeom prst="roundRect">
            <a:avLst>
              <a:gd name="adj" fmla="val 17500"/>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21792" y="3026664"/>
            <a:ext cx="420624" cy="420624"/>
          </a:xfrm>
          <a:prstGeom prst="rect">
            <a:avLst/>
          </a:prstGeom>
        </p:spPr>
      </p:pic>
      <p:pic>
        <p:nvPicPr>
          <p:cNvPr id="19" name="Image 6" descr="preencoded.png">    </p:cNvPr>
          <p:cNvPicPr>
            <a:picLocks noChangeAspect="1"/>
          </p:cNvPicPr>
          <p:nvPr/>
        </p:nvPicPr>
        <p:blipFill>
          <a:blip r:embed="rId7"/>
          <a:stretch>
            <a:fillRect/>
          </a:stretch>
        </p:blipFill>
        <p:spPr>
          <a:xfrm>
            <a:off x="731154" y="3136026"/>
            <a:ext cx="201900" cy="201900"/>
          </a:xfrm>
          <a:prstGeom prst="rect">
            <a:avLst/>
          </a:prstGeom>
        </p:spPr>
      </p:pic>
      <p:sp>
        <p:nvSpPr>
          <p:cNvPr id="20" name="Text 11"/>
          <p:cNvSpPr/>
          <p:nvPr/>
        </p:nvSpPr>
        <p:spPr>
          <a:xfrm>
            <a:off x="1188720" y="2871216"/>
            <a:ext cx="1188720" cy="73152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Restrict</a:t>
            </a:r>
            <a:endParaRPr lang="en-US" sz="1400" dirty="0"/>
          </a:p>
        </p:txBody>
      </p:sp>
      <p:sp>
        <p:nvSpPr>
          <p:cNvPr id="21" name="Text 12"/>
          <p:cNvSpPr/>
          <p:nvPr/>
        </p:nvSpPr>
        <p:spPr>
          <a:xfrm>
            <a:off x="2377440" y="2871216"/>
            <a:ext cx="6172200" cy="731520"/>
          </a:xfrm>
          <a:prstGeom prst="rect">
            <a:avLst/>
          </a:prstGeom>
          <a:noFill/>
          <a:ln/>
        </p:spPr>
        <p:txBody>
          <a:bodyPr wrap="square" lIns="0" tIns="0" rIns="0" bIns="0" rtlCol="0" anchor="ctr"/>
          <a:lstStyle/>
          <a:p>
            <a:pPr indent="0" marL="0">
              <a:buNone/>
            </a:pPr>
            <a:r>
              <a:rPr lang="en-US" sz="1050" dirty="0">
                <a:solidFill>
                  <a:srgbClr val="3A3F55"/>
                </a:solidFill>
                <a:latin typeface="Avenir Next" pitchFamily="34" charset="0"/>
                <a:ea typeface="Avenir Next" pitchFamily="34" charset="-122"/>
                <a:cs typeface="Avenir Next" pitchFamily="34" charset="-120"/>
              </a:rPr>
              <a:t>LOGS_DB_ROLE=team_&lt;team&gt;: the database shows a team only its own components. logs_manager is read-only.</a:t>
            </a:r>
            <a:endParaRPr lang="en-US" sz="1050" dirty="0"/>
          </a:p>
        </p:txBody>
      </p:sp>
      <p:sp>
        <p:nvSpPr>
          <p:cNvPr id="22" name="Shape 13"/>
          <p:cNvSpPr/>
          <p:nvPr/>
        </p:nvSpPr>
        <p:spPr>
          <a:xfrm>
            <a:off x="457200" y="3712464"/>
            <a:ext cx="8229600" cy="731520"/>
          </a:xfrm>
          <a:prstGeom prst="roundRect">
            <a:avLst>
              <a:gd name="adj" fmla="val 17500"/>
            </a:avLst>
          </a:prstGeom>
          <a:solidFill>
            <a:srgbClr val="FFFFFF"/>
          </a:solidFill>
          <a:ln w="12700">
            <a:solidFill>
              <a:srgbClr val="E3E6EC"/>
            </a:solidFill>
            <a:prstDash val="solid"/>
          </a:ln>
        </p:spPr>
      </p:sp>
      <p:pic>
        <p:nvPicPr>
          <p:cNvPr id="23" name="Image 7" descr="preencoded.png">    </p:cNvPr>
          <p:cNvPicPr>
            <a:picLocks noChangeAspect="1"/>
          </p:cNvPicPr>
          <p:nvPr/>
        </p:nvPicPr>
        <p:blipFill>
          <a:blip r:embed="rId8"/>
          <a:stretch>
            <a:fillRect/>
          </a:stretch>
        </p:blipFill>
        <p:spPr>
          <a:xfrm>
            <a:off x="621792" y="3867912"/>
            <a:ext cx="420624" cy="420624"/>
          </a:xfrm>
          <a:prstGeom prst="rect">
            <a:avLst/>
          </a:prstGeom>
        </p:spPr>
      </p:pic>
      <p:pic>
        <p:nvPicPr>
          <p:cNvPr id="24" name="Image 8" descr="preencoded.png">    </p:cNvPr>
          <p:cNvPicPr>
            <a:picLocks noChangeAspect="1"/>
          </p:cNvPicPr>
          <p:nvPr/>
        </p:nvPicPr>
        <p:blipFill>
          <a:blip r:embed="rId9"/>
          <a:stretch>
            <a:fillRect/>
          </a:stretch>
        </p:blipFill>
        <p:spPr>
          <a:xfrm>
            <a:off x="731154" y="3977274"/>
            <a:ext cx="201900" cy="201900"/>
          </a:xfrm>
          <a:prstGeom prst="rect">
            <a:avLst/>
          </a:prstGeom>
        </p:spPr>
      </p:pic>
      <p:sp>
        <p:nvSpPr>
          <p:cNvPr id="25" name="Text 14"/>
          <p:cNvSpPr/>
          <p:nvPr/>
        </p:nvSpPr>
        <p:spPr>
          <a:xfrm>
            <a:off x="1188720" y="3712464"/>
            <a:ext cx="1188720" cy="73152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Verify</a:t>
            </a:r>
            <a:endParaRPr lang="en-US" sz="1400" dirty="0"/>
          </a:p>
        </p:txBody>
      </p:sp>
      <p:sp>
        <p:nvSpPr>
          <p:cNvPr id="26" name="Text 15"/>
          <p:cNvSpPr/>
          <p:nvPr/>
        </p:nvSpPr>
        <p:spPr>
          <a:xfrm>
            <a:off x="2377440" y="3712464"/>
            <a:ext cx="6172200" cy="731520"/>
          </a:xfrm>
          <a:prstGeom prst="rect">
            <a:avLst/>
          </a:prstGeom>
          <a:noFill/>
          <a:ln/>
        </p:spPr>
        <p:txBody>
          <a:bodyPr wrap="square" lIns="0" tIns="0" rIns="0" bIns="0" rtlCol="0" anchor="ctr"/>
          <a:lstStyle/>
          <a:p>
            <a:pPr indent="0" marL="0">
              <a:buNone/>
            </a:pPr>
            <a:r>
              <a:rPr lang="en-US" sz="1050" dirty="0">
                <a:solidFill>
                  <a:srgbClr val="3A3F55"/>
                </a:solidFill>
                <a:latin typeface="Avenir Next" pitchFamily="34" charset="0"/>
                <a:ea typeface="Avenir Next" pitchFamily="34" charset="-122"/>
                <a:cs typeface="Avenir Next" pitchFamily="34" charset="-120"/>
              </a:rPr>
              <a:t>session_report gives a local page: the answer, each number linked to its query, and a Verify button that re-runs each step read-only.</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Wow</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16</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WOW</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Beyond what the brief asked for</a:t>
            </a:r>
            <a:endParaRPr lang="en-US" sz="2600" dirty="0"/>
          </a:p>
        </p:txBody>
      </p:sp>
      <p:sp>
        <p:nvSpPr>
          <p:cNvPr id="7" name="Shape 4"/>
          <p:cNvSpPr/>
          <p:nvPr/>
        </p:nvSpPr>
        <p:spPr>
          <a:xfrm>
            <a:off x="457200" y="1188720"/>
            <a:ext cx="2606040" cy="1554480"/>
          </a:xfrm>
          <a:prstGeom prst="roundRect">
            <a:avLst>
              <a:gd name="adj" fmla="val 8235"/>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58368" y="1389888"/>
            <a:ext cx="420624" cy="420624"/>
          </a:xfrm>
          <a:prstGeom prst="rect">
            <a:avLst/>
          </a:prstGeom>
        </p:spPr>
      </p:pic>
      <p:pic>
        <p:nvPicPr>
          <p:cNvPr id="9" name="Image 2" descr="preencoded.png">    </p:cNvPr>
          <p:cNvPicPr>
            <a:picLocks noChangeAspect="1"/>
          </p:cNvPicPr>
          <p:nvPr/>
        </p:nvPicPr>
        <p:blipFill>
          <a:blip r:embed="rId3"/>
          <a:stretch>
            <a:fillRect/>
          </a:stretch>
        </p:blipFill>
        <p:spPr>
          <a:xfrm>
            <a:off x="767730" y="1499250"/>
            <a:ext cx="201900" cy="201900"/>
          </a:xfrm>
          <a:prstGeom prst="rect">
            <a:avLst/>
          </a:prstGeom>
        </p:spPr>
      </p:pic>
      <p:sp>
        <p:nvSpPr>
          <p:cNvPr id="10" name="Text 5"/>
          <p:cNvSpPr/>
          <p:nvPr/>
        </p:nvSpPr>
        <p:spPr>
          <a:xfrm>
            <a:off x="658368" y="1901952"/>
            <a:ext cx="2240280" cy="27432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Bring your own logs</a:t>
            </a:r>
            <a:endParaRPr lang="en-US" sz="1250" dirty="0"/>
          </a:p>
        </p:txBody>
      </p:sp>
      <p:sp>
        <p:nvSpPr>
          <p:cNvPr id="11" name="Text 6"/>
          <p:cNvSpPr/>
          <p:nvPr/>
        </p:nvSpPr>
        <p:spPr>
          <a:xfrm>
            <a:off x="658368" y="2194560"/>
            <a:ext cx="2240280" cy="502920"/>
          </a:xfrm>
          <a:prstGeom prst="rect">
            <a:avLst/>
          </a:prstGeom>
          <a:noFill/>
          <a:ln/>
        </p:spPr>
        <p:txBody>
          <a:bodyPr wrap="square" lIns="0" tIns="0" rIns="0" bIns="0" rtlCol="0" anchor="t"/>
          <a:lstStyle/>
          <a:p>
            <a:pPr indent="0" marL="0">
              <a:buNone/>
            </a:pPr>
            <a:r>
              <a:rPr lang="en-US" sz="950" dirty="0">
                <a:solidFill>
                  <a:srgbClr val="3A3F55"/>
                </a:solidFill>
                <a:latin typeface="Avenir Next" pitchFamily="34" charset="0"/>
                <a:ea typeface="Avenir Next" pitchFamily="34" charset="-122"/>
                <a:cs typeface="Avenir Next" pitchFamily="34" charset="-120"/>
              </a:rPr>
              <a:t>Any file, format detected, loaded in seconds (21 k lines in 1.6 s). 10 Loghub datasets, no code change.</a:t>
            </a:r>
            <a:endParaRPr lang="en-US" sz="950" dirty="0"/>
          </a:p>
        </p:txBody>
      </p:sp>
      <p:sp>
        <p:nvSpPr>
          <p:cNvPr id="12" name="Shape 7"/>
          <p:cNvSpPr/>
          <p:nvPr/>
        </p:nvSpPr>
        <p:spPr>
          <a:xfrm>
            <a:off x="3246120" y="1188720"/>
            <a:ext cx="2606040" cy="1554480"/>
          </a:xfrm>
          <a:prstGeom prst="roundRect">
            <a:avLst>
              <a:gd name="adj" fmla="val 8235"/>
            </a:avLst>
          </a:prstGeom>
          <a:solidFill>
            <a:srgbClr val="F1ECFD"/>
          </a:solidFill>
          <a:ln/>
        </p:spPr>
      </p:sp>
      <p:pic>
        <p:nvPicPr>
          <p:cNvPr id="13" name="Image 3" descr="preencoded.png">    </p:cNvPr>
          <p:cNvPicPr>
            <a:picLocks noChangeAspect="1"/>
          </p:cNvPicPr>
          <p:nvPr/>
        </p:nvPicPr>
        <p:blipFill>
          <a:blip r:embed="rId4"/>
          <a:stretch>
            <a:fillRect/>
          </a:stretch>
        </p:blipFill>
        <p:spPr>
          <a:xfrm>
            <a:off x="3447288" y="1389888"/>
            <a:ext cx="420624" cy="420624"/>
          </a:xfrm>
          <a:prstGeom prst="rect">
            <a:avLst/>
          </a:prstGeom>
        </p:spPr>
      </p:pic>
      <p:pic>
        <p:nvPicPr>
          <p:cNvPr id="14" name="Image 4" descr="preencoded.png">    </p:cNvPr>
          <p:cNvPicPr>
            <a:picLocks noChangeAspect="1"/>
          </p:cNvPicPr>
          <p:nvPr/>
        </p:nvPicPr>
        <p:blipFill>
          <a:blip r:embed="rId5"/>
          <a:stretch>
            <a:fillRect/>
          </a:stretch>
        </p:blipFill>
        <p:spPr>
          <a:xfrm>
            <a:off x="3556650" y="1499250"/>
            <a:ext cx="201900" cy="201900"/>
          </a:xfrm>
          <a:prstGeom prst="rect">
            <a:avLst/>
          </a:prstGeom>
        </p:spPr>
      </p:pic>
      <p:sp>
        <p:nvSpPr>
          <p:cNvPr id="15" name="Text 8"/>
          <p:cNvSpPr/>
          <p:nvPr/>
        </p:nvSpPr>
        <p:spPr>
          <a:xfrm>
            <a:off x="3447288" y="1901952"/>
            <a:ext cx="2240280" cy="27432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A Verify button</a:t>
            </a:r>
            <a:endParaRPr lang="en-US" sz="1250" dirty="0"/>
          </a:p>
        </p:txBody>
      </p:sp>
      <p:sp>
        <p:nvSpPr>
          <p:cNvPr id="16" name="Text 9"/>
          <p:cNvSpPr/>
          <p:nvPr/>
        </p:nvSpPr>
        <p:spPr>
          <a:xfrm>
            <a:off x="3447288" y="2194560"/>
            <a:ext cx="2240280" cy="502920"/>
          </a:xfrm>
          <a:prstGeom prst="rect">
            <a:avLst/>
          </a:prstGeom>
          <a:noFill/>
          <a:ln/>
        </p:spPr>
        <p:txBody>
          <a:bodyPr wrap="square" lIns="0" tIns="0" rIns="0" bIns="0" rtlCol="0" anchor="t"/>
          <a:lstStyle/>
          <a:p>
            <a:pPr indent="0" marL="0">
              <a:buNone/>
            </a:pPr>
            <a:r>
              <a:rPr lang="en-US" sz="950" dirty="0">
                <a:solidFill>
                  <a:srgbClr val="3A3F55"/>
                </a:solidFill>
                <a:latin typeface="Avenir Next" pitchFamily="34" charset="0"/>
                <a:ea typeface="Avenir Next" pitchFamily="34" charset="-122"/>
                <a:cs typeface="Avenir Next" pitchFamily="34" charset="-120"/>
              </a:rPr>
              <a:t>Re-runs the query behind every number on a read-only connection.</a:t>
            </a:r>
            <a:endParaRPr lang="en-US" sz="950" dirty="0"/>
          </a:p>
        </p:txBody>
      </p:sp>
      <p:sp>
        <p:nvSpPr>
          <p:cNvPr id="17" name="Shape 10"/>
          <p:cNvSpPr/>
          <p:nvPr/>
        </p:nvSpPr>
        <p:spPr>
          <a:xfrm>
            <a:off x="6035040" y="1188720"/>
            <a:ext cx="2606040" cy="1554480"/>
          </a:xfrm>
          <a:prstGeom prst="roundRect">
            <a:avLst>
              <a:gd name="adj" fmla="val 8235"/>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236208" y="1389888"/>
            <a:ext cx="420624" cy="420624"/>
          </a:xfrm>
          <a:prstGeom prst="rect">
            <a:avLst/>
          </a:prstGeom>
        </p:spPr>
      </p:pic>
      <p:pic>
        <p:nvPicPr>
          <p:cNvPr id="19" name="Image 6" descr="preencoded.png">    </p:cNvPr>
          <p:cNvPicPr>
            <a:picLocks noChangeAspect="1"/>
          </p:cNvPicPr>
          <p:nvPr/>
        </p:nvPicPr>
        <p:blipFill>
          <a:blip r:embed="rId7"/>
          <a:stretch>
            <a:fillRect/>
          </a:stretch>
        </p:blipFill>
        <p:spPr>
          <a:xfrm>
            <a:off x="6345570" y="1499250"/>
            <a:ext cx="201900" cy="201900"/>
          </a:xfrm>
          <a:prstGeom prst="rect">
            <a:avLst/>
          </a:prstGeom>
        </p:spPr>
      </p:pic>
      <p:sp>
        <p:nvSpPr>
          <p:cNvPr id="20" name="Text 11"/>
          <p:cNvSpPr/>
          <p:nvPr/>
        </p:nvSpPr>
        <p:spPr>
          <a:xfrm>
            <a:off x="6236208" y="1901952"/>
            <a:ext cx="2240280" cy="27432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Judged once, reused</a:t>
            </a:r>
            <a:endParaRPr lang="en-US" sz="1250" dirty="0"/>
          </a:p>
        </p:txBody>
      </p:sp>
      <p:sp>
        <p:nvSpPr>
          <p:cNvPr id="21" name="Text 12"/>
          <p:cNvSpPr/>
          <p:nvPr/>
        </p:nvSpPr>
        <p:spPr>
          <a:xfrm>
            <a:off x="6236208" y="2194560"/>
            <a:ext cx="2240280" cy="502920"/>
          </a:xfrm>
          <a:prstGeom prst="rect">
            <a:avLst/>
          </a:prstGeom>
          <a:noFill/>
          <a:ln/>
        </p:spPr>
        <p:txBody>
          <a:bodyPr wrap="square" lIns="0" tIns="0" rIns="0" bIns="0" rtlCol="0" anchor="t"/>
          <a:lstStyle/>
          <a:p>
            <a:pPr indent="0" marL="0">
              <a:buNone/>
            </a:pPr>
            <a:r>
              <a:rPr lang="en-US" sz="950" dirty="0">
                <a:solidFill>
                  <a:srgbClr val="3A3F55"/>
                </a:solidFill>
                <a:latin typeface="Avenir Next" pitchFamily="34" charset="0"/>
                <a:ea typeface="Avenir Next" pitchFamily="34" charset="-122"/>
                <a:cs typeface="Avenir Next" pitchFamily="34" charset="-120"/>
              </a:rPr>
              <a:t>Jev labels each kind of message inside the database; nothing re-reads raw lines.</a:t>
            </a:r>
            <a:endParaRPr lang="en-US" sz="950" dirty="0"/>
          </a:p>
        </p:txBody>
      </p:sp>
      <p:sp>
        <p:nvSpPr>
          <p:cNvPr id="22" name="Shape 13"/>
          <p:cNvSpPr/>
          <p:nvPr/>
        </p:nvSpPr>
        <p:spPr>
          <a:xfrm>
            <a:off x="457200" y="2880360"/>
            <a:ext cx="2606040" cy="1554480"/>
          </a:xfrm>
          <a:prstGeom prst="roundRect">
            <a:avLst>
              <a:gd name="adj" fmla="val 8235"/>
            </a:avLst>
          </a:prstGeom>
          <a:solidFill>
            <a:srgbClr val="F1ECFD"/>
          </a:solidFill>
          <a:ln/>
        </p:spPr>
      </p:sp>
      <p:pic>
        <p:nvPicPr>
          <p:cNvPr id="23" name="Image 7" descr="preencoded.png">    </p:cNvPr>
          <p:cNvPicPr>
            <a:picLocks noChangeAspect="1"/>
          </p:cNvPicPr>
          <p:nvPr/>
        </p:nvPicPr>
        <p:blipFill>
          <a:blip r:embed="rId8"/>
          <a:stretch>
            <a:fillRect/>
          </a:stretch>
        </p:blipFill>
        <p:spPr>
          <a:xfrm>
            <a:off x="658368" y="3081528"/>
            <a:ext cx="420624" cy="420624"/>
          </a:xfrm>
          <a:prstGeom prst="rect">
            <a:avLst/>
          </a:prstGeom>
        </p:spPr>
      </p:pic>
      <p:pic>
        <p:nvPicPr>
          <p:cNvPr id="24" name="Image 8" descr="preencoded.png">    </p:cNvPr>
          <p:cNvPicPr>
            <a:picLocks noChangeAspect="1"/>
          </p:cNvPicPr>
          <p:nvPr/>
        </p:nvPicPr>
        <p:blipFill>
          <a:blip r:embed="rId9"/>
          <a:stretch>
            <a:fillRect/>
          </a:stretch>
        </p:blipFill>
        <p:spPr>
          <a:xfrm>
            <a:off x="767730" y="3190890"/>
            <a:ext cx="201900" cy="201900"/>
          </a:xfrm>
          <a:prstGeom prst="rect">
            <a:avLst/>
          </a:prstGeom>
        </p:spPr>
      </p:pic>
      <p:sp>
        <p:nvSpPr>
          <p:cNvPr id="25" name="Text 14"/>
          <p:cNvSpPr/>
          <p:nvPr/>
        </p:nvSpPr>
        <p:spPr>
          <a:xfrm>
            <a:off x="658368" y="3593592"/>
            <a:ext cx="2240280" cy="27432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1 billion remote rows</a:t>
            </a:r>
            <a:endParaRPr lang="en-US" sz="1250" dirty="0"/>
          </a:p>
        </p:txBody>
      </p:sp>
      <p:sp>
        <p:nvSpPr>
          <p:cNvPr id="26" name="Text 15"/>
          <p:cNvSpPr/>
          <p:nvPr/>
        </p:nvSpPr>
        <p:spPr>
          <a:xfrm>
            <a:off x="658368" y="3886200"/>
            <a:ext cx="2240280" cy="502920"/>
          </a:xfrm>
          <a:prstGeom prst="rect">
            <a:avLst/>
          </a:prstGeom>
          <a:noFill/>
          <a:ln/>
        </p:spPr>
        <p:txBody>
          <a:bodyPr wrap="square" lIns="0" tIns="0" rIns="0" bIns="0" rtlCol="0" anchor="t"/>
          <a:lstStyle/>
          <a:p>
            <a:pPr indent="0" marL="0">
              <a:buNone/>
            </a:pPr>
            <a:r>
              <a:rPr lang="en-US" sz="950" dirty="0">
                <a:solidFill>
                  <a:srgbClr val="3A3F55"/>
                </a:solidFill>
                <a:latin typeface="Avenir Next" pitchFamily="34" charset="0"/>
                <a:ea typeface="Avenir Next" pitchFamily="34" charset="-122"/>
                <a:cs typeface="Avenir Next" pitchFamily="34" charset="-120"/>
              </a:rPr>
              <a:t>OpenTelemetry Parquet on S3, queried in place: no download.</a:t>
            </a:r>
            <a:endParaRPr lang="en-US" sz="950" dirty="0"/>
          </a:p>
        </p:txBody>
      </p:sp>
      <p:sp>
        <p:nvSpPr>
          <p:cNvPr id="27" name="Shape 16"/>
          <p:cNvSpPr/>
          <p:nvPr/>
        </p:nvSpPr>
        <p:spPr>
          <a:xfrm>
            <a:off x="3246120" y="2880360"/>
            <a:ext cx="2606040" cy="1554480"/>
          </a:xfrm>
          <a:prstGeom prst="roundRect">
            <a:avLst>
              <a:gd name="adj" fmla="val 8235"/>
            </a:avLst>
          </a:prstGeom>
          <a:solidFill>
            <a:srgbClr val="F0F2F5"/>
          </a:solidFill>
          <a:ln/>
        </p:spPr>
      </p:sp>
      <p:pic>
        <p:nvPicPr>
          <p:cNvPr id="28" name="Image 9" descr="preencoded.png">    </p:cNvPr>
          <p:cNvPicPr>
            <a:picLocks noChangeAspect="1"/>
          </p:cNvPicPr>
          <p:nvPr/>
        </p:nvPicPr>
        <p:blipFill>
          <a:blip r:embed="rId10"/>
          <a:stretch>
            <a:fillRect/>
          </a:stretch>
        </p:blipFill>
        <p:spPr>
          <a:xfrm>
            <a:off x="3447288" y="3081528"/>
            <a:ext cx="420624" cy="420624"/>
          </a:xfrm>
          <a:prstGeom prst="rect">
            <a:avLst/>
          </a:prstGeom>
        </p:spPr>
      </p:pic>
      <p:pic>
        <p:nvPicPr>
          <p:cNvPr id="29" name="Image 10" descr="preencoded.png">    </p:cNvPr>
          <p:cNvPicPr>
            <a:picLocks noChangeAspect="1"/>
          </p:cNvPicPr>
          <p:nvPr/>
        </p:nvPicPr>
        <p:blipFill>
          <a:blip r:embed="rId11"/>
          <a:stretch>
            <a:fillRect/>
          </a:stretch>
        </p:blipFill>
        <p:spPr>
          <a:xfrm>
            <a:off x="3556650" y="3190890"/>
            <a:ext cx="201900" cy="201900"/>
          </a:xfrm>
          <a:prstGeom prst="rect">
            <a:avLst/>
          </a:prstGeom>
        </p:spPr>
      </p:pic>
      <p:sp>
        <p:nvSpPr>
          <p:cNvPr id="30" name="Text 17"/>
          <p:cNvSpPr/>
          <p:nvPr/>
        </p:nvSpPr>
        <p:spPr>
          <a:xfrm>
            <a:off x="3447288" y="3593592"/>
            <a:ext cx="2240280" cy="27432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Access per team</a:t>
            </a:r>
            <a:endParaRPr lang="en-US" sz="1250" dirty="0"/>
          </a:p>
        </p:txBody>
      </p:sp>
      <p:sp>
        <p:nvSpPr>
          <p:cNvPr id="31" name="Text 18"/>
          <p:cNvSpPr/>
          <p:nvPr/>
        </p:nvSpPr>
        <p:spPr>
          <a:xfrm>
            <a:off x="3447288" y="3886200"/>
            <a:ext cx="2240280" cy="502920"/>
          </a:xfrm>
          <a:prstGeom prst="rect">
            <a:avLst/>
          </a:prstGeom>
          <a:noFill/>
          <a:ln/>
        </p:spPr>
        <p:txBody>
          <a:bodyPr wrap="square" lIns="0" tIns="0" rIns="0" bIns="0" rtlCol="0" anchor="t"/>
          <a:lstStyle/>
          <a:p>
            <a:pPr indent="0" marL="0">
              <a:buNone/>
            </a:pPr>
            <a:r>
              <a:rPr lang="en-US" sz="950" dirty="0">
                <a:solidFill>
                  <a:srgbClr val="3A3F55"/>
                </a:solidFill>
                <a:latin typeface="Avenir Next" pitchFamily="34" charset="0"/>
                <a:ea typeface="Avenir Next" pitchFamily="34" charset="-122"/>
                <a:cs typeface="Avenir Next" pitchFamily="34" charset="-120"/>
              </a:rPr>
              <a:t>Enforced by database roles and views, not by the prompt.</a:t>
            </a:r>
            <a:endParaRPr lang="en-US" sz="950" dirty="0"/>
          </a:p>
        </p:txBody>
      </p:sp>
      <p:sp>
        <p:nvSpPr>
          <p:cNvPr id="32" name="Shape 19"/>
          <p:cNvSpPr/>
          <p:nvPr/>
        </p:nvSpPr>
        <p:spPr>
          <a:xfrm>
            <a:off x="6035040" y="2880360"/>
            <a:ext cx="2606040" cy="1554480"/>
          </a:xfrm>
          <a:prstGeom prst="roundRect">
            <a:avLst>
              <a:gd name="adj" fmla="val 8235"/>
            </a:avLst>
          </a:prstGeom>
          <a:solidFill>
            <a:srgbClr val="F1ECFD"/>
          </a:solidFill>
          <a:ln/>
        </p:spPr>
      </p:sp>
      <p:pic>
        <p:nvPicPr>
          <p:cNvPr id="33" name="Image 11" descr="preencoded.png">    </p:cNvPr>
          <p:cNvPicPr>
            <a:picLocks noChangeAspect="1"/>
          </p:cNvPicPr>
          <p:nvPr/>
        </p:nvPicPr>
        <p:blipFill>
          <a:blip r:embed="rId12"/>
          <a:stretch>
            <a:fillRect/>
          </a:stretch>
        </p:blipFill>
        <p:spPr>
          <a:xfrm>
            <a:off x="6236208" y="3081528"/>
            <a:ext cx="420624" cy="420624"/>
          </a:xfrm>
          <a:prstGeom prst="rect">
            <a:avLst/>
          </a:prstGeom>
        </p:spPr>
      </p:pic>
      <p:pic>
        <p:nvPicPr>
          <p:cNvPr id="34" name="Image 12" descr="preencoded.png">    </p:cNvPr>
          <p:cNvPicPr>
            <a:picLocks noChangeAspect="1"/>
          </p:cNvPicPr>
          <p:nvPr/>
        </p:nvPicPr>
        <p:blipFill>
          <a:blip r:embed="rId13"/>
          <a:stretch>
            <a:fillRect/>
          </a:stretch>
        </p:blipFill>
        <p:spPr>
          <a:xfrm>
            <a:off x="6345570" y="3190890"/>
            <a:ext cx="201900" cy="201900"/>
          </a:xfrm>
          <a:prstGeom prst="rect">
            <a:avLst/>
          </a:prstGeom>
        </p:spPr>
      </p:pic>
      <p:sp>
        <p:nvSpPr>
          <p:cNvPr id="35" name="Text 20"/>
          <p:cNvSpPr/>
          <p:nvPr/>
        </p:nvSpPr>
        <p:spPr>
          <a:xfrm>
            <a:off x="6236208" y="3593592"/>
            <a:ext cx="2240280" cy="27432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Our own blind evaluation</a:t>
            </a:r>
            <a:endParaRPr lang="en-US" sz="1250" dirty="0"/>
          </a:p>
        </p:txBody>
      </p:sp>
      <p:sp>
        <p:nvSpPr>
          <p:cNvPr id="36" name="Text 21"/>
          <p:cNvSpPr/>
          <p:nvPr/>
        </p:nvSpPr>
        <p:spPr>
          <a:xfrm>
            <a:off x="6236208" y="3886200"/>
            <a:ext cx="2240280" cy="502920"/>
          </a:xfrm>
          <a:prstGeom prst="rect">
            <a:avLst/>
          </a:prstGeom>
          <a:noFill/>
          <a:ln/>
        </p:spPr>
        <p:txBody>
          <a:bodyPr wrap="square" lIns="0" tIns="0" rIns="0" bIns="0" rtlCol="0" anchor="t"/>
          <a:lstStyle/>
          <a:p>
            <a:pPr indent="0" marL="0">
              <a:buNone/>
            </a:pPr>
            <a:r>
              <a:rPr lang="en-US" sz="950" dirty="0">
                <a:solidFill>
                  <a:srgbClr val="3A3F55"/>
                </a:solidFill>
                <a:latin typeface="Avenir Next" pitchFamily="34" charset="0"/>
                <a:ea typeface="Avenir Next" pitchFamily="34" charset="-122"/>
                <a:cs typeface="Avenir Next" pitchFamily="34" charset="-120"/>
              </a:rPr>
              <a:t>50 answer keys built from raw SQL and labels, an Opus judge, both answer orders.</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Wow</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17</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WOW</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Every answer comes with its proof</a:t>
            </a:r>
            <a:endParaRPr lang="en-US" sz="2600" dirty="0"/>
          </a:p>
        </p:txBody>
      </p:sp>
      <p:sp>
        <p:nvSpPr>
          <p:cNvPr id="7" name="Shape 4"/>
          <p:cNvSpPr/>
          <p:nvPr/>
        </p:nvSpPr>
        <p:spPr>
          <a:xfrm>
            <a:off x="457200" y="1188720"/>
            <a:ext cx="4023360" cy="3429000"/>
          </a:xfrm>
          <a:prstGeom prst="roundRect">
            <a:avLst>
              <a:gd name="adj" fmla="val 3733"/>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78180" y="1298448"/>
            <a:ext cx="3581400" cy="2743200"/>
          </a:xfrm>
          <a:prstGeom prst="rect">
            <a:avLst/>
          </a:prstGeom>
        </p:spPr>
      </p:pic>
      <p:sp>
        <p:nvSpPr>
          <p:cNvPr id="9" name="Text 5"/>
          <p:cNvSpPr/>
          <p:nvPr/>
        </p:nvSpPr>
        <p:spPr>
          <a:xfrm>
            <a:off x="640080" y="4114800"/>
            <a:ext cx="3657600" cy="457200"/>
          </a:xfrm>
          <a:prstGeom prst="rect">
            <a:avLst/>
          </a:prstGeom>
          <a:noFill/>
          <a:ln/>
        </p:spPr>
        <p:txBody>
          <a:bodyPr wrap="square" lIns="0" tIns="0" rIns="0" bIns="0" rtlCol="0" anchor="ctr"/>
          <a:lstStyle/>
          <a:p>
            <a:pPr indent="0" marL="0">
              <a:buNone/>
            </a:pPr>
            <a:r>
              <a:rPr lang="en-US" sz="1050" b="1" dirty="0">
                <a:solidFill>
                  <a:srgbClr val="11121D"/>
                </a:solidFill>
                <a:latin typeface="Avenir Next" pitchFamily="34" charset="0"/>
                <a:ea typeface="Avenir Next" pitchFamily="34" charset="-122"/>
                <a:cs typeface="Avenir Next" pitchFamily="34" charset="-120"/>
              </a:rPr>
              <a:t>Session report  </a:t>
            </a:r>
            <a:pPr indent="0" marL="0">
              <a:buNone/>
            </a:pPr>
            <a:r>
              <a:rPr lang="en-US" sz="1050" dirty="0">
                <a:solidFill>
                  <a:srgbClr val="3A3F55"/>
                </a:solidFill>
                <a:latin typeface="Avenir Next" pitchFamily="34" charset="0"/>
                <a:ea typeface="Avenir Next" pitchFamily="34" charset="-122"/>
                <a:cs typeface="Avenir Next" pitchFamily="34" charset="-120"/>
              </a:rPr>
              <a:t>each number links to the query behind it; Verify re-runs it.</a:t>
            </a:r>
            <a:endParaRPr lang="en-US" sz="1050" dirty="0"/>
          </a:p>
        </p:txBody>
      </p:sp>
      <p:sp>
        <p:nvSpPr>
          <p:cNvPr id="10" name="Shape 6"/>
          <p:cNvSpPr/>
          <p:nvPr/>
        </p:nvSpPr>
        <p:spPr>
          <a:xfrm>
            <a:off x="4663440" y="1188720"/>
            <a:ext cx="4023360" cy="3429000"/>
          </a:xfrm>
          <a:prstGeom prst="roundRect">
            <a:avLst>
              <a:gd name="adj" fmla="val 3733"/>
            </a:avLst>
          </a:prstGeom>
          <a:solidFill>
            <a:srgbClr val="F0F2F5"/>
          </a:solidFill>
          <a:ln/>
        </p:spPr>
      </p:sp>
      <p:pic>
        <p:nvPicPr>
          <p:cNvPr id="11" name="Image 2" descr="preencoded.png">    </p:cNvPr>
          <p:cNvPicPr>
            <a:picLocks noChangeAspect="1"/>
          </p:cNvPicPr>
          <p:nvPr/>
        </p:nvPicPr>
        <p:blipFill>
          <a:blip r:embed="rId3"/>
          <a:stretch>
            <a:fillRect/>
          </a:stretch>
        </p:blipFill>
        <p:spPr>
          <a:xfrm>
            <a:off x="4892040" y="1298448"/>
            <a:ext cx="3566160" cy="2743200"/>
          </a:xfrm>
          <a:prstGeom prst="rect">
            <a:avLst/>
          </a:prstGeom>
        </p:spPr>
      </p:pic>
      <p:sp>
        <p:nvSpPr>
          <p:cNvPr id="12" name="Text 7"/>
          <p:cNvSpPr/>
          <p:nvPr/>
        </p:nvSpPr>
        <p:spPr>
          <a:xfrm>
            <a:off x="4846320" y="4114800"/>
            <a:ext cx="3657600" cy="457200"/>
          </a:xfrm>
          <a:prstGeom prst="rect">
            <a:avLst/>
          </a:prstGeom>
          <a:noFill/>
          <a:ln/>
        </p:spPr>
        <p:txBody>
          <a:bodyPr wrap="square" lIns="0" tIns="0" rIns="0" bIns="0" rtlCol="0" anchor="ctr"/>
          <a:lstStyle/>
          <a:p>
            <a:pPr indent="0" marL="0">
              <a:buNone/>
            </a:pPr>
            <a:r>
              <a:rPr lang="en-US" sz="1050" b="1" dirty="0">
                <a:solidFill>
                  <a:srgbClr val="11121D"/>
                </a:solidFill>
                <a:latin typeface="Avenir Next" pitchFamily="34" charset="0"/>
                <a:ea typeface="Avenir Next" pitchFamily="34" charset="-122"/>
                <a:cs typeface="Avenir Next" pitchFamily="34" charset="-120"/>
              </a:rPr>
              <a:t>Eval dashboard  </a:t>
            </a:r>
            <a:pPr indent="0" marL="0">
              <a:buNone/>
            </a:pPr>
            <a:r>
              <a:rPr lang="en-US" sz="1050" dirty="0">
                <a:solidFill>
                  <a:srgbClr val="3A3F55"/>
                </a:solidFill>
                <a:latin typeface="Avenir Next" pitchFamily="34" charset="0"/>
                <a:ea typeface="Avenir Next" pitchFamily="34" charset="-122"/>
                <a:cs typeface="Avenir Next" pitchFamily="34" charset="-120"/>
              </a:rPr>
              <a:t>50 questions, both answers, the judge's reasons, how to re-run.</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Scale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18</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SCALE</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Where it goes next</a:t>
            </a:r>
            <a:endParaRPr lang="en-US" sz="2600" dirty="0"/>
          </a:p>
        </p:txBody>
      </p:sp>
      <p:sp>
        <p:nvSpPr>
          <p:cNvPr id="7" name="Shape 4"/>
          <p:cNvSpPr/>
          <p:nvPr/>
        </p:nvSpPr>
        <p:spPr>
          <a:xfrm>
            <a:off x="457200" y="1188720"/>
            <a:ext cx="2606040" cy="1920240"/>
          </a:xfrm>
          <a:prstGeom prst="roundRect">
            <a:avLst>
              <a:gd name="adj" fmla="val 6667"/>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58368" y="1371600"/>
            <a:ext cx="457200" cy="457200"/>
          </a:xfrm>
          <a:prstGeom prst="rect">
            <a:avLst/>
          </a:prstGeom>
        </p:spPr>
      </p:pic>
      <p:pic>
        <p:nvPicPr>
          <p:cNvPr id="9" name="Image 2" descr="preencoded.png">    </p:cNvPr>
          <p:cNvPicPr>
            <a:picLocks noChangeAspect="1"/>
          </p:cNvPicPr>
          <p:nvPr/>
        </p:nvPicPr>
        <p:blipFill>
          <a:blip r:embed="rId3"/>
          <a:stretch>
            <a:fillRect/>
          </a:stretch>
        </p:blipFill>
        <p:spPr>
          <a:xfrm>
            <a:off x="777240" y="1490472"/>
            <a:ext cx="219456" cy="219456"/>
          </a:xfrm>
          <a:prstGeom prst="rect">
            <a:avLst/>
          </a:prstGeom>
        </p:spPr>
      </p:pic>
      <p:sp>
        <p:nvSpPr>
          <p:cNvPr id="10" name="Text 5"/>
          <p:cNvSpPr/>
          <p:nvPr/>
        </p:nvSpPr>
        <p:spPr>
          <a:xfrm>
            <a:off x="658368" y="1920240"/>
            <a:ext cx="2240280" cy="32004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Mittelstand</a:t>
            </a:r>
            <a:endParaRPr lang="en-US" sz="1500" dirty="0"/>
          </a:p>
        </p:txBody>
      </p:sp>
      <p:sp>
        <p:nvSpPr>
          <p:cNvPr id="11" name="Text 6"/>
          <p:cNvSpPr/>
          <p:nvPr/>
        </p:nvSpPr>
        <p:spPr>
          <a:xfrm>
            <a:off x="658368" y="2267712"/>
            <a:ext cx="2240280" cy="82296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Machine and production logs, IT operations, managed service providers: the same tools on their files.</a:t>
            </a:r>
            <a:endParaRPr lang="en-US" sz="1050" dirty="0"/>
          </a:p>
        </p:txBody>
      </p:sp>
      <p:sp>
        <p:nvSpPr>
          <p:cNvPr id="12" name="Shape 7"/>
          <p:cNvSpPr/>
          <p:nvPr/>
        </p:nvSpPr>
        <p:spPr>
          <a:xfrm>
            <a:off x="3246120" y="1188720"/>
            <a:ext cx="2606040" cy="1920240"/>
          </a:xfrm>
          <a:prstGeom prst="roundRect">
            <a:avLst>
              <a:gd name="adj" fmla="val 6667"/>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447288" y="1371600"/>
            <a:ext cx="457200" cy="457200"/>
          </a:xfrm>
          <a:prstGeom prst="rect">
            <a:avLst/>
          </a:prstGeom>
        </p:spPr>
      </p:pic>
      <p:pic>
        <p:nvPicPr>
          <p:cNvPr id="14" name="Image 4" descr="preencoded.png">    </p:cNvPr>
          <p:cNvPicPr>
            <a:picLocks noChangeAspect="1"/>
          </p:cNvPicPr>
          <p:nvPr/>
        </p:nvPicPr>
        <p:blipFill>
          <a:blip r:embed="rId5"/>
          <a:stretch>
            <a:fillRect/>
          </a:stretch>
        </p:blipFill>
        <p:spPr>
          <a:xfrm>
            <a:off x="3566160" y="1490472"/>
            <a:ext cx="219456" cy="219456"/>
          </a:xfrm>
          <a:prstGeom prst="rect">
            <a:avLst/>
          </a:prstGeom>
        </p:spPr>
      </p:pic>
      <p:sp>
        <p:nvSpPr>
          <p:cNvPr id="15" name="Text 8"/>
          <p:cNvSpPr/>
          <p:nvPr/>
        </p:nvSpPr>
        <p:spPr>
          <a:xfrm>
            <a:off x="3447288" y="1920240"/>
            <a:ext cx="2240280" cy="32004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Other industries</a:t>
            </a:r>
            <a:endParaRPr lang="en-US" sz="1500" dirty="0"/>
          </a:p>
        </p:txBody>
      </p:sp>
      <p:sp>
        <p:nvSpPr>
          <p:cNvPr id="16" name="Text 9"/>
          <p:cNvSpPr/>
          <p:nvPr/>
        </p:nvSpPr>
        <p:spPr>
          <a:xfrm>
            <a:off x="3447288" y="2267712"/>
            <a:ext cx="2240280" cy="82296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Any system that writes logs: cloud, telecom, devices, security. SSH brute-force logs are already in our eval.</a:t>
            </a:r>
            <a:endParaRPr lang="en-US" sz="1050" dirty="0"/>
          </a:p>
        </p:txBody>
      </p:sp>
      <p:sp>
        <p:nvSpPr>
          <p:cNvPr id="17" name="Shape 10"/>
          <p:cNvSpPr/>
          <p:nvPr/>
        </p:nvSpPr>
        <p:spPr>
          <a:xfrm>
            <a:off x="6035040" y="1188720"/>
            <a:ext cx="2606040" cy="1920240"/>
          </a:xfrm>
          <a:prstGeom prst="roundRect">
            <a:avLst>
              <a:gd name="adj" fmla="val 6667"/>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236208" y="1371600"/>
            <a:ext cx="457200" cy="457200"/>
          </a:xfrm>
          <a:prstGeom prst="rect">
            <a:avLst/>
          </a:prstGeom>
        </p:spPr>
      </p:pic>
      <p:pic>
        <p:nvPicPr>
          <p:cNvPr id="19" name="Image 6" descr="preencoded.png">    </p:cNvPr>
          <p:cNvPicPr>
            <a:picLocks noChangeAspect="1"/>
          </p:cNvPicPr>
          <p:nvPr/>
        </p:nvPicPr>
        <p:blipFill>
          <a:blip r:embed="rId7"/>
          <a:stretch>
            <a:fillRect/>
          </a:stretch>
        </p:blipFill>
        <p:spPr>
          <a:xfrm>
            <a:off x="6355080" y="1490472"/>
            <a:ext cx="219456" cy="219456"/>
          </a:xfrm>
          <a:prstGeom prst="rect">
            <a:avLst/>
          </a:prstGeom>
        </p:spPr>
      </p:pic>
      <p:sp>
        <p:nvSpPr>
          <p:cNvPr id="20" name="Text 11"/>
          <p:cNvSpPr/>
          <p:nvPr/>
        </p:nvSpPr>
        <p:spPr>
          <a:xfrm>
            <a:off x="6236208" y="1920240"/>
            <a:ext cx="2240280" cy="32004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A product</a:t>
            </a:r>
            <a:endParaRPr lang="en-US" sz="1500" dirty="0"/>
          </a:p>
        </p:txBody>
      </p:sp>
      <p:sp>
        <p:nvSpPr>
          <p:cNvPr id="21" name="Text 12"/>
          <p:cNvSpPr/>
          <p:nvPr/>
        </p:nvSpPr>
        <p:spPr>
          <a:xfrm>
            <a:off x="6236208" y="2267712"/>
            <a:ext cx="2240280" cy="82296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A self-hosted log copilot: MCP server + SereneDB in one container, team access, alerts from saved searches.</a:t>
            </a:r>
            <a:endParaRPr lang="en-US" sz="1050" dirty="0"/>
          </a:p>
        </p:txBody>
      </p:sp>
      <p:pic>
        <p:nvPicPr>
          <p:cNvPr id="22" name="Image 7" descr="preencoded.png">    </p:cNvPr>
          <p:cNvPicPr>
            <a:picLocks noChangeAspect="1"/>
          </p:cNvPicPr>
          <p:nvPr/>
        </p:nvPicPr>
        <p:blipFill>
          <a:blip r:embed="rId8"/>
          <a:stretch>
            <a:fillRect/>
          </a:stretch>
        </p:blipFill>
        <p:spPr>
          <a:xfrm>
            <a:off x="457200" y="3291840"/>
            <a:ext cx="8229600" cy="1234440"/>
          </a:xfrm>
          <a:prstGeom prst="rect">
            <a:avLst/>
          </a:prstGeom>
        </p:spPr>
      </p:pic>
      <p:sp>
        <p:nvSpPr>
          <p:cNvPr id="23" name="Text 13"/>
          <p:cNvSpPr/>
          <p:nvPr/>
        </p:nvSpPr>
        <p:spPr>
          <a:xfrm>
            <a:off x="731520" y="3401568"/>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10</a:t>
            </a:r>
            <a:endParaRPr lang="en-US" sz="2800" dirty="0"/>
          </a:p>
        </p:txBody>
      </p:sp>
      <p:sp>
        <p:nvSpPr>
          <p:cNvPr id="24" name="Text 14"/>
          <p:cNvSpPr/>
          <p:nvPr/>
        </p:nvSpPr>
        <p:spPr>
          <a:xfrm>
            <a:off x="731520" y="3904488"/>
            <a:ext cx="2377440" cy="502920"/>
          </a:xfrm>
          <a:prstGeom prst="rect">
            <a:avLst/>
          </a:prstGeom>
          <a:noFill/>
          <a:ln/>
        </p:spPr>
        <p:txBody>
          <a:bodyPr wrap="square" lIns="0" tIns="0" rIns="0" bIns="0" rtlCol="0" anchor="t"/>
          <a:lstStyle/>
          <a:p>
            <a:pPr indent="0" marL="0">
              <a:buNone/>
            </a:pPr>
            <a:r>
              <a:rPr lang="en-US" sz="1050" dirty="0">
                <a:solidFill>
                  <a:srgbClr val="EDE7FF"/>
                </a:solidFill>
                <a:latin typeface="Avenir Next" pitchFamily="34" charset="0"/>
                <a:ea typeface="Avenir Next" pitchFamily="34" charset="-122"/>
                <a:cs typeface="Avenir Next" pitchFamily="34" charset="-120"/>
              </a:rPr>
              <a:t>log types loaded, 7 kinds of systems, no code change</a:t>
            </a:r>
            <a:endParaRPr lang="en-US" sz="1050" dirty="0"/>
          </a:p>
        </p:txBody>
      </p:sp>
      <p:sp>
        <p:nvSpPr>
          <p:cNvPr id="25" name="Text 15"/>
          <p:cNvSpPr/>
          <p:nvPr/>
        </p:nvSpPr>
        <p:spPr>
          <a:xfrm>
            <a:off x="3474720" y="3401568"/>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11.2 M</a:t>
            </a:r>
            <a:endParaRPr lang="en-US" sz="2800" dirty="0"/>
          </a:p>
        </p:txBody>
      </p:sp>
      <p:sp>
        <p:nvSpPr>
          <p:cNvPr id="26" name="Text 16"/>
          <p:cNvSpPr/>
          <p:nvPr/>
        </p:nvSpPr>
        <p:spPr>
          <a:xfrm>
            <a:off x="3474720" y="3904488"/>
            <a:ext cx="2377440" cy="502920"/>
          </a:xfrm>
          <a:prstGeom prst="rect">
            <a:avLst/>
          </a:prstGeom>
          <a:noFill/>
          <a:ln/>
        </p:spPr>
        <p:txBody>
          <a:bodyPr wrap="square" lIns="0" tIns="0" rIns="0" bIns="0" rtlCol="0" anchor="t"/>
          <a:lstStyle/>
          <a:p>
            <a:pPr indent="0" marL="0">
              <a:buNone/>
            </a:pPr>
            <a:r>
              <a:rPr lang="en-US" sz="1050" dirty="0">
                <a:solidFill>
                  <a:srgbClr val="EDE7FF"/>
                </a:solidFill>
                <a:latin typeface="Avenir Next" pitchFamily="34" charset="0"/>
                <a:ea typeface="Avenir Next" pitchFamily="34" charset="-122"/>
                <a:cs typeface="Avenir Next" pitchFamily="34" charset="-120"/>
              </a:rPr>
              <a:t>HDFS lines loaded in 47 s</a:t>
            </a:r>
            <a:endParaRPr lang="en-US" sz="1050" dirty="0"/>
          </a:p>
        </p:txBody>
      </p:sp>
      <p:sp>
        <p:nvSpPr>
          <p:cNvPr id="27" name="Text 17"/>
          <p:cNvSpPr/>
          <p:nvPr/>
        </p:nvSpPr>
        <p:spPr>
          <a:xfrm>
            <a:off x="6217920" y="3401568"/>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1 B</a:t>
            </a:r>
            <a:endParaRPr lang="en-US" sz="2800" dirty="0"/>
          </a:p>
        </p:txBody>
      </p:sp>
      <p:sp>
        <p:nvSpPr>
          <p:cNvPr id="28" name="Text 18"/>
          <p:cNvSpPr/>
          <p:nvPr/>
        </p:nvSpPr>
        <p:spPr>
          <a:xfrm>
            <a:off x="6217920" y="3904488"/>
            <a:ext cx="2377440" cy="502920"/>
          </a:xfrm>
          <a:prstGeom prst="rect">
            <a:avLst/>
          </a:prstGeom>
          <a:noFill/>
          <a:ln/>
        </p:spPr>
        <p:txBody>
          <a:bodyPr wrap="square" lIns="0" tIns="0" rIns="0" bIns="0" rtlCol="0" anchor="t"/>
          <a:lstStyle/>
          <a:p>
            <a:pPr indent="0" marL="0">
              <a:buNone/>
            </a:pPr>
            <a:r>
              <a:rPr lang="en-US" sz="1050" dirty="0">
                <a:solidFill>
                  <a:srgbClr val="EDE7FF"/>
                </a:solidFill>
                <a:latin typeface="Avenir Next" pitchFamily="34" charset="0"/>
                <a:ea typeface="Avenir Next" pitchFamily="34" charset="-122"/>
                <a:cs typeface="Avenir Next" pitchFamily="34" charset="-120"/>
              </a:rPr>
              <a:t>remote OTel rows, queried in place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57200"/>
            <a:ext cx="8229600" cy="4206240"/>
          </a:xfrm>
          <a:prstGeom prst="rect">
            <a:avLst/>
          </a:prstGeom>
        </p:spPr>
      </p:pic>
      <p:sp>
        <p:nvSpPr>
          <p:cNvPr id="3" name="Text 0"/>
          <p:cNvSpPr/>
          <p:nvPr/>
        </p:nvSpPr>
        <p:spPr>
          <a:xfrm>
            <a:off x="914400" y="82296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Avenir Next" pitchFamily="34" charset="0"/>
                <a:ea typeface="Avenir Next" pitchFamily="34" charset="-122"/>
                <a:cs typeface="Avenir Next" pitchFamily="34" charset="-120"/>
              </a:rPr>
              <a:t>Try it in two commands</a:t>
            </a:r>
            <a:endParaRPr lang="en-US" sz="3200" dirty="0"/>
          </a:p>
        </p:txBody>
      </p:sp>
      <p:sp>
        <p:nvSpPr>
          <p:cNvPr id="4" name="Shape 1"/>
          <p:cNvSpPr/>
          <p:nvPr/>
        </p:nvSpPr>
        <p:spPr>
          <a:xfrm>
            <a:off x="914400" y="1645920"/>
            <a:ext cx="7315200" cy="1143000"/>
          </a:xfrm>
          <a:prstGeom prst="roundRect">
            <a:avLst>
              <a:gd name="adj" fmla="val 11200"/>
            </a:avLst>
          </a:prstGeom>
          <a:solidFill>
            <a:srgbClr val="FFFFFF">
              <a:alpha val="12000"/>
            </a:srgbClr>
          </a:solidFill>
          <a:ln/>
        </p:spPr>
      </p:sp>
      <p:sp>
        <p:nvSpPr>
          <p:cNvPr id="5" name="Text 2"/>
          <p:cNvSpPr/>
          <p:nvPr/>
        </p:nvSpPr>
        <p:spPr>
          <a:xfrm>
            <a:off x="1143000" y="1691640"/>
            <a:ext cx="6949440" cy="1051560"/>
          </a:xfrm>
          <a:prstGeom prst="rect">
            <a:avLst/>
          </a:prstGeom>
          <a:noFill/>
          <a:ln/>
        </p:spPr>
        <p:txBody>
          <a:bodyPr wrap="square" lIns="0" tIns="0" rIns="0" bIns="0" rtlCol="0" anchor="ctr"/>
          <a:lstStyle/>
          <a:p>
            <a:pPr indent="0" marL="0">
              <a:buNone/>
            </a:pPr>
            <a:r>
              <a:rPr lang="en-US" sz="1400" dirty="0">
                <a:solidFill>
                  <a:srgbClr val="FFFFFF"/>
                </a:solidFill>
                <a:latin typeface="Menlo" pitchFamily="34" charset="0"/>
                <a:ea typeface="Menlo" pitchFamily="34" charset="-122"/>
                <a:cs typeface="Menlo" pitchFamily="34" charset="-120"/>
              </a:rPr>
              <a:t>docker compose up -d</a:t>
            </a:r>
            <a:endParaRPr lang="en-US" sz="1400" dirty="0"/>
          </a:p>
          <a:p>
            <a:pPr indent="0" marL="0">
              <a:buNone/>
            </a:pPr>
            <a:r>
              <a:rPr lang="en-US" sz="1400" dirty="0">
                <a:solidFill>
                  <a:srgbClr val="FFFFFF"/>
                </a:solidFill>
                <a:latin typeface="Menlo" pitchFamily="34" charset="0"/>
                <a:ea typeface="Menlo" pitchFamily="34" charset="-122"/>
                <a:cs typeface="Menlo" pitchFamily="34" charset="-120"/>
              </a:rPr>
              <a:t>claude          # in the repo, approve the logs server</a:t>
            </a:r>
            <a:endParaRPr lang="en-US" sz="1400" dirty="0"/>
          </a:p>
          <a:p>
            <a:pPr indent="0" marL="0">
              <a:buNone/>
            </a:pPr>
            <a:r>
              <a:rPr lang="en-US" sz="1400" dirty="0">
                <a:solidFill>
                  <a:srgbClr val="FFFFFF"/>
                </a:solidFill>
                <a:latin typeface="Menlo" pitchFamily="34" charset="0"/>
                <a:ea typeface="Menlo" pitchFamily="34" charset="-122"/>
                <a:cs typeface="Menlo" pitchFamily="34" charset="-120"/>
              </a:rPr>
              <a:t>&gt; Load the base corpus</a:t>
            </a:r>
            <a:endParaRPr lang="en-US" sz="1400" dirty="0"/>
          </a:p>
        </p:txBody>
      </p:sp>
      <p:sp>
        <p:nvSpPr>
          <p:cNvPr id="6" name="Text 3"/>
          <p:cNvSpPr/>
          <p:nvPr/>
        </p:nvSpPr>
        <p:spPr>
          <a:xfrm>
            <a:off x="914400" y="2971800"/>
            <a:ext cx="7315200" cy="960120"/>
          </a:xfrm>
          <a:prstGeom prst="rect">
            <a:avLst/>
          </a:prstGeom>
          <a:noFill/>
          <a:ln/>
        </p:spPr>
        <p:txBody>
          <a:bodyPr wrap="square" lIns="0" tIns="0" rIns="0" bIns="0" rtlCol="0" anchor="ctr"/>
          <a:lstStyle/>
          <a:p>
            <a:pPr marL="152400" indent="-152400">
              <a:spcAft>
                <a:spcPts val="400"/>
              </a:spcAft>
              <a:buSzPct val="100000"/>
              <a:buChar char="•"/>
            </a:pPr>
            <a:r>
              <a:rPr lang="en-US" sz="1300" dirty="0">
                <a:solidFill>
                  <a:srgbClr val="FFFFFF"/>
                </a:solidFill>
                <a:latin typeface="Avenir Next" pitchFamily="34" charset="0"/>
                <a:ea typeface="Avenir Next" pitchFamily="34" charset="-122"/>
                <a:cs typeface="Avenir Next" pitchFamily="34" charset="-120"/>
              </a:rPr>
              <a:t>docs/INVESTIGATION.md: the worked investigation and its evidence page</a:t>
            </a:r>
            <a:endParaRPr lang="en-US" sz="1300" dirty="0"/>
          </a:p>
          <a:p>
            <a:pPr marL="152400" indent="-152400">
              <a:spcAft>
                <a:spcPts val="400"/>
              </a:spcAft>
              <a:buSzPct val="100000"/>
              <a:buChar char="•"/>
            </a:pPr>
            <a:r>
              <a:rPr lang="en-US" sz="1300" dirty="0">
                <a:solidFill>
                  <a:srgbClr val="FFFFFF"/>
                </a:solidFill>
                <a:latin typeface="Avenir Next" pitchFamily="34" charset="0"/>
                <a:ea typeface="Avenir Next" pitchFamily="34" charset="-122"/>
                <a:cs typeface="Avenir Next" pitchFamily="34" charset="-120"/>
              </a:rPr>
              <a:t>docs/dashboard.html: the evaluation, every answer, how to re-run it</a:t>
            </a:r>
            <a:endParaRPr lang="en-US" sz="1300" dirty="0"/>
          </a:p>
          <a:p>
            <a:pPr marL="152400" indent="-152400">
              <a:spcAft>
                <a:spcPts val="400"/>
              </a:spcAft>
              <a:buSzPct val="100000"/>
              <a:buChar char="•"/>
            </a:pPr>
            <a:r>
              <a:rPr lang="en-US" sz="1300" dirty="0">
                <a:solidFill>
                  <a:srgbClr val="FFFFFF"/>
                </a:solidFill>
                <a:latin typeface="Avenir Next" pitchFamily="34" charset="0"/>
                <a:ea typeface="Avenir Next" pitchFamily="34" charset="-122"/>
                <a:cs typeface="Avenir Next" pitchFamily="34" charset="-120"/>
              </a:rPr>
              <a:t>docs/TOOLS.md: every tool, prompt and resource</a:t>
            </a:r>
            <a:endParaRPr lang="en-US" sz="1300" dirty="0"/>
          </a:p>
        </p:txBody>
      </p:sp>
      <p:sp>
        <p:nvSpPr>
          <p:cNvPr id="7" name="Text 4"/>
          <p:cNvSpPr/>
          <p:nvPr/>
        </p:nvSpPr>
        <p:spPr>
          <a:xfrm>
            <a:off x="914400" y="4069080"/>
            <a:ext cx="7315200" cy="320040"/>
          </a:xfrm>
          <a:prstGeom prst="rect">
            <a:avLst/>
          </a:prstGeom>
          <a:noFill/>
          <a:ln/>
        </p:spPr>
        <p:txBody>
          <a:bodyPr wrap="square" lIns="0" tIns="0" rIns="0" bIns="0" rtlCol="0" anchor="ctr"/>
          <a:lstStyle/>
          <a:p>
            <a:pPr indent="0" marL="0">
              <a:buNone/>
            </a:pPr>
            <a:r>
              <a:rPr lang="en-US" sz="1200" b="1" dirty="0">
                <a:solidFill>
                  <a:srgbClr val="EDE7FF"/>
                </a:solidFill>
                <a:latin typeface="Avenir Next" pitchFamily="34" charset="0"/>
                <a:ea typeface="Avenir Next" pitchFamily="34" charset="-122"/>
                <a:cs typeface="Avenir Next" pitchFamily="34" charset="-120"/>
              </a:rPr>
              <a:t>github.com/aircode610/making-sense-of-logs-schubki-ai-hackathon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Making Sense of Logs</dc:title>
  <dc:subject>PptxGenJS Presentation</dc:subject>
  <dc:creator>Amirali &amp; Konark</dc:creator>
  <cp:lastModifiedBy>Amirali &amp; Konark</cp:lastModifiedBy>
  <cp:revision>1</cp:revision>
  <dcterms:created xsi:type="dcterms:W3CDTF">2026-10-18T18:20:40Z</dcterms:created>
  <dcterms:modified xsi:type="dcterms:W3CDTF">2026-10-18T18:20:40Z</dcterms:modified>
</cp:coreProperties>
</file>